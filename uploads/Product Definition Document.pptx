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36F_EB8B7E5B.xml" ContentType="application/vnd.ms-powerpoint.comments+xml"/>
  <Override PartName="/ppt/notesSlides/notesSlide5.xml" ContentType="application/vnd.openxmlformats-officedocument.presentationml.notesSlide+xml"/>
  <Override PartName="/ppt/comments/modernComment_387_87D91A0C.xml" ContentType="application/vnd.ms-powerpoint.comments+xml"/>
  <Override PartName="/ppt/notesSlides/notesSlide6.xml" ContentType="application/vnd.openxmlformats-officedocument.presentationml.notesSlide+xml"/>
  <Override PartName="/ppt/comments/modernComment_7FFE59E5_F9BBB6DC.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386_CDA2B73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handoutMasterIdLst>
    <p:handoutMasterId r:id="rId36"/>
  </p:handoutMasterIdLst>
  <p:sldIdLst>
    <p:sldId id="257" r:id="rId5"/>
    <p:sldId id="2147375578" r:id="rId6"/>
    <p:sldId id="2147375538" r:id="rId7"/>
    <p:sldId id="2147375577" r:id="rId8"/>
    <p:sldId id="879" r:id="rId9"/>
    <p:sldId id="903" r:id="rId10"/>
    <p:sldId id="2147375589" r:id="rId11"/>
    <p:sldId id="12835" r:id="rId12"/>
    <p:sldId id="2147375580" r:id="rId13"/>
    <p:sldId id="2147375583" r:id="rId14"/>
    <p:sldId id="12832" r:id="rId15"/>
    <p:sldId id="2147375579" r:id="rId16"/>
    <p:sldId id="12865" r:id="rId17"/>
    <p:sldId id="12834" r:id="rId18"/>
    <p:sldId id="2147375569" r:id="rId19"/>
    <p:sldId id="2147375581" r:id="rId20"/>
    <p:sldId id="2147375582" r:id="rId21"/>
    <p:sldId id="2147375570" r:id="rId22"/>
    <p:sldId id="5104" r:id="rId23"/>
    <p:sldId id="2147375573" r:id="rId24"/>
    <p:sldId id="2147375575" r:id="rId25"/>
    <p:sldId id="2147375585" r:id="rId26"/>
    <p:sldId id="902" r:id="rId27"/>
    <p:sldId id="2147375576" r:id="rId28"/>
    <p:sldId id="1596" r:id="rId29"/>
    <p:sldId id="2147375584" r:id="rId30"/>
    <p:sldId id="2147375588" r:id="rId31"/>
    <p:sldId id="313" r:id="rId32"/>
    <p:sldId id="5102" r:id="rId33"/>
    <p:sldId id="3240" r:id="rId34"/>
  </p:sldIdLst>
  <p:sldSz cx="9144000" cy="5143500" type="screen16x9"/>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orient="horz" pos="2492">
          <p15:clr>
            <a:srgbClr val="A4A3A4"/>
          </p15:clr>
        </p15:guide>
        <p15:guide id="3" orient="horz" pos="3130">
          <p15:clr>
            <a:srgbClr val="A4A3A4"/>
          </p15:clr>
        </p15:guide>
        <p15:guide id="4" orient="horz" pos="344">
          <p15:clr>
            <a:srgbClr val="A4A3A4"/>
          </p15:clr>
        </p15:guide>
        <p15:guide id="5" orient="horz" pos="2669">
          <p15:clr>
            <a:srgbClr val="A4A3A4"/>
          </p15:clr>
        </p15:guide>
        <p15:guide id="6" pos="2852">
          <p15:clr>
            <a:srgbClr val="A4A3A4"/>
          </p15:clr>
        </p15:guide>
        <p15:guide id="7" pos="5602">
          <p15:clr>
            <a:srgbClr val="A4A3A4"/>
          </p15:clr>
        </p15:guide>
        <p15:guide id="8" pos="158">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E6F20C-A594-932F-FAD8-9570A0C269C7}" name="Valentinus Andreas Bay Meo" initials="VABM" userId="S::BSI00314@bsi.co.id::540dc03a-b6e1-4d84-ae32-f68b22b56d4c" providerId="AD"/>
  <p188:author id="{F6256452-CAAD-6B2E-E587-7E0C22DA679D}" name="Ahmad Zulfikar" initials="AZ" userId="S::bsi80170@bsi.co.id::ee29fcec-1330-4538-9970-f014bdac2936" providerId="AD"/>
  <p188:author id="{3663EEB6-B9F6-B660-8CE4-D0F04328F504}" name="Zan Denniar Aufa" initials="ZDA" userId="S::BSI80143@bsi.co.id::87af809f-d141-4590-a75e-fed68104eee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FFCC"/>
    <a:srgbClr val="66FF33"/>
    <a:srgbClr val="FAC090"/>
    <a:srgbClr val="E3E5E6"/>
    <a:srgbClr val="8EB4E3"/>
    <a:srgbClr val="EEECE1"/>
    <a:srgbClr val="942825"/>
    <a:srgbClr val="228099"/>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0057DF-0C6B-4FD4-9B87-83A3F1739B2A}" v="8" dt="2023-11-16T03:50:21.085"/>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95214" autoAdjust="0"/>
  </p:normalViewPr>
  <p:slideViewPr>
    <p:cSldViewPr showGuides="1">
      <p:cViewPr varScale="1">
        <p:scale>
          <a:sx n="78" d="100"/>
          <a:sy n="78" d="100"/>
        </p:scale>
        <p:origin x="1112" y="48"/>
      </p:cViewPr>
      <p:guideLst>
        <p:guide orient="horz" pos="1620"/>
        <p:guide orient="horz" pos="2492"/>
        <p:guide orient="horz" pos="3130"/>
        <p:guide orient="horz" pos="344"/>
        <p:guide orient="horz" pos="2669"/>
        <p:guide pos="2852"/>
        <p:guide pos="5602"/>
        <p:guide pos="158"/>
      </p:guideLst>
    </p:cSldViewPr>
  </p:slideViewPr>
  <p:outlineViewPr>
    <p:cViewPr>
      <p:scale>
        <a:sx n="33" d="100"/>
        <a:sy n="33" d="100"/>
      </p:scale>
      <p:origin x="0" y="0"/>
    </p:cViewPr>
  </p:outlineViewPr>
  <p:notesTextViewPr>
    <p:cViewPr>
      <p:scale>
        <a:sx n="75" d="100"/>
        <a:sy n="75" d="100"/>
      </p:scale>
      <p:origin x="0" y="0"/>
    </p:cViewPr>
  </p:notesTextViewPr>
  <p:notesViewPr>
    <p:cSldViewPr showGuides="1">
      <p:cViewPr varScale="1">
        <p:scale>
          <a:sx n="55" d="100"/>
          <a:sy n="55" d="100"/>
        </p:scale>
        <p:origin x="-2856" y="-96"/>
      </p:cViewPr>
      <p:guideLst>
        <p:guide orient="horz" pos="3108"/>
        <p:guide pos="2122"/>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omments/modernComment_7FFE59E5_F9BBB6DC.xml><?xml version="1.0" encoding="utf-8"?>
<p188:cmLst xmlns:a="http://schemas.openxmlformats.org/drawingml/2006/main" xmlns:r="http://schemas.openxmlformats.org/officeDocument/2006/relationships" xmlns:p188="http://schemas.microsoft.com/office/powerpoint/2018/8/main">
  <p188:cm id="{ECAF6096-5B68-42B0-A785-F8D2460C7EC0}" authorId="{3663EEB6-B9F6-B660-8CE4-D0F04328F504}" created="2023-06-29T16:49:51.617">
    <ac:deMkLst xmlns:ac="http://schemas.microsoft.com/office/drawing/2013/main/command">
      <pc:docMk xmlns:pc="http://schemas.microsoft.com/office/powerpoint/2013/main/command"/>
      <pc:sldMk xmlns:pc="http://schemas.microsoft.com/office/powerpoint/2013/main/command" cId="4189828828" sldId="2147375589"/>
      <ac:spMk id="6" creationId="{BCFF237C-94B1-019E-1863-ED2CA1EB1005}"/>
    </ac:deMkLst>
    <p188:replyLst>
      <p188:reply id="{10623327-CBEA-4DAE-9FA5-E145547A38AB}" authorId="{F6256452-CAAD-6B2E-E587-7E0C22DA679D}" created="2023-06-30T01:37:15.625">
        <p188:txBody>
          <a:bodyPr/>
          <a:lstStyle/>
          <a:p>
            <a:r>
              <a:rPr lang="en-US"/>
              <a:t>om [@Zan Denniar Aufa] , untuk export di bagian To-be bukan ke excel melainkan file text sesuai formatnya CAPS.</a:t>
            </a:r>
          </a:p>
        </p188:txBody>
      </p188:reply>
      <p188:reply id="{C923139D-7645-4269-9992-752F10076D59}" authorId="{3663EEB6-B9F6-B660-8CE4-D0F04328F504}" created="2023-06-30T11:37:43.472">
        <p188:txBody>
          <a:bodyPr/>
          <a:lstStyle/>
          <a:p>
            <a:r>
              <a:rPr lang="en-US"/>
              <a:t>Noted and updated om [@Ahmad Zulfikar]</a:t>
            </a:r>
          </a:p>
        </p188:txBody>
      </p188:reply>
    </p188:replyLst>
    <p188:txBody>
      <a:bodyPr/>
      <a:lstStyle/>
      <a:p>
        <a:r>
          <a:rPr lang="en-US"/>
          <a:t>Page ini sdh sy update as discussed 28 Jun, silahkan di review dan comment jika ada yg kurang
[@Donnie Adilaksono] [@Budi] [@Ahmad Zulfikar]</a:t>
        </a:r>
      </a:p>
    </p188:txBody>
  </p188:cm>
</p188:cmLst>
</file>

<file path=ppt/comments/modernComment_36F_EB8B7E5B.xml><?xml version="1.0" encoding="utf-8"?>
<p188:cmLst xmlns:a="http://schemas.openxmlformats.org/drawingml/2006/main" xmlns:r="http://schemas.openxmlformats.org/officeDocument/2006/relationships" xmlns:p188="http://schemas.microsoft.com/office/powerpoint/2018/8/main">
  <p188:cm id="{691FD5B0-75AE-433D-8484-9A15E120FDCB}" authorId="{3663EEB6-B9F6-B660-8CE4-D0F04328F504}" created="2023-06-29T16:49:51.617">
    <ac:deMkLst xmlns:ac="http://schemas.microsoft.com/office/drawing/2013/main/command">
      <pc:docMk xmlns:pc="http://schemas.microsoft.com/office/powerpoint/2013/main/command"/>
      <pc:sldMk xmlns:pc="http://schemas.microsoft.com/office/powerpoint/2013/main/command" cId="3951787611" sldId="879"/>
      <ac:spMk id="6" creationId="{9065DB07-78F4-9529-DA51-A3E9BB24BBCF}"/>
    </ac:deMkLst>
    <p188:replyLst>
      <p188:reply id="{10623327-CBEA-4DAE-9FA5-E145547A38AB}" authorId="{F6256452-CAAD-6B2E-E587-7E0C22DA679D}" created="2023-06-30T01:37:15.625">
        <p188:txBody>
          <a:bodyPr/>
          <a:lstStyle/>
          <a:p>
            <a:r>
              <a:rPr lang="en-US"/>
              <a:t>om [@Zan Denniar Aufa] , untuk export di bagian To-be bukan ke excel melainkan file text sesuai formatnya CAPS.</a:t>
            </a:r>
          </a:p>
        </p188:txBody>
      </p188:reply>
      <p188:reply id="{C923139D-7645-4269-9992-752F10076D59}" authorId="{3663EEB6-B9F6-B660-8CE4-D0F04328F504}" created="2023-06-30T11:37:43.472">
        <p188:txBody>
          <a:bodyPr/>
          <a:lstStyle/>
          <a:p>
            <a:r>
              <a:rPr lang="en-US"/>
              <a:t>Noted and updated om [@Ahmad Zulfikar]</a:t>
            </a:r>
          </a:p>
        </p188:txBody>
      </p188:reply>
    </p188:replyLst>
    <p188:txBody>
      <a:bodyPr/>
      <a:lstStyle/>
      <a:p>
        <a:r>
          <a:rPr lang="en-US"/>
          <a:t>Page ini sdh sy update as discussed 28 Jun, silahkan di review dan comment jika ada yg kurang
[@Donnie Adilaksono] [@Budi] [@Ahmad Zulfikar]</a:t>
        </a:r>
      </a:p>
    </p188:txBody>
  </p188:cm>
</p188:cmLst>
</file>

<file path=ppt/comments/modernComment_386_CDA2B730.xml><?xml version="1.0" encoding="utf-8"?>
<p188:cmLst xmlns:a="http://schemas.openxmlformats.org/drawingml/2006/main" xmlns:r="http://schemas.openxmlformats.org/officeDocument/2006/relationships" xmlns:p188="http://schemas.microsoft.com/office/powerpoint/2018/8/main">
  <p188:cm id="{5223EAE9-B369-409E-AA58-4317966F36A1}" authorId="{3663EEB6-B9F6-B660-8CE4-D0F04328F504}" created="2023-06-29T16:49:51.617">
    <ac:deMkLst xmlns:ac="http://schemas.microsoft.com/office/drawing/2013/main/command">
      <pc:docMk xmlns:pc="http://schemas.microsoft.com/office/powerpoint/2013/main/command"/>
      <pc:sldMk xmlns:pc="http://schemas.microsoft.com/office/powerpoint/2013/main/command" cId="3449993008" sldId="902"/>
      <ac:spMk id="6" creationId="{9065DB07-78F4-9529-DA51-A3E9BB24BBCF}"/>
    </ac:deMkLst>
    <p188:replyLst>
      <p188:reply id="{10623327-CBEA-4DAE-9FA5-E145547A38AB}" authorId="{F6256452-CAAD-6B2E-E587-7E0C22DA679D}" created="2023-06-30T01:37:15.625">
        <p188:txBody>
          <a:bodyPr/>
          <a:lstStyle/>
          <a:p>
            <a:r>
              <a:rPr lang="en-US"/>
              <a:t>om [@Zan Denniar Aufa] , untuk export di bagian To-be bukan ke excel melainkan file text sesuai formatnya CAPS.</a:t>
            </a:r>
          </a:p>
        </p188:txBody>
      </p188:reply>
      <p188:reply id="{C923139D-7645-4269-9992-752F10076D59}" authorId="{3663EEB6-B9F6-B660-8CE4-D0F04328F504}" created="2023-06-30T11:37:43.472">
        <p188:txBody>
          <a:bodyPr/>
          <a:lstStyle/>
          <a:p>
            <a:r>
              <a:rPr lang="en-US"/>
              <a:t>Noted and updated om [@Ahmad Zulfikar]</a:t>
            </a:r>
          </a:p>
        </p188:txBody>
      </p188:reply>
    </p188:replyLst>
    <p188:txBody>
      <a:bodyPr/>
      <a:lstStyle/>
      <a:p>
        <a:r>
          <a:rPr lang="en-US"/>
          <a:t>Page ini sdh sy update as discussed 28 Jun, silahkan di review dan comment jika ada yg kurang
[@Donnie Adilaksono] [@Budi] [@Ahmad Zulfikar]</a:t>
        </a:r>
      </a:p>
    </p188:txBody>
  </p188:cm>
</p188:cmLst>
</file>

<file path=ppt/comments/modernComment_387_87D91A0C.xml><?xml version="1.0" encoding="utf-8"?>
<p188:cmLst xmlns:a="http://schemas.openxmlformats.org/drawingml/2006/main" xmlns:r="http://schemas.openxmlformats.org/officeDocument/2006/relationships" xmlns:p188="http://schemas.microsoft.com/office/powerpoint/2018/8/main">
  <p188:cm id="{669ADC52-025B-483B-BFE2-5866BD5F9D1D}" authorId="{3663EEB6-B9F6-B660-8CE4-D0F04328F504}" created="2023-06-29T16:49:51.617">
    <ac:deMkLst xmlns:ac="http://schemas.microsoft.com/office/drawing/2013/main/command">
      <pc:docMk xmlns:pc="http://schemas.microsoft.com/office/powerpoint/2013/main/command"/>
      <pc:sldMk xmlns:pc="http://schemas.microsoft.com/office/powerpoint/2013/main/command" cId="2279152140" sldId="903"/>
      <ac:spMk id="6" creationId="{9065DB07-78F4-9529-DA51-A3E9BB24BBCF}"/>
    </ac:deMkLst>
    <p188:replyLst>
      <p188:reply id="{10623327-CBEA-4DAE-9FA5-E145547A38AB}" authorId="{F6256452-CAAD-6B2E-E587-7E0C22DA679D}" created="2023-06-30T01:37:15.625">
        <p188:txBody>
          <a:bodyPr/>
          <a:lstStyle/>
          <a:p>
            <a:r>
              <a:rPr lang="en-US"/>
              <a:t>om [@Zan Denniar Aufa] , untuk export di bagian To-be bukan ke excel melainkan file text sesuai formatnya CAPS.</a:t>
            </a:r>
          </a:p>
        </p188:txBody>
      </p188:reply>
      <p188:reply id="{C923139D-7645-4269-9992-752F10076D59}" authorId="{3663EEB6-B9F6-B660-8CE4-D0F04328F504}" created="2023-06-30T11:37:43.472">
        <p188:txBody>
          <a:bodyPr/>
          <a:lstStyle/>
          <a:p>
            <a:r>
              <a:rPr lang="en-US"/>
              <a:t>Noted and updated om [@Ahmad Zulfikar]</a:t>
            </a:r>
          </a:p>
        </p188:txBody>
      </p188:reply>
    </p188:replyLst>
    <p188:txBody>
      <a:bodyPr/>
      <a:lstStyle/>
      <a:p>
        <a:r>
          <a:rPr lang="en-US"/>
          <a:t>Page ini sdh sy update as discussed 28 Jun, silahkan di review dan comment jika ada yg kurang
[@Donnie Adilaksono] [@Budi] [@Ahmad Zulfikar]</a:t>
        </a:r>
      </a:p>
    </p188:txBody>
  </p188:cm>
  <p188:cm id="{F08ED92F-98DE-4518-9B4D-2E7B0EDD7161}" authorId="{53E6F20C-A594-932F-FAD8-9570A0C269C7}" created="2023-07-14T06:44:54.763">
    <ac:txMkLst xmlns:ac="http://schemas.microsoft.com/office/drawing/2013/main/command">
      <pc:docMk xmlns:pc="http://schemas.microsoft.com/office/powerpoint/2013/main/command"/>
      <pc:sldMk xmlns:pc="http://schemas.microsoft.com/office/powerpoint/2013/main/command" cId="2279152140" sldId="903"/>
      <ac:spMk id="4" creationId="{134200FE-FE72-104A-9CC9-F4D669BE92D0}"/>
      <ac:txMk cp="0">
        <ac:context len="1" hash="13"/>
      </ac:txMk>
    </ac:txMkLst>
    <p188:pos x="5890591" y="321979"/>
    <p188:txBody>
      <a:bodyPr/>
      <a:lstStyle/>
      <a:p>
        <a:r>
          <a:rPr lang="en-US"/>
          <a:t>Saya tambahkan (Cont.) di pages yg diperlukan</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96E148-D49C-4C48-AADA-A913E266545C}" type="doc">
      <dgm:prSet loTypeId="urn:microsoft.com/office/officeart/2005/8/layout/arrow2" loCatId="process" qsTypeId="urn:microsoft.com/office/officeart/2005/8/quickstyle/simple1" qsCatId="simple" csTypeId="urn:microsoft.com/office/officeart/2005/8/colors/accent1_2" csCatId="accent1" phldr="1"/>
      <dgm:spPr/>
    </dgm:pt>
    <dgm:pt modelId="{4240C3FF-900D-4089-858C-5BE8A2D0F076}">
      <dgm:prSet phldrT="[Text]" custT="1"/>
      <dgm:spPr/>
      <dgm:t>
        <a:bodyPr/>
        <a:lstStyle/>
        <a:p>
          <a:r>
            <a:rPr lang="en-US" sz="1400" dirty="0"/>
            <a:t>Digitalize Spare Parts Catalog</a:t>
          </a:r>
        </a:p>
      </dgm:t>
    </dgm:pt>
    <dgm:pt modelId="{9EF2054B-A016-4CD0-AEA7-8C57284C21B5}" type="parTrans" cxnId="{1F3C5D75-CF67-4AEA-B75E-5FA991B9EC27}">
      <dgm:prSet/>
      <dgm:spPr/>
      <dgm:t>
        <a:bodyPr/>
        <a:lstStyle/>
        <a:p>
          <a:endParaRPr lang="en-US"/>
        </a:p>
      </dgm:t>
    </dgm:pt>
    <dgm:pt modelId="{5C629C19-A4B5-4381-8420-18FEFA69AC6A}" type="sibTrans" cxnId="{1F3C5D75-CF67-4AEA-B75E-5FA991B9EC27}">
      <dgm:prSet/>
      <dgm:spPr/>
      <dgm:t>
        <a:bodyPr/>
        <a:lstStyle/>
        <a:p>
          <a:endParaRPr lang="en-US"/>
        </a:p>
      </dgm:t>
    </dgm:pt>
    <dgm:pt modelId="{5F3EFC42-62CF-47FA-841C-F3F089C5A2B5}">
      <dgm:prSet phldrT="[Text]" custT="1"/>
      <dgm:spPr/>
      <dgm:t>
        <a:bodyPr/>
        <a:lstStyle/>
        <a:p>
          <a:r>
            <a:rPr lang="en-US" sz="1400" kern="1200" dirty="0">
              <a:solidFill>
                <a:prstClr val="black">
                  <a:hueOff val="0"/>
                  <a:satOff val="0"/>
                  <a:lumOff val="0"/>
                  <a:alphaOff val="0"/>
                </a:prstClr>
              </a:solidFill>
              <a:latin typeface="MMC OFFICE"/>
              <a:ea typeface="ヒラギノ角ゴ StdN W4"/>
              <a:cs typeface="+mn-cs"/>
            </a:rPr>
            <a:t>Inventory Management </a:t>
          </a:r>
        </a:p>
      </dgm:t>
    </dgm:pt>
    <dgm:pt modelId="{622F3CFF-61CE-48EE-AB99-E71E92AD6C88}" type="parTrans" cxnId="{535DDA5A-7AD5-4FD9-B6E7-EAA6FC46E1ED}">
      <dgm:prSet/>
      <dgm:spPr/>
      <dgm:t>
        <a:bodyPr/>
        <a:lstStyle/>
        <a:p>
          <a:endParaRPr lang="en-US"/>
        </a:p>
      </dgm:t>
    </dgm:pt>
    <dgm:pt modelId="{5CA35CC3-7E34-44B3-823D-11047C22CAE3}" type="sibTrans" cxnId="{535DDA5A-7AD5-4FD9-B6E7-EAA6FC46E1ED}">
      <dgm:prSet/>
      <dgm:spPr/>
      <dgm:t>
        <a:bodyPr/>
        <a:lstStyle/>
        <a:p>
          <a:endParaRPr lang="en-US"/>
        </a:p>
      </dgm:t>
    </dgm:pt>
    <dgm:pt modelId="{EDF8E4EE-1411-40BB-9F63-B32E196E9547}">
      <dgm:prSet phldrT="[Text]" custT="1"/>
      <dgm:spPr/>
      <dgm:t>
        <a:bodyPr/>
        <a:lstStyle/>
        <a:p>
          <a:r>
            <a:rPr lang="en-US" sz="1400" dirty="0">
              <a:solidFill>
                <a:prstClr val="black">
                  <a:hueOff val="0"/>
                  <a:satOff val="0"/>
                  <a:lumOff val="0"/>
                  <a:alphaOff val="0"/>
                </a:prstClr>
              </a:solidFill>
              <a:latin typeface="MMC OFFICE"/>
              <a:ea typeface="ヒラギノ角ゴ StdN W4"/>
              <a:cs typeface="+mn-cs"/>
            </a:rPr>
            <a:t>AI Implementation – Sales Prediction</a:t>
          </a:r>
          <a:endParaRPr lang="en-US" sz="1400" dirty="0"/>
        </a:p>
      </dgm:t>
    </dgm:pt>
    <dgm:pt modelId="{09C322D9-36CA-4706-9BA1-E76014F977EE}" type="parTrans" cxnId="{D8243245-BC01-4964-8F17-C5B3D6C3C131}">
      <dgm:prSet/>
      <dgm:spPr/>
      <dgm:t>
        <a:bodyPr/>
        <a:lstStyle/>
        <a:p>
          <a:endParaRPr lang="en-US"/>
        </a:p>
      </dgm:t>
    </dgm:pt>
    <dgm:pt modelId="{465B0957-6277-4415-8394-B43BDD667944}" type="sibTrans" cxnId="{D8243245-BC01-4964-8F17-C5B3D6C3C131}">
      <dgm:prSet/>
      <dgm:spPr/>
      <dgm:t>
        <a:bodyPr/>
        <a:lstStyle/>
        <a:p>
          <a:endParaRPr lang="en-US"/>
        </a:p>
      </dgm:t>
    </dgm:pt>
    <dgm:pt modelId="{BFB2D33E-C526-4175-B8BC-C49CC5979422}">
      <dgm:prSet phldrT="[Text]" custT="1"/>
      <dgm:spPr/>
      <dgm:t>
        <a:bodyPr/>
        <a:lstStyle/>
        <a:p>
          <a:r>
            <a:rPr lang="en-US" sz="1400" kern="1200" dirty="0">
              <a:solidFill>
                <a:prstClr val="black">
                  <a:hueOff val="0"/>
                  <a:satOff val="0"/>
                  <a:lumOff val="0"/>
                  <a:alphaOff val="0"/>
                </a:prstClr>
              </a:solidFill>
              <a:latin typeface="MMC OFFICE"/>
              <a:ea typeface="ヒラギノ角ゴ StdN W4"/>
              <a:cs typeface="+mn-cs"/>
            </a:rPr>
            <a:t> MMKSI </a:t>
          </a:r>
        </a:p>
        <a:p>
          <a:r>
            <a:rPr lang="en-US" sz="1400" kern="1200" dirty="0">
              <a:solidFill>
                <a:prstClr val="black">
                  <a:hueOff val="0"/>
                  <a:satOff val="0"/>
                  <a:lumOff val="0"/>
                  <a:alphaOff val="0"/>
                </a:prstClr>
              </a:solidFill>
              <a:latin typeface="MMC OFFICE"/>
              <a:ea typeface="ヒラギノ角ゴ StdN W4"/>
              <a:cs typeface="+mn-cs"/>
            </a:rPr>
            <a:t>E-Commerce Spare Parts</a:t>
          </a:r>
        </a:p>
      </dgm:t>
    </dgm:pt>
    <dgm:pt modelId="{C6F170EE-07BB-4843-BB3E-C1C6CDACDEC2}" type="parTrans" cxnId="{7D5F4B99-64A5-4143-832C-E3D7C495307F}">
      <dgm:prSet/>
      <dgm:spPr/>
      <dgm:t>
        <a:bodyPr/>
        <a:lstStyle/>
        <a:p>
          <a:endParaRPr lang="en-US"/>
        </a:p>
      </dgm:t>
    </dgm:pt>
    <dgm:pt modelId="{78B9C5B3-68EB-446D-BCE9-1A255E4B25E1}" type="sibTrans" cxnId="{7D5F4B99-64A5-4143-832C-E3D7C495307F}">
      <dgm:prSet/>
      <dgm:spPr/>
      <dgm:t>
        <a:bodyPr/>
        <a:lstStyle/>
        <a:p>
          <a:endParaRPr lang="en-US"/>
        </a:p>
      </dgm:t>
    </dgm:pt>
    <dgm:pt modelId="{664640FA-A0C1-4242-BCF8-70BEE20B4A0D}" type="pres">
      <dgm:prSet presAssocID="{6696E148-D49C-4C48-AADA-A913E266545C}" presName="arrowDiagram" presStyleCnt="0">
        <dgm:presLayoutVars>
          <dgm:chMax val="5"/>
          <dgm:dir/>
          <dgm:resizeHandles val="exact"/>
        </dgm:presLayoutVars>
      </dgm:prSet>
      <dgm:spPr/>
    </dgm:pt>
    <dgm:pt modelId="{7392452B-16B5-43CC-97AC-870896F6B30A}" type="pres">
      <dgm:prSet presAssocID="{6696E148-D49C-4C48-AADA-A913E266545C}" presName="arrow" presStyleLbl="bgShp" presStyleIdx="0" presStyleCnt="1" custLinFactNeighborX="2392" custLinFactNeighborY="-3908"/>
      <dgm:spPr/>
    </dgm:pt>
    <dgm:pt modelId="{04AD86A4-FE94-4236-A9D3-04857978F931}" type="pres">
      <dgm:prSet presAssocID="{6696E148-D49C-4C48-AADA-A913E266545C}" presName="arrowDiagram4" presStyleCnt="0"/>
      <dgm:spPr/>
    </dgm:pt>
    <dgm:pt modelId="{9F174381-E6B7-4512-88B9-DB772822E583}" type="pres">
      <dgm:prSet presAssocID="{4240C3FF-900D-4089-858C-5BE8A2D0F076}" presName="bullet4a" presStyleLbl="node1" presStyleIdx="0" presStyleCnt="4"/>
      <dgm:spPr/>
    </dgm:pt>
    <dgm:pt modelId="{2B03DD09-7DF8-4E4C-987D-927C76F10ABF}" type="pres">
      <dgm:prSet presAssocID="{4240C3FF-900D-4089-858C-5BE8A2D0F076}" presName="textBox4a" presStyleLbl="revTx" presStyleIdx="0" presStyleCnt="4">
        <dgm:presLayoutVars>
          <dgm:bulletEnabled val="1"/>
        </dgm:presLayoutVars>
      </dgm:prSet>
      <dgm:spPr/>
    </dgm:pt>
    <dgm:pt modelId="{8EB18CDC-3EBD-4BFE-B935-56DEA26368B0}" type="pres">
      <dgm:prSet presAssocID="{5F3EFC42-62CF-47FA-841C-F3F089C5A2B5}" presName="bullet4b" presStyleLbl="node1" presStyleIdx="1" presStyleCnt="4"/>
      <dgm:spPr/>
    </dgm:pt>
    <dgm:pt modelId="{E9C7AD66-DF07-4127-B4AD-809287420805}" type="pres">
      <dgm:prSet presAssocID="{5F3EFC42-62CF-47FA-841C-F3F089C5A2B5}" presName="textBox4b" presStyleLbl="revTx" presStyleIdx="1" presStyleCnt="4">
        <dgm:presLayoutVars>
          <dgm:bulletEnabled val="1"/>
        </dgm:presLayoutVars>
      </dgm:prSet>
      <dgm:spPr/>
    </dgm:pt>
    <dgm:pt modelId="{3F7B0E7D-1108-4443-8527-7323F4E59687}" type="pres">
      <dgm:prSet presAssocID="{BFB2D33E-C526-4175-B8BC-C49CC5979422}" presName="bullet4c" presStyleLbl="node1" presStyleIdx="2" presStyleCnt="4"/>
      <dgm:spPr/>
    </dgm:pt>
    <dgm:pt modelId="{64726DE6-1903-4F05-BCEA-84CAFAE78A8A}" type="pres">
      <dgm:prSet presAssocID="{BFB2D33E-C526-4175-B8BC-C49CC5979422}" presName="textBox4c" presStyleLbl="revTx" presStyleIdx="2" presStyleCnt="4">
        <dgm:presLayoutVars>
          <dgm:bulletEnabled val="1"/>
        </dgm:presLayoutVars>
      </dgm:prSet>
      <dgm:spPr/>
    </dgm:pt>
    <dgm:pt modelId="{BF367243-35A1-43A7-9BCE-CC8BC914B83B}" type="pres">
      <dgm:prSet presAssocID="{EDF8E4EE-1411-40BB-9F63-B32E196E9547}" presName="bullet4d" presStyleLbl="node1" presStyleIdx="3" presStyleCnt="4"/>
      <dgm:spPr/>
    </dgm:pt>
    <dgm:pt modelId="{684C895F-160F-4BAE-BD23-F6C8EFD421DD}" type="pres">
      <dgm:prSet presAssocID="{EDF8E4EE-1411-40BB-9F63-B32E196E9547}" presName="textBox4d" presStyleLbl="revTx" presStyleIdx="3" presStyleCnt="4">
        <dgm:presLayoutVars>
          <dgm:bulletEnabled val="1"/>
        </dgm:presLayoutVars>
      </dgm:prSet>
      <dgm:spPr/>
    </dgm:pt>
  </dgm:ptLst>
  <dgm:cxnLst>
    <dgm:cxn modelId="{C86DE029-0083-4151-AD13-ADCD718CF826}" type="presOf" srcId="{4240C3FF-900D-4089-858C-5BE8A2D0F076}" destId="{2B03DD09-7DF8-4E4C-987D-927C76F10ABF}" srcOrd="0" destOrd="0" presId="urn:microsoft.com/office/officeart/2005/8/layout/arrow2"/>
    <dgm:cxn modelId="{D8243245-BC01-4964-8F17-C5B3D6C3C131}" srcId="{6696E148-D49C-4C48-AADA-A913E266545C}" destId="{EDF8E4EE-1411-40BB-9F63-B32E196E9547}" srcOrd="3" destOrd="0" parTransId="{09C322D9-36CA-4706-9BA1-E76014F977EE}" sibTransId="{465B0957-6277-4415-8394-B43BDD667944}"/>
    <dgm:cxn modelId="{CCB15274-229C-4003-B91B-64C3261F1FA6}" type="presOf" srcId="{BFB2D33E-C526-4175-B8BC-C49CC5979422}" destId="{64726DE6-1903-4F05-BCEA-84CAFAE78A8A}" srcOrd="0" destOrd="0" presId="urn:microsoft.com/office/officeart/2005/8/layout/arrow2"/>
    <dgm:cxn modelId="{1F3C5D75-CF67-4AEA-B75E-5FA991B9EC27}" srcId="{6696E148-D49C-4C48-AADA-A913E266545C}" destId="{4240C3FF-900D-4089-858C-5BE8A2D0F076}" srcOrd="0" destOrd="0" parTransId="{9EF2054B-A016-4CD0-AEA7-8C57284C21B5}" sibTransId="{5C629C19-A4B5-4381-8420-18FEFA69AC6A}"/>
    <dgm:cxn modelId="{3691AE75-E51A-4E75-A19F-EDED00DAA5B2}" type="presOf" srcId="{5F3EFC42-62CF-47FA-841C-F3F089C5A2B5}" destId="{E9C7AD66-DF07-4127-B4AD-809287420805}" srcOrd="0" destOrd="0" presId="urn:microsoft.com/office/officeart/2005/8/layout/arrow2"/>
    <dgm:cxn modelId="{535DDA5A-7AD5-4FD9-B6E7-EAA6FC46E1ED}" srcId="{6696E148-D49C-4C48-AADA-A913E266545C}" destId="{5F3EFC42-62CF-47FA-841C-F3F089C5A2B5}" srcOrd="1" destOrd="0" parTransId="{622F3CFF-61CE-48EE-AB99-E71E92AD6C88}" sibTransId="{5CA35CC3-7E34-44B3-823D-11047C22CAE3}"/>
    <dgm:cxn modelId="{7D5F4B99-64A5-4143-832C-E3D7C495307F}" srcId="{6696E148-D49C-4C48-AADA-A913E266545C}" destId="{BFB2D33E-C526-4175-B8BC-C49CC5979422}" srcOrd="2" destOrd="0" parTransId="{C6F170EE-07BB-4843-BB3E-C1C6CDACDEC2}" sibTransId="{78B9C5B3-68EB-446D-BCE9-1A255E4B25E1}"/>
    <dgm:cxn modelId="{C0CD58A8-098D-4A9D-9AE0-DFD2EB9D35A1}" type="presOf" srcId="{EDF8E4EE-1411-40BB-9F63-B32E196E9547}" destId="{684C895F-160F-4BAE-BD23-F6C8EFD421DD}" srcOrd="0" destOrd="0" presId="urn:microsoft.com/office/officeart/2005/8/layout/arrow2"/>
    <dgm:cxn modelId="{464827DC-23CE-41D8-9DA9-8B83F1A9762B}" type="presOf" srcId="{6696E148-D49C-4C48-AADA-A913E266545C}" destId="{664640FA-A0C1-4242-BCF8-70BEE20B4A0D}" srcOrd="0" destOrd="0" presId="urn:microsoft.com/office/officeart/2005/8/layout/arrow2"/>
    <dgm:cxn modelId="{CC417999-40DD-40FB-8513-22736C5AF88F}" type="presParOf" srcId="{664640FA-A0C1-4242-BCF8-70BEE20B4A0D}" destId="{7392452B-16B5-43CC-97AC-870896F6B30A}" srcOrd="0" destOrd="0" presId="urn:microsoft.com/office/officeart/2005/8/layout/arrow2"/>
    <dgm:cxn modelId="{2737A037-D544-4CBA-B212-751B74D355F1}" type="presParOf" srcId="{664640FA-A0C1-4242-BCF8-70BEE20B4A0D}" destId="{04AD86A4-FE94-4236-A9D3-04857978F931}" srcOrd="1" destOrd="0" presId="urn:microsoft.com/office/officeart/2005/8/layout/arrow2"/>
    <dgm:cxn modelId="{1FA94CA6-F2BF-48EB-870C-C5D3F6B46C47}" type="presParOf" srcId="{04AD86A4-FE94-4236-A9D3-04857978F931}" destId="{9F174381-E6B7-4512-88B9-DB772822E583}" srcOrd="0" destOrd="0" presId="urn:microsoft.com/office/officeart/2005/8/layout/arrow2"/>
    <dgm:cxn modelId="{BB8032EC-6774-4B13-ACD1-F32A48B4C530}" type="presParOf" srcId="{04AD86A4-FE94-4236-A9D3-04857978F931}" destId="{2B03DD09-7DF8-4E4C-987D-927C76F10ABF}" srcOrd="1" destOrd="0" presId="urn:microsoft.com/office/officeart/2005/8/layout/arrow2"/>
    <dgm:cxn modelId="{A2391D78-4F92-461D-9730-70B1589ACF7E}" type="presParOf" srcId="{04AD86A4-FE94-4236-A9D3-04857978F931}" destId="{8EB18CDC-3EBD-4BFE-B935-56DEA26368B0}" srcOrd="2" destOrd="0" presId="urn:microsoft.com/office/officeart/2005/8/layout/arrow2"/>
    <dgm:cxn modelId="{18796788-F376-418D-B9C6-241A7E2D71C3}" type="presParOf" srcId="{04AD86A4-FE94-4236-A9D3-04857978F931}" destId="{E9C7AD66-DF07-4127-B4AD-809287420805}" srcOrd="3" destOrd="0" presId="urn:microsoft.com/office/officeart/2005/8/layout/arrow2"/>
    <dgm:cxn modelId="{0CEEFB1C-08EC-4A14-851D-08EC23502665}" type="presParOf" srcId="{04AD86A4-FE94-4236-A9D3-04857978F931}" destId="{3F7B0E7D-1108-4443-8527-7323F4E59687}" srcOrd="4" destOrd="0" presId="urn:microsoft.com/office/officeart/2005/8/layout/arrow2"/>
    <dgm:cxn modelId="{B4C682FA-5C3B-45E2-AAD5-D38152BF7320}" type="presParOf" srcId="{04AD86A4-FE94-4236-A9D3-04857978F931}" destId="{64726DE6-1903-4F05-BCEA-84CAFAE78A8A}" srcOrd="5" destOrd="0" presId="urn:microsoft.com/office/officeart/2005/8/layout/arrow2"/>
    <dgm:cxn modelId="{66FAB6C0-4C7D-4D7C-85CB-7AC03368E65D}" type="presParOf" srcId="{04AD86A4-FE94-4236-A9D3-04857978F931}" destId="{BF367243-35A1-43A7-9BCE-CC8BC914B83B}" srcOrd="6" destOrd="0" presId="urn:microsoft.com/office/officeart/2005/8/layout/arrow2"/>
    <dgm:cxn modelId="{1F7AE1E1-AA6C-4F02-A320-EF78981DAF09}" type="presParOf" srcId="{04AD86A4-FE94-4236-A9D3-04857978F931}" destId="{684C895F-160F-4BAE-BD23-F6C8EFD421DD}" srcOrd="7"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3EAAD4-D3B9-4F65-9231-0D42501B766F}" type="doc">
      <dgm:prSet loTypeId="urn:microsoft.com/office/officeart/2005/8/layout/vList3" loCatId="list" qsTypeId="urn:microsoft.com/office/officeart/2005/8/quickstyle/simple1" qsCatId="simple" csTypeId="urn:microsoft.com/office/officeart/2005/8/colors/colorful1" csCatId="colorful" phldr="1"/>
      <dgm:spPr/>
      <dgm:t>
        <a:bodyPr/>
        <a:lstStyle/>
        <a:p>
          <a:endParaRPr lang="en-US"/>
        </a:p>
      </dgm:t>
    </dgm:pt>
    <dgm:pt modelId="{CBB3826F-3821-416B-8C55-C29EAEA9290D}">
      <dgm:prSet phldrT="[Text]"/>
      <dgm:spPr>
        <a:solidFill>
          <a:schemeClr val="accent2">
            <a:hueOff val="0"/>
            <a:satOff val="0"/>
            <a:lumOff val="0"/>
            <a:alpha val="60000"/>
          </a:schemeClr>
        </a:solidFill>
      </dgm:spPr>
      <dgm:t>
        <a:bodyPr/>
        <a:lstStyle/>
        <a:p>
          <a:pPr algn="l"/>
          <a:r>
            <a:rPr lang="en-US" dirty="0"/>
            <a:t>Quick Wins (High Impact, Low Effort)</a:t>
          </a:r>
        </a:p>
      </dgm:t>
    </dgm:pt>
    <dgm:pt modelId="{E30179A2-9A18-48A3-AC52-FE697EAC7B66}" type="parTrans" cxnId="{E663AF46-FDED-4885-9337-D8C45E4B3392}">
      <dgm:prSet/>
      <dgm:spPr/>
      <dgm:t>
        <a:bodyPr/>
        <a:lstStyle/>
        <a:p>
          <a:pPr algn="l"/>
          <a:endParaRPr lang="en-US"/>
        </a:p>
      </dgm:t>
    </dgm:pt>
    <dgm:pt modelId="{6919F158-5467-42FD-BF02-62C6718B55E6}" type="sibTrans" cxnId="{E663AF46-FDED-4885-9337-D8C45E4B3392}">
      <dgm:prSet/>
      <dgm:spPr/>
      <dgm:t>
        <a:bodyPr/>
        <a:lstStyle/>
        <a:p>
          <a:pPr algn="l"/>
          <a:endParaRPr lang="en-US"/>
        </a:p>
      </dgm:t>
    </dgm:pt>
    <dgm:pt modelId="{254EE6C6-4F3E-4E89-BDA1-504C0602A48D}">
      <dgm:prSet phldrT="[Text]"/>
      <dgm:spPr>
        <a:solidFill>
          <a:schemeClr val="accent3">
            <a:hueOff val="0"/>
            <a:satOff val="0"/>
            <a:lumOff val="0"/>
            <a:alpha val="76000"/>
          </a:schemeClr>
        </a:solidFill>
      </dgm:spPr>
      <dgm:t>
        <a:bodyPr/>
        <a:lstStyle/>
        <a:p>
          <a:pPr algn="l"/>
          <a:r>
            <a:rPr lang="en-US" dirty="0"/>
            <a:t>Transformational Project (High Impact, High Effort)</a:t>
          </a:r>
        </a:p>
      </dgm:t>
    </dgm:pt>
    <dgm:pt modelId="{6C4DAC0B-0F6D-4063-B205-542C4A2CD228}" type="parTrans" cxnId="{B0D4BB44-B043-447D-A6DC-580CF494397A}">
      <dgm:prSet/>
      <dgm:spPr/>
      <dgm:t>
        <a:bodyPr/>
        <a:lstStyle/>
        <a:p>
          <a:pPr algn="l"/>
          <a:endParaRPr lang="en-US"/>
        </a:p>
      </dgm:t>
    </dgm:pt>
    <dgm:pt modelId="{173FAB1A-C8E9-4C95-9AA3-58AC548BC5C4}" type="sibTrans" cxnId="{B0D4BB44-B043-447D-A6DC-580CF494397A}">
      <dgm:prSet/>
      <dgm:spPr/>
      <dgm:t>
        <a:bodyPr/>
        <a:lstStyle/>
        <a:p>
          <a:pPr algn="l"/>
          <a:endParaRPr lang="en-US"/>
        </a:p>
      </dgm:t>
    </dgm:pt>
    <dgm:pt modelId="{0CFE36BC-E0B8-41C1-90B6-E96B59BD4458}">
      <dgm:prSet phldrT="[Text]"/>
      <dgm:spPr>
        <a:solidFill>
          <a:schemeClr val="accent4">
            <a:hueOff val="0"/>
            <a:satOff val="0"/>
            <a:lumOff val="0"/>
            <a:alpha val="72000"/>
          </a:schemeClr>
        </a:solidFill>
      </dgm:spPr>
      <dgm:t>
        <a:bodyPr/>
        <a:lstStyle/>
        <a:p>
          <a:pPr algn="l"/>
          <a:r>
            <a:rPr lang="en-US" dirty="0"/>
            <a:t>“Fill Ins” (Low Impact , Low Effort)</a:t>
          </a:r>
        </a:p>
      </dgm:t>
    </dgm:pt>
    <dgm:pt modelId="{C403ECB2-6DBB-41A4-A398-3A607C714B8D}" type="parTrans" cxnId="{E298B1D4-7B5F-43AF-B4E3-8FF2681859EB}">
      <dgm:prSet/>
      <dgm:spPr/>
      <dgm:t>
        <a:bodyPr/>
        <a:lstStyle/>
        <a:p>
          <a:pPr algn="l"/>
          <a:endParaRPr lang="en-US"/>
        </a:p>
      </dgm:t>
    </dgm:pt>
    <dgm:pt modelId="{CE957E6B-4432-4F2A-9B90-3B9810E32A27}" type="sibTrans" cxnId="{E298B1D4-7B5F-43AF-B4E3-8FF2681859EB}">
      <dgm:prSet/>
      <dgm:spPr/>
      <dgm:t>
        <a:bodyPr/>
        <a:lstStyle/>
        <a:p>
          <a:pPr algn="l"/>
          <a:endParaRPr lang="en-US"/>
        </a:p>
      </dgm:t>
    </dgm:pt>
    <dgm:pt modelId="{CE5B9B43-E23C-43D9-BDE0-F7C606C567CD}">
      <dgm:prSet phldrT="[Text]"/>
      <dgm:spPr>
        <a:solidFill>
          <a:schemeClr val="accent5">
            <a:hueOff val="0"/>
            <a:satOff val="0"/>
            <a:lumOff val="0"/>
            <a:alpha val="75000"/>
          </a:schemeClr>
        </a:solidFill>
      </dgm:spPr>
      <dgm:t>
        <a:bodyPr/>
        <a:lstStyle/>
        <a:p>
          <a:pPr algn="l"/>
          <a:r>
            <a:rPr lang="en-US" dirty="0"/>
            <a:t>“Money Pits” (Low Impact , High Effort” </a:t>
          </a:r>
        </a:p>
      </dgm:t>
    </dgm:pt>
    <dgm:pt modelId="{849DE489-7121-4172-AC82-4C008D0B78AD}" type="parTrans" cxnId="{D6A997CB-5F83-49A6-9B3B-F69CC8B14792}">
      <dgm:prSet/>
      <dgm:spPr/>
      <dgm:t>
        <a:bodyPr/>
        <a:lstStyle/>
        <a:p>
          <a:pPr algn="l"/>
          <a:endParaRPr lang="en-US"/>
        </a:p>
      </dgm:t>
    </dgm:pt>
    <dgm:pt modelId="{228FB345-54EE-4AB7-81E0-3CFA91B6CAAC}" type="sibTrans" cxnId="{D6A997CB-5F83-49A6-9B3B-F69CC8B14792}">
      <dgm:prSet/>
      <dgm:spPr/>
      <dgm:t>
        <a:bodyPr/>
        <a:lstStyle/>
        <a:p>
          <a:pPr algn="l"/>
          <a:endParaRPr lang="en-US"/>
        </a:p>
      </dgm:t>
    </dgm:pt>
    <dgm:pt modelId="{84A5381E-255C-4E19-B91F-0C1473B48186}" type="pres">
      <dgm:prSet presAssocID="{D83EAAD4-D3B9-4F65-9231-0D42501B766F}" presName="linearFlow" presStyleCnt="0">
        <dgm:presLayoutVars>
          <dgm:dir/>
          <dgm:resizeHandles val="exact"/>
        </dgm:presLayoutVars>
      </dgm:prSet>
      <dgm:spPr/>
    </dgm:pt>
    <dgm:pt modelId="{0B282027-DFC8-48D9-96C5-D6446571583D}" type="pres">
      <dgm:prSet presAssocID="{CBB3826F-3821-416B-8C55-C29EAEA9290D}" presName="composite" presStyleCnt="0"/>
      <dgm:spPr/>
    </dgm:pt>
    <dgm:pt modelId="{0B89668E-5975-4551-B972-7F1CD5FE3882}" type="pres">
      <dgm:prSet presAssocID="{CBB3826F-3821-416B-8C55-C29EAEA9290D}" presName="imgShp" presStyleLbl="fgImgPlace1" presStyleIdx="0" presStyleCnt="4"/>
      <dgm:spPr>
        <a:noFill/>
      </dgm:spPr>
    </dgm:pt>
    <dgm:pt modelId="{887FE507-5F4A-4CFC-94F6-755306426CE4}" type="pres">
      <dgm:prSet presAssocID="{CBB3826F-3821-416B-8C55-C29EAEA9290D}" presName="txShp" presStyleLbl="node1" presStyleIdx="0" presStyleCnt="4">
        <dgm:presLayoutVars>
          <dgm:bulletEnabled val="1"/>
        </dgm:presLayoutVars>
      </dgm:prSet>
      <dgm:spPr/>
    </dgm:pt>
    <dgm:pt modelId="{1E08C764-DFED-40B2-869F-6B5AC7E4E67A}" type="pres">
      <dgm:prSet presAssocID="{6919F158-5467-42FD-BF02-62C6718B55E6}" presName="spacing" presStyleCnt="0"/>
      <dgm:spPr/>
    </dgm:pt>
    <dgm:pt modelId="{3058782E-6719-4F8C-9995-1F73BFC0DD59}" type="pres">
      <dgm:prSet presAssocID="{254EE6C6-4F3E-4E89-BDA1-504C0602A48D}" presName="composite" presStyleCnt="0"/>
      <dgm:spPr/>
    </dgm:pt>
    <dgm:pt modelId="{CFF34B0E-B3E7-4CEA-8793-231F91FC0F3D}" type="pres">
      <dgm:prSet presAssocID="{254EE6C6-4F3E-4E89-BDA1-504C0602A48D}" presName="imgShp" presStyleLbl="fgImgPlace1" presStyleIdx="1" presStyleCnt="4"/>
      <dgm:spPr>
        <a:noFill/>
      </dgm:spPr>
    </dgm:pt>
    <dgm:pt modelId="{3244A89C-8777-4366-861B-FC8CF8B938DD}" type="pres">
      <dgm:prSet presAssocID="{254EE6C6-4F3E-4E89-BDA1-504C0602A48D}" presName="txShp" presStyleLbl="node1" presStyleIdx="1" presStyleCnt="4">
        <dgm:presLayoutVars>
          <dgm:bulletEnabled val="1"/>
        </dgm:presLayoutVars>
      </dgm:prSet>
      <dgm:spPr/>
    </dgm:pt>
    <dgm:pt modelId="{61072A85-43CD-448E-BA02-FEDEB3E7C3D0}" type="pres">
      <dgm:prSet presAssocID="{173FAB1A-C8E9-4C95-9AA3-58AC548BC5C4}" presName="spacing" presStyleCnt="0"/>
      <dgm:spPr/>
    </dgm:pt>
    <dgm:pt modelId="{9D5C0143-C2E0-4345-9FF8-815335AE5C96}" type="pres">
      <dgm:prSet presAssocID="{0CFE36BC-E0B8-41C1-90B6-E96B59BD4458}" presName="composite" presStyleCnt="0"/>
      <dgm:spPr/>
    </dgm:pt>
    <dgm:pt modelId="{B36E5201-3337-4C4C-BA5B-37628A85CB90}" type="pres">
      <dgm:prSet presAssocID="{0CFE36BC-E0B8-41C1-90B6-E96B59BD4458}" presName="imgShp" presStyleLbl="fgImgPlace1" presStyleIdx="2" presStyleCnt="4"/>
      <dgm:spPr>
        <a:noFill/>
      </dgm:spPr>
    </dgm:pt>
    <dgm:pt modelId="{33472144-EB48-4E9A-952E-3D4B05AC1BA8}" type="pres">
      <dgm:prSet presAssocID="{0CFE36BC-E0B8-41C1-90B6-E96B59BD4458}" presName="txShp" presStyleLbl="node1" presStyleIdx="2" presStyleCnt="4">
        <dgm:presLayoutVars>
          <dgm:bulletEnabled val="1"/>
        </dgm:presLayoutVars>
      </dgm:prSet>
      <dgm:spPr/>
    </dgm:pt>
    <dgm:pt modelId="{5BD98EBC-EDFD-499E-988C-F38EF8D926B6}" type="pres">
      <dgm:prSet presAssocID="{CE957E6B-4432-4F2A-9B90-3B9810E32A27}" presName="spacing" presStyleCnt="0"/>
      <dgm:spPr/>
    </dgm:pt>
    <dgm:pt modelId="{B87C6547-0355-44A9-AF39-2A397D89F012}" type="pres">
      <dgm:prSet presAssocID="{CE5B9B43-E23C-43D9-BDE0-F7C606C567CD}" presName="composite" presStyleCnt="0"/>
      <dgm:spPr/>
    </dgm:pt>
    <dgm:pt modelId="{7FB3B073-B503-4783-80B2-E9D3561AA57F}" type="pres">
      <dgm:prSet presAssocID="{CE5B9B43-E23C-43D9-BDE0-F7C606C567CD}" presName="imgShp" presStyleLbl="fgImgPlace1" presStyleIdx="3" presStyleCnt="4"/>
      <dgm:spPr>
        <a:noFill/>
      </dgm:spPr>
    </dgm:pt>
    <dgm:pt modelId="{E818416A-8396-41F8-BCD0-A2190CD314E8}" type="pres">
      <dgm:prSet presAssocID="{CE5B9B43-E23C-43D9-BDE0-F7C606C567CD}" presName="txShp" presStyleLbl="node1" presStyleIdx="3" presStyleCnt="4">
        <dgm:presLayoutVars>
          <dgm:bulletEnabled val="1"/>
        </dgm:presLayoutVars>
      </dgm:prSet>
      <dgm:spPr/>
    </dgm:pt>
  </dgm:ptLst>
  <dgm:cxnLst>
    <dgm:cxn modelId="{8BD7CE0A-1703-4E0E-8C4F-8C17DC335F6F}" type="presOf" srcId="{254EE6C6-4F3E-4E89-BDA1-504C0602A48D}" destId="{3244A89C-8777-4366-861B-FC8CF8B938DD}" srcOrd="0" destOrd="0" presId="urn:microsoft.com/office/officeart/2005/8/layout/vList3"/>
    <dgm:cxn modelId="{7F3E303D-66A6-4F6A-93FA-616C6D8CEB7C}" type="presOf" srcId="{D83EAAD4-D3B9-4F65-9231-0D42501B766F}" destId="{84A5381E-255C-4E19-B91F-0C1473B48186}" srcOrd="0" destOrd="0" presId="urn:microsoft.com/office/officeart/2005/8/layout/vList3"/>
    <dgm:cxn modelId="{B0D4BB44-B043-447D-A6DC-580CF494397A}" srcId="{D83EAAD4-D3B9-4F65-9231-0D42501B766F}" destId="{254EE6C6-4F3E-4E89-BDA1-504C0602A48D}" srcOrd="1" destOrd="0" parTransId="{6C4DAC0B-0F6D-4063-B205-542C4A2CD228}" sibTransId="{173FAB1A-C8E9-4C95-9AA3-58AC548BC5C4}"/>
    <dgm:cxn modelId="{E663AF46-FDED-4885-9337-D8C45E4B3392}" srcId="{D83EAAD4-D3B9-4F65-9231-0D42501B766F}" destId="{CBB3826F-3821-416B-8C55-C29EAEA9290D}" srcOrd="0" destOrd="0" parTransId="{E30179A2-9A18-48A3-AC52-FE697EAC7B66}" sibTransId="{6919F158-5467-42FD-BF02-62C6718B55E6}"/>
    <dgm:cxn modelId="{62ADBF79-D3BB-4F35-8A7C-E0AC8D987349}" type="presOf" srcId="{0CFE36BC-E0B8-41C1-90B6-E96B59BD4458}" destId="{33472144-EB48-4E9A-952E-3D4B05AC1BA8}" srcOrd="0" destOrd="0" presId="urn:microsoft.com/office/officeart/2005/8/layout/vList3"/>
    <dgm:cxn modelId="{85CFBFAF-3A7C-4926-B4B1-726A2EE3FC9E}" type="presOf" srcId="{CBB3826F-3821-416B-8C55-C29EAEA9290D}" destId="{887FE507-5F4A-4CFC-94F6-755306426CE4}" srcOrd="0" destOrd="0" presId="urn:microsoft.com/office/officeart/2005/8/layout/vList3"/>
    <dgm:cxn modelId="{D6A997CB-5F83-49A6-9B3B-F69CC8B14792}" srcId="{D83EAAD4-D3B9-4F65-9231-0D42501B766F}" destId="{CE5B9B43-E23C-43D9-BDE0-F7C606C567CD}" srcOrd="3" destOrd="0" parTransId="{849DE489-7121-4172-AC82-4C008D0B78AD}" sibTransId="{228FB345-54EE-4AB7-81E0-3CFA91B6CAAC}"/>
    <dgm:cxn modelId="{E298B1D4-7B5F-43AF-B4E3-8FF2681859EB}" srcId="{D83EAAD4-D3B9-4F65-9231-0D42501B766F}" destId="{0CFE36BC-E0B8-41C1-90B6-E96B59BD4458}" srcOrd="2" destOrd="0" parTransId="{C403ECB2-6DBB-41A4-A398-3A607C714B8D}" sibTransId="{CE957E6B-4432-4F2A-9B90-3B9810E32A27}"/>
    <dgm:cxn modelId="{D113C8D4-32ED-4C31-A40F-3EBBDBA6C93C}" type="presOf" srcId="{CE5B9B43-E23C-43D9-BDE0-F7C606C567CD}" destId="{E818416A-8396-41F8-BCD0-A2190CD314E8}" srcOrd="0" destOrd="0" presId="urn:microsoft.com/office/officeart/2005/8/layout/vList3"/>
    <dgm:cxn modelId="{CCF824B0-2F77-456A-BE47-1FC72DEBA2CE}" type="presParOf" srcId="{84A5381E-255C-4E19-B91F-0C1473B48186}" destId="{0B282027-DFC8-48D9-96C5-D6446571583D}" srcOrd="0" destOrd="0" presId="urn:microsoft.com/office/officeart/2005/8/layout/vList3"/>
    <dgm:cxn modelId="{C44D5C95-FEB4-4BC1-88D6-8E7C436AA2AA}" type="presParOf" srcId="{0B282027-DFC8-48D9-96C5-D6446571583D}" destId="{0B89668E-5975-4551-B972-7F1CD5FE3882}" srcOrd="0" destOrd="0" presId="urn:microsoft.com/office/officeart/2005/8/layout/vList3"/>
    <dgm:cxn modelId="{7C965659-42F8-4828-94FC-E4D9B09BF259}" type="presParOf" srcId="{0B282027-DFC8-48D9-96C5-D6446571583D}" destId="{887FE507-5F4A-4CFC-94F6-755306426CE4}" srcOrd="1" destOrd="0" presId="urn:microsoft.com/office/officeart/2005/8/layout/vList3"/>
    <dgm:cxn modelId="{849A3073-8413-4034-A88B-8714A4F6A5B1}" type="presParOf" srcId="{84A5381E-255C-4E19-B91F-0C1473B48186}" destId="{1E08C764-DFED-40B2-869F-6B5AC7E4E67A}" srcOrd="1" destOrd="0" presId="urn:microsoft.com/office/officeart/2005/8/layout/vList3"/>
    <dgm:cxn modelId="{8F69E69E-C6EA-492D-B560-D588C2A82550}" type="presParOf" srcId="{84A5381E-255C-4E19-B91F-0C1473B48186}" destId="{3058782E-6719-4F8C-9995-1F73BFC0DD59}" srcOrd="2" destOrd="0" presId="urn:microsoft.com/office/officeart/2005/8/layout/vList3"/>
    <dgm:cxn modelId="{08558CF0-687E-4EC8-9BBB-019AE56A12D1}" type="presParOf" srcId="{3058782E-6719-4F8C-9995-1F73BFC0DD59}" destId="{CFF34B0E-B3E7-4CEA-8793-231F91FC0F3D}" srcOrd="0" destOrd="0" presId="urn:microsoft.com/office/officeart/2005/8/layout/vList3"/>
    <dgm:cxn modelId="{22D1148A-2C4D-4610-BFCB-CD492457F7C7}" type="presParOf" srcId="{3058782E-6719-4F8C-9995-1F73BFC0DD59}" destId="{3244A89C-8777-4366-861B-FC8CF8B938DD}" srcOrd="1" destOrd="0" presId="urn:microsoft.com/office/officeart/2005/8/layout/vList3"/>
    <dgm:cxn modelId="{9E94D735-E42E-4681-9F75-C0563A0B3796}" type="presParOf" srcId="{84A5381E-255C-4E19-B91F-0C1473B48186}" destId="{61072A85-43CD-448E-BA02-FEDEB3E7C3D0}" srcOrd="3" destOrd="0" presId="urn:microsoft.com/office/officeart/2005/8/layout/vList3"/>
    <dgm:cxn modelId="{C96613F1-52C0-4285-BB90-3C035D12CE5B}" type="presParOf" srcId="{84A5381E-255C-4E19-B91F-0C1473B48186}" destId="{9D5C0143-C2E0-4345-9FF8-815335AE5C96}" srcOrd="4" destOrd="0" presId="urn:microsoft.com/office/officeart/2005/8/layout/vList3"/>
    <dgm:cxn modelId="{8B337490-E775-4307-BF3E-E421232B5B61}" type="presParOf" srcId="{9D5C0143-C2E0-4345-9FF8-815335AE5C96}" destId="{B36E5201-3337-4C4C-BA5B-37628A85CB90}" srcOrd="0" destOrd="0" presId="urn:microsoft.com/office/officeart/2005/8/layout/vList3"/>
    <dgm:cxn modelId="{FD812540-F8EC-42D7-98DB-6F0FBAF9DFFF}" type="presParOf" srcId="{9D5C0143-C2E0-4345-9FF8-815335AE5C96}" destId="{33472144-EB48-4E9A-952E-3D4B05AC1BA8}" srcOrd="1" destOrd="0" presId="urn:microsoft.com/office/officeart/2005/8/layout/vList3"/>
    <dgm:cxn modelId="{0493C62D-14A9-45ED-B94A-C926E3F7DF29}" type="presParOf" srcId="{84A5381E-255C-4E19-B91F-0C1473B48186}" destId="{5BD98EBC-EDFD-499E-988C-F38EF8D926B6}" srcOrd="5" destOrd="0" presId="urn:microsoft.com/office/officeart/2005/8/layout/vList3"/>
    <dgm:cxn modelId="{BF1CF47F-CD31-43C6-BF5C-91A0A19C6C20}" type="presParOf" srcId="{84A5381E-255C-4E19-B91F-0C1473B48186}" destId="{B87C6547-0355-44A9-AF39-2A397D89F012}" srcOrd="6" destOrd="0" presId="urn:microsoft.com/office/officeart/2005/8/layout/vList3"/>
    <dgm:cxn modelId="{3301E8BB-E3B3-42E8-892E-0B3413408356}" type="presParOf" srcId="{B87C6547-0355-44A9-AF39-2A397D89F012}" destId="{7FB3B073-B503-4783-80B2-E9D3561AA57F}" srcOrd="0" destOrd="0" presId="urn:microsoft.com/office/officeart/2005/8/layout/vList3"/>
    <dgm:cxn modelId="{35A4D034-D08B-4473-B96B-6E2CD58E695A}" type="presParOf" srcId="{B87C6547-0355-44A9-AF39-2A397D89F012}" destId="{E818416A-8396-41F8-BCD0-A2190CD314E8}"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2452B-16B5-43CC-97AC-870896F6B30A}">
      <dsp:nvSpPr>
        <dsp:cNvPr id="0" name=""/>
        <dsp:cNvSpPr/>
      </dsp:nvSpPr>
      <dsp:spPr>
        <a:xfrm>
          <a:off x="2225372" y="0"/>
          <a:ext cx="5251537" cy="3282210"/>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74381-E6B7-4512-88B9-DB772822E583}">
      <dsp:nvSpPr>
        <dsp:cNvPr id="0" name=""/>
        <dsp:cNvSpPr/>
      </dsp:nvSpPr>
      <dsp:spPr>
        <a:xfrm>
          <a:off x="2617032" y="2440652"/>
          <a:ext cx="120785" cy="12078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03DD09-7DF8-4E4C-987D-927C76F10ABF}">
      <dsp:nvSpPr>
        <dsp:cNvPr id="0" name=""/>
        <dsp:cNvSpPr/>
      </dsp:nvSpPr>
      <dsp:spPr>
        <a:xfrm>
          <a:off x="2677425" y="2501044"/>
          <a:ext cx="898012" cy="7811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2"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Digitalize Spare Parts Catalog</a:t>
          </a:r>
        </a:p>
      </dsp:txBody>
      <dsp:txXfrm>
        <a:off x="2677425" y="2501044"/>
        <a:ext cx="898012" cy="781166"/>
      </dsp:txXfrm>
    </dsp:sp>
    <dsp:sp modelId="{8EB18CDC-3EBD-4BFE-B935-56DEA26368B0}">
      <dsp:nvSpPr>
        <dsp:cNvPr id="0" name=""/>
        <dsp:cNvSpPr/>
      </dsp:nvSpPr>
      <dsp:spPr>
        <a:xfrm>
          <a:off x="3470407" y="1677209"/>
          <a:ext cx="210061" cy="21006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C7AD66-DF07-4127-B4AD-809287420805}">
      <dsp:nvSpPr>
        <dsp:cNvPr id="0" name=""/>
        <dsp:cNvSpPr/>
      </dsp:nvSpPr>
      <dsp:spPr>
        <a:xfrm>
          <a:off x="3575438" y="1782240"/>
          <a:ext cx="1102822" cy="1499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07"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solidFill>
                <a:prstClr val="black">
                  <a:hueOff val="0"/>
                  <a:satOff val="0"/>
                  <a:lumOff val="0"/>
                  <a:alphaOff val="0"/>
                </a:prstClr>
              </a:solidFill>
              <a:latin typeface="MMC OFFICE"/>
              <a:ea typeface="ヒラギノ角ゴ StdN W4"/>
              <a:cs typeface="+mn-cs"/>
            </a:rPr>
            <a:t>Inventory Management </a:t>
          </a:r>
        </a:p>
      </dsp:txBody>
      <dsp:txXfrm>
        <a:off x="3575438" y="1782240"/>
        <a:ext cx="1102822" cy="1499970"/>
      </dsp:txXfrm>
    </dsp:sp>
    <dsp:sp modelId="{3F7B0E7D-1108-4443-8527-7323F4E59687}">
      <dsp:nvSpPr>
        <dsp:cNvPr id="0" name=""/>
        <dsp:cNvSpPr/>
      </dsp:nvSpPr>
      <dsp:spPr>
        <a:xfrm>
          <a:off x="4560101" y="1114638"/>
          <a:ext cx="278331" cy="27833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726DE6-1903-4F05-BCEA-84CAFAE78A8A}">
      <dsp:nvSpPr>
        <dsp:cNvPr id="0" name=""/>
        <dsp:cNvSpPr/>
      </dsp:nvSpPr>
      <dsp:spPr>
        <a:xfrm>
          <a:off x="4699267" y="1253804"/>
          <a:ext cx="1102822" cy="2028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482"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solidFill>
                <a:prstClr val="black">
                  <a:hueOff val="0"/>
                  <a:satOff val="0"/>
                  <a:lumOff val="0"/>
                  <a:alphaOff val="0"/>
                </a:prstClr>
              </a:solidFill>
              <a:latin typeface="MMC OFFICE"/>
              <a:ea typeface="ヒラギノ角ゴ StdN W4"/>
              <a:cs typeface="+mn-cs"/>
            </a:rPr>
            <a:t> MMKSI </a:t>
          </a:r>
        </a:p>
        <a:p>
          <a:pPr marL="0" lvl="0" indent="0" algn="l" defTabSz="622300">
            <a:lnSpc>
              <a:spcPct val="90000"/>
            </a:lnSpc>
            <a:spcBef>
              <a:spcPct val="0"/>
            </a:spcBef>
            <a:spcAft>
              <a:spcPct val="35000"/>
            </a:spcAft>
            <a:buNone/>
          </a:pPr>
          <a:r>
            <a:rPr lang="en-US" sz="1400" kern="1200" dirty="0">
              <a:solidFill>
                <a:prstClr val="black">
                  <a:hueOff val="0"/>
                  <a:satOff val="0"/>
                  <a:lumOff val="0"/>
                  <a:alphaOff val="0"/>
                </a:prstClr>
              </a:solidFill>
              <a:latin typeface="MMC OFFICE"/>
              <a:ea typeface="ヒラギノ角ゴ StdN W4"/>
              <a:cs typeface="+mn-cs"/>
            </a:rPr>
            <a:t>E-Commerce Spare Parts</a:t>
          </a:r>
        </a:p>
      </dsp:txBody>
      <dsp:txXfrm>
        <a:off x="4699267" y="1253804"/>
        <a:ext cx="1102822" cy="2028406"/>
      </dsp:txXfrm>
    </dsp:sp>
    <dsp:sp modelId="{BF367243-35A1-43A7-9BCE-CC8BC914B83B}">
      <dsp:nvSpPr>
        <dsp:cNvPr id="0" name=""/>
        <dsp:cNvSpPr/>
      </dsp:nvSpPr>
      <dsp:spPr>
        <a:xfrm>
          <a:off x="5746949" y="742436"/>
          <a:ext cx="372859" cy="37285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4C895F-160F-4BAE-BD23-F6C8EFD421DD}">
      <dsp:nvSpPr>
        <dsp:cNvPr id="0" name=""/>
        <dsp:cNvSpPr/>
      </dsp:nvSpPr>
      <dsp:spPr>
        <a:xfrm>
          <a:off x="5933378" y="928865"/>
          <a:ext cx="1102822" cy="2353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570"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solidFill>
                <a:prstClr val="black">
                  <a:hueOff val="0"/>
                  <a:satOff val="0"/>
                  <a:lumOff val="0"/>
                  <a:alphaOff val="0"/>
                </a:prstClr>
              </a:solidFill>
              <a:latin typeface="MMC OFFICE"/>
              <a:ea typeface="ヒラギノ角ゴ StdN W4"/>
              <a:cs typeface="+mn-cs"/>
            </a:rPr>
            <a:t>AI Implementation – Sales Prediction</a:t>
          </a:r>
          <a:endParaRPr lang="en-US" sz="1400" kern="1200" dirty="0"/>
        </a:p>
      </dsp:txBody>
      <dsp:txXfrm>
        <a:off x="5933378" y="928865"/>
        <a:ext cx="1102822" cy="23533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7FE507-5F4A-4CFC-94F6-755306426CE4}">
      <dsp:nvSpPr>
        <dsp:cNvPr id="0" name=""/>
        <dsp:cNvSpPr/>
      </dsp:nvSpPr>
      <dsp:spPr>
        <a:xfrm rot="10800000">
          <a:off x="981533" y="196"/>
          <a:ext cx="3488455" cy="411448"/>
        </a:xfrm>
        <a:prstGeom prst="homePlate">
          <a:avLst/>
        </a:prstGeom>
        <a:solidFill>
          <a:schemeClr val="accent2">
            <a:hueOff val="0"/>
            <a:satOff val="0"/>
            <a:lumOff val="0"/>
            <a:alpha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37" tIns="41910" rIns="78232" bIns="41910" numCol="1" spcCol="1270" anchor="ctr" anchorCtr="0">
          <a:noAutofit/>
        </a:bodyPr>
        <a:lstStyle/>
        <a:p>
          <a:pPr marL="0" lvl="0" indent="0" algn="l" defTabSz="488950">
            <a:lnSpc>
              <a:spcPct val="90000"/>
            </a:lnSpc>
            <a:spcBef>
              <a:spcPct val="0"/>
            </a:spcBef>
            <a:spcAft>
              <a:spcPct val="35000"/>
            </a:spcAft>
            <a:buNone/>
          </a:pPr>
          <a:r>
            <a:rPr lang="en-US" sz="1100" kern="1200" dirty="0"/>
            <a:t>Quick Wins (High Impact, Low Effort)</a:t>
          </a:r>
        </a:p>
      </dsp:txBody>
      <dsp:txXfrm rot="10800000">
        <a:off x="1084395" y="196"/>
        <a:ext cx="3385593" cy="411448"/>
      </dsp:txXfrm>
    </dsp:sp>
    <dsp:sp modelId="{0B89668E-5975-4551-B972-7F1CD5FE3882}">
      <dsp:nvSpPr>
        <dsp:cNvPr id="0" name=""/>
        <dsp:cNvSpPr/>
      </dsp:nvSpPr>
      <dsp:spPr>
        <a:xfrm>
          <a:off x="775809" y="196"/>
          <a:ext cx="411448" cy="411448"/>
        </a:xfrm>
        <a:prstGeom prst="ellipse">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44A89C-8777-4366-861B-FC8CF8B938DD}">
      <dsp:nvSpPr>
        <dsp:cNvPr id="0" name=""/>
        <dsp:cNvSpPr/>
      </dsp:nvSpPr>
      <dsp:spPr>
        <a:xfrm rot="10800000">
          <a:off x="981533" y="528523"/>
          <a:ext cx="3488455" cy="411448"/>
        </a:xfrm>
        <a:prstGeom prst="homePlate">
          <a:avLst/>
        </a:prstGeom>
        <a:solidFill>
          <a:schemeClr val="accent3">
            <a:hueOff val="0"/>
            <a:satOff val="0"/>
            <a:lumOff val="0"/>
            <a:alpha val="76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37" tIns="41910" rIns="78232" bIns="41910" numCol="1" spcCol="1270" anchor="ctr" anchorCtr="0">
          <a:noAutofit/>
        </a:bodyPr>
        <a:lstStyle/>
        <a:p>
          <a:pPr marL="0" lvl="0" indent="0" algn="l" defTabSz="488950">
            <a:lnSpc>
              <a:spcPct val="90000"/>
            </a:lnSpc>
            <a:spcBef>
              <a:spcPct val="0"/>
            </a:spcBef>
            <a:spcAft>
              <a:spcPct val="35000"/>
            </a:spcAft>
            <a:buNone/>
          </a:pPr>
          <a:r>
            <a:rPr lang="en-US" sz="1100" kern="1200" dirty="0"/>
            <a:t>Transformational Project (High Impact, High Effort)</a:t>
          </a:r>
        </a:p>
      </dsp:txBody>
      <dsp:txXfrm rot="10800000">
        <a:off x="1084395" y="528523"/>
        <a:ext cx="3385593" cy="411448"/>
      </dsp:txXfrm>
    </dsp:sp>
    <dsp:sp modelId="{CFF34B0E-B3E7-4CEA-8793-231F91FC0F3D}">
      <dsp:nvSpPr>
        <dsp:cNvPr id="0" name=""/>
        <dsp:cNvSpPr/>
      </dsp:nvSpPr>
      <dsp:spPr>
        <a:xfrm>
          <a:off x="775809" y="528523"/>
          <a:ext cx="411448" cy="411448"/>
        </a:xfrm>
        <a:prstGeom prst="ellipse">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472144-EB48-4E9A-952E-3D4B05AC1BA8}">
      <dsp:nvSpPr>
        <dsp:cNvPr id="0" name=""/>
        <dsp:cNvSpPr/>
      </dsp:nvSpPr>
      <dsp:spPr>
        <a:xfrm rot="10800000">
          <a:off x="981533" y="1056851"/>
          <a:ext cx="3488455" cy="411448"/>
        </a:xfrm>
        <a:prstGeom prst="homePlate">
          <a:avLst/>
        </a:prstGeom>
        <a:solidFill>
          <a:schemeClr val="accent4">
            <a:hueOff val="0"/>
            <a:satOff val="0"/>
            <a:lumOff val="0"/>
            <a:alpha val="72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37" tIns="41910" rIns="78232" bIns="41910" numCol="1" spcCol="1270" anchor="ctr" anchorCtr="0">
          <a:noAutofit/>
        </a:bodyPr>
        <a:lstStyle/>
        <a:p>
          <a:pPr marL="0" lvl="0" indent="0" algn="l" defTabSz="488950">
            <a:lnSpc>
              <a:spcPct val="90000"/>
            </a:lnSpc>
            <a:spcBef>
              <a:spcPct val="0"/>
            </a:spcBef>
            <a:spcAft>
              <a:spcPct val="35000"/>
            </a:spcAft>
            <a:buNone/>
          </a:pPr>
          <a:r>
            <a:rPr lang="en-US" sz="1100" kern="1200" dirty="0"/>
            <a:t>“Fill Ins” (Low Impact , Low Effort)</a:t>
          </a:r>
        </a:p>
      </dsp:txBody>
      <dsp:txXfrm rot="10800000">
        <a:off x="1084395" y="1056851"/>
        <a:ext cx="3385593" cy="411448"/>
      </dsp:txXfrm>
    </dsp:sp>
    <dsp:sp modelId="{B36E5201-3337-4C4C-BA5B-37628A85CB90}">
      <dsp:nvSpPr>
        <dsp:cNvPr id="0" name=""/>
        <dsp:cNvSpPr/>
      </dsp:nvSpPr>
      <dsp:spPr>
        <a:xfrm>
          <a:off x="775809" y="1056851"/>
          <a:ext cx="411448" cy="411448"/>
        </a:xfrm>
        <a:prstGeom prst="ellipse">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18416A-8396-41F8-BCD0-A2190CD314E8}">
      <dsp:nvSpPr>
        <dsp:cNvPr id="0" name=""/>
        <dsp:cNvSpPr/>
      </dsp:nvSpPr>
      <dsp:spPr>
        <a:xfrm rot="10800000">
          <a:off x="981533" y="1585178"/>
          <a:ext cx="3488455" cy="411448"/>
        </a:xfrm>
        <a:prstGeom prst="homePlate">
          <a:avLst/>
        </a:prstGeom>
        <a:solidFill>
          <a:schemeClr val="accent5">
            <a:hueOff val="0"/>
            <a:satOff val="0"/>
            <a:lumOff val="0"/>
            <a:alpha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37" tIns="41910" rIns="78232" bIns="41910" numCol="1" spcCol="1270" anchor="ctr" anchorCtr="0">
          <a:noAutofit/>
        </a:bodyPr>
        <a:lstStyle/>
        <a:p>
          <a:pPr marL="0" lvl="0" indent="0" algn="l" defTabSz="488950">
            <a:lnSpc>
              <a:spcPct val="90000"/>
            </a:lnSpc>
            <a:spcBef>
              <a:spcPct val="0"/>
            </a:spcBef>
            <a:spcAft>
              <a:spcPct val="35000"/>
            </a:spcAft>
            <a:buNone/>
          </a:pPr>
          <a:r>
            <a:rPr lang="en-US" sz="1100" kern="1200" dirty="0"/>
            <a:t>“Money Pits” (Low Impact , High Effort” </a:t>
          </a:r>
        </a:p>
      </dsp:txBody>
      <dsp:txXfrm rot="10800000">
        <a:off x="1084395" y="1585178"/>
        <a:ext cx="3385593" cy="411448"/>
      </dsp:txXfrm>
    </dsp:sp>
    <dsp:sp modelId="{7FB3B073-B503-4783-80B2-E9D3561AA57F}">
      <dsp:nvSpPr>
        <dsp:cNvPr id="0" name=""/>
        <dsp:cNvSpPr/>
      </dsp:nvSpPr>
      <dsp:spPr>
        <a:xfrm>
          <a:off x="775809" y="1585178"/>
          <a:ext cx="411448" cy="411448"/>
        </a:xfrm>
        <a:prstGeom prst="ellipse">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4FD1DF99-411F-4739-AFD7-BB67549CC935}" type="datetimeFigureOut">
              <a:rPr kumimoji="1" lang="ja-JP" altLang="en-US" smtClean="0"/>
              <a:t>2026/4/27</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F865DD31-E999-41EF-B350-ECE7891E8A9C}" type="slidenum">
              <a:rPr kumimoji="1" lang="ja-JP" altLang="en-US" smtClean="0"/>
              <a:t>‹#›</a:t>
            </a:fld>
            <a:endParaRPr kumimoji="1" lang="ja-JP" altLang="en-US"/>
          </a:p>
        </p:txBody>
      </p:sp>
    </p:spTree>
    <p:extLst>
      <p:ext uri="{BB962C8B-B14F-4D97-AF65-F5344CB8AC3E}">
        <p14:creationId xmlns:p14="http://schemas.microsoft.com/office/powerpoint/2010/main" val="20640026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fld id="{71DB1AA4-7BCB-41BC-ACD0-B028E81CB9A7}" type="datetimeFigureOut">
              <a:rPr kumimoji="1" lang="ja-JP" altLang="en-US" smtClean="0"/>
              <a:t>2026/4/27</a:t>
            </a:fld>
            <a:endParaRPr kumimoji="1" lang="ja-JP" altLang="en-US"/>
          </a:p>
        </p:txBody>
      </p:sp>
      <p:sp>
        <p:nvSpPr>
          <p:cNvPr id="4" name="スライド イメージ プレースホルダー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28F6134C-5571-4069-8618-1528797B7A80}" type="slidenum">
              <a:rPr kumimoji="1" lang="ja-JP" altLang="en-US" smtClean="0"/>
              <a:t>‹#›</a:t>
            </a:fld>
            <a:endParaRPr kumimoji="1" lang="ja-JP" altLang="en-US"/>
          </a:p>
        </p:txBody>
      </p:sp>
    </p:spTree>
    <p:extLst>
      <p:ext uri="{BB962C8B-B14F-4D97-AF65-F5344CB8AC3E}">
        <p14:creationId xmlns:p14="http://schemas.microsoft.com/office/powerpoint/2010/main" val="19436988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214687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D2F373D-14B3-4F18-8C49-E2994D0BD8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9FFECA02-F0D3-4377-9980-FB6D2EC7DA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Calibri Light" panose="020F0302020204030204" pitchFamily="34" charset="0"/>
            </a:endParaRPr>
          </a:p>
        </p:txBody>
      </p:sp>
      <p:sp>
        <p:nvSpPr>
          <p:cNvPr id="21508" name="Slide Number Placeholder 3">
            <a:extLst>
              <a:ext uri="{FF2B5EF4-FFF2-40B4-BE49-F238E27FC236}">
                <a16:creationId xmlns:a16="http://schemas.microsoft.com/office/drawing/2014/main" id="{C8336F87-1A7A-495B-B4BA-F1C36AF665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eaLnBrk="0" fontAlgn="base" hangingPunct="0">
              <a:spcBef>
                <a:spcPct val="0"/>
              </a:spcBef>
              <a:spcAft>
                <a:spcPct val="0"/>
              </a:spcAft>
              <a:defRPr sz="3600">
                <a:solidFill>
                  <a:schemeClr val="tx1"/>
                </a:solidFill>
                <a:latin typeface="Lato Light"/>
              </a:defRPr>
            </a:lvl6pPr>
            <a:lvl7pPr marL="2971800" indent="-228600" defTabSz="1827213" eaLnBrk="0" fontAlgn="base" hangingPunct="0">
              <a:spcBef>
                <a:spcPct val="0"/>
              </a:spcBef>
              <a:spcAft>
                <a:spcPct val="0"/>
              </a:spcAft>
              <a:defRPr sz="3600">
                <a:solidFill>
                  <a:schemeClr val="tx1"/>
                </a:solidFill>
                <a:latin typeface="Lato Light"/>
              </a:defRPr>
            </a:lvl7pPr>
            <a:lvl8pPr marL="3429000" indent="-228600" defTabSz="1827213" eaLnBrk="0" fontAlgn="base" hangingPunct="0">
              <a:spcBef>
                <a:spcPct val="0"/>
              </a:spcBef>
              <a:spcAft>
                <a:spcPct val="0"/>
              </a:spcAft>
              <a:defRPr sz="3600">
                <a:solidFill>
                  <a:schemeClr val="tx1"/>
                </a:solidFill>
                <a:latin typeface="Lato Light"/>
              </a:defRPr>
            </a:lvl8pPr>
            <a:lvl9pPr marL="3886200" indent="-228600" defTabSz="1827213" eaLnBrk="0" fontAlgn="base" hangingPunct="0">
              <a:spcBef>
                <a:spcPct val="0"/>
              </a:spcBef>
              <a:spcAft>
                <a:spcPct val="0"/>
              </a:spcAft>
              <a:defRPr sz="3600">
                <a:solidFill>
                  <a:schemeClr val="tx1"/>
                </a:solidFill>
                <a:latin typeface="Lato Light"/>
              </a:defRPr>
            </a:lvl9pPr>
          </a:lstStyle>
          <a:p>
            <a:pPr defTabSz="1827213" fontAlgn="base">
              <a:spcBef>
                <a:spcPct val="0"/>
              </a:spcBef>
              <a:spcAft>
                <a:spcPct val="0"/>
              </a:spcAft>
            </a:pPr>
            <a:fld id="{C7B20E80-7FAD-4376-8CC3-52D1E88B84F5}" type="slidenum">
              <a:rPr lang="en-US" altLang="en-US" sz="1200" smtClean="0">
                <a:latin typeface="Calibri Light" panose="020F0302020204030204" pitchFamily="34" charset="0"/>
              </a:rPr>
              <a:pPr defTabSz="1827213" fontAlgn="base">
                <a:spcBef>
                  <a:spcPct val="0"/>
                </a:spcBef>
                <a:spcAft>
                  <a:spcPct val="0"/>
                </a:spcAft>
              </a:pPr>
              <a:t>3</a:t>
            </a:fld>
            <a:endParaRPr lang="en-US" altLang="en-US" sz="1200">
              <a:latin typeface="Calibri Light" panose="020F0302020204030204" pitchFamily="34" charset="0"/>
            </a:endParaRPr>
          </a:p>
        </p:txBody>
      </p:sp>
    </p:spTree>
    <p:extLst>
      <p:ext uri="{BB962C8B-B14F-4D97-AF65-F5344CB8AC3E}">
        <p14:creationId xmlns:p14="http://schemas.microsoft.com/office/powerpoint/2010/main" val="1393746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270461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6225" cy="37274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a:defRPr/>
            </a:pPr>
            <a:r>
              <a:rPr lang="en-US"/>
              <a:t>SAP Business One Implementation</a:t>
            </a:r>
          </a:p>
        </p:txBody>
      </p:sp>
      <p:sp>
        <p:nvSpPr>
          <p:cNvPr id="5" name="Slide Number Placeholder 4"/>
          <p:cNvSpPr>
            <a:spLocks noGrp="1"/>
          </p:cNvSpPr>
          <p:nvPr>
            <p:ph type="sldNum" sz="quarter" idx="5"/>
          </p:nvPr>
        </p:nvSpPr>
        <p:spPr/>
        <p:txBody>
          <a:bodyPr/>
          <a:lstStyle/>
          <a:p>
            <a:pPr>
              <a:defRPr/>
            </a:pPr>
            <a:fld id="{DB19C892-90B9-422D-B64C-12520E75D7E6}" type="slidenum">
              <a:rPr lang="id-ID" smtClean="0"/>
              <a:pPr>
                <a:defRPr/>
              </a:pPr>
              <a:t>5</a:t>
            </a:fld>
            <a:endParaRPr lang="id-ID"/>
          </a:p>
        </p:txBody>
      </p:sp>
    </p:spTree>
    <p:extLst>
      <p:ext uri="{BB962C8B-B14F-4D97-AF65-F5344CB8AC3E}">
        <p14:creationId xmlns:p14="http://schemas.microsoft.com/office/powerpoint/2010/main" val="336545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6225" cy="37274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a:defRPr/>
            </a:pPr>
            <a:r>
              <a:rPr lang="en-US"/>
              <a:t>SAP Business One Implementation</a:t>
            </a:r>
          </a:p>
        </p:txBody>
      </p:sp>
      <p:sp>
        <p:nvSpPr>
          <p:cNvPr id="5" name="Slide Number Placeholder 4"/>
          <p:cNvSpPr>
            <a:spLocks noGrp="1"/>
          </p:cNvSpPr>
          <p:nvPr>
            <p:ph type="sldNum" sz="quarter" idx="5"/>
          </p:nvPr>
        </p:nvSpPr>
        <p:spPr/>
        <p:txBody>
          <a:bodyPr/>
          <a:lstStyle/>
          <a:p>
            <a:pPr>
              <a:defRPr/>
            </a:pPr>
            <a:fld id="{DB19C892-90B9-422D-B64C-12520E75D7E6}" type="slidenum">
              <a:rPr lang="id-ID" smtClean="0"/>
              <a:pPr>
                <a:defRPr/>
              </a:pPr>
              <a:t>6</a:t>
            </a:fld>
            <a:endParaRPr lang="id-ID"/>
          </a:p>
        </p:txBody>
      </p:sp>
    </p:spTree>
    <p:extLst>
      <p:ext uri="{BB962C8B-B14F-4D97-AF65-F5344CB8AC3E}">
        <p14:creationId xmlns:p14="http://schemas.microsoft.com/office/powerpoint/2010/main" val="4051986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6225" cy="37274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a:defRPr/>
            </a:pPr>
            <a:r>
              <a:rPr lang="en-US"/>
              <a:t>SAP Business One Implementation</a:t>
            </a:r>
          </a:p>
        </p:txBody>
      </p:sp>
      <p:sp>
        <p:nvSpPr>
          <p:cNvPr id="5" name="Slide Number Placeholder 4"/>
          <p:cNvSpPr>
            <a:spLocks noGrp="1"/>
          </p:cNvSpPr>
          <p:nvPr>
            <p:ph type="sldNum" sz="quarter" idx="5"/>
          </p:nvPr>
        </p:nvSpPr>
        <p:spPr/>
        <p:txBody>
          <a:bodyPr/>
          <a:lstStyle/>
          <a:p>
            <a:pPr>
              <a:defRPr/>
            </a:pPr>
            <a:fld id="{DB19C892-90B9-422D-B64C-12520E75D7E6}" type="slidenum">
              <a:rPr lang="id-ID" smtClean="0"/>
              <a:pPr>
                <a:defRPr/>
              </a:pPr>
              <a:t>7</a:t>
            </a:fld>
            <a:endParaRPr lang="id-ID"/>
          </a:p>
        </p:txBody>
      </p:sp>
    </p:spTree>
    <p:extLst>
      <p:ext uri="{BB962C8B-B14F-4D97-AF65-F5344CB8AC3E}">
        <p14:creationId xmlns:p14="http://schemas.microsoft.com/office/powerpoint/2010/main" val="1364807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8312D4-C3E6-492E-941E-0AC12A1D775F}" type="slidenum">
              <a:rPr lang="en-US" smtClean="0"/>
              <a:t>8</a:t>
            </a:fld>
            <a:endParaRPr lang="en-US"/>
          </a:p>
        </p:txBody>
      </p:sp>
    </p:spTree>
    <p:extLst>
      <p:ext uri="{BB962C8B-B14F-4D97-AF65-F5344CB8AC3E}">
        <p14:creationId xmlns:p14="http://schemas.microsoft.com/office/powerpoint/2010/main" val="2691319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8312D4-C3E6-492E-941E-0AC12A1D775F}" type="slidenum">
              <a:rPr lang="en-US" smtClean="0"/>
              <a:t>9</a:t>
            </a:fld>
            <a:endParaRPr lang="en-US"/>
          </a:p>
        </p:txBody>
      </p:sp>
    </p:spTree>
    <p:extLst>
      <p:ext uri="{BB962C8B-B14F-4D97-AF65-F5344CB8AC3E}">
        <p14:creationId xmlns:p14="http://schemas.microsoft.com/office/powerpoint/2010/main" val="3087920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61840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65144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432373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680217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430554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121332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919047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958399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6225" cy="37274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a:defRPr/>
            </a:pPr>
            <a:r>
              <a:rPr lang="en-US"/>
              <a:t>SAP Business One Implementation</a:t>
            </a:r>
          </a:p>
        </p:txBody>
      </p:sp>
      <p:sp>
        <p:nvSpPr>
          <p:cNvPr id="5" name="Slide Number Placeholder 4"/>
          <p:cNvSpPr>
            <a:spLocks noGrp="1"/>
          </p:cNvSpPr>
          <p:nvPr>
            <p:ph type="sldNum" sz="quarter" idx="5"/>
          </p:nvPr>
        </p:nvSpPr>
        <p:spPr/>
        <p:txBody>
          <a:bodyPr/>
          <a:lstStyle/>
          <a:p>
            <a:pPr>
              <a:defRPr/>
            </a:pPr>
            <a:fld id="{DB19C892-90B9-422D-B64C-12520E75D7E6}" type="slidenum">
              <a:rPr lang="id-ID" smtClean="0"/>
              <a:pPr>
                <a:defRPr/>
              </a:pPr>
              <a:t>23</a:t>
            </a:fld>
            <a:endParaRPr lang="id-ID"/>
          </a:p>
        </p:txBody>
      </p:sp>
    </p:spTree>
    <p:extLst>
      <p:ext uri="{BB962C8B-B14F-4D97-AF65-F5344CB8AC3E}">
        <p14:creationId xmlns:p14="http://schemas.microsoft.com/office/powerpoint/2010/main" val="383156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100000"/>
              </a:lnSpc>
              <a:spcBef>
                <a:spcPts val="0"/>
              </a:spcBef>
              <a:buFont typeface="Arial" panose="020B0604020202020204" pitchFamily="34" charset="0"/>
              <a:buAutoNum type="arabicPeriod"/>
            </a:pPr>
            <a:endParaRPr lang="en-US" sz="1200">
              <a:solidFill>
                <a:srgbClr val="434343"/>
              </a:solidFill>
              <a:latin typeface="Effra" panose="02000506080000020004" pitchFamily="2" charset="77"/>
            </a:endParaRPr>
          </a:p>
        </p:txBody>
      </p:sp>
      <p:sp>
        <p:nvSpPr>
          <p:cNvPr id="4" name="Slide Number Placeholder 3"/>
          <p:cNvSpPr>
            <a:spLocks noGrp="1"/>
          </p:cNvSpPr>
          <p:nvPr>
            <p:ph type="sldNum" sz="quarter" idx="5"/>
          </p:nvPr>
        </p:nvSpPr>
        <p:spPr/>
        <p:txBody>
          <a:bodyPr/>
          <a:lstStyle/>
          <a:p>
            <a:fld id="{8963F938-6BDE-FE48-A827-40D394C8CBB5}" type="slidenum">
              <a:rPr lang="en-US" smtClean="0"/>
              <a:t>24</a:t>
            </a:fld>
            <a:endParaRPr lang="en-US"/>
          </a:p>
        </p:txBody>
      </p:sp>
    </p:spTree>
    <p:extLst>
      <p:ext uri="{BB962C8B-B14F-4D97-AF65-F5344CB8AC3E}">
        <p14:creationId xmlns:p14="http://schemas.microsoft.com/office/powerpoint/2010/main" val="2994312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92075" y="746125"/>
            <a:ext cx="6623050" cy="3725863"/>
          </a:xfrm>
        </p:spPr>
      </p:sp>
      <p:sp>
        <p:nvSpPr>
          <p:cNvPr id="3" name="ノート プレースホル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b="1" dirty="0"/>
          </a:p>
        </p:txBody>
      </p:sp>
      <p:sp>
        <p:nvSpPr>
          <p:cNvPr id="4" name="スライド番号プレースホルダ 3"/>
          <p:cNvSpPr>
            <a:spLocks noGrp="1"/>
          </p:cNvSpPr>
          <p:nvPr>
            <p:ph type="sldNum" sz="quarter" idx="10"/>
          </p:nvPr>
        </p:nvSpPr>
        <p:spPr/>
        <p:txBody>
          <a:bodyPr/>
          <a:lstStyle/>
          <a:p>
            <a:fld id="{6A0A67DA-66C0-4F08-AE54-62A9C7960CC1}" type="slidenum">
              <a:rPr lang="ja-JP" altLang="en-US" smtClean="0">
                <a:solidFill>
                  <a:prstClr val="black"/>
                </a:solidFill>
              </a:rPr>
              <a:pPr/>
              <a:t>25</a:t>
            </a:fld>
            <a:endParaRPr lang="ja-JP" altLang="en-US" dirty="0">
              <a:solidFill>
                <a:prstClr val="black"/>
              </a:solidFill>
            </a:endParaRPr>
          </a:p>
        </p:txBody>
      </p:sp>
    </p:spTree>
    <p:extLst>
      <p:ext uri="{BB962C8B-B14F-4D97-AF65-F5344CB8AC3E}">
        <p14:creationId xmlns:p14="http://schemas.microsoft.com/office/powerpoint/2010/main" val="2770731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432204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846637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Top: </a:t>
            </a:r>
            <a:r>
              <a:rPr lang="en-US" err="1"/>
              <a:t>koordinat</a:t>
            </a:r>
            <a:r>
              <a:rPr lang="en-US"/>
              <a:t> </a:t>
            </a:r>
            <a:r>
              <a:rPr lang="en-US" err="1"/>
              <a:t>atas</a:t>
            </a:r>
            <a:endParaRPr lang="en-US"/>
          </a:p>
          <a:p>
            <a:r>
              <a:rPr lang="en-US"/>
              <a:t>Left: </a:t>
            </a:r>
            <a:r>
              <a:rPr lang="en-US" err="1"/>
              <a:t>kiri</a:t>
            </a:r>
            <a:r>
              <a:rPr lang="en-US"/>
              <a:t> </a:t>
            </a:r>
            <a:r>
              <a:rPr lang="en-US" err="1"/>
              <a:t>bawah</a:t>
            </a:r>
            <a:endParaRPr lang="en-US"/>
          </a:p>
          <a:p>
            <a:r>
              <a:rPr lang="en-US" err="1"/>
              <a:t>Widh</a:t>
            </a:r>
            <a:r>
              <a:rPr lang="en-US"/>
              <a:t>: </a:t>
            </a:r>
            <a:r>
              <a:rPr lang="en-US" err="1"/>
              <a:t>lebar</a:t>
            </a:r>
            <a:endParaRPr lang="en-US"/>
          </a:p>
          <a:p>
            <a:r>
              <a:rPr lang="en-US"/>
              <a:t>Height: </a:t>
            </a:r>
            <a:r>
              <a:rPr lang="en-US" err="1"/>
              <a:t>tinggi</a:t>
            </a:r>
            <a:r>
              <a:rPr lang="en-US"/>
              <a:t> </a:t>
            </a:r>
            <a:r>
              <a:rPr lang="en-US" err="1"/>
              <a:t>koordinat</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8312D4-C3E6-492E-941E-0AC12A1D77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360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Depency</a:t>
            </a:r>
            <a:r>
              <a:rPr lang="en-US" dirty="0"/>
              <a:t> </a:t>
            </a:r>
            <a:r>
              <a:rPr lang="en-US" dirty="0" err="1"/>
              <a:t>dari</a:t>
            </a:r>
            <a:r>
              <a:rPr lang="en-US" dirty="0"/>
              <a:t> </a:t>
            </a:r>
            <a:r>
              <a:rPr lang="en-US" dirty="0" err="1"/>
              <a:t>MMKSi</a:t>
            </a:r>
            <a:r>
              <a:rPr lang="en-US" dirty="0"/>
              <a:t> </a:t>
            </a:r>
            <a:r>
              <a:rPr lang="en-US" dirty="0" err="1"/>
              <a:t>perlu</a:t>
            </a:r>
            <a:r>
              <a:rPr lang="en-US" dirty="0"/>
              <a:t> di state di part </a:t>
            </a:r>
            <a:r>
              <a:rPr lang="en-US" dirty="0" err="1"/>
              <a:t>ini</a:t>
            </a:r>
            <a:r>
              <a:rPr lang="en-US" dirty="0"/>
              <a:t>, </a:t>
            </a:r>
            <a:r>
              <a:rPr lang="en-US" dirty="0" err="1"/>
              <a:t>alokasi</a:t>
            </a:r>
            <a:r>
              <a:rPr lang="en-US" dirty="0"/>
              <a:t> / </a:t>
            </a:r>
            <a:r>
              <a:rPr lang="en-US" dirty="0" err="1"/>
              <a:t>aktivitas</a:t>
            </a:r>
            <a:r>
              <a:rPr lang="en-US" dirty="0"/>
              <a:t> yang </a:t>
            </a:r>
            <a:r>
              <a:rPr lang="en-US" dirty="0" err="1"/>
              <a:t>perlu</a:t>
            </a:r>
            <a:r>
              <a:rPr lang="en-US" dirty="0"/>
              <a:t> </a:t>
            </a:r>
            <a:r>
              <a:rPr lang="en-US" dirty="0" err="1"/>
              <a:t>dilakukan</a:t>
            </a:r>
            <a:r>
              <a:rPr lang="en-US" dirty="0"/>
              <a:t> oleh MMKSI</a:t>
            </a:r>
          </a:p>
        </p:txBody>
      </p:sp>
      <p:sp>
        <p:nvSpPr>
          <p:cNvPr id="4" name="Slide Number Placeholder 3"/>
          <p:cNvSpPr>
            <a:spLocks noGrp="1"/>
          </p:cNvSpPr>
          <p:nvPr>
            <p:ph type="sldNum" sz="quarter" idx="5"/>
          </p:nvPr>
        </p:nvSpPr>
        <p:spPr/>
        <p:txBody>
          <a:bodyPr/>
          <a:lstStyle/>
          <a:p>
            <a:fld id="{B18312D4-C3E6-492E-941E-0AC12A1D775F}" type="slidenum">
              <a:rPr lang="en-US" smtClean="0"/>
              <a:t>29</a:t>
            </a:fld>
            <a:endParaRPr lang="en-US"/>
          </a:p>
        </p:txBody>
      </p:sp>
    </p:spTree>
    <p:extLst>
      <p:ext uri="{BB962C8B-B14F-4D97-AF65-F5344CB8AC3E}">
        <p14:creationId xmlns:p14="http://schemas.microsoft.com/office/powerpoint/2010/main" val="2325779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7" name="テキスト プレースホルダー 16"/>
          <p:cNvSpPr>
            <a:spLocks noGrp="1"/>
          </p:cNvSpPr>
          <p:nvPr>
            <p:ph type="body" sz="quarter" idx="12" hasCustomPrompt="1"/>
          </p:nvPr>
        </p:nvSpPr>
        <p:spPr>
          <a:xfrm>
            <a:off x="250825" y="4000762"/>
            <a:ext cx="2160935" cy="236276"/>
          </a:xfrm>
          <a:prstGeom prst="rect">
            <a:avLst/>
          </a:prstGeom>
        </p:spPr>
        <p:txBody>
          <a:bodyPr/>
          <a:lstStyle>
            <a:lvl1pPr algn="l">
              <a:lnSpc>
                <a:spcPts val="1300"/>
              </a:lnSpc>
              <a:defRPr sz="1200" baseline="0">
                <a:latin typeface="MMC OFFICE" panose="00000500000000000000" pitchFamily="2" charset="0"/>
                <a:ea typeface="ヒラギノ角ゴ Std W6" pitchFamily="34" charset="-128"/>
              </a:defRPr>
            </a:lvl1pPr>
            <a:lvl2pPr algn="l">
              <a:defRPr sz="1200">
                <a:latin typeface="ヒラギノ角ゴ Std W6" pitchFamily="34" charset="-128"/>
                <a:ea typeface="ヒラギノ角ゴ Std W6" pitchFamily="34" charset="-128"/>
              </a:defRPr>
            </a:lvl2pPr>
            <a:lvl3pPr algn="l">
              <a:defRPr sz="1200">
                <a:latin typeface="ヒラギノ角ゴ Std W6" pitchFamily="34" charset="-128"/>
                <a:ea typeface="ヒラギノ角ゴ Std W6" pitchFamily="34" charset="-128"/>
              </a:defRPr>
            </a:lvl3pPr>
            <a:lvl4pPr algn="l">
              <a:defRPr sz="1200">
                <a:latin typeface="ヒラギノ角ゴ Std W6" pitchFamily="34" charset="-128"/>
                <a:ea typeface="ヒラギノ角ゴ Std W6" pitchFamily="34" charset="-128"/>
              </a:defRPr>
            </a:lvl4pPr>
            <a:lvl5pPr algn="l">
              <a:defRPr sz="1800">
                <a:latin typeface="ヒラギノ角ゴ Std W6" pitchFamily="34" charset="-128"/>
                <a:ea typeface="ヒラギノ角ゴ Std W6" pitchFamily="34" charset="-128"/>
              </a:defRPr>
            </a:lvl5pPr>
          </a:lstStyle>
          <a:p>
            <a:pPr lvl="0"/>
            <a:r>
              <a:rPr kumimoji="1" lang="en-US" altLang="ja-JP" dirty="0"/>
              <a:t>Date.</a:t>
            </a:r>
          </a:p>
        </p:txBody>
      </p:sp>
      <p:sp>
        <p:nvSpPr>
          <p:cNvPr id="19" name="テキスト プレースホルダー 18"/>
          <p:cNvSpPr>
            <a:spLocks noGrp="1"/>
          </p:cNvSpPr>
          <p:nvPr>
            <p:ph type="body" sz="quarter" idx="13" hasCustomPrompt="1"/>
          </p:nvPr>
        </p:nvSpPr>
        <p:spPr>
          <a:xfrm>
            <a:off x="250825" y="2121700"/>
            <a:ext cx="8642350" cy="450050"/>
          </a:xfrm>
          <a:prstGeom prst="rect">
            <a:avLst/>
          </a:prstGeom>
        </p:spPr>
        <p:txBody>
          <a:bodyPr/>
          <a:lstStyle>
            <a:lvl1pPr>
              <a:lnSpc>
                <a:spcPts val="3400"/>
              </a:lnSpc>
              <a:defRPr sz="3600" b="1">
                <a:latin typeface="MMC OFFICE" panose="00000500000000000000" pitchFamily="2" charset="0"/>
                <a:ea typeface="ヒラギノ角ゴ Std W8" pitchFamily="34" charset="-128"/>
              </a:defRPr>
            </a:lvl1pPr>
          </a:lstStyle>
          <a:p>
            <a:pPr lvl="0"/>
            <a:r>
              <a:rPr kumimoji="1" lang="en-US" altLang="ja-JP" dirty="0"/>
              <a:t>MITSUBISHI MOTORS PRESENTATION</a:t>
            </a:r>
            <a:endParaRPr kumimoji="1" lang="ja-JP" altLang="en-US" dirty="0"/>
          </a:p>
        </p:txBody>
      </p:sp>
      <p:sp>
        <p:nvSpPr>
          <p:cNvPr id="20" name="テキスト プレースホルダー 18"/>
          <p:cNvSpPr>
            <a:spLocks noGrp="1"/>
          </p:cNvSpPr>
          <p:nvPr>
            <p:ph type="body" sz="quarter" idx="14" hasCustomPrompt="1"/>
          </p:nvPr>
        </p:nvSpPr>
        <p:spPr>
          <a:xfrm>
            <a:off x="250826" y="2571750"/>
            <a:ext cx="4275475" cy="315035"/>
          </a:xfrm>
          <a:prstGeom prst="rect">
            <a:avLst/>
          </a:prstGeom>
        </p:spPr>
        <p:txBody>
          <a:bodyPr/>
          <a:lstStyle>
            <a:lvl1pPr>
              <a:lnSpc>
                <a:spcPts val="2000"/>
              </a:lnSpc>
              <a:defRPr sz="2000" baseline="0">
                <a:latin typeface="MMC OFFICE" panose="00000500000000000000" pitchFamily="2" charset="0"/>
                <a:ea typeface="ヒラギノ角ゴ Std W6" pitchFamily="34" charset="-128"/>
              </a:defRPr>
            </a:lvl1pPr>
          </a:lstStyle>
          <a:p>
            <a:pPr lvl="0"/>
            <a:r>
              <a:rPr kumimoji="1" lang="en-US" altLang="ja-JP" dirty="0"/>
              <a:t>Sub-title</a:t>
            </a:r>
            <a:endParaRPr kumimoji="1" lang="ja-JP" altLang="en-US" dirty="0"/>
          </a:p>
        </p:txBody>
      </p:sp>
      <p:sp>
        <p:nvSpPr>
          <p:cNvPr id="21" name="スライド番号プレースホルダー 5"/>
          <p:cNvSpPr>
            <a:spLocks noGrp="1"/>
          </p:cNvSpPr>
          <p:nvPr>
            <p:ph type="sldNum" sz="quarter" idx="4"/>
          </p:nvPr>
        </p:nvSpPr>
        <p:spPr>
          <a:xfrm>
            <a:off x="8356600" y="4863192"/>
            <a:ext cx="535880" cy="273844"/>
          </a:xfrm>
          <a:prstGeom prst="rect">
            <a:avLst/>
          </a:prstGeom>
        </p:spPr>
        <p:txBody>
          <a:bodyPr vert="horz" lIns="91440" tIns="45720" rIns="91440" bIns="45720" rtlCol="0" anchor="ctr"/>
          <a:lstStyle>
            <a:lvl1pPr algn="r">
              <a:defRPr sz="1200">
                <a:solidFill>
                  <a:srgbClr val="686D71"/>
                </a:solidFill>
                <a:latin typeface="MMC OFFICE" panose="00000500000000000000" pitchFamily="2" charset="0"/>
              </a:defRPr>
            </a:lvl1pPr>
          </a:lstStyle>
          <a:p>
            <a:fld id="{AFA0F65E-F5D4-45B0-A4C5-F0ACF598014B}" type="slidenum">
              <a:rPr lang="ja-JP" altLang="en-US" smtClean="0"/>
              <a:pPr/>
              <a:t>‹#›</a:t>
            </a:fld>
            <a:endParaRPr lang="ja-JP" altLang="en-US"/>
          </a:p>
        </p:txBody>
      </p:sp>
      <p:sp>
        <p:nvSpPr>
          <p:cNvPr id="23" name="テキスト プレースホルダー 22"/>
          <p:cNvSpPr>
            <a:spLocks noGrp="1"/>
          </p:cNvSpPr>
          <p:nvPr>
            <p:ph type="body" sz="quarter" idx="15" hasCustomPrompt="1"/>
          </p:nvPr>
        </p:nvSpPr>
        <p:spPr>
          <a:xfrm>
            <a:off x="250825" y="4236935"/>
            <a:ext cx="4816229" cy="450050"/>
          </a:xfrm>
          <a:prstGeom prst="rect">
            <a:avLst/>
          </a:prstGeom>
        </p:spPr>
        <p:txBody>
          <a:bodyPr/>
          <a:lstStyle>
            <a:lvl1pPr>
              <a:lnSpc>
                <a:spcPts val="1300"/>
              </a:lnSpc>
              <a:defRPr sz="1200">
                <a:latin typeface="MMC OFFICE" panose="00000500000000000000" pitchFamily="2" charset="0"/>
              </a:defRPr>
            </a:lvl1pPr>
            <a:lvl2pPr>
              <a:defRPr>
                <a:latin typeface="MMCBeta5" pitchFamily="50" charset="0"/>
              </a:defRPr>
            </a:lvl2pPr>
            <a:lvl3pPr>
              <a:defRPr>
                <a:latin typeface="MMCBeta5" pitchFamily="50" charset="0"/>
              </a:defRPr>
            </a:lvl3pPr>
            <a:lvl4pPr>
              <a:defRPr>
                <a:latin typeface="MMCBeta5" pitchFamily="50" charset="0"/>
              </a:defRPr>
            </a:lvl4pPr>
            <a:lvl5pPr>
              <a:defRPr>
                <a:latin typeface="MMCBeta5" pitchFamily="50" charset="0"/>
              </a:defRPr>
            </a:lvl5pPr>
          </a:lstStyle>
          <a:p>
            <a:pPr lvl="0"/>
            <a:r>
              <a:rPr kumimoji="1" lang="en-US" altLang="ja-JP" dirty="0"/>
              <a:t>Div.</a:t>
            </a:r>
          </a:p>
          <a:p>
            <a:pPr lvl="0"/>
            <a:r>
              <a:rPr kumimoji="1" lang="en-US" altLang="ja-JP" dirty="0"/>
              <a:t>Div.</a:t>
            </a:r>
          </a:p>
          <a:p>
            <a:pPr lvl="0"/>
            <a:endParaRPr kumimoji="1" lang="ja-JP" altLang="en-US" dirty="0"/>
          </a:p>
        </p:txBody>
      </p:sp>
      <p:sp>
        <p:nvSpPr>
          <p:cNvPr id="24" name="テキスト プレースホルダー 16"/>
          <p:cNvSpPr>
            <a:spLocks noGrp="1"/>
          </p:cNvSpPr>
          <p:nvPr>
            <p:ph type="body" sz="quarter" idx="16" hasCustomPrompt="1"/>
          </p:nvPr>
        </p:nvSpPr>
        <p:spPr>
          <a:xfrm>
            <a:off x="250825" y="4696792"/>
            <a:ext cx="4816230" cy="270030"/>
          </a:xfrm>
          <a:prstGeom prst="rect">
            <a:avLst/>
          </a:prstGeom>
        </p:spPr>
        <p:txBody>
          <a:bodyPr/>
          <a:lstStyle>
            <a:lvl1pPr algn="l">
              <a:lnSpc>
                <a:spcPts val="1600"/>
              </a:lnSpc>
              <a:defRPr sz="1600" baseline="0">
                <a:latin typeface="MMC OFFICE" panose="00000500000000000000" pitchFamily="2" charset="0"/>
                <a:ea typeface="ヒラギノ角ゴ Std W6" pitchFamily="34" charset="-128"/>
              </a:defRPr>
            </a:lvl1pPr>
            <a:lvl2pPr algn="l">
              <a:defRPr sz="1200">
                <a:latin typeface="ヒラギノ角ゴ Std W6" pitchFamily="34" charset="-128"/>
                <a:ea typeface="ヒラギノ角ゴ Std W6" pitchFamily="34" charset="-128"/>
              </a:defRPr>
            </a:lvl2pPr>
            <a:lvl3pPr algn="l">
              <a:defRPr sz="1200">
                <a:latin typeface="ヒラギノ角ゴ Std W6" pitchFamily="34" charset="-128"/>
                <a:ea typeface="ヒラギノ角ゴ Std W6" pitchFamily="34" charset="-128"/>
              </a:defRPr>
            </a:lvl3pPr>
            <a:lvl4pPr algn="l">
              <a:defRPr sz="1200">
                <a:latin typeface="ヒラギノ角ゴ Std W6" pitchFamily="34" charset="-128"/>
                <a:ea typeface="ヒラギノ角ゴ Std W6" pitchFamily="34" charset="-128"/>
              </a:defRPr>
            </a:lvl4pPr>
            <a:lvl5pPr algn="l">
              <a:defRPr sz="1800">
                <a:latin typeface="ヒラギノ角ゴ Std W6" pitchFamily="34" charset="-128"/>
                <a:ea typeface="ヒラギノ角ゴ Std W6" pitchFamily="34" charset="-128"/>
              </a:defRPr>
            </a:lvl5pPr>
          </a:lstStyle>
          <a:p>
            <a:pPr lvl="0"/>
            <a:r>
              <a:rPr kumimoji="1" lang="en-US" altLang="ja-JP" dirty="0"/>
              <a:t>Name</a:t>
            </a:r>
          </a:p>
        </p:txBody>
      </p:sp>
    </p:spTree>
    <p:extLst>
      <p:ext uri="{BB962C8B-B14F-4D97-AF65-F5344CB8AC3E}">
        <p14:creationId xmlns:p14="http://schemas.microsoft.com/office/powerpoint/2010/main" val="1253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レイアウト">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51520" y="186485"/>
            <a:ext cx="7920880" cy="360040"/>
          </a:xfrm>
          <a:prstGeom prst="rect">
            <a:avLst/>
          </a:prstGeom>
        </p:spPr>
        <p:txBody>
          <a:bodyPr/>
          <a:lstStyle>
            <a:lvl1pPr>
              <a:defRPr sz="2000" b="1">
                <a:latin typeface="MMC OFFICE" panose="00000500000000000000" pitchFamily="2" charset="0"/>
                <a:ea typeface="ヒラギノ角ゴ Std W8" pitchFamily="34" charset="-128"/>
              </a:defRPr>
            </a:lvl1pPr>
          </a:lstStyle>
          <a:p>
            <a:r>
              <a:rPr kumimoji="1" lang="en-US" altLang="ja-JP" dirty="0"/>
              <a:t>MITSUBISHI MOTORS PRESENTATION</a:t>
            </a:r>
            <a:endParaRPr kumimoji="1" lang="ja-JP" altLang="en-US" dirty="0"/>
          </a:p>
        </p:txBody>
      </p:sp>
      <p:sp>
        <p:nvSpPr>
          <p:cNvPr id="4" name="テキスト プレースホルダー 3"/>
          <p:cNvSpPr>
            <a:spLocks noGrp="1"/>
          </p:cNvSpPr>
          <p:nvPr>
            <p:ph type="body" sz="quarter" idx="10" hasCustomPrompt="1"/>
          </p:nvPr>
        </p:nvSpPr>
        <p:spPr>
          <a:xfrm>
            <a:off x="250825" y="726545"/>
            <a:ext cx="8642350" cy="314822"/>
          </a:xfrm>
          <a:prstGeom prst="rect">
            <a:avLst/>
          </a:prstGeom>
        </p:spPr>
        <p:txBody>
          <a:bodyPr/>
          <a:lstStyle>
            <a:lvl1pPr>
              <a:defRPr sz="1600" baseline="0">
                <a:latin typeface="MMC OFFICE" panose="00000500000000000000" pitchFamily="2" charset="0"/>
                <a:ea typeface="ヒラギノ角ゴ Std W6" pitchFamily="34" charset="-128"/>
              </a:defRPr>
            </a:lvl1pPr>
            <a:lvl2pPr marL="457200" indent="0">
              <a:buNone/>
              <a:defRPr sz="1400">
                <a:latin typeface="ヒラギノ角ゴ Std W4" pitchFamily="34" charset="-128"/>
                <a:ea typeface="ヒラギノ角ゴ Std W4" pitchFamily="34" charset="-128"/>
              </a:defRPr>
            </a:lvl2pPr>
            <a:lvl3pPr marL="914400" indent="0">
              <a:buNone/>
              <a:defRPr sz="1400">
                <a:latin typeface="ヒラギノ角ゴ Std W4" pitchFamily="34" charset="-128"/>
                <a:ea typeface="ヒラギノ角ゴ Std W4" pitchFamily="34" charset="-128"/>
              </a:defRPr>
            </a:lvl3pPr>
            <a:lvl4pPr marL="1371600" indent="0">
              <a:buNone/>
              <a:defRPr sz="1400">
                <a:latin typeface="ヒラギノ角ゴ Std W4" pitchFamily="34" charset="-128"/>
                <a:ea typeface="ヒラギノ角ゴ Std W4" pitchFamily="34" charset="-128"/>
              </a:defRPr>
            </a:lvl4pPr>
            <a:lvl5pPr marL="1828800" indent="0">
              <a:buNone/>
              <a:defRPr sz="1400">
                <a:latin typeface="ヒラギノ角ゴ Std W4" pitchFamily="34" charset="-128"/>
                <a:ea typeface="ヒラギノ角ゴ Std W4" pitchFamily="34" charset="-128"/>
              </a:defRPr>
            </a:lvl5pPr>
          </a:lstStyle>
          <a:p>
            <a:pPr lvl="0"/>
            <a:r>
              <a:rPr kumimoji="1" lang="en-US" altLang="ja-JP" dirty="0"/>
              <a:t>CONTENTS</a:t>
            </a:r>
          </a:p>
        </p:txBody>
      </p:sp>
      <p:sp>
        <p:nvSpPr>
          <p:cNvPr id="5" name="スライド番号プレースホルダー 5"/>
          <p:cNvSpPr>
            <a:spLocks noGrp="1"/>
          </p:cNvSpPr>
          <p:nvPr>
            <p:ph type="sldNum" sz="quarter" idx="4"/>
          </p:nvPr>
        </p:nvSpPr>
        <p:spPr>
          <a:xfrm>
            <a:off x="8356600" y="4863192"/>
            <a:ext cx="535880" cy="273844"/>
          </a:xfrm>
          <a:prstGeom prst="rect">
            <a:avLst/>
          </a:prstGeom>
        </p:spPr>
        <p:txBody>
          <a:bodyPr vert="horz" lIns="91440" tIns="45720" rIns="91440" bIns="45720" rtlCol="0" anchor="ctr"/>
          <a:lstStyle>
            <a:lvl1pPr algn="r">
              <a:defRPr sz="1200">
                <a:solidFill>
                  <a:srgbClr val="686D71"/>
                </a:solidFill>
                <a:latin typeface="MMC OFFICE" panose="00000500000000000000" pitchFamily="2" charset="0"/>
              </a:defRPr>
            </a:lvl1pPr>
          </a:lstStyle>
          <a:p>
            <a:fld id="{AFA0F65E-F5D4-45B0-A4C5-F0ACF598014B}" type="slidenum">
              <a:rPr lang="ja-JP" altLang="en-US" smtClean="0"/>
              <a:pPr/>
              <a:t>‹#›</a:t>
            </a:fld>
            <a:endParaRPr lang="ja-JP" altLang="en-US"/>
          </a:p>
        </p:txBody>
      </p:sp>
      <p:sp>
        <p:nvSpPr>
          <p:cNvPr id="6" name="テキスト プレースホルダー 3"/>
          <p:cNvSpPr>
            <a:spLocks noGrp="1"/>
          </p:cNvSpPr>
          <p:nvPr>
            <p:ph type="body" sz="quarter" idx="11" hasCustomPrompt="1"/>
          </p:nvPr>
        </p:nvSpPr>
        <p:spPr>
          <a:xfrm>
            <a:off x="252873" y="1131590"/>
            <a:ext cx="8642350" cy="3600400"/>
          </a:xfrm>
          <a:prstGeom prst="rect">
            <a:avLst/>
          </a:prstGeom>
        </p:spPr>
        <p:txBody>
          <a:bodyPr/>
          <a:lstStyle>
            <a:lvl1pPr>
              <a:defRPr sz="1600" baseline="0">
                <a:latin typeface="MMC OFFICE" panose="00000500000000000000" pitchFamily="2" charset="0"/>
                <a:ea typeface="ヒラギノ角ゴ Std W6" pitchFamily="34" charset="-128"/>
              </a:defRPr>
            </a:lvl1pPr>
            <a:lvl2pPr marL="457200" indent="0">
              <a:buNone/>
              <a:defRPr sz="1400">
                <a:latin typeface="ヒラギノ角ゴ Std W4" pitchFamily="34" charset="-128"/>
                <a:ea typeface="ヒラギノ角ゴ Std W4" pitchFamily="34" charset="-128"/>
              </a:defRPr>
            </a:lvl2pPr>
            <a:lvl3pPr marL="914400" indent="0">
              <a:buNone/>
              <a:defRPr sz="1400">
                <a:latin typeface="ヒラギノ角ゴ Std W4" pitchFamily="34" charset="-128"/>
                <a:ea typeface="ヒラギノ角ゴ Std W4" pitchFamily="34" charset="-128"/>
              </a:defRPr>
            </a:lvl3pPr>
            <a:lvl4pPr marL="1371600" indent="0">
              <a:buNone/>
              <a:defRPr sz="1400">
                <a:latin typeface="ヒラギノ角ゴ Std W4" pitchFamily="34" charset="-128"/>
                <a:ea typeface="ヒラギノ角ゴ Std W4" pitchFamily="34" charset="-128"/>
              </a:defRPr>
            </a:lvl4pPr>
            <a:lvl5pPr marL="1828800" indent="0">
              <a:buNone/>
              <a:defRPr sz="1400">
                <a:latin typeface="ヒラギノ角ゴ Std W4" pitchFamily="34" charset="-128"/>
                <a:ea typeface="ヒラギノ角ゴ Std W4" pitchFamily="34" charset="-128"/>
              </a:defRPr>
            </a:lvl5pPr>
          </a:lstStyle>
          <a:p>
            <a:pPr lvl="0"/>
            <a:r>
              <a:rPr kumimoji="1" lang="en-US" altLang="ja-JP" dirty="0"/>
              <a:t>TEXT</a:t>
            </a:r>
          </a:p>
        </p:txBody>
      </p:sp>
    </p:spTree>
    <p:extLst>
      <p:ext uri="{BB962C8B-B14F-4D97-AF65-F5344CB8AC3E}">
        <p14:creationId xmlns:p14="http://schemas.microsoft.com/office/powerpoint/2010/main" val="3143798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コンテンツレイアウト">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51520" y="186485"/>
            <a:ext cx="7920880" cy="360040"/>
          </a:xfrm>
          <a:prstGeom prst="rect">
            <a:avLst/>
          </a:prstGeom>
        </p:spPr>
        <p:txBody>
          <a:bodyPr/>
          <a:lstStyle>
            <a:lvl1pPr>
              <a:defRPr sz="2000" b="1">
                <a:latin typeface="MMC OFFICE" panose="00000500000000000000" pitchFamily="2" charset="0"/>
                <a:ea typeface="ヒラギノ角ゴ Std W8" pitchFamily="34" charset="-128"/>
              </a:defRPr>
            </a:lvl1pPr>
          </a:lstStyle>
          <a:p>
            <a:r>
              <a:rPr kumimoji="1" lang="en-US" altLang="ja-JP" dirty="0"/>
              <a:t>MITSUBISHI MOTORS PRESENTATION</a:t>
            </a:r>
            <a:endParaRPr kumimoji="1" lang="ja-JP" altLang="en-US" dirty="0"/>
          </a:p>
        </p:txBody>
      </p:sp>
      <p:sp>
        <p:nvSpPr>
          <p:cNvPr id="5" name="スライド番号プレースホルダー 5"/>
          <p:cNvSpPr>
            <a:spLocks noGrp="1"/>
          </p:cNvSpPr>
          <p:nvPr>
            <p:ph type="sldNum" sz="quarter" idx="4"/>
          </p:nvPr>
        </p:nvSpPr>
        <p:spPr>
          <a:xfrm>
            <a:off x="8356600" y="4863192"/>
            <a:ext cx="535880" cy="273844"/>
          </a:xfrm>
          <a:prstGeom prst="rect">
            <a:avLst/>
          </a:prstGeom>
        </p:spPr>
        <p:txBody>
          <a:bodyPr vert="horz" lIns="91440" tIns="45720" rIns="91440" bIns="45720" rtlCol="0" anchor="ctr"/>
          <a:lstStyle>
            <a:lvl1pPr algn="r">
              <a:defRPr sz="1200">
                <a:solidFill>
                  <a:srgbClr val="686D71"/>
                </a:solidFill>
                <a:latin typeface="MMC OFFICE" panose="00000500000000000000" pitchFamily="2" charset="0"/>
              </a:defRPr>
            </a:lvl1pPr>
          </a:lstStyle>
          <a:p>
            <a:fld id="{AFA0F65E-F5D4-45B0-A4C5-F0ACF598014B}" type="slidenum">
              <a:rPr lang="ja-JP" altLang="en-US" smtClean="0"/>
              <a:pPr/>
              <a:t>‹#›</a:t>
            </a:fld>
            <a:endParaRPr lang="ja-JP" altLang="en-US"/>
          </a:p>
        </p:txBody>
      </p:sp>
    </p:spTree>
    <p:extLst>
      <p:ext uri="{BB962C8B-B14F-4D97-AF65-F5344CB8AC3E}">
        <p14:creationId xmlns:p14="http://schemas.microsoft.com/office/powerpoint/2010/main" val="112229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正方形/長方形 17">
            <a:extLst>
              <a:ext uri="{FF2B5EF4-FFF2-40B4-BE49-F238E27FC236}">
                <a16:creationId xmlns:a16="http://schemas.microsoft.com/office/drawing/2014/main" id="{552B6B0E-26EB-F8AC-7EE6-8894F7331E69}"/>
              </a:ext>
            </a:extLst>
          </p:cNvPr>
          <p:cNvSpPr/>
          <p:nvPr userDrawn="1"/>
        </p:nvSpPr>
        <p:spPr>
          <a:xfrm>
            <a:off x="251760" y="539780"/>
            <a:ext cx="8640000" cy="40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800">
              <a:latin typeface="MMC" pitchFamily="50" charset="0"/>
            </a:endParaRPr>
          </a:p>
          <a:p>
            <a:pPr algn="ctr"/>
            <a:endParaRPr kumimoji="1" lang="ja-JP" altLang="en-US" sz="1800">
              <a:latin typeface="MMC" pitchFamily="50" charset="0"/>
            </a:endParaRPr>
          </a:p>
        </p:txBody>
      </p:sp>
    </p:spTree>
    <p:extLst>
      <p:ext uri="{BB962C8B-B14F-4D97-AF65-F5344CB8AC3E}">
        <p14:creationId xmlns:p14="http://schemas.microsoft.com/office/powerpoint/2010/main" val="1871210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Main">
    <p:spTree>
      <p:nvGrpSpPr>
        <p:cNvPr id="1" name=""/>
        <p:cNvGrpSpPr/>
        <p:nvPr/>
      </p:nvGrpSpPr>
      <p:grpSpPr>
        <a:xfrm>
          <a:off x="0" y="0"/>
          <a:ext cx="0" cy="0"/>
          <a:chOff x="0" y="0"/>
          <a:chExt cx="0" cy="0"/>
        </a:xfrm>
      </p:grpSpPr>
      <p:sp>
        <p:nvSpPr>
          <p:cNvPr id="6" name="Picture Placeholder 13"/>
          <p:cNvSpPr>
            <a:spLocks noGrp="1"/>
          </p:cNvSpPr>
          <p:nvPr>
            <p:ph type="pic" sz="quarter" idx="14"/>
          </p:nvPr>
        </p:nvSpPr>
        <p:spPr>
          <a:xfrm>
            <a:off x="3046552" y="0"/>
            <a:ext cx="3055283" cy="5143500"/>
          </a:xfrm>
          <a:solidFill>
            <a:schemeClr val="bg1">
              <a:lumMod val="95000"/>
            </a:schemeClr>
          </a:solidFill>
          <a:effectLst/>
        </p:spPr>
        <p:txBody>
          <a:bodyPr>
            <a:normAutofit/>
          </a:bodyPr>
          <a:lstStyle>
            <a:lvl1pPr marL="0" indent="0">
              <a:buNone/>
              <a:defRPr sz="1050">
                <a:ln>
                  <a:noFill/>
                </a:ln>
                <a:solidFill>
                  <a:schemeClr val="bg1">
                    <a:lumMod val="85000"/>
                  </a:schemeClr>
                </a:solidFill>
              </a:defRPr>
            </a:lvl1pPr>
          </a:lstStyle>
          <a:p>
            <a:r>
              <a:rPr lang="en-US"/>
              <a:t>Drag picture to placeholder or click icon to add</a:t>
            </a:r>
          </a:p>
        </p:txBody>
      </p:sp>
    </p:spTree>
    <p:extLst>
      <p:ext uri="{BB962C8B-B14F-4D97-AF65-F5344CB8AC3E}">
        <p14:creationId xmlns:p14="http://schemas.microsoft.com/office/powerpoint/2010/main" val="1065634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FA7A-E4E9-C974-E2B0-A8980E973A2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5221297-8083-9C24-9F09-B0D9FA8612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549E92C-A2E0-9BB7-F277-B71D05951046}"/>
              </a:ext>
            </a:extLst>
          </p:cNvPr>
          <p:cNvSpPr>
            <a:spLocks noGrp="1"/>
          </p:cNvSpPr>
          <p:nvPr>
            <p:ph type="dt" sz="half" idx="10"/>
          </p:nvPr>
        </p:nvSpPr>
        <p:spPr/>
        <p:txBody>
          <a:bodyPr/>
          <a:lstStyle/>
          <a:p>
            <a:fld id="{C3137717-C1E4-4AAB-9E7B-A71576F00FEB}" type="datetime1">
              <a:rPr lang="en-US" smtClean="0"/>
              <a:t>4/27/2026</a:t>
            </a:fld>
            <a:endParaRPr lang="en-ID"/>
          </a:p>
        </p:txBody>
      </p:sp>
      <p:sp>
        <p:nvSpPr>
          <p:cNvPr id="5" name="Footer Placeholder 4">
            <a:extLst>
              <a:ext uri="{FF2B5EF4-FFF2-40B4-BE49-F238E27FC236}">
                <a16:creationId xmlns:a16="http://schemas.microsoft.com/office/drawing/2014/main" id="{2DC4626E-7151-ED85-761C-DE651376596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D95CF41-4879-C003-BD3E-88E126485003}"/>
              </a:ext>
            </a:extLst>
          </p:cNvPr>
          <p:cNvSpPr>
            <a:spLocks noGrp="1"/>
          </p:cNvSpPr>
          <p:nvPr>
            <p:ph type="sldNum" sz="quarter" idx="12"/>
          </p:nvPr>
        </p:nvSpPr>
        <p:spPr/>
        <p:txBody>
          <a:bodyPr/>
          <a:lstStyle/>
          <a:p>
            <a:fld id="{9E58CC3A-6D25-4F27-9F25-D37F7EDD5123}" type="slidenum">
              <a:rPr lang="en-ID" smtClean="0"/>
              <a:t>‹#›</a:t>
            </a:fld>
            <a:endParaRPr lang="en-ID"/>
          </a:p>
        </p:txBody>
      </p:sp>
    </p:spTree>
    <p:extLst>
      <p:ext uri="{BB962C8B-B14F-4D97-AF65-F5344CB8AC3E}">
        <p14:creationId xmlns:p14="http://schemas.microsoft.com/office/powerpoint/2010/main" val="302018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Table">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F702557-1BCD-07C1-9DF7-05E2CF3FCBA8}"/>
              </a:ext>
            </a:extLst>
          </p:cNvPr>
          <p:cNvSpPr txBox="1"/>
          <p:nvPr userDrawn="1"/>
        </p:nvSpPr>
        <p:spPr>
          <a:xfrm>
            <a:off x="3086259" y="5005868"/>
            <a:ext cx="3163781" cy="176651"/>
          </a:xfrm>
          <a:prstGeom prst="rect">
            <a:avLst/>
          </a:prstGeom>
          <a:noFill/>
        </p:spPr>
        <p:txBody>
          <a:bodyPr wrap="square" rtlCol="0">
            <a:spAutoFit/>
          </a:bodyPr>
          <a:lstStyle/>
          <a:p>
            <a:pPr algn="ctr"/>
            <a:r>
              <a:rPr lang="en-US" sz="548">
                <a:solidFill>
                  <a:srgbClr val="A20403"/>
                </a:solidFill>
                <a:latin typeface="Helvetica Neue" panose="02000503000000020004" pitchFamily="2" charset="0"/>
                <a:ea typeface="Helvetica Neue" panose="02000503000000020004" pitchFamily="2" charset="0"/>
                <a:cs typeface="Helvetica Neue" panose="02000503000000020004" pitchFamily="2" charset="0"/>
              </a:rPr>
              <a:t>Confidential – MMKSI and BSI Internal Use Only</a:t>
            </a:r>
          </a:p>
        </p:txBody>
      </p:sp>
      <p:graphicFrame>
        <p:nvGraphicFramePr>
          <p:cNvPr id="2" name="Table 2">
            <a:extLst>
              <a:ext uri="{FF2B5EF4-FFF2-40B4-BE49-F238E27FC236}">
                <a16:creationId xmlns:a16="http://schemas.microsoft.com/office/drawing/2014/main" id="{1CB9AE37-2DC4-1E61-AB63-EA1AE365EB7B}"/>
              </a:ext>
            </a:extLst>
          </p:cNvPr>
          <p:cNvGraphicFramePr>
            <a:graphicFrameLocks noGrp="1"/>
          </p:cNvGraphicFramePr>
          <p:nvPr userDrawn="1">
            <p:extLst>
              <p:ext uri="{D42A27DB-BD31-4B8C-83A1-F6EECF244321}">
                <p14:modId xmlns:p14="http://schemas.microsoft.com/office/powerpoint/2010/main" val="2618786081"/>
              </p:ext>
            </p:extLst>
          </p:nvPr>
        </p:nvGraphicFramePr>
        <p:xfrm>
          <a:off x="7582573" y="4762067"/>
          <a:ext cx="1368403" cy="190500"/>
        </p:xfrm>
        <a:graphic>
          <a:graphicData uri="http://schemas.openxmlformats.org/drawingml/2006/table">
            <a:tbl>
              <a:tblPr firstRow="1" bandRow="1">
                <a:tableStyleId>{5C22544A-7EE6-4342-B048-85BDC9FD1C3A}</a:tableStyleId>
              </a:tblPr>
              <a:tblGrid>
                <a:gridCol w="628468">
                  <a:extLst>
                    <a:ext uri="{9D8B030D-6E8A-4147-A177-3AD203B41FA5}">
                      <a16:colId xmlns:a16="http://schemas.microsoft.com/office/drawing/2014/main" val="871689188"/>
                    </a:ext>
                  </a:extLst>
                </a:gridCol>
                <a:gridCol w="739935">
                  <a:extLst>
                    <a:ext uri="{9D8B030D-6E8A-4147-A177-3AD203B41FA5}">
                      <a16:colId xmlns:a16="http://schemas.microsoft.com/office/drawing/2014/main" val="2453086315"/>
                    </a:ext>
                  </a:extLst>
                </a:gridCol>
              </a:tblGrid>
              <a:tr h="182880">
                <a:tc>
                  <a:txBody>
                    <a:bodyPr/>
                    <a:lstStyle/>
                    <a:p>
                      <a:r>
                        <a:rPr lang="en-US" sz="800">
                          <a:solidFill>
                            <a:schemeClr val="tx1"/>
                          </a:solidFill>
                        </a:rPr>
                        <a:t>BSI</a:t>
                      </a:r>
                    </a:p>
                  </a:txBody>
                  <a:tcPr marL="84407" marR="84407"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a:solidFill>
                            <a:schemeClr val="tx1"/>
                          </a:solidFill>
                        </a:rPr>
                        <a:t>MMKSI</a:t>
                      </a:r>
                    </a:p>
                  </a:txBody>
                  <a:tcPr marL="84407" marR="84407"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6850598"/>
                  </a:ext>
                </a:extLst>
              </a:tr>
            </a:tbl>
          </a:graphicData>
        </a:graphic>
      </p:graphicFrame>
      <p:sp>
        <p:nvSpPr>
          <p:cNvPr id="3" name="Rectangle 2">
            <a:extLst>
              <a:ext uri="{FF2B5EF4-FFF2-40B4-BE49-F238E27FC236}">
                <a16:creationId xmlns:a16="http://schemas.microsoft.com/office/drawing/2014/main" id="{DC845F31-4C57-1377-F193-D632048B2551}"/>
              </a:ext>
            </a:extLst>
          </p:cNvPr>
          <p:cNvSpPr/>
          <p:nvPr userDrawn="1"/>
        </p:nvSpPr>
        <p:spPr>
          <a:xfrm>
            <a:off x="1" y="0"/>
            <a:ext cx="464801" cy="514350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4" name="TextBox 3">
            <a:extLst>
              <a:ext uri="{FF2B5EF4-FFF2-40B4-BE49-F238E27FC236}">
                <a16:creationId xmlns:a16="http://schemas.microsoft.com/office/drawing/2014/main" id="{7FC18E1D-0D7D-6EFC-C626-71C3848B5846}"/>
              </a:ext>
            </a:extLst>
          </p:cNvPr>
          <p:cNvSpPr txBox="1"/>
          <p:nvPr userDrawn="1"/>
        </p:nvSpPr>
        <p:spPr>
          <a:xfrm>
            <a:off x="119641" y="4860060"/>
            <a:ext cx="319318" cy="230832"/>
          </a:xfrm>
          <a:prstGeom prst="rect">
            <a:avLst/>
          </a:prstGeom>
          <a:noFill/>
        </p:spPr>
        <p:txBody>
          <a:bodyPr wrap="none" rtlCol="0">
            <a:spAutoFit/>
          </a:bodyPr>
          <a:lstStyle/>
          <a:p>
            <a:fld id="{98084C29-2734-4352-81DF-ED544AFCF884}" type="slidenum">
              <a:rPr lang="en-US" sz="900" b="0" i="0" smtClean="0"/>
              <a:t>‹#›</a:t>
            </a:fld>
            <a:endParaRPr lang="en-US" sz="900" b="0" i="0"/>
          </a:p>
        </p:txBody>
      </p:sp>
      <p:sp>
        <p:nvSpPr>
          <p:cNvPr id="11" name="TextBox 10">
            <a:extLst>
              <a:ext uri="{FF2B5EF4-FFF2-40B4-BE49-F238E27FC236}">
                <a16:creationId xmlns:a16="http://schemas.microsoft.com/office/drawing/2014/main" id="{B3CF2565-9853-D91D-BF6C-5EC0D8D99059}"/>
              </a:ext>
            </a:extLst>
          </p:cNvPr>
          <p:cNvSpPr txBox="1"/>
          <p:nvPr userDrawn="1"/>
        </p:nvSpPr>
        <p:spPr>
          <a:xfrm rot="16200000">
            <a:off x="-105541" y="4322698"/>
            <a:ext cx="670989" cy="207749"/>
          </a:xfrm>
          <a:prstGeom prst="rect">
            <a:avLst/>
          </a:prstGeom>
          <a:noFill/>
        </p:spPr>
        <p:txBody>
          <a:bodyPr wrap="square" rtlCol="0">
            <a:spAutoFit/>
          </a:bodyPr>
          <a:lstStyle/>
          <a:p>
            <a:r>
              <a:rPr lang="en-US" sz="750" b="0" spc="113">
                <a:latin typeface="Helvetica Neue" panose="02000503000000020004" pitchFamily="2" charset="0"/>
                <a:ea typeface="Helvetica Neue" panose="02000503000000020004" pitchFamily="2" charset="0"/>
                <a:cs typeface="Helvetica Neue" panose="02000503000000020004" pitchFamily="2" charset="0"/>
              </a:rPr>
              <a:t>[MMKSI]</a:t>
            </a:r>
          </a:p>
        </p:txBody>
      </p:sp>
      <p:sp>
        <p:nvSpPr>
          <p:cNvPr id="12" name="TextBox 11">
            <a:extLst>
              <a:ext uri="{FF2B5EF4-FFF2-40B4-BE49-F238E27FC236}">
                <a16:creationId xmlns:a16="http://schemas.microsoft.com/office/drawing/2014/main" id="{43892594-C438-29F3-0BFD-9D16627B8223}"/>
              </a:ext>
            </a:extLst>
          </p:cNvPr>
          <p:cNvSpPr txBox="1"/>
          <p:nvPr userDrawn="1"/>
        </p:nvSpPr>
        <p:spPr>
          <a:xfrm rot="16200000">
            <a:off x="-1041842" y="2829182"/>
            <a:ext cx="2543592" cy="207749"/>
          </a:xfrm>
          <a:prstGeom prst="rect">
            <a:avLst/>
          </a:prstGeom>
          <a:noFill/>
        </p:spPr>
        <p:txBody>
          <a:bodyPr wrap="square" rtlCol="0">
            <a:spAutoFit/>
          </a:bodyPr>
          <a:lstStyle/>
          <a:p>
            <a:pPr algn="ctr"/>
            <a:r>
              <a:rPr lang="en-US" sz="750" b="0" spc="113">
                <a:latin typeface="Helvetica Neue" panose="02000503000000020004" pitchFamily="2" charset="0"/>
                <a:ea typeface="Helvetica Neue" panose="02000503000000020004" pitchFamily="2" charset="0"/>
                <a:cs typeface="Helvetica Neue" panose="02000503000000020004" pitchFamily="2" charset="0"/>
              </a:rPr>
              <a:t>Digitalize Spare Part Catalogue</a:t>
            </a:r>
          </a:p>
        </p:txBody>
      </p:sp>
      <p:sp>
        <p:nvSpPr>
          <p:cNvPr id="19" name="TextBox 18">
            <a:extLst>
              <a:ext uri="{FF2B5EF4-FFF2-40B4-BE49-F238E27FC236}">
                <a16:creationId xmlns:a16="http://schemas.microsoft.com/office/drawing/2014/main" id="{2382DAE5-D334-3DE2-E099-503E85876D50}"/>
              </a:ext>
            </a:extLst>
          </p:cNvPr>
          <p:cNvSpPr txBox="1"/>
          <p:nvPr userDrawn="1"/>
        </p:nvSpPr>
        <p:spPr>
          <a:xfrm rot="16200000">
            <a:off x="-669034" y="956220"/>
            <a:ext cx="1807370" cy="207749"/>
          </a:xfrm>
          <a:prstGeom prst="rect">
            <a:avLst/>
          </a:prstGeom>
          <a:noFill/>
        </p:spPr>
        <p:txBody>
          <a:bodyPr wrap="square" rtlCol="0">
            <a:spAutoFit/>
          </a:bodyPr>
          <a:lstStyle/>
          <a:p>
            <a:pPr algn="ctr"/>
            <a:r>
              <a:rPr lang="it-IT" sz="750" b="0" spc="113">
                <a:latin typeface="Helvetica Neue" panose="02000503000000020004" pitchFamily="2" charset="0"/>
                <a:ea typeface="Helvetica Neue" panose="02000503000000020004" pitchFamily="2" charset="0"/>
                <a:cs typeface="Helvetica Neue" panose="02000503000000020004" pitchFamily="2" charset="0"/>
              </a:rPr>
              <a:t>268/Q.BSI/AOI/VII/23</a:t>
            </a:r>
            <a:endParaRPr lang="en-US" sz="750" b="0" spc="113">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 name="Title 1">
            <a:extLst>
              <a:ext uri="{FF2B5EF4-FFF2-40B4-BE49-F238E27FC236}">
                <a16:creationId xmlns:a16="http://schemas.microsoft.com/office/drawing/2014/main" id="{EEFCCFD5-B307-9510-46DE-956E2A58E11F}"/>
              </a:ext>
            </a:extLst>
          </p:cNvPr>
          <p:cNvSpPr>
            <a:spLocks noGrp="1"/>
          </p:cNvSpPr>
          <p:nvPr>
            <p:ph type="title"/>
          </p:nvPr>
        </p:nvSpPr>
        <p:spPr>
          <a:xfrm>
            <a:off x="628650" y="93961"/>
            <a:ext cx="7886700" cy="532689"/>
          </a:xfrm>
        </p:spPr>
        <p:txBody>
          <a:bodyPr>
            <a:normAutofit/>
          </a:bodyPr>
          <a:lstStyle>
            <a:lvl1pPr>
              <a:defRPr sz="2700">
                <a:latin typeface="Helvetica Neue" panose="02000503000000020004"/>
              </a:defRPr>
            </a:lvl1pPr>
          </a:lstStyle>
          <a:p>
            <a:r>
              <a:rPr lang="en-US"/>
              <a:t>Click to edit Master title style</a:t>
            </a:r>
          </a:p>
        </p:txBody>
      </p:sp>
      <p:cxnSp>
        <p:nvCxnSpPr>
          <p:cNvPr id="21" name="Straight Connector 20">
            <a:extLst>
              <a:ext uri="{FF2B5EF4-FFF2-40B4-BE49-F238E27FC236}">
                <a16:creationId xmlns:a16="http://schemas.microsoft.com/office/drawing/2014/main" id="{F34C6E93-56FF-37DF-53AF-93F3A46EF4AF}"/>
              </a:ext>
            </a:extLst>
          </p:cNvPr>
          <p:cNvCxnSpPr/>
          <p:nvPr userDrawn="1"/>
        </p:nvCxnSpPr>
        <p:spPr>
          <a:xfrm>
            <a:off x="713232" y="612362"/>
            <a:ext cx="7421458"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2" name="Picture 21" descr="A picture containing graphics, graphic design, design&#10;&#10;Description automatically generated">
            <a:extLst>
              <a:ext uri="{FF2B5EF4-FFF2-40B4-BE49-F238E27FC236}">
                <a16:creationId xmlns:a16="http://schemas.microsoft.com/office/drawing/2014/main" id="{455E100C-73AB-CFAA-A0F6-01E405A47D0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63047"/>
          <a:stretch/>
        </p:blipFill>
        <p:spPr>
          <a:xfrm>
            <a:off x="8266775" y="228079"/>
            <a:ext cx="412424" cy="384284"/>
          </a:xfrm>
          <a:prstGeom prst="rect">
            <a:avLst/>
          </a:prstGeom>
        </p:spPr>
      </p:pic>
    </p:spTree>
    <p:extLst>
      <p:ext uri="{BB962C8B-B14F-4D97-AF65-F5344CB8AC3E}">
        <p14:creationId xmlns:p14="http://schemas.microsoft.com/office/powerpoint/2010/main" val="1319940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正方形/長方形 17"/>
          <p:cNvSpPr/>
          <p:nvPr userDrawn="1"/>
        </p:nvSpPr>
        <p:spPr>
          <a:xfrm>
            <a:off x="252000" y="539779"/>
            <a:ext cx="8640000" cy="40500"/>
          </a:xfrm>
          <a:prstGeom prst="rect">
            <a:avLst/>
          </a:prstGeom>
          <a:solidFill>
            <a:srgbClr val="ED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dirty="0">
              <a:latin typeface="MMC" pitchFamily="50" charset="0"/>
            </a:endParaRPr>
          </a:p>
          <a:p>
            <a:pPr algn="ctr"/>
            <a:endParaRPr kumimoji="1" lang="ja-JP" altLang="en-US" dirty="0">
              <a:latin typeface="MMC" pitchFamily="50" charset="0"/>
            </a:endParaRPr>
          </a:p>
        </p:txBody>
      </p:sp>
      <p:sp>
        <p:nvSpPr>
          <p:cNvPr id="3" name="スライド番号プレースホルダー 5">
            <a:extLst>
              <a:ext uri="{FF2B5EF4-FFF2-40B4-BE49-F238E27FC236}">
                <a16:creationId xmlns:a16="http://schemas.microsoft.com/office/drawing/2014/main" id="{AE6ACE7D-91C8-4D1C-890D-E30B08D817FE}"/>
              </a:ext>
            </a:extLst>
          </p:cNvPr>
          <p:cNvSpPr>
            <a:spLocks noGrp="1"/>
          </p:cNvSpPr>
          <p:nvPr>
            <p:ph type="sldNum" sz="quarter" idx="4"/>
          </p:nvPr>
        </p:nvSpPr>
        <p:spPr>
          <a:xfrm>
            <a:off x="8356600" y="4863192"/>
            <a:ext cx="535880" cy="273844"/>
          </a:xfrm>
          <a:prstGeom prst="rect">
            <a:avLst/>
          </a:prstGeom>
        </p:spPr>
        <p:txBody>
          <a:bodyPr vert="horz" lIns="91440" tIns="45720" rIns="91440" bIns="45720" rtlCol="0" anchor="ctr"/>
          <a:lstStyle>
            <a:lvl1pPr algn="r">
              <a:defRPr sz="1200">
                <a:solidFill>
                  <a:srgbClr val="686D71"/>
                </a:solidFill>
                <a:latin typeface="MMC OFFICE" panose="00000500000000000000" pitchFamily="2" charset="0"/>
              </a:defRPr>
            </a:lvl1pPr>
          </a:lstStyle>
          <a:p>
            <a:fld id="{AFA0F65E-F5D4-45B0-A4C5-F0ACF598014B}" type="slidenum">
              <a:rPr lang="ja-JP" altLang="en-US" smtClean="0"/>
              <a:pPr/>
              <a:t>‹#›</a:t>
            </a:fld>
            <a:endParaRPr lang="ja-JP" altLang="en-US"/>
          </a:p>
        </p:txBody>
      </p:sp>
    </p:spTree>
    <p:extLst>
      <p:ext uri="{BB962C8B-B14F-4D97-AF65-F5344CB8AC3E}">
        <p14:creationId xmlns:p14="http://schemas.microsoft.com/office/powerpoint/2010/main" val="1793734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77" r:id="rId4"/>
    <p:sldLayoutId id="2147483681" r:id="rId5"/>
    <p:sldLayoutId id="2147483682" r:id="rId6"/>
    <p:sldLayoutId id="2147483683" r:id="rId7"/>
  </p:sldLayoutIdLst>
  <p:hf sldNum="0" hdr="0" ftr="0" dt="0"/>
  <p:txStyles>
    <p:titleStyle>
      <a:lvl1pPr algn="l" defTabSz="914400" rtl="0" eaLnBrk="1" latinLnBrk="0" hangingPunct="1">
        <a:spcBef>
          <a:spcPct val="0"/>
        </a:spcBef>
        <a:buNone/>
        <a:defRPr kumimoji="1" sz="4000" kern="1200">
          <a:solidFill>
            <a:schemeClr val="tx1"/>
          </a:solidFill>
          <a:latin typeface="ヒラギノ角ゴ Std W8" pitchFamily="34" charset="-128"/>
          <a:ea typeface="ヒラギノ角ゴ Std W8" pitchFamily="34" charset="-128"/>
          <a:cs typeface="+mj-cs"/>
        </a:defRPr>
      </a:lvl1pPr>
    </p:titleStyle>
    <p:bodyStyle>
      <a:lvl1pPr marL="0" indent="0" algn="l" defTabSz="914400" rtl="0" eaLnBrk="1" latinLnBrk="0" hangingPunct="1">
        <a:spcBef>
          <a:spcPct val="20000"/>
        </a:spcBef>
        <a:buFont typeface="Arial" panose="020B0604020202020204" pitchFamily="34" charset="0"/>
        <a:buNone/>
        <a:defRPr kumimoji="1" sz="2400" kern="1200">
          <a:solidFill>
            <a:schemeClr val="tx1"/>
          </a:solidFill>
          <a:latin typeface="ヒラギノ角ゴ Std W6" pitchFamily="34" charset="-128"/>
          <a:ea typeface="ヒラギノ角ゴ Std W6" pitchFamily="34" charset="-128"/>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microsoft.com/office/2018/10/relationships/comments" Target="../comments/modernComment_36F_EB8B7E5B.xml"/><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image" Target="../media/image3.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svg"/><Relationship Id="rId3" Type="http://schemas.microsoft.com/office/2018/10/relationships/comments" Target="../comments/modernComment_387_87D91A0C.xml"/><Relationship Id="rId7" Type="http://schemas.openxmlformats.org/officeDocument/2006/relationships/image" Target="../media/image7.svg"/><Relationship Id="rId12"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18/10/relationships/comments" Target="../comments/modernComment_7FFE59E5_F9BBB6DC.xml"/><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7.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5.png"/><Relationship Id="rId4" Type="http://schemas.openxmlformats.org/officeDocument/2006/relationships/diagramData" Target="../diagrams/data1.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sv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2.pn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6.svg"/><Relationship Id="rId7" Type="http://schemas.openxmlformats.org/officeDocument/2006/relationships/image" Target="../media/image40.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7.svg"/><Relationship Id="rId9"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18/10/relationships/comments" Target="../comments/modernComment_386_CDA2B730.xml"/><Relationship Id="rId7" Type="http://schemas.openxmlformats.org/officeDocument/2006/relationships/image" Target="../media/image10.sv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7.sv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23.xml"/><Relationship Id="rId2" Type="http://schemas.openxmlformats.org/officeDocument/2006/relationships/tags" Target="../tags/tag2.xml"/><Relationship Id="rId16"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6.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2"/>
          </p:nvPr>
        </p:nvSpPr>
        <p:spPr>
          <a:xfrm>
            <a:off x="250826" y="4246787"/>
            <a:ext cx="2681218" cy="219291"/>
          </a:xfrm>
        </p:spPr>
        <p:txBody>
          <a:bodyPr>
            <a:noAutofit/>
          </a:bodyPr>
          <a:lstStyle/>
          <a:p>
            <a:r>
              <a:rPr lang="en-US" altLang="ja-JP" sz="1000" b="1" dirty="0"/>
              <a:t>Create by &amp; Date :  Yusak / 30 October 2023</a:t>
            </a:r>
            <a:endParaRPr lang="en-US" altLang="ja-JP" sz="1000" dirty="0"/>
          </a:p>
          <a:p>
            <a:endParaRPr lang="en-US" altLang="ja-JP" sz="1000" dirty="0"/>
          </a:p>
          <a:p>
            <a:endParaRPr lang="ja-JP" altLang="en-US" sz="1000" dirty="0"/>
          </a:p>
        </p:txBody>
      </p:sp>
      <p:sp>
        <p:nvSpPr>
          <p:cNvPr id="7" name="テキスト プレースホルダー 6"/>
          <p:cNvSpPr>
            <a:spLocks noGrp="1"/>
          </p:cNvSpPr>
          <p:nvPr>
            <p:ph type="body" sz="quarter" idx="13"/>
          </p:nvPr>
        </p:nvSpPr>
        <p:spPr>
          <a:xfrm>
            <a:off x="188513" y="1171495"/>
            <a:ext cx="3753417" cy="680175"/>
          </a:xfrm>
        </p:spPr>
        <p:txBody>
          <a:bodyPr anchor="ctr">
            <a:normAutofit/>
          </a:bodyPr>
          <a:lstStyle/>
          <a:p>
            <a:pPr>
              <a:lnSpc>
                <a:spcPct val="100000"/>
              </a:lnSpc>
              <a:spcBef>
                <a:spcPts val="0"/>
              </a:spcBef>
            </a:pPr>
            <a:r>
              <a:rPr lang="en-US" altLang="ja-JP" sz="1800" dirty="0"/>
              <a:t>PRODUCT DEFINITION DOCUMENT</a:t>
            </a:r>
          </a:p>
          <a:p>
            <a:pPr>
              <a:lnSpc>
                <a:spcPct val="100000"/>
              </a:lnSpc>
              <a:spcBef>
                <a:spcPts val="0"/>
              </a:spcBef>
            </a:pPr>
            <a:r>
              <a:rPr lang="en-US" altLang="ja-JP" sz="1800" dirty="0"/>
              <a:t>DIGITAL SPARE PARTS CATALOG</a:t>
            </a:r>
            <a:endParaRPr lang="ja-JP" altLang="en-US" sz="1800" dirty="0"/>
          </a:p>
        </p:txBody>
      </p:sp>
      <p:sp>
        <p:nvSpPr>
          <p:cNvPr id="4" name="スライド番号プレースホルダー 3"/>
          <p:cNvSpPr>
            <a:spLocks noGrp="1"/>
          </p:cNvSpPr>
          <p:nvPr>
            <p:ph type="sldNum" sz="quarter" idx="4"/>
          </p:nvPr>
        </p:nvSpPr>
        <p:spPr/>
        <p:txBody>
          <a:bodyPr/>
          <a:lstStyle/>
          <a:p>
            <a:fld id="{AFA0F65E-F5D4-45B0-A4C5-F0ACF598014B}" type="slidenum">
              <a:rPr lang="ja-JP" altLang="en-US" smtClean="0"/>
              <a:pPr/>
              <a:t>1</a:t>
            </a:fld>
            <a:endParaRPr lang="ja-JP" altLang="en-US"/>
          </a:p>
        </p:txBody>
      </p:sp>
      <p:sp>
        <p:nvSpPr>
          <p:cNvPr id="15" name="サブタイトル 7">
            <a:extLst>
              <a:ext uri="{FF2B5EF4-FFF2-40B4-BE49-F238E27FC236}">
                <a16:creationId xmlns:a16="http://schemas.microsoft.com/office/drawing/2014/main" id="{7E16EF80-AB9A-4BA4-94A6-1A1C115FF60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2" name="TextBox 1">
            <a:extLst>
              <a:ext uri="{FF2B5EF4-FFF2-40B4-BE49-F238E27FC236}">
                <a16:creationId xmlns:a16="http://schemas.microsoft.com/office/drawing/2014/main" id="{5A876220-2CAF-CD9E-CCC5-349BB9DC14E6}"/>
              </a:ext>
            </a:extLst>
          </p:cNvPr>
          <p:cNvSpPr txBox="1"/>
          <p:nvPr/>
        </p:nvSpPr>
        <p:spPr>
          <a:xfrm>
            <a:off x="250826" y="4430017"/>
            <a:ext cx="2964815" cy="215444"/>
          </a:xfrm>
          <a:prstGeom prst="rect">
            <a:avLst/>
          </a:prstGeom>
        </p:spPr>
        <p:txBody>
          <a:bodyPr>
            <a:noAutofit/>
          </a:bodyPr>
          <a:lstStyle>
            <a:lvl1pPr indent="0">
              <a:lnSpc>
                <a:spcPts val="1300"/>
              </a:lnSpc>
              <a:spcBef>
                <a:spcPct val="20000"/>
              </a:spcBef>
              <a:buFont typeface="Arial" panose="020B0604020202020204" pitchFamily="34" charset="0"/>
              <a:buNone/>
              <a:defRPr sz="1000" b="1" baseline="0">
                <a:latin typeface="MMC OFFICE" panose="00000500000000000000" pitchFamily="2" charset="0"/>
                <a:ea typeface="ヒラギノ角ゴ Std W6" pitchFamily="34" charset="-128"/>
              </a:defRPr>
            </a:lvl1pPr>
            <a:lvl2pPr marL="742950" indent="-285750">
              <a:spcBef>
                <a:spcPct val="20000"/>
              </a:spcBef>
              <a:buFont typeface="Arial" panose="020B0604020202020204" pitchFamily="34" charset="0"/>
              <a:buChar char="–"/>
              <a:defRPr sz="1200">
                <a:latin typeface="ヒラギノ角ゴ Std W6" pitchFamily="34" charset="-128"/>
                <a:ea typeface="ヒラギノ角ゴ Std W6" pitchFamily="34" charset="-128"/>
              </a:defRPr>
            </a:lvl2pPr>
            <a:lvl3pPr marL="1143000" indent="-228600">
              <a:spcBef>
                <a:spcPct val="20000"/>
              </a:spcBef>
              <a:buFont typeface="Arial" panose="020B0604020202020204" pitchFamily="34" charset="0"/>
              <a:buChar char="•"/>
              <a:defRPr sz="1200">
                <a:latin typeface="ヒラギノ角ゴ Std W6" pitchFamily="34" charset="-128"/>
                <a:ea typeface="ヒラギノ角ゴ Std W6" pitchFamily="34" charset="-128"/>
              </a:defRPr>
            </a:lvl3pPr>
            <a:lvl4pPr marL="1600200" indent="-228600">
              <a:spcBef>
                <a:spcPct val="20000"/>
              </a:spcBef>
              <a:buFont typeface="Arial" panose="020B0604020202020204" pitchFamily="34" charset="0"/>
              <a:buChar char="–"/>
              <a:defRPr sz="1200">
                <a:latin typeface="ヒラギノ角ゴ Std W6" pitchFamily="34" charset="-128"/>
                <a:ea typeface="ヒラギノ角ゴ Std W6" pitchFamily="34" charset="-128"/>
              </a:defRPr>
            </a:lvl4pPr>
            <a:lvl5pPr marL="2057400" indent="-228600">
              <a:spcBef>
                <a:spcPct val="20000"/>
              </a:spcBef>
              <a:buFont typeface="Arial" panose="020B0604020202020204" pitchFamily="34" charset="0"/>
              <a:buChar char="»"/>
              <a:defRPr>
                <a:latin typeface="ヒラギノ角ゴ Std W6" pitchFamily="34" charset="-128"/>
                <a:ea typeface="ヒラギノ角ゴ Std W6" pitchFamily="34" charset="-128"/>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r>
              <a:rPr lang="en-US" dirty="0"/>
              <a:t>Last Update By / Date : Yusak / 31 October 2023</a:t>
            </a:r>
          </a:p>
        </p:txBody>
      </p:sp>
      <p:sp>
        <p:nvSpPr>
          <p:cNvPr id="3" name="サブタイトル 7">
            <a:extLst>
              <a:ext uri="{FF2B5EF4-FFF2-40B4-BE49-F238E27FC236}">
                <a16:creationId xmlns:a16="http://schemas.microsoft.com/office/drawing/2014/main" id="{726A292E-5C2E-EDDC-AE45-B7180332949C}"/>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5" name="Picture 4">
            <a:extLst>
              <a:ext uri="{FF2B5EF4-FFF2-40B4-BE49-F238E27FC236}">
                <a16:creationId xmlns:a16="http://schemas.microsoft.com/office/drawing/2014/main" id="{C94805B1-2443-127B-AE04-726988E6B01B}"/>
              </a:ext>
            </a:extLst>
          </p:cNvPr>
          <p:cNvPicPr>
            <a:picLocks noChangeAspect="1"/>
          </p:cNvPicPr>
          <p:nvPr/>
        </p:nvPicPr>
        <p:blipFill>
          <a:blip r:embed="rId2"/>
          <a:stretch>
            <a:fillRect/>
          </a:stretch>
        </p:blipFill>
        <p:spPr>
          <a:xfrm>
            <a:off x="3626895" y="1018586"/>
            <a:ext cx="5085565" cy="3303615"/>
          </a:xfrm>
          <a:prstGeom prst="rect">
            <a:avLst/>
          </a:prstGeom>
        </p:spPr>
      </p:pic>
      <p:pic>
        <p:nvPicPr>
          <p:cNvPr id="8" name="Picture 7" descr="A picture containing graphics, graphic design, design&#10;&#10;Description automatically generated">
            <a:extLst>
              <a:ext uri="{FF2B5EF4-FFF2-40B4-BE49-F238E27FC236}">
                <a16:creationId xmlns:a16="http://schemas.microsoft.com/office/drawing/2014/main" id="{DC5547A5-D04A-6576-C6E2-945C0A95BAA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1754474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0"/>
            <a:ext cx="8642350" cy="450050"/>
          </a:xfrm>
        </p:spPr>
        <p:txBody>
          <a:bodyPr/>
          <a:lstStyle/>
          <a:p>
            <a:r>
              <a:rPr lang="en-US" sz="2000" dirty="0">
                <a:ea typeface="ヒラギノ角ゴ Std W6" pitchFamily="34" charset="-128"/>
              </a:rPr>
              <a:t>Agenda</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2</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19" name="Picture 18">
            <a:extLst>
              <a:ext uri="{FF2B5EF4-FFF2-40B4-BE49-F238E27FC236}">
                <a16:creationId xmlns:a16="http://schemas.microsoft.com/office/drawing/2014/main" id="{D7105075-FD15-E973-BE73-5FE0E86D1F91}"/>
              </a:ext>
            </a:extLst>
          </p:cNvPr>
          <p:cNvPicPr>
            <a:picLocks noChangeAspect="1"/>
          </p:cNvPicPr>
          <p:nvPr/>
        </p:nvPicPr>
        <p:blipFill>
          <a:blip r:embed="rId3"/>
          <a:stretch>
            <a:fillRect/>
          </a:stretch>
        </p:blipFill>
        <p:spPr>
          <a:xfrm>
            <a:off x="571832" y="1086585"/>
            <a:ext cx="3753414" cy="2438241"/>
          </a:xfrm>
          <a:prstGeom prst="rect">
            <a:avLst/>
          </a:prstGeom>
        </p:spPr>
      </p:pic>
      <p:sp>
        <p:nvSpPr>
          <p:cNvPr id="2" name="Rectangle 1">
            <a:extLst>
              <a:ext uri="{FF2B5EF4-FFF2-40B4-BE49-F238E27FC236}">
                <a16:creationId xmlns:a16="http://schemas.microsoft.com/office/drawing/2014/main" id="{15D28C02-5444-E971-FAF6-F65E7079FA8A}"/>
              </a:ext>
            </a:extLst>
          </p:cNvPr>
          <p:cNvSpPr/>
          <p:nvPr/>
        </p:nvSpPr>
        <p:spPr>
          <a:xfrm>
            <a:off x="4528296" y="1176595"/>
            <a:ext cx="3560901" cy="1938992"/>
          </a:xfrm>
          <a:prstGeom prst="rect">
            <a:avLst/>
          </a:prstGeom>
        </p:spPr>
        <p:txBody>
          <a:bodyPr wrap="square">
            <a:spAutoFit/>
          </a:bodyPr>
          <a:lstStyle/>
          <a:p>
            <a:pPr marL="214313" indent="-214313">
              <a:buFont typeface="Wingdings" panose="05000000000000000000" pitchFamily="2" charset="2"/>
              <a:buChar char="q"/>
            </a:pPr>
            <a:r>
              <a:rPr lang="en-US" sz="1200" kern="0" dirty="0"/>
              <a:t>PRODUCT TEAM OVERVIEW</a:t>
            </a:r>
          </a:p>
          <a:p>
            <a:pPr marL="214313" indent="-214313">
              <a:buFont typeface="Wingdings" panose="05000000000000000000" pitchFamily="2" charset="2"/>
              <a:buChar char="q"/>
            </a:pPr>
            <a:r>
              <a:rPr lang="en-US" sz="1200" kern="0" dirty="0"/>
              <a:t>BACKGROUND &amp; PROBLEM DEFINITION</a:t>
            </a:r>
          </a:p>
          <a:p>
            <a:pPr marL="214313" indent="-214313">
              <a:buFont typeface="Wingdings" panose="05000000000000000000" pitchFamily="2" charset="2"/>
              <a:buChar char="q"/>
            </a:pPr>
            <a:r>
              <a:rPr lang="en-US" sz="1200" kern="0" dirty="0"/>
              <a:t>USER PERSONA &amp; USER ACCESS</a:t>
            </a:r>
          </a:p>
          <a:p>
            <a:pPr marL="214313" indent="-214313">
              <a:buFont typeface="Wingdings" panose="05000000000000000000" pitchFamily="2" charset="2"/>
              <a:buChar char="q"/>
            </a:pPr>
            <a:r>
              <a:rPr lang="en-US" sz="1200" kern="0" dirty="0"/>
              <a:t>USER FLOW </a:t>
            </a:r>
          </a:p>
          <a:p>
            <a:pPr marL="214313" indent="-214313">
              <a:buFont typeface="Wingdings" panose="05000000000000000000" pitchFamily="2" charset="2"/>
              <a:buChar char="q"/>
            </a:pPr>
            <a:r>
              <a:rPr lang="en-US" sz="1200" kern="0" dirty="0"/>
              <a:t>COMPETITOR COMPARISON</a:t>
            </a:r>
          </a:p>
          <a:p>
            <a:pPr marL="214313" indent="-214313">
              <a:buFont typeface="Wingdings" panose="05000000000000000000" pitchFamily="2" charset="2"/>
              <a:buChar char="q"/>
            </a:pPr>
            <a:r>
              <a:rPr lang="en-US" sz="1200" kern="0" dirty="0"/>
              <a:t>RECOMMENDATION NEW UI DESIGN</a:t>
            </a:r>
          </a:p>
          <a:p>
            <a:pPr marL="214313" indent="-214313">
              <a:buFont typeface="Wingdings" panose="05000000000000000000" pitchFamily="2" charset="2"/>
              <a:buChar char="q"/>
            </a:pPr>
            <a:r>
              <a:rPr lang="en-US" sz="1200" kern="0" dirty="0"/>
              <a:t>RECOMMENDATION NEW DATA FLOW </a:t>
            </a:r>
          </a:p>
          <a:p>
            <a:pPr marL="214313" indent="-214313">
              <a:buFont typeface="Wingdings" panose="05000000000000000000" pitchFamily="2" charset="2"/>
              <a:buChar char="q"/>
            </a:pPr>
            <a:r>
              <a:rPr lang="en-US" sz="1200" kern="0" dirty="0"/>
              <a:t>FEATURE LIST &amp; PRIORITIZATION</a:t>
            </a:r>
          </a:p>
          <a:p>
            <a:pPr marL="214313" indent="-214313">
              <a:buFont typeface="Wingdings" panose="05000000000000000000" pitchFamily="2" charset="2"/>
              <a:buChar char="q"/>
            </a:pPr>
            <a:r>
              <a:rPr lang="en-US" sz="1200" kern="0" dirty="0"/>
              <a:t>SUCCESS MATRICS</a:t>
            </a:r>
          </a:p>
          <a:p>
            <a:pPr marL="214313" indent="-214313">
              <a:buFont typeface="Wingdings" panose="05000000000000000000" pitchFamily="2" charset="2"/>
              <a:buChar char="q"/>
            </a:pPr>
            <a:r>
              <a:rPr lang="en-US" sz="1200" kern="0" dirty="0"/>
              <a:t>GO TO MARKET  </a:t>
            </a:r>
          </a:p>
        </p:txBody>
      </p:sp>
      <p:pic>
        <p:nvPicPr>
          <p:cNvPr id="7" name="Picture 6" descr="A picture containing graphics, graphic design, design&#10;&#10;Description automatically generated">
            <a:extLst>
              <a:ext uri="{FF2B5EF4-FFF2-40B4-BE49-F238E27FC236}">
                <a16:creationId xmlns:a16="http://schemas.microsoft.com/office/drawing/2014/main" id="{8E34CB99-6D57-665F-312E-F4A3C38C9E2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1329291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DA332DB-88D5-704A-AE4A-4394AE697C10}"/>
              </a:ext>
            </a:extLst>
          </p:cNvPr>
          <p:cNvSpPr txBox="1"/>
          <p:nvPr/>
        </p:nvSpPr>
        <p:spPr>
          <a:xfrm>
            <a:off x="217356" y="51956"/>
            <a:ext cx="6620381" cy="487056"/>
          </a:xfrm>
          <a:prstGeom prst="rect">
            <a:avLst/>
          </a:prstGeom>
        </p:spPr>
        <p:txBody>
          <a:bodyPr/>
          <a:lstStyle>
            <a:lvl1pPr indent="0">
              <a:lnSpc>
                <a:spcPts val="3400"/>
              </a:lnSpc>
              <a:spcBef>
                <a:spcPct val="20000"/>
              </a:spcBef>
              <a:buFont typeface="Arial" panose="020B0604020202020204" pitchFamily="34" charset="0"/>
              <a:buNone/>
              <a:defRPr sz="2000" b="1">
                <a:latin typeface="MMC OFFICE" panose="00000500000000000000" pitchFamily="2" charset="0"/>
                <a:ea typeface="ヒラギノ角ゴ Std W6" pitchFamily="34" charset="-128"/>
              </a:defRPr>
            </a:lvl1pPr>
            <a:lvl2pPr marL="742950" indent="-285750">
              <a:spcBef>
                <a:spcPct val="20000"/>
              </a:spcBef>
              <a:buFont typeface="Arial" panose="020B0604020202020204" pitchFamily="34" charset="0"/>
              <a:buChar char="–"/>
              <a:defRPr sz="2800"/>
            </a:lvl2pPr>
            <a:lvl3pPr marL="1143000" indent="-228600">
              <a:spcBef>
                <a:spcPct val="20000"/>
              </a:spcBef>
              <a:buFont typeface="Arial" panose="020B0604020202020204" pitchFamily="34" charset="0"/>
              <a:buChar char="•"/>
              <a:defRPr sz="2400"/>
            </a:lvl3pPr>
            <a:lvl4pPr marL="1600200" indent="-228600">
              <a:spcBef>
                <a:spcPct val="20000"/>
              </a:spcBef>
              <a:buFont typeface="Arial" panose="020B0604020202020204" pitchFamily="34" charset="0"/>
              <a:buChar char="–"/>
              <a:defRPr sz="2000"/>
            </a:lvl4pPr>
            <a:lvl5pPr marL="2057400" indent="-228600">
              <a:spcBef>
                <a:spcPct val="20000"/>
              </a:spcBef>
              <a:buFont typeface="Arial" panose="020B0604020202020204" pitchFamily="34" charset="0"/>
              <a:buChar char="»"/>
              <a:defRPr sz="2000"/>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r>
              <a:rPr lang="en-SG" dirty="0"/>
              <a:t>PRODUCT TEAM OVERVIEW</a:t>
            </a:r>
          </a:p>
        </p:txBody>
      </p:sp>
      <p:graphicFrame>
        <p:nvGraphicFramePr>
          <p:cNvPr id="3" name="Table 2">
            <a:extLst>
              <a:ext uri="{FF2B5EF4-FFF2-40B4-BE49-F238E27FC236}">
                <a16:creationId xmlns:a16="http://schemas.microsoft.com/office/drawing/2014/main" id="{2389F634-2260-3F88-34C6-9B24CE5A6A10}"/>
              </a:ext>
            </a:extLst>
          </p:cNvPr>
          <p:cNvGraphicFramePr>
            <a:graphicFrameLocks noGrp="1"/>
          </p:cNvGraphicFramePr>
          <p:nvPr>
            <p:extLst>
              <p:ext uri="{D42A27DB-BD31-4B8C-83A1-F6EECF244321}">
                <p14:modId xmlns:p14="http://schemas.microsoft.com/office/powerpoint/2010/main" val="414793876"/>
              </p:ext>
            </p:extLst>
          </p:nvPr>
        </p:nvGraphicFramePr>
        <p:xfrm>
          <a:off x="251760" y="645539"/>
          <a:ext cx="8640003" cy="3907138"/>
        </p:xfrm>
        <a:graphic>
          <a:graphicData uri="http://schemas.openxmlformats.org/drawingml/2006/table">
            <a:tbl>
              <a:tblPr firstRow="1" firstCol="1" bandRow="1">
                <a:tableStyleId>{5C22544A-7EE6-4342-B048-85BDC9FD1C3A}</a:tableStyleId>
              </a:tblPr>
              <a:tblGrid>
                <a:gridCol w="764845">
                  <a:extLst>
                    <a:ext uri="{9D8B030D-6E8A-4147-A177-3AD203B41FA5}">
                      <a16:colId xmlns:a16="http://schemas.microsoft.com/office/drawing/2014/main" val="2720729954"/>
                    </a:ext>
                  </a:extLst>
                </a:gridCol>
                <a:gridCol w="765085">
                  <a:extLst>
                    <a:ext uri="{9D8B030D-6E8A-4147-A177-3AD203B41FA5}">
                      <a16:colId xmlns:a16="http://schemas.microsoft.com/office/drawing/2014/main" val="2601252170"/>
                    </a:ext>
                  </a:extLst>
                </a:gridCol>
                <a:gridCol w="1465965">
                  <a:extLst>
                    <a:ext uri="{9D8B030D-6E8A-4147-A177-3AD203B41FA5}">
                      <a16:colId xmlns:a16="http://schemas.microsoft.com/office/drawing/2014/main" val="602795576"/>
                    </a:ext>
                  </a:extLst>
                </a:gridCol>
                <a:gridCol w="1611672">
                  <a:extLst>
                    <a:ext uri="{9D8B030D-6E8A-4147-A177-3AD203B41FA5}">
                      <a16:colId xmlns:a16="http://schemas.microsoft.com/office/drawing/2014/main" val="1786637980"/>
                    </a:ext>
                  </a:extLst>
                </a:gridCol>
                <a:gridCol w="927808">
                  <a:extLst>
                    <a:ext uri="{9D8B030D-6E8A-4147-A177-3AD203B41FA5}">
                      <a16:colId xmlns:a16="http://schemas.microsoft.com/office/drawing/2014/main" val="2205614843"/>
                    </a:ext>
                  </a:extLst>
                </a:gridCol>
                <a:gridCol w="315035">
                  <a:extLst>
                    <a:ext uri="{9D8B030D-6E8A-4147-A177-3AD203B41FA5}">
                      <a16:colId xmlns:a16="http://schemas.microsoft.com/office/drawing/2014/main" val="453598828"/>
                    </a:ext>
                  </a:extLst>
                </a:gridCol>
                <a:gridCol w="1339016">
                  <a:extLst>
                    <a:ext uri="{9D8B030D-6E8A-4147-A177-3AD203B41FA5}">
                      <a16:colId xmlns:a16="http://schemas.microsoft.com/office/drawing/2014/main" val="1409347414"/>
                    </a:ext>
                  </a:extLst>
                </a:gridCol>
                <a:gridCol w="203566">
                  <a:extLst>
                    <a:ext uri="{9D8B030D-6E8A-4147-A177-3AD203B41FA5}">
                      <a16:colId xmlns:a16="http://schemas.microsoft.com/office/drawing/2014/main" val="2003547215"/>
                    </a:ext>
                  </a:extLst>
                </a:gridCol>
                <a:gridCol w="1247011">
                  <a:extLst>
                    <a:ext uri="{9D8B030D-6E8A-4147-A177-3AD203B41FA5}">
                      <a16:colId xmlns:a16="http://schemas.microsoft.com/office/drawing/2014/main" val="4041432502"/>
                    </a:ext>
                  </a:extLst>
                </a:gridCol>
              </a:tblGrid>
              <a:tr h="140303">
                <a:tc gridSpan="3">
                  <a:txBody>
                    <a:bodyPr/>
                    <a:lstStyle/>
                    <a:p>
                      <a:pPr marL="0" marR="0">
                        <a:lnSpc>
                          <a:spcPct val="107000"/>
                        </a:lnSpc>
                        <a:spcBef>
                          <a:spcPts val="0"/>
                        </a:spcBef>
                        <a:spcAft>
                          <a:spcPts val="0"/>
                        </a:spcAft>
                      </a:pPr>
                      <a:r>
                        <a:rPr lang="en-US" sz="900" dirty="0">
                          <a:solidFill>
                            <a:schemeClr val="tx1"/>
                          </a:solidFill>
                          <a:effectLst/>
                        </a:rPr>
                        <a:t>Company Name</a:t>
                      </a:r>
                      <a:endPar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a:lnSpc>
                          <a:spcPct val="107000"/>
                        </a:lnSpc>
                        <a:spcBef>
                          <a:spcPts val="0"/>
                        </a:spcBef>
                        <a:spcAft>
                          <a:spcPts val="0"/>
                        </a:spcAft>
                      </a:pPr>
                      <a:endPar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a:solidFill>
                            <a:schemeClr val="tx1"/>
                          </a:solidFill>
                          <a:effectLst/>
                        </a:rPr>
                        <a:t>Date</a:t>
                      </a:r>
                      <a:endParaRPr lang="en-US"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a:lnSpc>
                          <a:spcPct val="107000"/>
                        </a:lnSpc>
                        <a:spcBef>
                          <a:spcPts val="0"/>
                        </a:spcBef>
                        <a:spcAft>
                          <a:spcPts val="0"/>
                        </a:spcAft>
                      </a:pPr>
                      <a:r>
                        <a:rPr lang="en-US" sz="900">
                          <a:solidFill>
                            <a:schemeClr val="tx1"/>
                          </a:solidFill>
                          <a:effectLst/>
                        </a:rPr>
                        <a:t>Created By</a:t>
                      </a:r>
                      <a:endParaRPr lang="en-US"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75023962"/>
                  </a:ext>
                </a:extLst>
              </a:tr>
              <a:tr h="162056">
                <a:tc gridSpan="3">
                  <a:txBody>
                    <a:bodyPr/>
                    <a:lstStyle/>
                    <a:p>
                      <a:pPr marL="0" marR="0">
                        <a:lnSpc>
                          <a:spcPct val="107000"/>
                        </a:lnSpc>
                        <a:spcBef>
                          <a:spcPts val="0"/>
                        </a:spcBef>
                        <a:spcAft>
                          <a:spcPts val="0"/>
                        </a:spcAft>
                      </a:pPr>
                      <a:r>
                        <a:rPr lang="en-US" sz="900" dirty="0">
                          <a:solidFill>
                            <a:schemeClr val="tx1"/>
                          </a:solidFill>
                          <a:effectLst/>
                        </a:rPr>
                        <a:t>MMKSI</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a:lnSpc>
                          <a:spcPct val="107000"/>
                        </a:lnSpc>
                        <a:spcBef>
                          <a:spcPts val="0"/>
                        </a:spcBef>
                        <a:spcAft>
                          <a:spcPts val="0"/>
                        </a:spcAft>
                      </a:pPr>
                      <a:endParaRPr lang="en-US" sz="900" dirty="0">
                        <a:solidFill>
                          <a:schemeClr val="tx1"/>
                        </a:solidFill>
                        <a:effectLst/>
                      </a:endParaRPr>
                    </a:p>
                  </a:txBody>
                  <a:tcPr marL="51435" marR="51435"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31 October 2023</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a:lnSpc>
                          <a:spcPct val="107000"/>
                        </a:lnSpc>
                        <a:spcBef>
                          <a:spcPts val="0"/>
                        </a:spcBef>
                        <a:spcAft>
                          <a:spcPts val="0"/>
                        </a:spcAft>
                      </a:pPr>
                      <a:r>
                        <a:rPr lang="en-US" sz="900">
                          <a:solidFill>
                            <a:schemeClr val="tx1"/>
                          </a:solidFill>
                          <a:effectLst/>
                        </a:rPr>
                        <a:t>Mr. Yusak Indra H.</a:t>
                      </a:r>
                      <a:endParaRPr lang="en-US"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96312914"/>
                  </a:ext>
                </a:extLst>
              </a:tr>
              <a:tr h="160101">
                <a:tc>
                  <a:txBody>
                    <a:bodyPr/>
                    <a:lstStyle/>
                    <a:p>
                      <a:pPr marL="0" marR="0">
                        <a:lnSpc>
                          <a:spcPct val="107000"/>
                        </a:lnSpc>
                        <a:spcBef>
                          <a:spcPts val="0"/>
                        </a:spcBef>
                        <a:spcAft>
                          <a:spcPts val="0"/>
                        </a:spcAft>
                      </a:pPr>
                      <a:r>
                        <a:rPr lang="en-US" sz="900" dirty="0">
                          <a:solidFill>
                            <a:schemeClr val="tx1"/>
                          </a:solidFill>
                          <a:effectLst/>
                        </a:rPr>
                        <a:t>PM Leader</a:t>
                      </a:r>
                      <a:endPar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defTabSz="914400" rtl="0" eaLnBrk="1" latinLnBrk="0" hangingPunct="1">
                        <a:lnSpc>
                          <a:spcPct val="107000"/>
                        </a:lnSpc>
                        <a:spcBef>
                          <a:spcPts val="0"/>
                        </a:spcBef>
                        <a:spcAft>
                          <a:spcPts val="0"/>
                        </a:spcAft>
                      </a:pPr>
                      <a:r>
                        <a:rPr kumimoji="1" lang="en-US" sz="900" b="1" kern="1200" dirty="0">
                          <a:solidFill>
                            <a:schemeClr val="tx1"/>
                          </a:solidFill>
                          <a:effectLst/>
                          <a:latin typeface="+mn-lt"/>
                          <a:ea typeface="+mn-ea"/>
                          <a:cs typeface="+mn-cs"/>
                        </a:rPr>
                        <a:t>PM Product</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defTabSz="914400" rtl="0" eaLnBrk="1" latinLnBrk="0" hangingPunct="1">
                        <a:lnSpc>
                          <a:spcPct val="107000"/>
                        </a:lnSpc>
                        <a:spcBef>
                          <a:spcPts val="0"/>
                        </a:spcBef>
                        <a:spcAft>
                          <a:spcPts val="0"/>
                        </a:spcAft>
                      </a:pPr>
                      <a:r>
                        <a:rPr kumimoji="1" lang="en-US" sz="900" b="1" kern="1200">
                          <a:solidFill>
                            <a:schemeClr val="tx1"/>
                          </a:solidFill>
                          <a:effectLst/>
                          <a:latin typeface="+mn-lt"/>
                          <a:ea typeface="+mn-ea"/>
                          <a:cs typeface="+mn-cs"/>
                        </a:rPr>
                        <a:t>Team Product Management </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b="1" dirty="0">
                          <a:solidFill>
                            <a:schemeClr val="tx1"/>
                          </a:solidFill>
                          <a:effectLst/>
                        </a:rPr>
                        <a:t>Product Owner</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b="1" dirty="0">
                          <a:solidFill>
                            <a:schemeClr val="tx1"/>
                          </a:solidFill>
                          <a:effectLst/>
                        </a:rPr>
                        <a:t>Scrum Master</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a:lnSpc>
                          <a:spcPct val="107000"/>
                        </a:lnSpc>
                        <a:spcBef>
                          <a:spcPts val="0"/>
                        </a:spcBef>
                        <a:spcAft>
                          <a:spcPts val="0"/>
                        </a:spcAft>
                      </a:pPr>
                      <a:r>
                        <a:rPr lang="en-US" sz="900" b="1" dirty="0">
                          <a:solidFill>
                            <a:schemeClr val="tx1"/>
                          </a:solidFill>
                          <a:effectLst/>
                        </a:rPr>
                        <a:t>Business Owner</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r>
                        <a:rPr lang="en-US" sz="1200" b="1">
                          <a:solidFill>
                            <a:schemeClr val="tx1"/>
                          </a:solidFill>
                          <a:effectLst/>
                        </a:rPr>
                        <a:t>Product Operation</a:t>
                      </a:r>
                      <a:endParaRPr lang="en-US" sz="12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a:lnSpc>
                          <a:spcPct val="107000"/>
                        </a:lnSpc>
                        <a:spcBef>
                          <a:spcPts val="0"/>
                        </a:spcBef>
                        <a:spcAft>
                          <a:spcPts val="0"/>
                        </a:spcAft>
                      </a:pPr>
                      <a:r>
                        <a:rPr lang="en-US" sz="900" b="1">
                          <a:solidFill>
                            <a:schemeClr val="tx1"/>
                          </a:solidFill>
                          <a:effectLst/>
                        </a:rPr>
                        <a:t>Business Users</a:t>
                      </a:r>
                      <a:endParaRPr lang="en-US" sz="9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r>
                        <a:rPr lang="en-US" sz="1200" b="1" dirty="0">
                          <a:solidFill>
                            <a:schemeClr val="tx1"/>
                          </a:solidFill>
                          <a:effectLst/>
                        </a:rPr>
                        <a:t>Business Users</a:t>
                      </a:r>
                      <a:endParaRPr lang="en-US" sz="1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555819"/>
                  </a:ext>
                </a:extLst>
              </a:tr>
              <a:tr h="788676">
                <a:tc>
                  <a:txBody>
                    <a:bodyPr/>
                    <a:lstStyle/>
                    <a:p>
                      <a:pPr marL="0" marR="0">
                        <a:lnSpc>
                          <a:spcPct val="107000"/>
                        </a:lnSpc>
                        <a:spcBef>
                          <a:spcPts val="0"/>
                        </a:spcBef>
                        <a:spcAft>
                          <a:spcPts val="0"/>
                        </a:spcAft>
                      </a:pPr>
                      <a:r>
                        <a:rPr lang="en-US"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Mr. Yusak</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defTabSz="914400" rtl="0" eaLnBrk="1" latinLnBrk="0" hangingPunct="1">
                        <a:lnSpc>
                          <a:spcPct val="107000"/>
                        </a:lnSpc>
                        <a:spcBef>
                          <a:spcPts val="0"/>
                        </a:spcBef>
                        <a:spcAft>
                          <a:spcPts val="0"/>
                        </a:spcAft>
                      </a:pPr>
                      <a:r>
                        <a:rPr kumimoji="1" lang="en-US" sz="700" b="0" kern="1200" dirty="0">
                          <a:solidFill>
                            <a:schemeClr val="tx1"/>
                          </a:solidFill>
                          <a:effectLst/>
                          <a:latin typeface="+mn-lt"/>
                          <a:ea typeface="+mn-ea"/>
                          <a:cs typeface="+mn-cs"/>
                        </a:rPr>
                        <a:t>Mr. Noorman</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defTabSz="914400" rtl="0" eaLnBrk="1" latinLnBrk="0" hangingPunct="1">
                        <a:lnSpc>
                          <a:spcPct val="107000"/>
                        </a:lnSpc>
                        <a:spcBef>
                          <a:spcPts val="0"/>
                        </a:spcBef>
                        <a:spcAft>
                          <a:spcPts val="0"/>
                        </a:spcAft>
                      </a:pPr>
                      <a:r>
                        <a:rPr kumimoji="1" lang="en-US" sz="700" b="0" kern="1200" dirty="0">
                          <a:solidFill>
                            <a:schemeClr val="tx1"/>
                          </a:solidFill>
                          <a:effectLst/>
                          <a:latin typeface="+mn-lt"/>
                          <a:ea typeface="+mn-ea"/>
                          <a:cs typeface="+mn-cs"/>
                        </a:rPr>
                        <a:t>PM Dealership (Mr. Angga)</a:t>
                      </a:r>
                    </a:p>
                    <a:p>
                      <a:pPr marL="0" marR="0" algn="l" defTabSz="914400" rtl="0" eaLnBrk="1" latinLnBrk="0" hangingPunct="1">
                        <a:lnSpc>
                          <a:spcPct val="107000"/>
                        </a:lnSpc>
                        <a:spcBef>
                          <a:spcPts val="0"/>
                        </a:spcBef>
                        <a:spcAft>
                          <a:spcPts val="0"/>
                        </a:spcAft>
                      </a:pPr>
                      <a:r>
                        <a:rPr kumimoji="1" lang="en-US" sz="700" b="0" kern="1200" dirty="0">
                          <a:solidFill>
                            <a:schemeClr val="tx1"/>
                          </a:solidFill>
                          <a:effectLst/>
                          <a:latin typeface="+mn-lt"/>
                          <a:ea typeface="+mn-ea"/>
                          <a:cs typeface="+mn-cs"/>
                        </a:rPr>
                        <a:t>PM After Sales</a:t>
                      </a:r>
                    </a:p>
                    <a:p>
                      <a:pPr marL="0" marR="0" algn="l" defTabSz="914400" rtl="0" eaLnBrk="1" latinLnBrk="0" hangingPunct="1">
                        <a:lnSpc>
                          <a:spcPct val="107000"/>
                        </a:lnSpc>
                        <a:spcBef>
                          <a:spcPts val="0"/>
                        </a:spcBef>
                        <a:spcAft>
                          <a:spcPts val="0"/>
                        </a:spcAft>
                      </a:pPr>
                      <a:r>
                        <a:rPr kumimoji="1" lang="en-US" sz="700" b="0" kern="1200" dirty="0">
                          <a:solidFill>
                            <a:schemeClr val="tx1"/>
                          </a:solidFill>
                          <a:effectLst/>
                          <a:latin typeface="+mn-lt"/>
                          <a:ea typeface="+mn-ea"/>
                          <a:cs typeface="+mn-cs"/>
                        </a:rPr>
                        <a:t>(Mr. Achmad Zulfikar)</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700" dirty="0">
                          <a:solidFill>
                            <a:schemeClr val="tx1"/>
                          </a:solidFill>
                          <a:effectLst/>
                        </a:rPr>
                        <a:t>Microsite : Mr. Budi, Mr. Ciputra</a:t>
                      </a:r>
                    </a:p>
                    <a:p>
                      <a:pPr marL="0" marR="0">
                        <a:lnSpc>
                          <a:spcPct val="107000"/>
                        </a:lnSpc>
                        <a:spcBef>
                          <a:spcPts val="0"/>
                        </a:spcBef>
                        <a:spcAft>
                          <a:spcPts val="0"/>
                        </a:spcAft>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SOA : Riza Fathony</a:t>
                      </a:r>
                    </a:p>
                    <a:p>
                      <a:pPr marL="0" marR="0">
                        <a:lnSpc>
                          <a:spcPct val="107000"/>
                        </a:lnSpc>
                        <a:spcBef>
                          <a:spcPts val="0"/>
                        </a:spcBef>
                        <a:spcAft>
                          <a:spcPts val="0"/>
                        </a:spcAft>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DMS/DNET : Mr. Zulfikar</a:t>
                      </a:r>
                    </a:p>
                    <a:p>
                      <a:pPr marL="0" marR="0">
                        <a:lnSpc>
                          <a:spcPct val="107000"/>
                        </a:lnSpc>
                        <a:spcBef>
                          <a:spcPts val="0"/>
                        </a:spcBef>
                        <a:spcAft>
                          <a:spcPts val="0"/>
                        </a:spcAft>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MOE : Mr. Mahdhika</a:t>
                      </a:r>
                    </a:p>
                    <a:p>
                      <a:pPr marL="0" marR="0">
                        <a:lnSpc>
                          <a:spcPct val="107000"/>
                        </a:lnSpc>
                        <a:spcBef>
                          <a:spcPts val="0"/>
                        </a:spcBef>
                        <a:spcAft>
                          <a:spcPts val="0"/>
                        </a:spcAft>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Website : Mr. Axel</a:t>
                      </a:r>
                    </a:p>
                    <a:p>
                      <a:pPr marL="0" marR="0">
                        <a:lnSpc>
                          <a:spcPct val="107000"/>
                        </a:lnSpc>
                        <a:spcBef>
                          <a:spcPts val="0"/>
                        </a:spcBef>
                        <a:spcAft>
                          <a:spcPts val="0"/>
                        </a:spcAft>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MMID : Mr. Rizky</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700" dirty="0">
                          <a:solidFill>
                            <a:schemeClr val="tx1"/>
                          </a:solidFill>
                          <a:effectLst/>
                        </a:rPr>
                        <a:t>Mr. Yusak</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700" dirty="0"/>
                        <a:t>Mr. Hilman Rahmat Permana</a:t>
                      </a:r>
                    </a:p>
                    <a:p>
                      <a:r>
                        <a:rPr lang="en-US" sz="700" dirty="0"/>
                        <a:t>Mr. Adam Rahman</a:t>
                      </a:r>
                    </a:p>
                    <a:p>
                      <a:r>
                        <a:rPr lang="en-US" sz="700" dirty="0"/>
                        <a:t>Mr. Hatta Harris Rahman</a:t>
                      </a:r>
                    </a:p>
                    <a:p>
                      <a:r>
                        <a:rPr lang="en-US" sz="700" dirty="0"/>
                        <a:t>Mr. Bintar Prakoso</a:t>
                      </a:r>
                    </a:p>
                    <a:p>
                      <a:r>
                        <a:rPr lang="en-US" sz="700" dirty="0"/>
                        <a:t>Mr. Dwi Ahadianto</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r>
                        <a:rPr lang="en-US" sz="1200" dirty="0">
                          <a:solidFill>
                            <a:schemeClr val="tx1"/>
                          </a:solidFill>
                          <a:effectLst/>
                        </a:rPr>
                        <a:t>Mr. Budi</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700" dirty="0"/>
                        <a:t>Mr. Dwi Ahadianto</a:t>
                      </a:r>
                    </a:p>
                    <a:p>
                      <a:r>
                        <a:rPr lang="en-US" sz="700" dirty="0"/>
                        <a:t>Mr. Rieza</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200" dirty="0"/>
                        <a:t>Mr. Hilman Rahmat Permana</a:t>
                      </a:r>
                    </a:p>
                    <a:p>
                      <a:r>
                        <a:rPr lang="en-US" sz="1200" dirty="0"/>
                        <a:t>Terentia Milyanti Azalia</a:t>
                      </a:r>
                    </a:p>
                    <a:p>
                      <a:r>
                        <a:rPr lang="en-US" sz="1200" dirty="0"/>
                        <a:t>Hatta Harris Rahman</a:t>
                      </a:r>
                    </a:p>
                    <a:p>
                      <a:r>
                        <a:rPr lang="en-US" sz="1200" dirty="0"/>
                        <a:t>Donny Septianto</a:t>
                      </a:r>
                    </a:p>
                    <a:p>
                      <a:r>
                        <a:rPr lang="en-US" sz="1200" dirty="0"/>
                        <a:t>Yodi Abraham</a:t>
                      </a:r>
                    </a:p>
                    <a:p>
                      <a:r>
                        <a:rPr lang="en-US" sz="1200" dirty="0"/>
                        <a:t>Firda Thalika</a:t>
                      </a:r>
                    </a:p>
                    <a:p>
                      <a:r>
                        <a:rPr lang="en-US" sz="1200" dirty="0"/>
                        <a:t>Adisty Mega Purwati</a:t>
                      </a:r>
                    </a:p>
                    <a:p>
                      <a:r>
                        <a:rPr lang="en-US" sz="1200" dirty="0"/>
                        <a:t>Aztari Ayu Nadya</a:t>
                      </a: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4867426"/>
                  </a:ext>
                </a:extLst>
              </a:tr>
              <a:tr h="140303">
                <a:tc gridSpan="3">
                  <a:txBody>
                    <a:bodyPr/>
                    <a:lstStyle/>
                    <a:p>
                      <a:pPr marL="0" marR="0">
                        <a:lnSpc>
                          <a:spcPct val="107000"/>
                        </a:lnSpc>
                        <a:spcBef>
                          <a:spcPts val="0"/>
                        </a:spcBef>
                        <a:spcAft>
                          <a:spcPts val="0"/>
                        </a:spcAft>
                      </a:pPr>
                      <a:r>
                        <a:rPr lang="en-US" sz="900">
                          <a:solidFill>
                            <a:schemeClr val="tx1"/>
                          </a:solidFill>
                          <a:effectLst/>
                        </a:rPr>
                        <a:t>EPICS</a:t>
                      </a:r>
                      <a:endParaRPr lang="en-US"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a:lnSpc>
                          <a:spcPct val="107000"/>
                        </a:lnSpc>
                        <a:spcBef>
                          <a:spcPts val="0"/>
                        </a:spcBef>
                        <a:spcAft>
                          <a:spcPts val="0"/>
                        </a:spcAft>
                      </a:pPr>
                      <a:endParaRPr lang="en-US"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b="1" dirty="0">
                          <a:solidFill>
                            <a:schemeClr val="tx1"/>
                          </a:solidFill>
                          <a:effectLst/>
                        </a:rPr>
                        <a:t>Impacted to System Product</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a:lnSpc>
                          <a:spcPct val="107000"/>
                        </a:lnSpc>
                        <a:spcBef>
                          <a:spcPts val="0"/>
                        </a:spcBef>
                        <a:spcAft>
                          <a:spcPts val="0"/>
                        </a:spcAft>
                      </a:pPr>
                      <a:r>
                        <a:rPr lang="en-US" sz="900" b="1" dirty="0">
                          <a:solidFill>
                            <a:schemeClr val="tx1"/>
                          </a:solidFill>
                          <a:effectLst/>
                        </a:rPr>
                        <a:t>Impacted to Business Product</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87656066"/>
                  </a:ext>
                </a:extLst>
              </a:tr>
              <a:tr h="219737">
                <a:tc gridSpan="3">
                  <a:txBody>
                    <a:bodyPr/>
                    <a:lstStyle/>
                    <a:p>
                      <a:pPr marL="0" marR="0">
                        <a:lnSpc>
                          <a:spcPct val="107000"/>
                        </a:lnSpc>
                        <a:spcBef>
                          <a:spcPts val="0"/>
                        </a:spcBef>
                        <a:spcAft>
                          <a:spcPts val="0"/>
                        </a:spcAft>
                      </a:pPr>
                      <a:r>
                        <a:rPr lang="en-US" sz="700" dirty="0">
                          <a:solidFill>
                            <a:schemeClr val="tx1"/>
                          </a:solidFill>
                          <a:effectLst/>
                        </a:rPr>
                        <a:t>[Product: Microsite]</a:t>
                      </a:r>
                    </a:p>
                    <a:p>
                      <a:pPr marL="0" marR="0">
                        <a:lnSpc>
                          <a:spcPct val="107000"/>
                        </a:lnSpc>
                        <a:spcBef>
                          <a:spcPts val="0"/>
                        </a:spcBef>
                        <a:spcAft>
                          <a:spcPts val="0"/>
                        </a:spcAft>
                      </a:pPr>
                      <a:r>
                        <a:rPr lang="en-US" sz="700" b="0" dirty="0">
                          <a:solidFill>
                            <a:schemeClr val="tx1"/>
                          </a:solidFill>
                          <a:effectLst/>
                        </a:rPr>
                        <a:t>Digitalize Spare Parts Catalog</a:t>
                      </a:r>
                      <a:endParaRPr lang="en-US"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a:lnSpc>
                          <a:spcPct val="107000"/>
                        </a:lnSpc>
                        <a:spcBef>
                          <a:spcPts val="0"/>
                        </a:spcBef>
                        <a:spcAft>
                          <a:spcPts val="0"/>
                        </a:spcAft>
                      </a:pPr>
                      <a:endParaRPr lang="en-US" sz="9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nSpc>
                          <a:spcPct val="107000"/>
                        </a:lnSpc>
                        <a:spcBef>
                          <a:spcPts val="0"/>
                        </a:spcBef>
                        <a:spcAft>
                          <a:spcPts val="0"/>
                        </a:spcAft>
                        <a:buFont typeface="Symbol" panose="05050102010706020507" pitchFamily="18" charset="2"/>
                        <a:buNone/>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D-NET, SOA, Microsite, MoE,</a:t>
                      </a:r>
                    </a:p>
                    <a:p>
                      <a:pPr marL="0" marR="0" lvl="0" indent="0">
                        <a:lnSpc>
                          <a:spcPct val="107000"/>
                        </a:lnSpc>
                        <a:spcBef>
                          <a:spcPts val="0"/>
                        </a:spcBef>
                        <a:spcAft>
                          <a:spcPts val="0"/>
                        </a:spcAft>
                        <a:buFont typeface="Symbol" panose="05050102010706020507" pitchFamily="18" charset="2"/>
                        <a:buNone/>
                      </a:pPr>
                      <a:r>
                        <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Website , MMID</a:t>
                      </a:r>
                    </a:p>
                    <a:p>
                      <a:pPr marL="0" marR="0" lvl="0" indent="0">
                        <a:lnSpc>
                          <a:spcPct val="107000"/>
                        </a:lnSpc>
                        <a:spcBef>
                          <a:spcPts val="0"/>
                        </a:spcBef>
                        <a:spcAft>
                          <a:spcPts val="0"/>
                        </a:spcAft>
                        <a:buFont typeface="Symbol" panose="05050102010706020507" pitchFamily="18" charset="2"/>
                        <a:buNone/>
                      </a:pPr>
                      <a:endPar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nSpc>
                          <a:spcPct val="107000"/>
                        </a:lnSpc>
                        <a:spcBef>
                          <a:spcPts val="0"/>
                        </a:spcBef>
                        <a:spcAft>
                          <a:spcPts val="0"/>
                        </a:spcAft>
                        <a:buFont typeface="Symbol" panose="05050102010706020507" pitchFamily="18" charset="2"/>
                        <a:buNone/>
                      </a:pPr>
                      <a:r>
                        <a:rPr lang="en-US" sz="700" dirty="0">
                          <a:solidFill>
                            <a:schemeClr val="tx1"/>
                          </a:solidFill>
                          <a:effectLst/>
                        </a:rPr>
                        <a:t>[EPICS] </a:t>
                      </a:r>
                      <a:r>
                        <a:rPr lang="en-US" sz="700" b="0" spc="-15" dirty="0">
                          <a:solidFill>
                            <a:schemeClr val="tx1"/>
                          </a:solidFill>
                          <a:effectLst/>
                          <a:latin typeface="+mn-lt"/>
                          <a:cs typeface="Calibri"/>
                        </a:rPr>
                        <a:t>E-Com Spare Parts </a:t>
                      </a:r>
                      <a:endPar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37068519"/>
                  </a:ext>
                </a:extLst>
              </a:tr>
              <a:tr h="169783">
                <a:tc gridSpan="9">
                  <a:txBody>
                    <a:bodyPr/>
                    <a:lstStyle/>
                    <a:p>
                      <a:pPr marL="0" marR="0">
                        <a:lnSpc>
                          <a:spcPct val="107000"/>
                        </a:lnSpc>
                        <a:spcBef>
                          <a:spcPts val="0"/>
                        </a:spcBef>
                        <a:spcAft>
                          <a:spcPts val="0"/>
                        </a:spcAft>
                      </a:pPr>
                      <a:r>
                        <a:rPr lang="en-US" sz="900" b="1" dirty="0">
                          <a:solidFill>
                            <a:schemeClr val="tx1"/>
                          </a:solidFill>
                          <a:effectLst/>
                        </a:rPr>
                        <a:t>Version Update</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53471881"/>
                  </a:ext>
                </a:extLst>
              </a:tr>
              <a:tr h="287084">
                <a:tc gridSpan="9">
                  <a:txBody>
                    <a:bodyPr/>
                    <a:lstStyle/>
                    <a:p>
                      <a:pPr marL="0" marR="0" lvl="0" indent="0">
                        <a:lnSpc>
                          <a:spcPct val="107000"/>
                        </a:lnSpc>
                        <a:spcBef>
                          <a:spcPts val="0"/>
                        </a:spcBef>
                        <a:spcAft>
                          <a:spcPts val="0"/>
                        </a:spcAft>
                        <a:buFont typeface="Symbol" panose="05050102010706020507" pitchFamily="18" charset="2"/>
                        <a:buNone/>
                      </a:pPr>
                      <a:r>
                        <a:rPr lang="en-US" sz="900" b="1" dirty="0">
                          <a:solidFill>
                            <a:schemeClr val="tx1"/>
                          </a:solidFill>
                          <a:effectLst/>
                        </a:rPr>
                        <a:t>Version 0.0 :  </a:t>
                      </a:r>
                    </a:p>
                    <a:p>
                      <a:pPr marL="0" marR="0" lvl="0" indent="0">
                        <a:lnSpc>
                          <a:spcPct val="107000"/>
                        </a:lnSpc>
                        <a:spcBef>
                          <a:spcPts val="0"/>
                        </a:spcBef>
                        <a:spcAft>
                          <a:spcPts val="0"/>
                        </a:spcAft>
                        <a:buFont typeface="Symbol" panose="05050102010706020507" pitchFamily="18" charset="2"/>
                        <a:buNone/>
                      </a:pPr>
                      <a:r>
                        <a:rPr lang="en-US" sz="700" b="0" dirty="0">
                          <a:solidFill>
                            <a:schemeClr val="tx1"/>
                          </a:solidFill>
                          <a:effectLst/>
                        </a:rPr>
                        <a:t>Initial creation document Product Requirement Definition (PRD) </a:t>
                      </a:r>
                      <a:r>
                        <a:rPr lang="en-US" sz="700" b="0" spc="-15" dirty="0">
                          <a:solidFill>
                            <a:schemeClr val="tx1"/>
                          </a:solidFill>
                          <a:latin typeface="+mn-lt"/>
                          <a:cs typeface="Calibri"/>
                        </a:rPr>
                        <a:t>Digital Spare Parts Catalog</a:t>
                      </a:r>
                      <a:endParaRPr lang="en-US" sz="700" b="0" dirty="0">
                        <a:solidFill>
                          <a:schemeClr val="tx1"/>
                        </a:solidFill>
                        <a:effectLst/>
                      </a:endParaRPr>
                    </a:p>
                    <a:p>
                      <a:pPr marL="0" marR="0" lvl="0" indent="0">
                        <a:lnSpc>
                          <a:spcPct val="107000"/>
                        </a:lnSpc>
                        <a:spcBef>
                          <a:spcPts val="0"/>
                        </a:spcBef>
                        <a:spcAft>
                          <a:spcPts val="0"/>
                        </a:spcAft>
                        <a:buFont typeface="Symbol" panose="05050102010706020507" pitchFamily="18" charset="2"/>
                        <a:buNone/>
                      </a:pP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0380936"/>
                  </a:ext>
                </a:extLst>
              </a:tr>
              <a:tr h="157292">
                <a:tc gridSpan="2">
                  <a:txBody>
                    <a:bodyPr/>
                    <a:lstStyle/>
                    <a:p>
                      <a:pPr marL="0" marR="0">
                        <a:lnSpc>
                          <a:spcPct val="107000"/>
                        </a:lnSpc>
                        <a:spcBef>
                          <a:spcPts val="0"/>
                        </a:spcBef>
                        <a:spcAft>
                          <a:spcPts val="0"/>
                        </a:spcAft>
                      </a:pPr>
                      <a:r>
                        <a:rPr lang="en-US" sz="900" b="1" dirty="0">
                          <a:solidFill>
                            <a:schemeClr val="tx1"/>
                          </a:solidFill>
                          <a:effectLst/>
                        </a:rPr>
                        <a:t>Product Vision</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endParaRPr lang="en-US" sz="9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800" b="1">
                          <a:solidFill>
                            <a:schemeClr val="tx1"/>
                          </a:solidFill>
                          <a:effectLst/>
                        </a:rPr>
                        <a:t>Product Mission</a:t>
                      </a:r>
                      <a:endParaRPr lang="en-US" sz="8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b="1" dirty="0">
                          <a:solidFill>
                            <a:schemeClr val="tx1"/>
                          </a:solidFill>
                          <a:effectLst/>
                        </a:rPr>
                        <a:t>Product Objective</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a:lnSpc>
                          <a:spcPct val="107000"/>
                        </a:lnSpc>
                        <a:spcBef>
                          <a:spcPts val="0"/>
                        </a:spcBef>
                        <a:spcAft>
                          <a:spcPts val="0"/>
                        </a:spcAft>
                      </a:pPr>
                      <a:r>
                        <a:rPr lang="en-US" sz="900" b="1" dirty="0">
                          <a:solidFill>
                            <a:schemeClr val="tx1"/>
                          </a:solidFill>
                          <a:effectLst/>
                        </a:rPr>
                        <a:t>Product Principle</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a:lnSpc>
                          <a:spcPct val="107000"/>
                        </a:lnSpc>
                        <a:spcBef>
                          <a:spcPts val="0"/>
                        </a:spcBef>
                        <a:spcAft>
                          <a:spcPts val="0"/>
                        </a:spcAft>
                      </a:pPr>
                      <a:r>
                        <a:rPr lang="en-US" sz="900" b="1" dirty="0">
                          <a:solidFill>
                            <a:schemeClr val="tx1"/>
                          </a:solidFill>
                          <a:effectLst/>
                        </a:rPr>
                        <a:t>Tracking &amp; Data Analytics</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endParaRPr lang="en-US"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900" b="1" dirty="0">
                          <a:solidFill>
                            <a:schemeClr val="tx1"/>
                          </a:solidFill>
                          <a:effectLst/>
                        </a:rPr>
                        <a:t>Go To Market</a:t>
                      </a:r>
                      <a:endParaRPr lang="en-US" sz="9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359884"/>
                  </a:ext>
                </a:extLst>
              </a:tr>
              <a:tr h="727424">
                <a:tc gridSpan="2">
                  <a:txBody>
                    <a:bodyPr/>
                    <a:lstStyle/>
                    <a:p>
                      <a:pPr marL="0" marR="0">
                        <a:lnSpc>
                          <a:spcPct val="107000"/>
                        </a:lnSpc>
                        <a:spcBef>
                          <a:spcPts val="0"/>
                        </a:spcBef>
                        <a:spcAft>
                          <a:spcPts val="0"/>
                        </a:spcAft>
                      </a:pPr>
                      <a:r>
                        <a:rPr kumimoji="1" lang="en-US" sz="700" b="0" kern="1200" dirty="0">
                          <a:solidFill>
                            <a:schemeClr val="tx1"/>
                          </a:solidFill>
                          <a:effectLst/>
                          <a:latin typeface="+mn-lt"/>
                          <a:ea typeface="+mn-ea"/>
                          <a:cs typeface="+mn-cs"/>
                          <a:sym typeface="Lato"/>
                        </a:rPr>
                        <a:t>Ecosystem which seamless, intuitive, and comprehensive platform that simplifies spare part identification, selection, and procurement, ultimately enhancing operational efficiency and provide customers and businesses interact with Mitsubishi source spare parts.</a:t>
                      </a:r>
                    </a:p>
                    <a:p>
                      <a:pPr marL="0" marR="0">
                        <a:lnSpc>
                          <a:spcPct val="107000"/>
                        </a:lnSpc>
                        <a:spcBef>
                          <a:spcPts val="0"/>
                        </a:spcBef>
                        <a:spcAft>
                          <a:spcPts val="0"/>
                        </a:spcAft>
                      </a:pPr>
                      <a:endParaRPr lang="en-US" sz="700" b="0" dirty="0">
                        <a:solidFill>
                          <a:schemeClr val="tx1"/>
                        </a:solidFill>
                        <a:effectLst/>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endPar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700" b="0" dirty="0">
                          <a:solidFill>
                            <a:schemeClr val="tx1"/>
                          </a:solidFill>
                          <a:effectLst/>
                        </a:rPr>
                        <a:t>Ecosystem for all technical documents, manuals, bulletins and spare parts drawing in one place</a:t>
                      </a:r>
                      <a:r>
                        <a:rPr lang="en-US" sz="700" b="0" dirty="0">
                          <a:solidFill>
                            <a:schemeClr val="tx1"/>
                          </a:solidFill>
                          <a:effectLst/>
                          <a:latin typeface="Calibri" panose="020F0502020204030204" pitchFamily="34" charset="0"/>
                          <a:cs typeface="Times New Roman" panose="02020603050405020304" pitchFamily="18" charset="0"/>
                        </a:rPr>
                        <a:t>.</a:t>
                      </a:r>
                      <a:endParaRPr lang="en-US" sz="700" b="0" dirty="0">
                        <a:solidFill>
                          <a:schemeClr val="tx1"/>
                        </a:solidFill>
                        <a:effectLst/>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700" dirty="0">
                          <a:solidFill>
                            <a:schemeClr val="tx1"/>
                          </a:solidFill>
                          <a:effectLst/>
                        </a:rPr>
                        <a:t>Central Digital Platform for User Access Spare Parts Catalog</a:t>
                      </a: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a:lnSpc>
                          <a:spcPct val="107000"/>
                        </a:lnSpc>
                        <a:spcBef>
                          <a:spcPts val="0"/>
                        </a:spcBef>
                        <a:spcAft>
                          <a:spcPts val="0"/>
                        </a:spcAft>
                      </a:pPr>
                      <a:r>
                        <a:rPr lang="en-US" sz="700" dirty="0">
                          <a:solidFill>
                            <a:schemeClr val="tx1"/>
                          </a:solidFill>
                          <a:effectLst/>
                        </a:rPr>
                        <a:t>Features are needed and used by End Customer Mitsubishi</a:t>
                      </a:r>
                      <a:endPar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a:lnSpc>
                          <a:spcPct val="107000"/>
                        </a:lnSpc>
                        <a:spcBef>
                          <a:spcPts val="0"/>
                        </a:spcBef>
                        <a:spcAft>
                          <a:spcPts val="0"/>
                        </a:spcAft>
                      </a:pPr>
                      <a:r>
                        <a:rPr lang="en-US" sz="700" dirty="0">
                          <a:solidFill>
                            <a:schemeClr val="tx1"/>
                          </a:solidFill>
                          <a:effectLst/>
                        </a:rPr>
                        <a:t>Customer tracking behavior and analytics process</a:t>
                      </a:r>
                      <a:endPar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nSpc>
                          <a:spcPct val="107000"/>
                        </a:lnSpc>
                        <a:spcBef>
                          <a:spcPts val="0"/>
                        </a:spcBef>
                        <a:spcAft>
                          <a:spcPts val="0"/>
                        </a:spcAft>
                      </a:pP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07000"/>
                        </a:lnSpc>
                        <a:spcBef>
                          <a:spcPts val="0"/>
                        </a:spcBef>
                        <a:spcAft>
                          <a:spcPts val="0"/>
                        </a:spcAft>
                      </a:pPr>
                      <a:r>
                        <a:rPr lang="en-US" sz="700" dirty="0">
                          <a:solidFill>
                            <a:schemeClr val="tx1"/>
                          </a:solidFill>
                          <a:effectLst/>
                        </a:rPr>
                        <a:t>March Week 2</a:t>
                      </a:r>
                      <a:endParaRPr lang="en-US" sz="7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010418"/>
                  </a:ext>
                </a:extLst>
              </a:tr>
              <a:tr h="140303">
                <a:tc gridSpan="9">
                  <a:txBody>
                    <a:bodyPr/>
                    <a:lstStyle/>
                    <a:p>
                      <a:pPr marL="0" marR="0">
                        <a:lnSpc>
                          <a:spcPct val="107000"/>
                        </a:lnSpc>
                        <a:spcBef>
                          <a:spcPts val="0"/>
                        </a:spcBef>
                        <a:spcAft>
                          <a:spcPts val="0"/>
                        </a:spcAft>
                      </a:pPr>
                      <a:r>
                        <a:rPr lang="en-US" sz="900" dirty="0">
                          <a:solidFill>
                            <a:schemeClr val="tx1"/>
                          </a:solidFill>
                          <a:effectLst/>
                        </a:rPr>
                        <a:t>Reference Document</a:t>
                      </a:r>
                      <a:endPar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76055916"/>
                  </a:ext>
                </a:extLst>
              </a:tr>
              <a:tr h="287084">
                <a:tc gridSpan="9">
                  <a:txBody>
                    <a:bodyPr/>
                    <a:lstStyle/>
                    <a:p>
                      <a:pPr marL="0" marR="0" lvl="0" indent="0">
                        <a:lnSpc>
                          <a:spcPct val="107000"/>
                        </a:lnSpc>
                        <a:spcBef>
                          <a:spcPts val="0"/>
                        </a:spcBef>
                        <a:spcAft>
                          <a:spcPts val="0"/>
                        </a:spcAft>
                        <a:buFont typeface="Symbol" panose="05050102010706020507" pitchFamily="18" charset="2"/>
                        <a:buNone/>
                      </a:pPr>
                      <a:r>
                        <a:rPr lang="en-US" sz="700" b="0" dirty="0">
                          <a:solidFill>
                            <a:schemeClr val="tx1"/>
                          </a:solidFill>
                          <a:effectLst/>
                        </a:rPr>
                        <a:t>(1) Discussion Material and Minutes of Meeting Digital Spare Parts Catalog</a:t>
                      </a:r>
                    </a:p>
                    <a:p>
                      <a:pPr marL="100330" marR="0">
                        <a:lnSpc>
                          <a:spcPct val="107000"/>
                        </a:lnSpc>
                        <a:spcBef>
                          <a:spcPts val="0"/>
                        </a:spcBef>
                        <a:spcAft>
                          <a:spcPts val="0"/>
                        </a:spcAft>
                      </a:pPr>
                      <a:r>
                        <a:rPr lang="en-US" sz="900" dirty="0">
                          <a:solidFill>
                            <a:schemeClr val="tx1"/>
                          </a:solidFill>
                          <a:effectLst/>
                        </a:rPr>
                        <a:t> </a:t>
                      </a:r>
                      <a:endParaRPr lang="en-US" sz="9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66541487"/>
                  </a:ext>
                </a:extLst>
              </a:tr>
            </a:tbl>
          </a:graphicData>
        </a:graphic>
      </p:graphicFrame>
      <p:sp>
        <p:nvSpPr>
          <p:cNvPr id="5" name="サブタイトル 7">
            <a:extLst>
              <a:ext uri="{FF2B5EF4-FFF2-40B4-BE49-F238E27FC236}">
                <a16:creationId xmlns:a16="http://schemas.microsoft.com/office/drawing/2014/main" id="{C9FD03C7-8021-2858-6563-50A5A7914C9B}"/>
              </a:ext>
            </a:extLst>
          </p:cNvPr>
          <p:cNvSpPr txBox="1">
            <a:spLocks/>
          </p:cNvSpPr>
          <p:nvPr/>
        </p:nvSpPr>
        <p:spPr>
          <a:xfrm>
            <a:off x="188515" y="4828410"/>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6" name="サブタイトル 7">
            <a:extLst>
              <a:ext uri="{FF2B5EF4-FFF2-40B4-BE49-F238E27FC236}">
                <a16:creationId xmlns:a16="http://schemas.microsoft.com/office/drawing/2014/main" id="{6DD2475E-B829-0F67-0EB6-E35E97577FA0}"/>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
        <p:nvSpPr>
          <p:cNvPr id="7" name="サブタイトル 7">
            <a:extLst>
              <a:ext uri="{FF2B5EF4-FFF2-40B4-BE49-F238E27FC236}">
                <a16:creationId xmlns:a16="http://schemas.microsoft.com/office/drawing/2014/main" id="{D088EB43-B816-455A-D210-4631F9D7403E}"/>
              </a:ext>
            </a:extLst>
          </p:cNvPr>
          <p:cNvSpPr txBox="1">
            <a:spLocks/>
          </p:cNvSpPr>
          <p:nvPr/>
        </p:nvSpPr>
        <p:spPr>
          <a:xfrm>
            <a:off x="6624133" y="4814750"/>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r">
              <a:spcBef>
                <a:spcPts val="0"/>
              </a:spcBef>
            </a:pPr>
            <a:r>
              <a:rPr lang="en-US" altLang="ja-JP" sz="1000" b="1" dirty="0">
                <a:solidFill>
                  <a:schemeClr val="tx1">
                    <a:lumMod val="65000"/>
                    <a:lumOff val="35000"/>
                  </a:schemeClr>
                </a:solidFill>
              </a:rPr>
              <a:t>3</a:t>
            </a:r>
          </a:p>
        </p:txBody>
      </p:sp>
      <p:pic>
        <p:nvPicPr>
          <p:cNvPr id="8" name="Picture 7" descr="A picture containing graphics, graphic design, design&#10;&#10;Description automatically generated">
            <a:extLst>
              <a:ext uri="{FF2B5EF4-FFF2-40B4-BE49-F238E27FC236}">
                <a16:creationId xmlns:a16="http://schemas.microsoft.com/office/drawing/2014/main" id="{1ECDCCA1-BAFC-8C69-17C6-E67FE52BCC8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1049736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0"/>
            <a:ext cx="8642350" cy="450050"/>
          </a:xfrm>
        </p:spPr>
        <p:txBody>
          <a:bodyPr/>
          <a:lstStyle/>
          <a:p>
            <a:r>
              <a:rPr lang="en-US" sz="2000" dirty="0">
                <a:ea typeface="ヒラギノ角ゴ Std W6" pitchFamily="34" charset="-128"/>
              </a:rPr>
              <a:t>Product Digital Spare Parts Catalog - Overview</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4</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
        <p:nvSpPr>
          <p:cNvPr id="4" name="Google Shape;228;p21">
            <a:extLst>
              <a:ext uri="{FF2B5EF4-FFF2-40B4-BE49-F238E27FC236}">
                <a16:creationId xmlns:a16="http://schemas.microsoft.com/office/drawing/2014/main" id="{860EA4FC-A921-A557-85C0-08B83750C0D7}"/>
              </a:ext>
            </a:extLst>
          </p:cNvPr>
          <p:cNvSpPr txBox="1"/>
          <p:nvPr/>
        </p:nvSpPr>
        <p:spPr>
          <a:xfrm>
            <a:off x="4061715" y="776810"/>
            <a:ext cx="1641825" cy="189450"/>
          </a:xfrm>
          <a:prstGeom prst="rect">
            <a:avLst/>
          </a:prstGeom>
          <a:noFill/>
          <a:ln>
            <a:noFill/>
          </a:ln>
        </p:spPr>
        <p:txBody>
          <a:bodyPr spcFirstLastPara="1" wrap="square" lIns="68569" tIns="68569" rIns="68569" bIns="68569" anchor="ctr" anchorCtr="0">
            <a:noAutofit/>
          </a:bodyPr>
          <a:lstStyle>
            <a:defPPr>
              <a:defRPr lang="en-US"/>
            </a:defPPr>
            <a:lvl1pPr lvl="0" indent="0">
              <a:spcBef>
                <a:spcPts val="0"/>
              </a:spcBef>
              <a:spcAft>
                <a:spcPts val="0"/>
              </a:spcAft>
              <a:buNone/>
              <a:defRPr b="1">
                <a:solidFill>
                  <a:schemeClr val="accent5">
                    <a:lumMod val="75000"/>
                  </a:schemeClr>
                </a:solidFill>
                <a:latin typeface="Fira Sans Extra Condensed Medium"/>
                <a:ea typeface="Fira Sans Extra Condensed Medium"/>
                <a:cs typeface="Fira Sans Extra Condensed Medium"/>
              </a:defRPr>
            </a:lvl1pPr>
          </a:lstStyle>
          <a:p>
            <a:r>
              <a:rPr lang="en" sz="1350" dirty="0">
                <a:solidFill>
                  <a:schemeClr val="tx1"/>
                </a:solidFill>
                <a:sym typeface="Fira Sans Extra Condensed Medium"/>
              </a:rPr>
              <a:t>INTRODUCTION</a:t>
            </a:r>
            <a:endParaRPr sz="1350" dirty="0">
              <a:solidFill>
                <a:schemeClr val="tx1"/>
              </a:solidFill>
              <a:sym typeface="Fira Sans Extra Condensed Medium"/>
            </a:endParaRPr>
          </a:p>
        </p:txBody>
      </p:sp>
      <p:sp>
        <p:nvSpPr>
          <p:cNvPr id="5" name="Google Shape;229;p21">
            <a:extLst>
              <a:ext uri="{FF2B5EF4-FFF2-40B4-BE49-F238E27FC236}">
                <a16:creationId xmlns:a16="http://schemas.microsoft.com/office/drawing/2014/main" id="{BAD9B10F-F23C-F525-5A02-232CB6142BE0}"/>
              </a:ext>
            </a:extLst>
          </p:cNvPr>
          <p:cNvSpPr txBox="1"/>
          <p:nvPr/>
        </p:nvSpPr>
        <p:spPr>
          <a:xfrm>
            <a:off x="4056942" y="984743"/>
            <a:ext cx="4160464" cy="808488"/>
          </a:xfrm>
          <a:prstGeom prst="rect">
            <a:avLst/>
          </a:prstGeom>
          <a:noFill/>
          <a:ln>
            <a:noFill/>
          </a:ln>
        </p:spPr>
        <p:txBody>
          <a:bodyPr spcFirstLastPara="1" wrap="square" lIns="68569" tIns="68569" rIns="68569" bIns="68569" anchor="t" anchorCtr="0">
            <a:noAutofit/>
          </a:bodyPr>
          <a:lstStyle/>
          <a:p>
            <a:r>
              <a:rPr lang="en-US" sz="1000" dirty="0">
                <a:solidFill>
                  <a:schemeClr val="tx1"/>
                </a:solidFill>
              </a:rPr>
              <a:t>Currently Vehicle Part Catalogue of Mitsubishi is using two ways : </a:t>
            </a:r>
          </a:p>
          <a:p>
            <a:r>
              <a:rPr lang="en-US" sz="1000" dirty="0">
                <a:solidFill>
                  <a:schemeClr val="tx1"/>
                </a:solidFill>
              </a:rPr>
              <a:t>Using Caps Application and Print as Hardcopy. For Original Caps Data from MMC, MMKSI are costly in Quarterly and Hardcopy is preparing to accommodate business partner like Part Shop and Fleet Customer.</a:t>
            </a:r>
          </a:p>
        </p:txBody>
      </p:sp>
      <p:sp>
        <p:nvSpPr>
          <p:cNvPr id="6" name="Google Shape;228;p21">
            <a:extLst>
              <a:ext uri="{FF2B5EF4-FFF2-40B4-BE49-F238E27FC236}">
                <a16:creationId xmlns:a16="http://schemas.microsoft.com/office/drawing/2014/main" id="{E1D19284-F9EE-3608-2005-BC7E144A62A1}"/>
              </a:ext>
            </a:extLst>
          </p:cNvPr>
          <p:cNvSpPr txBox="1"/>
          <p:nvPr/>
        </p:nvSpPr>
        <p:spPr>
          <a:xfrm>
            <a:off x="4056941" y="1834423"/>
            <a:ext cx="5462471" cy="252309"/>
          </a:xfrm>
          <a:prstGeom prst="rect">
            <a:avLst/>
          </a:prstGeom>
          <a:noFill/>
          <a:ln>
            <a:noFill/>
          </a:ln>
        </p:spPr>
        <p:txBody>
          <a:bodyPr spcFirstLastPara="1" wrap="square" lIns="68569" tIns="68569" rIns="68569" bIns="68569" anchor="ctr" anchorCtr="0">
            <a:noAutofit/>
          </a:bodyPr>
          <a:lstStyle>
            <a:defPPr>
              <a:defRPr lang="en-US"/>
            </a:defPPr>
            <a:lvl1pPr lvl="0" indent="0">
              <a:spcBef>
                <a:spcPts val="0"/>
              </a:spcBef>
              <a:spcAft>
                <a:spcPts val="0"/>
              </a:spcAft>
              <a:buNone/>
              <a:defRPr b="1">
                <a:solidFill>
                  <a:schemeClr val="accent5">
                    <a:lumMod val="75000"/>
                  </a:schemeClr>
                </a:solidFill>
                <a:latin typeface="Fira Sans Extra Condensed Medium"/>
                <a:ea typeface="Fira Sans Extra Condensed Medium"/>
                <a:cs typeface="Fira Sans Extra Condensed Medium"/>
              </a:defRPr>
            </a:lvl1pPr>
          </a:lstStyle>
          <a:p>
            <a:r>
              <a:rPr lang="en" sz="1350" dirty="0">
                <a:solidFill>
                  <a:schemeClr val="tx1"/>
                </a:solidFill>
                <a:sym typeface="Fira Sans Extra Condensed Medium"/>
              </a:rPr>
              <a:t>PRODUCT VISION – Microsite Spare Part Catalog</a:t>
            </a:r>
            <a:endParaRPr sz="1350" dirty="0">
              <a:solidFill>
                <a:schemeClr val="tx1"/>
              </a:solidFill>
              <a:sym typeface="Fira Sans Extra Condensed Medium"/>
            </a:endParaRPr>
          </a:p>
        </p:txBody>
      </p:sp>
      <p:sp>
        <p:nvSpPr>
          <p:cNvPr id="12" name="Google Shape;228;p21">
            <a:extLst>
              <a:ext uri="{FF2B5EF4-FFF2-40B4-BE49-F238E27FC236}">
                <a16:creationId xmlns:a16="http://schemas.microsoft.com/office/drawing/2014/main" id="{E2693C3F-46A7-B2C3-4BE2-C229A3CBB5CF}"/>
              </a:ext>
            </a:extLst>
          </p:cNvPr>
          <p:cNvSpPr txBox="1"/>
          <p:nvPr/>
        </p:nvSpPr>
        <p:spPr>
          <a:xfrm>
            <a:off x="4031814" y="2914751"/>
            <a:ext cx="4366411" cy="157141"/>
          </a:xfrm>
          <a:prstGeom prst="rect">
            <a:avLst/>
          </a:prstGeom>
          <a:noFill/>
          <a:ln>
            <a:noFill/>
          </a:ln>
        </p:spPr>
        <p:txBody>
          <a:bodyPr spcFirstLastPara="1" wrap="square" lIns="68569" tIns="68569" rIns="68569" bIns="68569" anchor="ctr" anchorCtr="0">
            <a:noAutofit/>
          </a:bodyPr>
          <a:lstStyle>
            <a:defPPr>
              <a:defRPr lang="en-US"/>
            </a:defPPr>
            <a:lvl1pPr lvl="0" indent="0">
              <a:spcBef>
                <a:spcPts val="0"/>
              </a:spcBef>
              <a:spcAft>
                <a:spcPts val="0"/>
              </a:spcAft>
              <a:buNone/>
              <a:defRPr b="1">
                <a:solidFill>
                  <a:schemeClr val="accent5">
                    <a:lumMod val="75000"/>
                  </a:schemeClr>
                </a:solidFill>
                <a:latin typeface="Fira Sans Extra Condensed Medium"/>
                <a:ea typeface="Fira Sans Extra Condensed Medium"/>
                <a:cs typeface="Fira Sans Extra Condensed Medium"/>
              </a:defRPr>
            </a:lvl1pPr>
          </a:lstStyle>
          <a:p>
            <a:r>
              <a:rPr lang="en" sz="1350" dirty="0">
                <a:solidFill>
                  <a:schemeClr val="tx1"/>
                </a:solidFill>
                <a:sym typeface="Fira Sans Extra Condensed Medium"/>
              </a:rPr>
              <a:t>PRODUCT MISSION – Microsite Spare Part Catalog</a:t>
            </a:r>
            <a:endParaRPr sz="1350" dirty="0">
              <a:solidFill>
                <a:schemeClr val="tx1"/>
              </a:solidFill>
              <a:sym typeface="Fira Sans Extra Condensed Medium"/>
            </a:endParaRPr>
          </a:p>
        </p:txBody>
      </p:sp>
      <p:sp>
        <p:nvSpPr>
          <p:cNvPr id="13" name="Google Shape;228;p21">
            <a:extLst>
              <a:ext uri="{FF2B5EF4-FFF2-40B4-BE49-F238E27FC236}">
                <a16:creationId xmlns:a16="http://schemas.microsoft.com/office/drawing/2014/main" id="{5032A114-E18A-EFC1-C554-599D603D6A19}"/>
              </a:ext>
            </a:extLst>
          </p:cNvPr>
          <p:cNvSpPr txBox="1"/>
          <p:nvPr/>
        </p:nvSpPr>
        <p:spPr>
          <a:xfrm>
            <a:off x="4044475" y="3608439"/>
            <a:ext cx="4546432" cy="296709"/>
          </a:xfrm>
          <a:prstGeom prst="rect">
            <a:avLst/>
          </a:prstGeom>
          <a:noFill/>
          <a:ln>
            <a:noFill/>
          </a:ln>
        </p:spPr>
        <p:txBody>
          <a:bodyPr spcFirstLastPara="1" wrap="square" lIns="68569" tIns="68569" rIns="68569" bIns="68569" anchor="ctr" anchorCtr="0">
            <a:noAutofit/>
          </a:bodyPr>
          <a:lstStyle>
            <a:defPPr>
              <a:defRPr lang="en-US"/>
            </a:defPPr>
            <a:lvl1pPr lvl="0" indent="0">
              <a:spcBef>
                <a:spcPts val="0"/>
              </a:spcBef>
              <a:spcAft>
                <a:spcPts val="0"/>
              </a:spcAft>
              <a:buNone/>
              <a:defRPr b="1">
                <a:solidFill>
                  <a:schemeClr val="accent5">
                    <a:lumMod val="75000"/>
                  </a:schemeClr>
                </a:solidFill>
                <a:latin typeface="Fira Sans Extra Condensed Medium"/>
                <a:ea typeface="Fira Sans Extra Condensed Medium"/>
                <a:cs typeface="Fira Sans Extra Condensed Medium"/>
              </a:defRPr>
            </a:lvl1pPr>
          </a:lstStyle>
          <a:p>
            <a:r>
              <a:rPr lang="en" sz="1350" dirty="0">
                <a:solidFill>
                  <a:schemeClr val="tx1"/>
                </a:solidFill>
                <a:sym typeface="Fira Sans Extra Condensed Medium"/>
              </a:rPr>
              <a:t>KPI – Indicator for Monitoring</a:t>
            </a:r>
            <a:endParaRPr sz="1350" dirty="0">
              <a:solidFill>
                <a:schemeClr val="tx1"/>
              </a:solidFill>
              <a:sym typeface="Fira Sans Extra Condensed Medium"/>
            </a:endParaRPr>
          </a:p>
        </p:txBody>
      </p:sp>
      <p:sp>
        <p:nvSpPr>
          <p:cNvPr id="14" name="Google Shape;229;p21">
            <a:extLst>
              <a:ext uri="{FF2B5EF4-FFF2-40B4-BE49-F238E27FC236}">
                <a16:creationId xmlns:a16="http://schemas.microsoft.com/office/drawing/2014/main" id="{F0EE051F-DA77-64A9-0FAC-CF57FA15DEB6}"/>
              </a:ext>
            </a:extLst>
          </p:cNvPr>
          <p:cNvSpPr txBox="1"/>
          <p:nvPr/>
        </p:nvSpPr>
        <p:spPr>
          <a:xfrm>
            <a:off x="4056941" y="3880836"/>
            <a:ext cx="4681447" cy="528203"/>
          </a:xfrm>
          <a:prstGeom prst="rect">
            <a:avLst/>
          </a:prstGeom>
          <a:noFill/>
          <a:ln>
            <a:noFill/>
          </a:ln>
        </p:spPr>
        <p:txBody>
          <a:bodyPr spcFirstLastPara="1" wrap="square" lIns="68569" tIns="68569" rIns="68569" bIns="68569" anchor="t" anchorCtr="0">
            <a:noAutofit/>
          </a:bodyPr>
          <a:lstStyle/>
          <a:p>
            <a:pPr marL="128588" indent="-128588">
              <a:buFont typeface="Arial" panose="020B0604020202020204" pitchFamily="34" charset="0"/>
              <a:buChar char="•"/>
            </a:pPr>
            <a:r>
              <a:rPr lang="en-US" sz="800" dirty="0">
                <a:latin typeface="Roboto"/>
                <a:ea typeface="Roboto"/>
                <a:cs typeface="Roboto"/>
                <a:sym typeface="Roboto"/>
              </a:rPr>
              <a:t>% Number of user Access </a:t>
            </a:r>
          </a:p>
          <a:p>
            <a:pPr marL="128588" indent="-128588">
              <a:buFont typeface="Arial" panose="020B0604020202020204" pitchFamily="34" charset="0"/>
              <a:buChar char="•"/>
            </a:pPr>
            <a:r>
              <a:rPr lang="en-US" sz="800" dirty="0">
                <a:latin typeface="Roboto"/>
                <a:ea typeface="Roboto"/>
                <a:cs typeface="Roboto"/>
                <a:sym typeface="Roboto"/>
              </a:rPr>
              <a:t>% Number of License CAPS Decrease </a:t>
            </a:r>
          </a:p>
          <a:p>
            <a:pPr marL="128588" indent="-128588">
              <a:buFont typeface="Arial" panose="020B0604020202020204" pitchFamily="34" charset="0"/>
              <a:buChar char="•"/>
            </a:pPr>
            <a:r>
              <a:rPr lang="en-US" sz="800" dirty="0">
                <a:latin typeface="Roboto"/>
                <a:ea typeface="Roboto"/>
                <a:cs typeface="Roboto"/>
                <a:sym typeface="Roboto"/>
              </a:rPr>
              <a:t>% Increase Customer Experience with Notification and information </a:t>
            </a:r>
            <a:endParaRPr lang="en-US" sz="900" dirty="0">
              <a:latin typeface="Roboto"/>
              <a:ea typeface="Roboto"/>
              <a:cs typeface="Roboto"/>
              <a:sym typeface="Roboto"/>
            </a:endParaRPr>
          </a:p>
          <a:p>
            <a:r>
              <a:rPr lang="en-US" sz="900" dirty="0">
                <a:latin typeface="Roboto"/>
                <a:ea typeface="Roboto"/>
                <a:cs typeface="Roboto"/>
                <a:sym typeface="Roboto"/>
              </a:rPr>
              <a:t> </a:t>
            </a:r>
            <a:endParaRPr lang="en" sz="900" dirty="0">
              <a:latin typeface="Roboto"/>
              <a:ea typeface="Roboto"/>
              <a:cs typeface="Roboto"/>
              <a:sym typeface="Roboto"/>
            </a:endParaRPr>
          </a:p>
        </p:txBody>
      </p:sp>
      <p:sp>
        <p:nvSpPr>
          <p:cNvPr id="17" name="Google Shape;229;p21">
            <a:extLst>
              <a:ext uri="{FF2B5EF4-FFF2-40B4-BE49-F238E27FC236}">
                <a16:creationId xmlns:a16="http://schemas.microsoft.com/office/drawing/2014/main" id="{A6D83E72-D4D8-2F3E-1B6E-21838971BB8A}"/>
              </a:ext>
            </a:extLst>
          </p:cNvPr>
          <p:cNvSpPr txBox="1"/>
          <p:nvPr/>
        </p:nvSpPr>
        <p:spPr>
          <a:xfrm>
            <a:off x="4092683" y="2041122"/>
            <a:ext cx="4079718" cy="426141"/>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mn-lt"/>
                <a:ea typeface="+mn-ea"/>
                <a:cs typeface="+mn-cs"/>
                <a:sym typeface="Lato"/>
              </a:rPr>
              <a:t>Ecosystem which seamless, intuitive, and comprehensive platform that simplifies spare part identification, selection, and procurement, ultimately enhancing operational efficiency and provide customers and businesses interact with Mitsubishi source spare parts.</a:t>
            </a:r>
          </a:p>
        </p:txBody>
      </p:sp>
      <p:sp>
        <p:nvSpPr>
          <p:cNvPr id="18" name="Google Shape;229;p21">
            <a:extLst>
              <a:ext uri="{FF2B5EF4-FFF2-40B4-BE49-F238E27FC236}">
                <a16:creationId xmlns:a16="http://schemas.microsoft.com/office/drawing/2014/main" id="{E86F356F-5DC5-702E-14AB-E6D2C83E1B87}"/>
              </a:ext>
            </a:extLst>
          </p:cNvPr>
          <p:cNvSpPr txBox="1"/>
          <p:nvPr/>
        </p:nvSpPr>
        <p:spPr>
          <a:xfrm>
            <a:off x="4083137" y="3099904"/>
            <a:ext cx="4546432" cy="426141"/>
          </a:xfrm>
          <a:prstGeom prst="rect">
            <a:avLst/>
          </a:prstGeom>
          <a:noFill/>
          <a:ln>
            <a:noFill/>
          </a:ln>
        </p:spPr>
        <p:txBody>
          <a:bodyPr spcFirstLastPara="1" wrap="square" lIns="68569" tIns="68569" rIns="68569" bIns="68569" anchor="t" anchorCtr="0">
            <a:noAutofit/>
          </a:bodyPr>
          <a:lstStyle/>
          <a:p>
            <a:pPr marL="0" marR="0" lvl="0" indent="0" algn="l" defTabSz="914400" rtl="0" eaLnBrk="1" fontAlgn="auto" latinLnBrk="0" hangingPunct="1">
              <a:spcBef>
                <a:spcPts val="0"/>
              </a:spcBef>
              <a:spcAft>
                <a:spcPts val="0"/>
              </a:spcAft>
              <a:buClrTx/>
              <a:buSzTx/>
              <a:buFontTx/>
              <a:buNone/>
              <a:tabLst/>
              <a:defRPr/>
            </a:pPr>
            <a:r>
              <a:rPr lang="en-US" sz="1000" dirty="0"/>
              <a:t>Ecosystem for all technical documents, manuals, bulletins and </a:t>
            </a:r>
          </a:p>
          <a:p>
            <a:pPr marL="0" marR="0" lvl="0" indent="0" algn="l" defTabSz="914400" rtl="0" eaLnBrk="1" fontAlgn="auto" latinLnBrk="0" hangingPunct="1">
              <a:spcBef>
                <a:spcPts val="0"/>
              </a:spcBef>
              <a:spcAft>
                <a:spcPts val="0"/>
              </a:spcAft>
              <a:buClrTx/>
              <a:buSzTx/>
              <a:buFontTx/>
              <a:buNone/>
              <a:tabLst/>
              <a:defRPr/>
            </a:pPr>
            <a:r>
              <a:rPr lang="en-US" sz="1000" dirty="0"/>
              <a:t>spare parts drawing in one place and can be accessed by users</a:t>
            </a:r>
            <a:r>
              <a:rPr lang="en" sz="1000" dirty="0">
                <a:sym typeface="Roboto"/>
              </a:rPr>
              <a:t>.</a:t>
            </a:r>
            <a:endParaRPr lang="en-US" sz="1000" dirty="0"/>
          </a:p>
        </p:txBody>
      </p:sp>
      <p:pic>
        <p:nvPicPr>
          <p:cNvPr id="19" name="Picture 18">
            <a:extLst>
              <a:ext uri="{FF2B5EF4-FFF2-40B4-BE49-F238E27FC236}">
                <a16:creationId xmlns:a16="http://schemas.microsoft.com/office/drawing/2014/main" id="{D7105075-FD15-E973-BE73-5FE0E86D1F91}"/>
              </a:ext>
            </a:extLst>
          </p:cNvPr>
          <p:cNvPicPr>
            <a:picLocks noChangeAspect="1"/>
          </p:cNvPicPr>
          <p:nvPr/>
        </p:nvPicPr>
        <p:blipFill>
          <a:blip r:embed="rId3"/>
          <a:stretch>
            <a:fillRect/>
          </a:stretch>
        </p:blipFill>
        <p:spPr>
          <a:xfrm>
            <a:off x="234129" y="1352629"/>
            <a:ext cx="3753414" cy="2438241"/>
          </a:xfrm>
          <a:prstGeom prst="rect">
            <a:avLst/>
          </a:prstGeom>
        </p:spPr>
      </p:pic>
      <p:pic>
        <p:nvPicPr>
          <p:cNvPr id="8" name="Picture 7" descr="A picture containing graphics, graphic design, design&#10;&#10;Description automatically generated">
            <a:extLst>
              <a:ext uri="{FF2B5EF4-FFF2-40B4-BE49-F238E27FC236}">
                <a16:creationId xmlns:a16="http://schemas.microsoft.com/office/drawing/2014/main" id="{22A55814-67CC-D417-90ED-1B631F8B086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673220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93CA30-72D0-D53A-5767-63C57C69F277}"/>
              </a:ext>
            </a:extLst>
          </p:cNvPr>
          <p:cNvSpPr/>
          <p:nvPr/>
        </p:nvSpPr>
        <p:spPr>
          <a:xfrm>
            <a:off x="7216345" y="2431092"/>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65" name="Rectangle 64">
            <a:extLst>
              <a:ext uri="{FF2B5EF4-FFF2-40B4-BE49-F238E27FC236}">
                <a16:creationId xmlns:a16="http://schemas.microsoft.com/office/drawing/2014/main" id="{863B49F3-CC5A-6062-B9A4-F17917E7F2F9}"/>
              </a:ext>
            </a:extLst>
          </p:cNvPr>
          <p:cNvSpPr/>
          <p:nvPr/>
        </p:nvSpPr>
        <p:spPr>
          <a:xfrm>
            <a:off x="5923742" y="2429915"/>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60" name="Rectangle 59">
            <a:extLst>
              <a:ext uri="{FF2B5EF4-FFF2-40B4-BE49-F238E27FC236}">
                <a16:creationId xmlns:a16="http://schemas.microsoft.com/office/drawing/2014/main" id="{FFA62EF7-207F-BE6E-AB1E-1236C6A21056}"/>
              </a:ext>
            </a:extLst>
          </p:cNvPr>
          <p:cNvSpPr/>
          <p:nvPr/>
        </p:nvSpPr>
        <p:spPr>
          <a:xfrm>
            <a:off x="4683997" y="2439599"/>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33" name="Rectangle 32">
            <a:extLst>
              <a:ext uri="{FF2B5EF4-FFF2-40B4-BE49-F238E27FC236}">
                <a16:creationId xmlns:a16="http://schemas.microsoft.com/office/drawing/2014/main" id="{2A524886-70C0-609C-5FB2-43B0C7D4146E}"/>
              </a:ext>
            </a:extLst>
          </p:cNvPr>
          <p:cNvSpPr/>
          <p:nvPr/>
        </p:nvSpPr>
        <p:spPr>
          <a:xfrm>
            <a:off x="1665396" y="2456334"/>
            <a:ext cx="24688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0" name="Rectangle 39">
            <a:extLst>
              <a:ext uri="{FF2B5EF4-FFF2-40B4-BE49-F238E27FC236}">
                <a16:creationId xmlns:a16="http://schemas.microsoft.com/office/drawing/2014/main" id="{C0334B50-A0EC-C7F7-7A27-0B5FF3AF3B3F}"/>
              </a:ext>
            </a:extLst>
          </p:cNvPr>
          <p:cNvSpPr/>
          <p:nvPr/>
        </p:nvSpPr>
        <p:spPr>
          <a:xfrm>
            <a:off x="1665398" y="1531751"/>
            <a:ext cx="24688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 name="Title 1">
            <a:extLst>
              <a:ext uri="{FF2B5EF4-FFF2-40B4-BE49-F238E27FC236}">
                <a16:creationId xmlns:a16="http://schemas.microsoft.com/office/drawing/2014/main" id="{134200FE-FE72-104A-9CC9-F4D669BE92D0}"/>
              </a:ext>
            </a:extLst>
          </p:cNvPr>
          <p:cNvSpPr>
            <a:spLocks noGrp="1"/>
          </p:cNvSpPr>
          <p:nvPr>
            <p:ph type="title"/>
          </p:nvPr>
        </p:nvSpPr>
        <p:spPr/>
        <p:txBody>
          <a:bodyPr/>
          <a:lstStyle/>
          <a:p>
            <a:pPr algn="l"/>
            <a:endParaRPr lang="en-US" sz="100" dirty="0"/>
          </a:p>
        </p:txBody>
      </p:sp>
      <p:sp>
        <p:nvSpPr>
          <p:cNvPr id="9" name="Content Placeholder 8">
            <a:extLst>
              <a:ext uri="{FF2B5EF4-FFF2-40B4-BE49-F238E27FC236}">
                <a16:creationId xmlns:a16="http://schemas.microsoft.com/office/drawing/2014/main" id="{EF5B8093-F7D5-AC6F-2DC1-7BBCD5074944}"/>
              </a:ext>
            </a:extLst>
          </p:cNvPr>
          <p:cNvSpPr>
            <a:spLocks noGrp="1"/>
          </p:cNvSpPr>
          <p:nvPr>
            <p:ph idx="1"/>
          </p:nvPr>
        </p:nvSpPr>
        <p:spPr/>
        <p:txBody>
          <a:bodyPr/>
          <a:lstStyle/>
          <a:p>
            <a:endParaRPr lang="en-US" sz="100" dirty="0"/>
          </a:p>
        </p:txBody>
      </p:sp>
      <p:sp>
        <p:nvSpPr>
          <p:cNvPr id="5" name="Text Placeholder 2">
            <a:extLst>
              <a:ext uri="{FF2B5EF4-FFF2-40B4-BE49-F238E27FC236}">
                <a16:creationId xmlns:a16="http://schemas.microsoft.com/office/drawing/2014/main" id="{4603FDED-0238-9FC0-A23D-4E91FA5CA5BB}"/>
              </a:ext>
            </a:extLst>
          </p:cNvPr>
          <p:cNvSpPr txBox="1">
            <a:spLocks/>
          </p:cNvSpPr>
          <p:nvPr/>
        </p:nvSpPr>
        <p:spPr bwMode="auto">
          <a:xfrm>
            <a:off x="250825" y="626587"/>
            <a:ext cx="6713019" cy="505441"/>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82563" indent="-182563" algn="l" rtl="0" eaLnBrk="0" fontAlgn="base" hangingPunct="0">
              <a:spcBef>
                <a:spcPts val="0"/>
              </a:spcBef>
              <a:spcAft>
                <a:spcPct val="0"/>
              </a:spcAft>
              <a:buFont typeface="Arial" charset="0"/>
              <a:buChar char="•"/>
              <a:defRPr sz="1600" kern="1200">
                <a:solidFill>
                  <a:schemeClr val="tx1"/>
                </a:solidFill>
                <a:latin typeface="+mn-lt"/>
                <a:ea typeface="ＭＳ Ｐゴシック" panose="020B0600070205080204" pitchFamily="34" charset="-128"/>
                <a:cs typeface="ＭＳ Ｐゴシック" charset="0"/>
              </a:defRPr>
            </a:lvl1pPr>
            <a:lvl2pPr marL="352425" indent="-169863" algn="l" rtl="0" eaLnBrk="0" fontAlgn="base" hangingPunct="0">
              <a:spcBef>
                <a:spcPts val="0"/>
              </a:spcBef>
              <a:spcAft>
                <a:spcPct val="0"/>
              </a:spcAft>
              <a:buFont typeface="Arial" charset="0"/>
              <a:buChar char="–"/>
              <a:defRPr sz="1400" kern="1200">
                <a:solidFill>
                  <a:schemeClr val="tx1"/>
                </a:solidFill>
                <a:latin typeface="+mn-lt"/>
                <a:ea typeface="ＭＳ Ｐゴシック" panose="020B0600070205080204" pitchFamily="34" charset="-128"/>
                <a:cs typeface="+mn-cs"/>
              </a:defRPr>
            </a:lvl2pPr>
            <a:lvl3pPr marL="534988"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3pPr>
            <a:lvl4pPr marL="719138" indent="-184150"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4pPr>
            <a:lvl5pPr marL="901700"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pPr marL="204788" indent="-204788">
              <a:buNone/>
            </a:pPr>
            <a:r>
              <a:rPr lang="en-US" sz="1350" b="1" dirty="0">
                <a:latin typeface="Helvetica Neue" panose="02000503000000020004"/>
                <a:ea typeface="游ゴシック"/>
                <a:cs typeface="Arial"/>
              </a:rPr>
              <a:t>Current Process</a:t>
            </a:r>
          </a:p>
          <a:p>
            <a:pPr marL="0" indent="0">
              <a:spcBef>
                <a:spcPts val="450"/>
              </a:spcBef>
              <a:buNone/>
            </a:pPr>
            <a:r>
              <a:rPr lang="en-US" sz="900" dirty="0">
                <a:latin typeface="Helvetica Neue" panose="02000503000000020004"/>
                <a:ea typeface="ＭＳ Ｐゴシック"/>
              </a:rPr>
              <a:t>Below are current condition of Spare Part Catalogue distribution to dealers in MMKSI:</a:t>
            </a:r>
          </a:p>
          <a:p>
            <a:pPr marL="0" indent="0">
              <a:spcBef>
                <a:spcPts val="450"/>
              </a:spcBef>
              <a:buNone/>
            </a:pPr>
            <a:endParaRPr lang="en-US" sz="900" dirty="0">
              <a:latin typeface="Helvetica Neue" panose="02000503000000020004"/>
              <a:ea typeface="ＭＳ Ｐゴシック"/>
            </a:endParaRPr>
          </a:p>
        </p:txBody>
      </p:sp>
      <p:pic>
        <p:nvPicPr>
          <p:cNvPr id="7" name="Picture 6">
            <a:extLst>
              <a:ext uri="{FF2B5EF4-FFF2-40B4-BE49-F238E27FC236}">
                <a16:creationId xmlns:a16="http://schemas.microsoft.com/office/drawing/2014/main" id="{C782392F-6200-C8AA-2B19-815CC5B02497}"/>
              </a:ext>
            </a:extLst>
          </p:cNvPr>
          <p:cNvPicPr>
            <a:picLocks noChangeAspect="1"/>
          </p:cNvPicPr>
          <p:nvPr/>
        </p:nvPicPr>
        <p:blipFill>
          <a:blip r:embed="rId4"/>
          <a:stretch>
            <a:fillRect/>
          </a:stretch>
        </p:blipFill>
        <p:spPr>
          <a:xfrm>
            <a:off x="867784" y="2270285"/>
            <a:ext cx="360356" cy="500754"/>
          </a:xfrm>
          <a:prstGeom prst="rect">
            <a:avLst/>
          </a:prstGeom>
        </p:spPr>
      </p:pic>
      <p:sp>
        <p:nvSpPr>
          <p:cNvPr id="12" name="Rectangle: Top Corners Rounded 11">
            <a:extLst>
              <a:ext uri="{FF2B5EF4-FFF2-40B4-BE49-F238E27FC236}">
                <a16:creationId xmlns:a16="http://schemas.microsoft.com/office/drawing/2014/main" id="{6BE0980D-5C76-4099-8E9F-31FE3D894B26}"/>
              </a:ext>
            </a:extLst>
          </p:cNvPr>
          <p:cNvSpPr/>
          <p:nvPr/>
        </p:nvSpPr>
        <p:spPr>
          <a:xfrm>
            <a:off x="2111472" y="1368287"/>
            <a:ext cx="887358"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ASA (CAPS)</a:t>
            </a:r>
            <a:br>
              <a:rPr lang="en-US" sz="900">
                <a:latin typeface="Helvetica Neue" panose="02000503000000020004"/>
              </a:rPr>
            </a:br>
            <a:r>
              <a:rPr lang="en-US" sz="900">
                <a:latin typeface="Helvetica Neue" panose="02000503000000020004"/>
              </a:rPr>
              <a:t>Application</a:t>
            </a:r>
          </a:p>
        </p:txBody>
      </p:sp>
      <p:sp>
        <p:nvSpPr>
          <p:cNvPr id="13" name="Arrow: Right 12">
            <a:extLst>
              <a:ext uri="{FF2B5EF4-FFF2-40B4-BE49-F238E27FC236}">
                <a16:creationId xmlns:a16="http://schemas.microsoft.com/office/drawing/2014/main" id="{38F77801-1B1C-3FBD-C570-B4BD663DF43B}"/>
              </a:ext>
            </a:extLst>
          </p:cNvPr>
          <p:cNvSpPr/>
          <p:nvPr/>
        </p:nvSpPr>
        <p:spPr>
          <a:xfrm>
            <a:off x="1325824" y="2346275"/>
            <a:ext cx="245474" cy="458539"/>
          </a:xfrm>
          <a:prstGeom prst="rightArrow">
            <a:avLst/>
          </a:prstGeom>
          <a:solidFill>
            <a:schemeClr val="accent1"/>
          </a:solidFill>
        </p:spPr>
        <p:txBody>
          <a:bodyPr wrap="none" rtlCol="0" anchor="ctr">
            <a:spAutoFit/>
          </a:bodyPr>
          <a:lstStyle/>
          <a:p>
            <a:pPr algn="ctr"/>
            <a:endParaRPr lang="en-US" sz="900"/>
          </a:p>
        </p:txBody>
      </p:sp>
      <p:pic>
        <p:nvPicPr>
          <p:cNvPr id="15" name="Picture 14" descr="A picture containing screenshot, graphics, font, symbol&#10;&#10;Description automatically generated">
            <a:extLst>
              <a:ext uri="{FF2B5EF4-FFF2-40B4-BE49-F238E27FC236}">
                <a16:creationId xmlns:a16="http://schemas.microsoft.com/office/drawing/2014/main" id="{FFDE708C-03B0-9C40-B871-F61EE42200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31784" y="2443941"/>
            <a:ext cx="288730" cy="288730"/>
          </a:xfrm>
          <a:prstGeom prst="rect">
            <a:avLst/>
          </a:prstGeom>
        </p:spPr>
      </p:pic>
      <p:pic>
        <p:nvPicPr>
          <p:cNvPr id="17" name="Graphic 16" descr="Images with solid fill">
            <a:extLst>
              <a:ext uri="{FF2B5EF4-FFF2-40B4-BE49-F238E27FC236}">
                <a16:creationId xmlns:a16="http://schemas.microsoft.com/office/drawing/2014/main" id="{047F659F-3BBA-81F0-895C-456F5498F50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7721" y="2409014"/>
            <a:ext cx="358588" cy="358588"/>
          </a:xfrm>
          <a:prstGeom prst="rect">
            <a:avLst/>
          </a:prstGeom>
        </p:spPr>
      </p:pic>
      <p:sp>
        <p:nvSpPr>
          <p:cNvPr id="22" name="Arrow: Right 21">
            <a:extLst>
              <a:ext uri="{FF2B5EF4-FFF2-40B4-BE49-F238E27FC236}">
                <a16:creationId xmlns:a16="http://schemas.microsoft.com/office/drawing/2014/main" id="{500BDDA8-C823-807D-5B94-02CB09A6F8A1}"/>
              </a:ext>
            </a:extLst>
          </p:cNvPr>
          <p:cNvSpPr/>
          <p:nvPr/>
        </p:nvSpPr>
        <p:spPr>
          <a:xfrm>
            <a:off x="4292398" y="1435512"/>
            <a:ext cx="245474" cy="458539"/>
          </a:xfrm>
          <a:prstGeom prst="rightArrow">
            <a:avLst/>
          </a:prstGeom>
          <a:solidFill>
            <a:schemeClr val="accent1"/>
          </a:solidFill>
        </p:spPr>
        <p:txBody>
          <a:bodyPr wrap="none" rtlCol="0" anchor="ctr">
            <a:spAutoFit/>
          </a:bodyPr>
          <a:lstStyle/>
          <a:p>
            <a:pPr algn="ctr"/>
            <a:endParaRPr lang="en-US" sz="900"/>
          </a:p>
        </p:txBody>
      </p:sp>
      <p:pic>
        <p:nvPicPr>
          <p:cNvPr id="32" name="Graphic 31" descr="Users with solid fill">
            <a:extLst>
              <a:ext uri="{FF2B5EF4-FFF2-40B4-BE49-F238E27FC236}">
                <a16:creationId xmlns:a16="http://schemas.microsoft.com/office/drawing/2014/main" id="{3364C5ED-0904-1D8C-915A-818A51CAD8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1024" y="1369635"/>
            <a:ext cx="590291" cy="590291"/>
          </a:xfrm>
          <a:prstGeom prst="rect">
            <a:avLst/>
          </a:prstGeom>
        </p:spPr>
      </p:pic>
      <p:pic>
        <p:nvPicPr>
          <p:cNvPr id="34" name="Graphic 33" descr="Users with solid fill">
            <a:extLst>
              <a:ext uri="{FF2B5EF4-FFF2-40B4-BE49-F238E27FC236}">
                <a16:creationId xmlns:a16="http://schemas.microsoft.com/office/drawing/2014/main" id="{F0C9F4FF-FF81-DD2A-16FB-1FFAD08AEA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68823" y="2228850"/>
            <a:ext cx="590291" cy="590291"/>
          </a:xfrm>
          <a:prstGeom prst="rect">
            <a:avLst/>
          </a:prstGeom>
        </p:spPr>
      </p:pic>
      <p:pic>
        <p:nvPicPr>
          <p:cNvPr id="35" name="Graphic 34" descr="Users with solid fill">
            <a:extLst>
              <a:ext uri="{FF2B5EF4-FFF2-40B4-BE49-F238E27FC236}">
                <a16:creationId xmlns:a16="http://schemas.microsoft.com/office/drawing/2014/main" id="{76DC3228-87CB-FFF2-C3B9-619A6998F6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84940" y="3168708"/>
            <a:ext cx="590291" cy="590291"/>
          </a:xfrm>
          <a:prstGeom prst="rect">
            <a:avLst/>
          </a:prstGeom>
        </p:spPr>
      </p:pic>
      <p:sp>
        <p:nvSpPr>
          <p:cNvPr id="36" name="Rectangle: Top Corners Rounded 35">
            <a:extLst>
              <a:ext uri="{FF2B5EF4-FFF2-40B4-BE49-F238E27FC236}">
                <a16:creationId xmlns:a16="http://schemas.microsoft.com/office/drawing/2014/main" id="{B68339C5-281B-B97B-C1BF-4CDF1A59FB7B}"/>
              </a:ext>
            </a:extLst>
          </p:cNvPr>
          <p:cNvSpPr/>
          <p:nvPr/>
        </p:nvSpPr>
        <p:spPr>
          <a:xfrm>
            <a:off x="4740226" y="1803673"/>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A</a:t>
            </a:r>
          </a:p>
        </p:txBody>
      </p:sp>
      <p:sp>
        <p:nvSpPr>
          <p:cNvPr id="37" name="Rectangle: Top Corners Rounded 36">
            <a:extLst>
              <a:ext uri="{FF2B5EF4-FFF2-40B4-BE49-F238E27FC236}">
                <a16:creationId xmlns:a16="http://schemas.microsoft.com/office/drawing/2014/main" id="{9201756E-B002-5213-1531-E8DBA27D790E}"/>
              </a:ext>
            </a:extLst>
          </p:cNvPr>
          <p:cNvSpPr/>
          <p:nvPr/>
        </p:nvSpPr>
        <p:spPr>
          <a:xfrm>
            <a:off x="4738024" y="2654757"/>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B</a:t>
            </a:r>
          </a:p>
        </p:txBody>
      </p:sp>
      <p:sp>
        <p:nvSpPr>
          <p:cNvPr id="38" name="Rectangle: Top Corners Rounded 37">
            <a:extLst>
              <a:ext uri="{FF2B5EF4-FFF2-40B4-BE49-F238E27FC236}">
                <a16:creationId xmlns:a16="http://schemas.microsoft.com/office/drawing/2014/main" id="{443CCEB9-E69C-D6A2-D171-A76BD64F0D52}"/>
              </a:ext>
            </a:extLst>
          </p:cNvPr>
          <p:cNvSpPr/>
          <p:nvPr/>
        </p:nvSpPr>
        <p:spPr>
          <a:xfrm>
            <a:off x="4752067" y="3549877"/>
            <a:ext cx="658485"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C</a:t>
            </a:r>
          </a:p>
        </p:txBody>
      </p:sp>
      <p:sp>
        <p:nvSpPr>
          <p:cNvPr id="39" name="Rectangle 38">
            <a:extLst>
              <a:ext uri="{FF2B5EF4-FFF2-40B4-BE49-F238E27FC236}">
                <a16:creationId xmlns:a16="http://schemas.microsoft.com/office/drawing/2014/main" id="{3BCF2192-EA77-39B5-3238-B55A30AB4722}"/>
              </a:ext>
            </a:extLst>
          </p:cNvPr>
          <p:cNvSpPr/>
          <p:nvPr/>
        </p:nvSpPr>
        <p:spPr>
          <a:xfrm>
            <a:off x="700292" y="1182809"/>
            <a:ext cx="7406640" cy="2650935"/>
          </a:xfrm>
          <a:prstGeom prst="rect">
            <a:avLst/>
          </a:prstGeom>
          <a:noFill/>
          <a:ln w="28575">
            <a:solidFill>
              <a:schemeClr val="tx1"/>
            </a:solidFill>
          </a:ln>
        </p:spPr>
        <p:txBody>
          <a:bodyPr wrap="square" rtlCol="0" anchor="ctr">
            <a:noAutofit/>
          </a:bodyPr>
          <a:lstStyle/>
          <a:p>
            <a:pPr algn="ctr"/>
            <a:endParaRPr lang="en-US" sz="900"/>
          </a:p>
        </p:txBody>
      </p:sp>
      <p:grpSp>
        <p:nvGrpSpPr>
          <p:cNvPr id="89" name="Group 88">
            <a:extLst>
              <a:ext uri="{FF2B5EF4-FFF2-40B4-BE49-F238E27FC236}">
                <a16:creationId xmlns:a16="http://schemas.microsoft.com/office/drawing/2014/main" id="{E919CD63-CAF9-EDC7-B90C-FAAFAC5578A3}"/>
              </a:ext>
            </a:extLst>
          </p:cNvPr>
          <p:cNvGrpSpPr/>
          <p:nvPr/>
        </p:nvGrpSpPr>
        <p:grpSpPr>
          <a:xfrm>
            <a:off x="1517043" y="2105081"/>
            <a:ext cx="237899" cy="324594"/>
            <a:chOff x="2361384" y="1749060"/>
            <a:chExt cx="317198" cy="432791"/>
          </a:xfrm>
        </p:grpSpPr>
        <p:sp>
          <p:nvSpPr>
            <p:cNvPr id="87" name="Oval 86">
              <a:extLst>
                <a:ext uri="{FF2B5EF4-FFF2-40B4-BE49-F238E27FC236}">
                  <a16:creationId xmlns:a16="http://schemas.microsoft.com/office/drawing/2014/main" id="{89A7A373-6D38-7114-BDD8-04DA1A87D39C}"/>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8" name="TextBox 87">
              <a:extLst>
                <a:ext uri="{FF2B5EF4-FFF2-40B4-BE49-F238E27FC236}">
                  <a16:creationId xmlns:a16="http://schemas.microsoft.com/office/drawing/2014/main" id="{702436FC-8222-38BC-E696-FB5A6F3382D9}"/>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1</a:t>
              </a:r>
              <a:endParaRPr lang="en-US" sz="900">
                <a:cs typeface="Arial" charset="0"/>
              </a:endParaRPr>
            </a:p>
          </p:txBody>
        </p:sp>
      </p:grpSp>
      <p:pic>
        <p:nvPicPr>
          <p:cNvPr id="30" name="Graphic 29" descr="Document with solid fill">
            <a:extLst>
              <a:ext uri="{FF2B5EF4-FFF2-40B4-BE49-F238E27FC236}">
                <a16:creationId xmlns:a16="http://schemas.microsoft.com/office/drawing/2014/main" id="{74B793AD-67ED-C06A-D1C0-3AD9133CBBE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82687" y="2409014"/>
            <a:ext cx="358588" cy="358588"/>
          </a:xfrm>
          <a:prstGeom prst="rect">
            <a:avLst/>
          </a:prstGeom>
        </p:spPr>
      </p:pic>
      <p:sp>
        <p:nvSpPr>
          <p:cNvPr id="31" name="Arrow: Right 30">
            <a:extLst>
              <a:ext uri="{FF2B5EF4-FFF2-40B4-BE49-F238E27FC236}">
                <a16:creationId xmlns:a16="http://schemas.microsoft.com/office/drawing/2014/main" id="{E0228EFD-4FFE-C16E-A9A8-89303C601F8D}"/>
              </a:ext>
            </a:extLst>
          </p:cNvPr>
          <p:cNvSpPr/>
          <p:nvPr/>
        </p:nvSpPr>
        <p:spPr>
          <a:xfrm>
            <a:off x="2885572" y="2372847"/>
            <a:ext cx="245474" cy="458539"/>
          </a:xfrm>
          <a:prstGeom prst="rightArrow">
            <a:avLst/>
          </a:prstGeom>
          <a:solidFill>
            <a:schemeClr val="accent1"/>
          </a:solidFill>
        </p:spPr>
        <p:txBody>
          <a:bodyPr wrap="none" rtlCol="0" anchor="ctr">
            <a:spAutoFit/>
          </a:bodyPr>
          <a:lstStyle/>
          <a:p>
            <a:pPr algn="ctr"/>
            <a:endParaRPr lang="en-US" sz="900"/>
          </a:p>
        </p:txBody>
      </p:sp>
      <p:sp>
        <p:nvSpPr>
          <p:cNvPr id="44" name="Rectangle 43">
            <a:extLst>
              <a:ext uri="{FF2B5EF4-FFF2-40B4-BE49-F238E27FC236}">
                <a16:creationId xmlns:a16="http://schemas.microsoft.com/office/drawing/2014/main" id="{2E467514-3B70-9F2C-C218-9E0AA527E3AA}"/>
              </a:ext>
            </a:extLst>
          </p:cNvPr>
          <p:cNvSpPr/>
          <p:nvPr/>
        </p:nvSpPr>
        <p:spPr>
          <a:xfrm>
            <a:off x="1674639" y="3331139"/>
            <a:ext cx="24688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7" name="Arrow: Right 46">
            <a:extLst>
              <a:ext uri="{FF2B5EF4-FFF2-40B4-BE49-F238E27FC236}">
                <a16:creationId xmlns:a16="http://schemas.microsoft.com/office/drawing/2014/main" id="{4939AB76-A396-5EBC-2A78-9CCEA8AB368C}"/>
              </a:ext>
            </a:extLst>
          </p:cNvPr>
          <p:cNvSpPr/>
          <p:nvPr/>
        </p:nvSpPr>
        <p:spPr>
          <a:xfrm rot="5400000">
            <a:off x="2938265" y="1875974"/>
            <a:ext cx="137160" cy="458539"/>
          </a:xfrm>
          <a:prstGeom prst="rightArrow">
            <a:avLst/>
          </a:prstGeom>
          <a:solidFill>
            <a:schemeClr val="accent1"/>
          </a:solidFill>
        </p:spPr>
        <p:txBody>
          <a:bodyPr wrap="square" rtlCol="0" anchor="ctr">
            <a:spAutoFit/>
          </a:bodyPr>
          <a:lstStyle/>
          <a:p>
            <a:pPr algn="ctr"/>
            <a:endParaRPr lang="en-US" sz="900"/>
          </a:p>
        </p:txBody>
      </p:sp>
      <p:sp>
        <p:nvSpPr>
          <p:cNvPr id="50" name="TextBox 49">
            <a:extLst>
              <a:ext uri="{FF2B5EF4-FFF2-40B4-BE49-F238E27FC236}">
                <a16:creationId xmlns:a16="http://schemas.microsoft.com/office/drawing/2014/main" id="{961ECC2D-B0BB-98C7-6DD1-BD2495EDB254}"/>
              </a:ext>
            </a:extLst>
          </p:cNvPr>
          <p:cNvSpPr txBox="1"/>
          <p:nvPr/>
        </p:nvSpPr>
        <p:spPr bwMode="auto">
          <a:xfrm>
            <a:off x="3389742" y="2425898"/>
            <a:ext cx="810007" cy="369332"/>
          </a:xfrm>
          <a:prstGeom prst="rect">
            <a:avLst/>
          </a:prstGeom>
          <a:noFill/>
          <a:ln w="9525">
            <a:noFill/>
            <a:miter lim="800000"/>
            <a:headEnd/>
            <a:tailEnd/>
          </a:ln>
        </p:spPr>
        <p:txBody>
          <a:bodyPr wrap="square" rtlCol="0">
            <a:spAutoFit/>
          </a:bodyPr>
          <a:lstStyle/>
          <a:p>
            <a:pPr marL="40481">
              <a:tabLst>
                <a:tab pos="255985" algn="l"/>
              </a:tabLst>
            </a:pPr>
            <a:r>
              <a:rPr lang="en-US" sz="900">
                <a:latin typeface="Helvetica Neue" panose="02000503000000020004"/>
              </a:rPr>
              <a:t>Catalogue </a:t>
            </a:r>
          </a:p>
          <a:p>
            <a:pPr marL="40481">
              <a:tabLst>
                <a:tab pos="255985" algn="l"/>
              </a:tabLst>
            </a:pPr>
            <a:r>
              <a:rPr lang="en-US" sz="900">
                <a:latin typeface="Helvetica Neue" panose="02000503000000020004"/>
              </a:rPr>
              <a:t>Book</a:t>
            </a:r>
          </a:p>
        </p:txBody>
      </p:sp>
      <p:sp>
        <p:nvSpPr>
          <p:cNvPr id="51" name="Rectangle: Top Corners Rounded 50">
            <a:extLst>
              <a:ext uri="{FF2B5EF4-FFF2-40B4-BE49-F238E27FC236}">
                <a16:creationId xmlns:a16="http://schemas.microsoft.com/office/drawing/2014/main" id="{7BA2A2B1-AA8A-D2DF-72C5-D0F1503254DC}"/>
              </a:ext>
            </a:extLst>
          </p:cNvPr>
          <p:cNvSpPr/>
          <p:nvPr/>
        </p:nvSpPr>
        <p:spPr>
          <a:xfrm>
            <a:off x="2127413" y="3168991"/>
            <a:ext cx="799625"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SAP </a:t>
            </a:r>
            <a:br>
              <a:rPr lang="en-US" sz="900">
                <a:latin typeface="Helvetica Neue" panose="02000503000000020004"/>
              </a:rPr>
            </a:br>
            <a:r>
              <a:rPr lang="en-US" sz="900">
                <a:latin typeface="Helvetica Neue" panose="02000503000000020004"/>
              </a:rPr>
              <a:t>Application</a:t>
            </a:r>
          </a:p>
        </p:txBody>
      </p:sp>
      <p:sp>
        <p:nvSpPr>
          <p:cNvPr id="52" name="Arrow: Right 51">
            <a:extLst>
              <a:ext uri="{FF2B5EF4-FFF2-40B4-BE49-F238E27FC236}">
                <a16:creationId xmlns:a16="http://schemas.microsoft.com/office/drawing/2014/main" id="{A9B66F28-1909-7F8F-69DC-73D0CF068D70}"/>
              </a:ext>
            </a:extLst>
          </p:cNvPr>
          <p:cNvSpPr/>
          <p:nvPr/>
        </p:nvSpPr>
        <p:spPr>
          <a:xfrm>
            <a:off x="2893351" y="3235320"/>
            <a:ext cx="245474" cy="458539"/>
          </a:xfrm>
          <a:prstGeom prst="rightArrow">
            <a:avLst/>
          </a:prstGeom>
          <a:solidFill>
            <a:schemeClr val="accent1"/>
          </a:solidFill>
        </p:spPr>
        <p:txBody>
          <a:bodyPr wrap="none" rtlCol="0" anchor="ctr">
            <a:spAutoFit/>
          </a:bodyPr>
          <a:lstStyle/>
          <a:p>
            <a:pPr algn="ctr"/>
            <a:endParaRPr lang="en-US" sz="900"/>
          </a:p>
        </p:txBody>
      </p:sp>
      <p:pic>
        <p:nvPicPr>
          <p:cNvPr id="53" name="Graphic 52" descr="Document with solid fill">
            <a:extLst>
              <a:ext uri="{FF2B5EF4-FFF2-40B4-BE49-F238E27FC236}">
                <a16:creationId xmlns:a16="http://schemas.microsoft.com/office/drawing/2014/main" id="{46A454EA-6987-3761-8141-C4D9FB99A5C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94006" y="3268551"/>
            <a:ext cx="358588" cy="358588"/>
          </a:xfrm>
          <a:prstGeom prst="rect">
            <a:avLst/>
          </a:prstGeom>
        </p:spPr>
      </p:pic>
      <p:sp>
        <p:nvSpPr>
          <p:cNvPr id="54" name="TextBox 53">
            <a:extLst>
              <a:ext uri="{FF2B5EF4-FFF2-40B4-BE49-F238E27FC236}">
                <a16:creationId xmlns:a16="http://schemas.microsoft.com/office/drawing/2014/main" id="{9F7A0BD9-3ADD-C0D4-B3D4-6EAD557019C6}"/>
              </a:ext>
            </a:extLst>
          </p:cNvPr>
          <p:cNvSpPr txBox="1"/>
          <p:nvPr/>
        </p:nvSpPr>
        <p:spPr bwMode="auto">
          <a:xfrm>
            <a:off x="3401061" y="3285434"/>
            <a:ext cx="810007" cy="369332"/>
          </a:xfrm>
          <a:prstGeom prst="rect">
            <a:avLst/>
          </a:prstGeom>
          <a:noFill/>
          <a:ln w="9525">
            <a:noFill/>
            <a:miter lim="800000"/>
            <a:headEnd/>
            <a:tailEnd/>
          </a:ln>
        </p:spPr>
        <p:txBody>
          <a:bodyPr wrap="square" rtlCol="0">
            <a:spAutoFit/>
          </a:bodyPr>
          <a:lstStyle/>
          <a:p>
            <a:pPr marL="40481">
              <a:tabLst>
                <a:tab pos="255985" algn="l"/>
              </a:tabLst>
            </a:pPr>
            <a:r>
              <a:rPr lang="en-US" sz="900">
                <a:latin typeface="Helvetica Neue" panose="02000503000000020004"/>
              </a:rPr>
              <a:t>Price </a:t>
            </a:r>
          </a:p>
          <a:p>
            <a:pPr marL="40481">
              <a:tabLst>
                <a:tab pos="255985" algn="l"/>
              </a:tabLst>
            </a:pPr>
            <a:r>
              <a:rPr lang="en-US" sz="900">
                <a:latin typeface="Helvetica Neue" panose="02000503000000020004"/>
              </a:rPr>
              <a:t>Book</a:t>
            </a:r>
          </a:p>
        </p:txBody>
      </p:sp>
      <p:grpSp>
        <p:nvGrpSpPr>
          <p:cNvPr id="55" name="Group 54">
            <a:extLst>
              <a:ext uri="{FF2B5EF4-FFF2-40B4-BE49-F238E27FC236}">
                <a16:creationId xmlns:a16="http://schemas.microsoft.com/office/drawing/2014/main" id="{307E72C9-E7A7-27BB-86CD-A7D295C47AC5}"/>
              </a:ext>
            </a:extLst>
          </p:cNvPr>
          <p:cNvGrpSpPr/>
          <p:nvPr/>
        </p:nvGrpSpPr>
        <p:grpSpPr>
          <a:xfrm>
            <a:off x="1526286" y="2968091"/>
            <a:ext cx="237899" cy="324594"/>
            <a:chOff x="2361384" y="1749060"/>
            <a:chExt cx="317198" cy="432791"/>
          </a:xfrm>
        </p:grpSpPr>
        <p:sp>
          <p:nvSpPr>
            <p:cNvPr id="56" name="Oval 55">
              <a:extLst>
                <a:ext uri="{FF2B5EF4-FFF2-40B4-BE49-F238E27FC236}">
                  <a16:creationId xmlns:a16="http://schemas.microsoft.com/office/drawing/2014/main" id="{A01147EF-B362-6DEE-3133-E2778C796F2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57" name="TextBox 56">
              <a:extLst>
                <a:ext uri="{FF2B5EF4-FFF2-40B4-BE49-F238E27FC236}">
                  <a16:creationId xmlns:a16="http://schemas.microsoft.com/office/drawing/2014/main" id="{8ACA2461-1E0E-489C-135B-CB06EAF97647}"/>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2</a:t>
              </a:r>
              <a:endParaRPr lang="en-US" sz="900">
                <a:cs typeface="Arial" charset="0"/>
              </a:endParaRPr>
            </a:p>
          </p:txBody>
        </p:sp>
      </p:grpSp>
      <p:sp>
        <p:nvSpPr>
          <p:cNvPr id="58" name="Arrow: Right 57">
            <a:extLst>
              <a:ext uri="{FF2B5EF4-FFF2-40B4-BE49-F238E27FC236}">
                <a16:creationId xmlns:a16="http://schemas.microsoft.com/office/drawing/2014/main" id="{E3D41338-37AD-FA80-A99F-43F4A4BC972A}"/>
              </a:ext>
            </a:extLst>
          </p:cNvPr>
          <p:cNvSpPr/>
          <p:nvPr/>
        </p:nvSpPr>
        <p:spPr>
          <a:xfrm>
            <a:off x="4287797" y="2342482"/>
            <a:ext cx="245474" cy="458539"/>
          </a:xfrm>
          <a:prstGeom prst="rightArrow">
            <a:avLst/>
          </a:prstGeom>
          <a:solidFill>
            <a:schemeClr val="accent1"/>
          </a:solidFill>
        </p:spPr>
        <p:txBody>
          <a:bodyPr wrap="none" rtlCol="0" anchor="ctr">
            <a:spAutoFit/>
          </a:bodyPr>
          <a:lstStyle/>
          <a:p>
            <a:pPr algn="ctr"/>
            <a:endParaRPr lang="en-US" sz="900"/>
          </a:p>
        </p:txBody>
      </p:sp>
      <p:sp>
        <p:nvSpPr>
          <p:cNvPr id="59" name="Arrow: Right 58">
            <a:extLst>
              <a:ext uri="{FF2B5EF4-FFF2-40B4-BE49-F238E27FC236}">
                <a16:creationId xmlns:a16="http://schemas.microsoft.com/office/drawing/2014/main" id="{68EBCC56-A752-E204-1E43-C8F486634D90}"/>
              </a:ext>
            </a:extLst>
          </p:cNvPr>
          <p:cNvSpPr/>
          <p:nvPr/>
        </p:nvSpPr>
        <p:spPr>
          <a:xfrm>
            <a:off x="4287796" y="3205916"/>
            <a:ext cx="245474" cy="458539"/>
          </a:xfrm>
          <a:prstGeom prst="rightArrow">
            <a:avLst/>
          </a:prstGeom>
          <a:solidFill>
            <a:schemeClr val="accent1"/>
          </a:solidFill>
        </p:spPr>
        <p:txBody>
          <a:bodyPr wrap="none" rtlCol="0" anchor="ctr">
            <a:spAutoFit/>
          </a:bodyPr>
          <a:lstStyle/>
          <a:p>
            <a:pPr algn="ctr"/>
            <a:endParaRPr lang="en-US" sz="900"/>
          </a:p>
        </p:txBody>
      </p:sp>
      <p:pic>
        <p:nvPicPr>
          <p:cNvPr id="61" name="Graphic 60" descr="Document with solid fill">
            <a:extLst>
              <a:ext uri="{FF2B5EF4-FFF2-40B4-BE49-F238E27FC236}">
                <a16:creationId xmlns:a16="http://schemas.microsoft.com/office/drawing/2014/main" id="{E2DA8DF6-698B-2C15-7E72-528F04C4B89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08484" y="1870988"/>
            <a:ext cx="358588" cy="358588"/>
          </a:xfrm>
          <a:prstGeom prst="rect">
            <a:avLst/>
          </a:prstGeom>
        </p:spPr>
      </p:pic>
      <p:sp>
        <p:nvSpPr>
          <p:cNvPr id="62" name="TextBox 61">
            <a:extLst>
              <a:ext uri="{FF2B5EF4-FFF2-40B4-BE49-F238E27FC236}">
                <a16:creationId xmlns:a16="http://schemas.microsoft.com/office/drawing/2014/main" id="{FF6D99EC-350C-C030-EEDE-57497733DED1}"/>
              </a:ext>
            </a:extLst>
          </p:cNvPr>
          <p:cNvSpPr txBox="1"/>
          <p:nvPr/>
        </p:nvSpPr>
        <p:spPr bwMode="auto">
          <a:xfrm>
            <a:off x="5889396" y="2213753"/>
            <a:ext cx="810008" cy="369332"/>
          </a:xfrm>
          <a:prstGeom prst="rect">
            <a:avLst/>
          </a:prstGeom>
          <a:noFill/>
          <a:ln w="9525">
            <a:noFill/>
            <a:miter lim="800000"/>
            <a:headEnd/>
            <a:tailEnd/>
          </a:ln>
        </p:spPr>
        <p:txBody>
          <a:bodyPr wrap="square" rtlCol="0">
            <a:spAutoFit/>
          </a:bodyPr>
          <a:lstStyle/>
          <a:p>
            <a:pPr marL="40481" algn="ctr">
              <a:tabLst>
                <a:tab pos="255985" algn="l"/>
              </a:tabLst>
            </a:pPr>
            <a:r>
              <a:rPr lang="en-US" sz="900">
                <a:latin typeface="Helvetica Neue" panose="02000503000000020004"/>
              </a:rPr>
              <a:t>Catalogue </a:t>
            </a:r>
          </a:p>
          <a:p>
            <a:pPr marL="40481" algn="ctr">
              <a:tabLst>
                <a:tab pos="255985" algn="l"/>
              </a:tabLst>
            </a:pPr>
            <a:r>
              <a:rPr lang="en-US" sz="900">
                <a:latin typeface="Helvetica Neue" panose="02000503000000020004"/>
              </a:rPr>
              <a:t>Book</a:t>
            </a:r>
          </a:p>
        </p:txBody>
      </p:sp>
      <p:pic>
        <p:nvPicPr>
          <p:cNvPr id="63" name="Graphic 62" descr="Document with solid fill">
            <a:extLst>
              <a:ext uri="{FF2B5EF4-FFF2-40B4-BE49-F238E27FC236}">
                <a16:creationId xmlns:a16="http://schemas.microsoft.com/office/drawing/2014/main" id="{85667E97-32FC-E415-04D3-B70A427A7AC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19803" y="2730525"/>
            <a:ext cx="358588" cy="358588"/>
          </a:xfrm>
          <a:prstGeom prst="rect">
            <a:avLst/>
          </a:prstGeom>
        </p:spPr>
      </p:pic>
      <p:sp>
        <p:nvSpPr>
          <p:cNvPr id="64" name="TextBox 63">
            <a:extLst>
              <a:ext uri="{FF2B5EF4-FFF2-40B4-BE49-F238E27FC236}">
                <a16:creationId xmlns:a16="http://schemas.microsoft.com/office/drawing/2014/main" id="{FEFA1A8D-5CC2-E259-4FBE-67476324DE96}"/>
              </a:ext>
            </a:extLst>
          </p:cNvPr>
          <p:cNvSpPr txBox="1"/>
          <p:nvPr/>
        </p:nvSpPr>
        <p:spPr bwMode="auto">
          <a:xfrm>
            <a:off x="6002071" y="3081440"/>
            <a:ext cx="589154" cy="369332"/>
          </a:xfrm>
          <a:prstGeom prst="rect">
            <a:avLst/>
          </a:prstGeom>
          <a:noFill/>
          <a:ln w="9525">
            <a:noFill/>
            <a:miter lim="800000"/>
            <a:headEnd/>
            <a:tailEnd/>
          </a:ln>
        </p:spPr>
        <p:txBody>
          <a:bodyPr wrap="square" rtlCol="0">
            <a:spAutoFit/>
          </a:bodyPr>
          <a:lstStyle/>
          <a:p>
            <a:pPr marL="40481" algn="ctr">
              <a:tabLst>
                <a:tab pos="255985" algn="l"/>
              </a:tabLst>
            </a:pPr>
            <a:r>
              <a:rPr lang="en-US" sz="900">
                <a:latin typeface="Helvetica Neue" panose="02000503000000020004"/>
              </a:rPr>
              <a:t>Price </a:t>
            </a:r>
          </a:p>
          <a:p>
            <a:pPr marL="40481" algn="ctr">
              <a:tabLst>
                <a:tab pos="255985" algn="l"/>
              </a:tabLst>
            </a:pPr>
            <a:r>
              <a:rPr lang="en-US" sz="900">
                <a:latin typeface="Helvetica Neue" panose="02000503000000020004"/>
              </a:rPr>
              <a:t>Book</a:t>
            </a:r>
          </a:p>
        </p:txBody>
      </p:sp>
      <p:sp>
        <p:nvSpPr>
          <p:cNvPr id="66" name="Arrow: Right 65">
            <a:extLst>
              <a:ext uri="{FF2B5EF4-FFF2-40B4-BE49-F238E27FC236}">
                <a16:creationId xmlns:a16="http://schemas.microsoft.com/office/drawing/2014/main" id="{EDB8BDEF-21AE-9B8B-0B28-0A6076F0BA51}"/>
              </a:ext>
            </a:extLst>
          </p:cNvPr>
          <p:cNvSpPr/>
          <p:nvPr/>
        </p:nvSpPr>
        <p:spPr>
          <a:xfrm>
            <a:off x="5582991" y="1435512"/>
            <a:ext cx="245474" cy="458539"/>
          </a:xfrm>
          <a:prstGeom prst="rightArrow">
            <a:avLst/>
          </a:prstGeom>
          <a:solidFill>
            <a:schemeClr val="accent1"/>
          </a:solidFill>
        </p:spPr>
        <p:txBody>
          <a:bodyPr wrap="none" rtlCol="0" anchor="ctr">
            <a:spAutoFit/>
          </a:bodyPr>
          <a:lstStyle/>
          <a:p>
            <a:pPr algn="ctr"/>
            <a:endParaRPr lang="en-US" sz="900"/>
          </a:p>
        </p:txBody>
      </p:sp>
      <p:sp>
        <p:nvSpPr>
          <p:cNvPr id="67" name="Arrow: Right 66">
            <a:extLst>
              <a:ext uri="{FF2B5EF4-FFF2-40B4-BE49-F238E27FC236}">
                <a16:creationId xmlns:a16="http://schemas.microsoft.com/office/drawing/2014/main" id="{97C91DD8-377F-328C-BD63-72E05C5005C6}"/>
              </a:ext>
            </a:extLst>
          </p:cNvPr>
          <p:cNvSpPr/>
          <p:nvPr/>
        </p:nvSpPr>
        <p:spPr>
          <a:xfrm>
            <a:off x="5578390" y="2342482"/>
            <a:ext cx="245474" cy="458539"/>
          </a:xfrm>
          <a:prstGeom prst="rightArrow">
            <a:avLst/>
          </a:prstGeom>
          <a:solidFill>
            <a:schemeClr val="accent1"/>
          </a:solidFill>
        </p:spPr>
        <p:txBody>
          <a:bodyPr wrap="none" rtlCol="0" anchor="ctr">
            <a:spAutoFit/>
          </a:bodyPr>
          <a:lstStyle/>
          <a:p>
            <a:pPr algn="ctr"/>
            <a:endParaRPr lang="en-US" sz="900"/>
          </a:p>
        </p:txBody>
      </p:sp>
      <p:sp>
        <p:nvSpPr>
          <p:cNvPr id="68" name="Arrow: Right 67">
            <a:extLst>
              <a:ext uri="{FF2B5EF4-FFF2-40B4-BE49-F238E27FC236}">
                <a16:creationId xmlns:a16="http://schemas.microsoft.com/office/drawing/2014/main" id="{88B61D7D-FBC7-EC17-77EB-9E24039CAD24}"/>
              </a:ext>
            </a:extLst>
          </p:cNvPr>
          <p:cNvSpPr/>
          <p:nvPr/>
        </p:nvSpPr>
        <p:spPr>
          <a:xfrm>
            <a:off x="5578390" y="3205916"/>
            <a:ext cx="245474" cy="458539"/>
          </a:xfrm>
          <a:prstGeom prst="rightArrow">
            <a:avLst/>
          </a:prstGeom>
          <a:solidFill>
            <a:schemeClr val="accent1"/>
          </a:solidFill>
        </p:spPr>
        <p:txBody>
          <a:bodyPr wrap="none" rtlCol="0" anchor="ctr">
            <a:spAutoFit/>
          </a:bodyPr>
          <a:lstStyle/>
          <a:p>
            <a:pPr algn="ctr"/>
            <a:endParaRPr lang="en-US" sz="900"/>
          </a:p>
        </p:txBody>
      </p:sp>
      <p:pic>
        <p:nvPicPr>
          <p:cNvPr id="69" name="Graphic 68" descr="Users with solid fill">
            <a:extLst>
              <a:ext uri="{FF2B5EF4-FFF2-40B4-BE49-F238E27FC236}">
                <a16:creationId xmlns:a16="http://schemas.microsoft.com/office/drawing/2014/main" id="{7A0E525F-712E-FDB0-BC6D-AA97DBC6DD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10514" y="1384192"/>
            <a:ext cx="590291" cy="590291"/>
          </a:xfrm>
          <a:prstGeom prst="rect">
            <a:avLst/>
          </a:prstGeom>
        </p:spPr>
      </p:pic>
      <p:sp>
        <p:nvSpPr>
          <p:cNvPr id="70" name="Rectangle: Top Corners Rounded 69">
            <a:extLst>
              <a:ext uri="{FF2B5EF4-FFF2-40B4-BE49-F238E27FC236}">
                <a16:creationId xmlns:a16="http://schemas.microsoft.com/office/drawing/2014/main" id="{15ECAAF4-1AF2-F27F-BA40-2C9742685F7E}"/>
              </a:ext>
            </a:extLst>
          </p:cNvPr>
          <p:cNvSpPr/>
          <p:nvPr/>
        </p:nvSpPr>
        <p:spPr>
          <a:xfrm>
            <a:off x="7201763" y="1765362"/>
            <a:ext cx="810240" cy="241995"/>
          </a:xfrm>
          <a:prstGeom prst="round2SameRect">
            <a:avLst/>
          </a:prstGeom>
          <a:noFill/>
          <a:ln w="28575">
            <a:noFill/>
          </a:ln>
        </p:spPr>
        <p:txBody>
          <a:bodyPr wrap="none" rtlCol="0" anchor="ctr">
            <a:spAutoFit/>
          </a:bodyPr>
          <a:lstStyle/>
          <a:p>
            <a:pPr algn="ctr"/>
            <a:r>
              <a:rPr lang="en-US" sz="900">
                <a:latin typeface="Helvetica Neue" panose="02000503000000020004"/>
              </a:rPr>
              <a:t>Part shop A</a:t>
            </a:r>
          </a:p>
        </p:txBody>
      </p:sp>
      <p:pic>
        <p:nvPicPr>
          <p:cNvPr id="71" name="Graphic 70" descr="Users with solid fill">
            <a:extLst>
              <a:ext uri="{FF2B5EF4-FFF2-40B4-BE49-F238E27FC236}">
                <a16:creationId xmlns:a16="http://schemas.microsoft.com/office/drawing/2014/main" id="{E6D0F0FA-40B2-84AD-9D8C-BF8A12A34C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10514" y="2260271"/>
            <a:ext cx="590291" cy="590291"/>
          </a:xfrm>
          <a:prstGeom prst="rect">
            <a:avLst/>
          </a:prstGeom>
        </p:spPr>
      </p:pic>
      <p:sp>
        <p:nvSpPr>
          <p:cNvPr id="72" name="Rectangle: Top Corners Rounded 71">
            <a:extLst>
              <a:ext uri="{FF2B5EF4-FFF2-40B4-BE49-F238E27FC236}">
                <a16:creationId xmlns:a16="http://schemas.microsoft.com/office/drawing/2014/main" id="{C596ED42-7833-C291-FEDD-25189EB35C6E}"/>
              </a:ext>
            </a:extLst>
          </p:cNvPr>
          <p:cNvSpPr/>
          <p:nvPr/>
        </p:nvSpPr>
        <p:spPr>
          <a:xfrm>
            <a:off x="7201763" y="2641441"/>
            <a:ext cx="810240" cy="241995"/>
          </a:xfrm>
          <a:prstGeom prst="round2SameRect">
            <a:avLst/>
          </a:prstGeom>
          <a:noFill/>
          <a:ln w="28575">
            <a:noFill/>
          </a:ln>
        </p:spPr>
        <p:txBody>
          <a:bodyPr wrap="none" rtlCol="0" anchor="ctr">
            <a:spAutoFit/>
          </a:bodyPr>
          <a:lstStyle/>
          <a:p>
            <a:pPr algn="ctr"/>
            <a:r>
              <a:rPr lang="en-US" sz="900">
                <a:latin typeface="Helvetica Neue" panose="02000503000000020004"/>
              </a:rPr>
              <a:t>Part shop B</a:t>
            </a:r>
          </a:p>
        </p:txBody>
      </p:sp>
      <p:pic>
        <p:nvPicPr>
          <p:cNvPr id="73" name="Graphic 72" descr="Users with solid fill">
            <a:extLst>
              <a:ext uri="{FF2B5EF4-FFF2-40B4-BE49-F238E27FC236}">
                <a16:creationId xmlns:a16="http://schemas.microsoft.com/office/drawing/2014/main" id="{5885BDD8-176B-83CB-77D0-2B2663D52B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08670" y="3136350"/>
            <a:ext cx="590291" cy="590291"/>
          </a:xfrm>
          <a:prstGeom prst="rect">
            <a:avLst/>
          </a:prstGeom>
        </p:spPr>
      </p:pic>
      <p:sp>
        <p:nvSpPr>
          <p:cNvPr id="74" name="Rectangle: Top Corners Rounded 73">
            <a:extLst>
              <a:ext uri="{FF2B5EF4-FFF2-40B4-BE49-F238E27FC236}">
                <a16:creationId xmlns:a16="http://schemas.microsoft.com/office/drawing/2014/main" id="{64E35C44-B8D5-9374-EAB5-B56E3C1C2480}"/>
              </a:ext>
            </a:extLst>
          </p:cNvPr>
          <p:cNvSpPr/>
          <p:nvPr/>
        </p:nvSpPr>
        <p:spPr>
          <a:xfrm>
            <a:off x="7199919" y="3517519"/>
            <a:ext cx="810240" cy="241995"/>
          </a:xfrm>
          <a:prstGeom prst="round2SameRect">
            <a:avLst/>
          </a:prstGeom>
          <a:noFill/>
          <a:ln w="28575">
            <a:noFill/>
          </a:ln>
        </p:spPr>
        <p:txBody>
          <a:bodyPr wrap="none" rtlCol="0" anchor="ctr">
            <a:spAutoFit/>
          </a:bodyPr>
          <a:lstStyle/>
          <a:p>
            <a:pPr algn="ctr"/>
            <a:r>
              <a:rPr lang="en-US" sz="900">
                <a:latin typeface="Helvetica Neue" panose="02000503000000020004"/>
              </a:rPr>
              <a:t>Part shop B</a:t>
            </a:r>
          </a:p>
        </p:txBody>
      </p:sp>
      <p:sp>
        <p:nvSpPr>
          <p:cNvPr id="75" name="Arrow: Right 74">
            <a:extLst>
              <a:ext uri="{FF2B5EF4-FFF2-40B4-BE49-F238E27FC236}">
                <a16:creationId xmlns:a16="http://schemas.microsoft.com/office/drawing/2014/main" id="{39A43952-2229-300D-0C53-52D3C0E19D26}"/>
              </a:ext>
            </a:extLst>
          </p:cNvPr>
          <p:cNvSpPr/>
          <p:nvPr/>
        </p:nvSpPr>
        <p:spPr>
          <a:xfrm>
            <a:off x="6824214" y="1435512"/>
            <a:ext cx="245474" cy="458539"/>
          </a:xfrm>
          <a:prstGeom prst="rightArrow">
            <a:avLst/>
          </a:prstGeom>
          <a:solidFill>
            <a:schemeClr val="accent1"/>
          </a:solidFill>
        </p:spPr>
        <p:txBody>
          <a:bodyPr wrap="none" rtlCol="0" anchor="ctr">
            <a:spAutoFit/>
          </a:bodyPr>
          <a:lstStyle/>
          <a:p>
            <a:pPr algn="ctr"/>
            <a:endParaRPr lang="en-US" sz="900"/>
          </a:p>
        </p:txBody>
      </p:sp>
      <p:sp>
        <p:nvSpPr>
          <p:cNvPr id="76" name="Arrow: Right 75">
            <a:extLst>
              <a:ext uri="{FF2B5EF4-FFF2-40B4-BE49-F238E27FC236}">
                <a16:creationId xmlns:a16="http://schemas.microsoft.com/office/drawing/2014/main" id="{09CF0998-351A-30EF-F7FB-4790092EB5D7}"/>
              </a:ext>
            </a:extLst>
          </p:cNvPr>
          <p:cNvSpPr/>
          <p:nvPr/>
        </p:nvSpPr>
        <p:spPr>
          <a:xfrm>
            <a:off x="6824213" y="2342482"/>
            <a:ext cx="245474" cy="458539"/>
          </a:xfrm>
          <a:prstGeom prst="rightArrow">
            <a:avLst/>
          </a:prstGeom>
          <a:solidFill>
            <a:schemeClr val="accent1"/>
          </a:solidFill>
        </p:spPr>
        <p:txBody>
          <a:bodyPr wrap="none" rtlCol="0" anchor="ctr">
            <a:spAutoFit/>
          </a:bodyPr>
          <a:lstStyle/>
          <a:p>
            <a:pPr algn="ctr"/>
            <a:endParaRPr lang="en-US" sz="900"/>
          </a:p>
        </p:txBody>
      </p:sp>
      <p:sp>
        <p:nvSpPr>
          <p:cNvPr id="77" name="Arrow: Right 76">
            <a:extLst>
              <a:ext uri="{FF2B5EF4-FFF2-40B4-BE49-F238E27FC236}">
                <a16:creationId xmlns:a16="http://schemas.microsoft.com/office/drawing/2014/main" id="{EB06C12F-4C1D-0B98-050D-52627A12F2F5}"/>
              </a:ext>
            </a:extLst>
          </p:cNvPr>
          <p:cNvSpPr/>
          <p:nvPr/>
        </p:nvSpPr>
        <p:spPr>
          <a:xfrm>
            <a:off x="6831630" y="3208679"/>
            <a:ext cx="245474" cy="458539"/>
          </a:xfrm>
          <a:prstGeom prst="rightArrow">
            <a:avLst/>
          </a:prstGeom>
          <a:solidFill>
            <a:schemeClr val="accent1"/>
          </a:solidFill>
        </p:spPr>
        <p:txBody>
          <a:bodyPr wrap="none" rtlCol="0" anchor="ctr">
            <a:spAutoFit/>
          </a:bodyPr>
          <a:lstStyle/>
          <a:p>
            <a:pPr algn="ctr"/>
            <a:endParaRPr lang="en-US" sz="900"/>
          </a:p>
        </p:txBody>
      </p:sp>
      <p:grpSp>
        <p:nvGrpSpPr>
          <p:cNvPr id="78" name="Group 77">
            <a:extLst>
              <a:ext uri="{FF2B5EF4-FFF2-40B4-BE49-F238E27FC236}">
                <a16:creationId xmlns:a16="http://schemas.microsoft.com/office/drawing/2014/main" id="{D1820269-CC37-BDF3-5FB1-7E276C701C95}"/>
              </a:ext>
            </a:extLst>
          </p:cNvPr>
          <p:cNvGrpSpPr/>
          <p:nvPr/>
        </p:nvGrpSpPr>
        <p:grpSpPr>
          <a:xfrm>
            <a:off x="4586480" y="1182809"/>
            <a:ext cx="237899" cy="324594"/>
            <a:chOff x="2361384" y="1749060"/>
            <a:chExt cx="317198" cy="432791"/>
          </a:xfrm>
        </p:grpSpPr>
        <p:sp>
          <p:nvSpPr>
            <p:cNvPr id="79" name="Oval 78">
              <a:extLst>
                <a:ext uri="{FF2B5EF4-FFF2-40B4-BE49-F238E27FC236}">
                  <a16:creationId xmlns:a16="http://schemas.microsoft.com/office/drawing/2014/main" id="{EE74B787-AFEA-C1A1-8570-68454EAB116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0" name="TextBox 79">
              <a:extLst>
                <a:ext uri="{FF2B5EF4-FFF2-40B4-BE49-F238E27FC236}">
                  <a16:creationId xmlns:a16="http://schemas.microsoft.com/office/drawing/2014/main" id="{0566BFCE-04E0-82CF-3BA0-411DB1F07BCC}"/>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3</a:t>
              </a:r>
              <a:endParaRPr lang="en-US" sz="900">
                <a:cs typeface="Arial" charset="0"/>
              </a:endParaRPr>
            </a:p>
          </p:txBody>
        </p:sp>
      </p:grpSp>
      <p:grpSp>
        <p:nvGrpSpPr>
          <p:cNvPr id="81" name="Group 80">
            <a:extLst>
              <a:ext uri="{FF2B5EF4-FFF2-40B4-BE49-F238E27FC236}">
                <a16:creationId xmlns:a16="http://schemas.microsoft.com/office/drawing/2014/main" id="{B72111AD-1396-6AE2-2923-D0AA1D8BF969}"/>
              </a:ext>
            </a:extLst>
          </p:cNvPr>
          <p:cNvGrpSpPr/>
          <p:nvPr/>
        </p:nvGrpSpPr>
        <p:grpSpPr>
          <a:xfrm>
            <a:off x="5818009" y="1167065"/>
            <a:ext cx="237899" cy="324594"/>
            <a:chOff x="2361384" y="1749060"/>
            <a:chExt cx="317198" cy="432791"/>
          </a:xfrm>
        </p:grpSpPr>
        <p:sp>
          <p:nvSpPr>
            <p:cNvPr id="82" name="Oval 81">
              <a:extLst>
                <a:ext uri="{FF2B5EF4-FFF2-40B4-BE49-F238E27FC236}">
                  <a16:creationId xmlns:a16="http://schemas.microsoft.com/office/drawing/2014/main" id="{86904EF7-E52D-2106-6AC0-187C37A91511}"/>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3" name="TextBox 82">
              <a:extLst>
                <a:ext uri="{FF2B5EF4-FFF2-40B4-BE49-F238E27FC236}">
                  <a16:creationId xmlns:a16="http://schemas.microsoft.com/office/drawing/2014/main" id="{AFBAE478-FCAC-5926-8AB9-C847470517FA}"/>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4</a:t>
              </a:r>
              <a:endParaRPr lang="en-US" sz="900">
                <a:cs typeface="Arial" charset="0"/>
              </a:endParaRPr>
            </a:p>
          </p:txBody>
        </p:sp>
      </p:grpSp>
      <p:grpSp>
        <p:nvGrpSpPr>
          <p:cNvPr id="3" name="Group 2">
            <a:extLst>
              <a:ext uri="{FF2B5EF4-FFF2-40B4-BE49-F238E27FC236}">
                <a16:creationId xmlns:a16="http://schemas.microsoft.com/office/drawing/2014/main" id="{31B0D27E-85C7-4679-E005-3D849EBA3A68}"/>
              </a:ext>
            </a:extLst>
          </p:cNvPr>
          <p:cNvGrpSpPr/>
          <p:nvPr/>
        </p:nvGrpSpPr>
        <p:grpSpPr>
          <a:xfrm>
            <a:off x="7168876" y="1182809"/>
            <a:ext cx="237899" cy="324594"/>
            <a:chOff x="2361384" y="1749060"/>
            <a:chExt cx="317198" cy="432791"/>
          </a:xfrm>
        </p:grpSpPr>
        <p:sp>
          <p:nvSpPr>
            <p:cNvPr id="6" name="Oval 5">
              <a:extLst>
                <a:ext uri="{FF2B5EF4-FFF2-40B4-BE49-F238E27FC236}">
                  <a16:creationId xmlns:a16="http://schemas.microsoft.com/office/drawing/2014/main" id="{9065DB07-78F4-9529-DA51-A3E9BB24BBCF}"/>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 name="TextBox 7">
              <a:extLst>
                <a:ext uri="{FF2B5EF4-FFF2-40B4-BE49-F238E27FC236}">
                  <a16:creationId xmlns:a16="http://schemas.microsoft.com/office/drawing/2014/main" id="{2BA1687C-B877-5982-CD06-7501B85D3C77}"/>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5</a:t>
              </a:r>
              <a:endParaRPr lang="en-US" sz="900">
                <a:cs typeface="Arial" charset="0"/>
              </a:endParaRPr>
            </a:p>
          </p:txBody>
        </p:sp>
      </p:grpSp>
      <p:pic>
        <p:nvPicPr>
          <p:cNvPr id="11" name="Graphic 10" descr="Computer with solid fill">
            <a:extLst>
              <a:ext uri="{FF2B5EF4-FFF2-40B4-BE49-F238E27FC236}">
                <a16:creationId xmlns:a16="http://schemas.microsoft.com/office/drawing/2014/main" id="{E396FBD3-7815-334F-328C-4E5F20E77F8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86558" y="1486294"/>
            <a:ext cx="356972" cy="356972"/>
          </a:xfrm>
          <a:prstGeom prst="rect">
            <a:avLst/>
          </a:prstGeom>
        </p:spPr>
      </p:pic>
      <p:pic>
        <p:nvPicPr>
          <p:cNvPr id="19" name="Graphic 18" descr="Web design with solid fill">
            <a:extLst>
              <a:ext uri="{FF2B5EF4-FFF2-40B4-BE49-F238E27FC236}">
                <a16:creationId xmlns:a16="http://schemas.microsoft.com/office/drawing/2014/main" id="{9B644ED3-F43D-B803-89F3-0CFCCD4141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45114" y="3226387"/>
            <a:ext cx="440337" cy="440337"/>
          </a:xfrm>
          <a:prstGeom prst="rect">
            <a:avLst/>
          </a:prstGeom>
        </p:spPr>
      </p:pic>
      <p:sp>
        <p:nvSpPr>
          <p:cNvPr id="21" name="TextBox 20">
            <a:extLst>
              <a:ext uri="{FF2B5EF4-FFF2-40B4-BE49-F238E27FC236}">
                <a16:creationId xmlns:a16="http://schemas.microsoft.com/office/drawing/2014/main" id="{882308CB-F4BF-EA22-D2C5-AEDF8ED6C16E}"/>
              </a:ext>
            </a:extLst>
          </p:cNvPr>
          <p:cNvSpPr txBox="1"/>
          <p:nvPr/>
        </p:nvSpPr>
        <p:spPr bwMode="auto">
          <a:xfrm>
            <a:off x="650917" y="3876242"/>
            <a:ext cx="2365172" cy="1264449"/>
          </a:xfrm>
          <a:prstGeom prst="rect">
            <a:avLst/>
          </a:prstGeom>
          <a:noFill/>
          <a:ln w="9525">
            <a:noFill/>
            <a:miter lim="800000"/>
            <a:headEnd/>
            <a:tailEnd/>
          </a:ln>
        </p:spPr>
        <p:txBody>
          <a:bodyPr wrap="square" rtlCol="0">
            <a:spAutoFit/>
          </a:bodyPr>
          <a:lstStyle/>
          <a:p>
            <a:pPr marL="40481">
              <a:spcBef>
                <a:spcPts val="450"/>
              </a:spcBef>
              <a:tabLst>
                <a:tab pos="255985" algn="l"/>
              </a:tabLst>
            </a:pPr>
            <a:r>
              <a:rPr lang="en-US" sz="900" dirty="0">
                <a:latin typeface="Helvetica Neue" panose="02000503000000020004"/>
              </a:rPr>
              <a:t>Process Flow Detail :</a:t>
            </a:r>
          </a:p>
          <a:p>
            <a:pPr marL="211931" indent="-171450">
              <a:spcBef>
                <a:spcPts val="450"/>
              </a:spcBef>
              <a:buFont typeface="+mj-lt"/>
              <a:buAutoNum type="arabicPeriod"/>
              <a:tabLst>
                <a:tab pos="255985" algn="l"/>
              </a:tabLst>
            </a:pPr>
            <a:r>
              <a:rPr lang="en-US" sz="900" dirty="0">
                <a:latin typeface="Helvetica Neue" panose="02000503000000020004"/>
              </a:rPr>
              <a:t>MMKSI user extract information’s from ASA Application and of :</a:t>
            </a:r>
          </a:p>
          <a:p>
            <a:pPr marL="388144" lvl="1" indent="-171450">
              <a:buFont typeface="+mj-lt"/>
              <a:buAutoNum type="alphaLcPeriod"/>
              <a:tabLst>
                <a:tab pos="255985" algn="l"/>
              </a:tabLst>
            </a:pPr>
            <a:r>
              <a:rPr lang="en-US" sz="900" dirty="0">
                <a:latin typeface="Helvetica Neue" panose="02000503000000020004"/>
              </a:rPr>
              <a:t>Parts data in Txt format</a:t>
            </a:r>
          </a:p>
          <a:p>
            <a:pPr marL="388144" lvl="1" indent="-171450">
              <a:buFont typeface="+mj-lt"/>
              <a:buAutoNum type="alphaLcPeriod"/>
              <a:tabLst>
                <a:tab pos="255985" algn="l"/>
              </a:tabLst>
            </a:pPr>
            <a:r>
              <a:rPr lang="en-US" sz="900" dirty="0">
                <a:latin typeface="Helvetica Neue" panose="02000503000000020004"/>
              </a:rPr>
              <a:t>Parts image in jpg format</a:t>
            </a:r>
          </a:p>
          <a:p>
            <a:pPr marL="216694" lvl="1">
              <a:tabLst>
                <a:tab pos="255985" algn="l"/>
              </a:tabLst>
            </a:pPr>
            <a:r>
              <a:rPr lang="en-US" sz="900" dirty="0">
                <a:latin typeface="Helvetica Neue" panose="02000503000000020004"/>
              </a:rPr>
              <a:t>Information of ASA then compiled into Catalogue Book that distributed to dealers.</a:t>
            </a:r>
          </a:p>
        </p:txBody>
      </p:sp>
      <p:sp>
        <p:nvSpPr>
          <p:cNvPr id="23" name="TextBox 22">
            <a:extLst>
              <a:ext uri="{FF2B5EF4-FFF2-40B4-BE49-F238E27FC236}">
                <a16:creationId xmlns:a16="http://schemas.microsoft.com/office/drawing/2014/main" id="{B1301B12-233D-6436-4118-BFB58D28B7EF}"/>
              </a:ext>
            </a:extLst>
          </p:cNvPr>
          <p:cNvSpPr txBox="1"/>
          <p:nvPr/>
        </p:nvSpPr>
        <p:spPr bwMode="auto">
          <a:xfrm>
            <a:off x="3087539" y="4082790"/>
            <a:ext cx="2365172" cy="987450"/>
          </a:xfrm>
          <a:prstGeom prst="rect">
            <a:avLst/>
          </a:prstGeom>
          <a:noFill/>
          <a:ln w="9525">
            <a:noFill/>
            <a:miter lim="800000"/>
            <a:headEnd/>
            <a:tailEnd/>
          </a:ln>
        </p:spPr>
        <p:txBody>
          <a:bodyPr wrap="square" rtlCol="0">
            <a:spAutoFit/>
          </a:bodyPr>
          <a:lstStyle/>
          <a:p>
            <a:pPr marL="214313" indent="-171450">
              <a:spcBef>
                <a:spcPts val="450"/>
              </a:spcBef>
              <a:buFont typeface="+mj-lt"/>
              <a:buAutoNum type="arabicPeriod" startAt="2"/>
              <a:tabLst>
                <a:tab pos="255985" algn="l"/>
              </a:tabLst>
            </a:pPr>
            <a:r>
              <a:rPr lang="en-US" sz="900" dirty="0">
                <a:latin typeface="Helvetica Neue" panose="02000503000000020004"/>
              </a:rPr>
              <a:t>MMKSI user open SAP application to extract information of parts prices and export/printed into price book.</a:t>
            </a:r>
          </a:p>
          <a:p>
            <a:pPr marL="214313" indent="-171450">
              <a:spcBef>
                <a:spcPts val="450"/>
              </a:spcBef>
              <a:buFont typeface="+mj-lt"/>
              <a:buAutoNum type="arabicPeriod" startAt="2"/>
              <a:tabLst>
                <a:tab pos="255985" algn="l"/>
              </a:tabLst>
            </a:pPr>
            <a:r>
              <a:rPr lang="en-US" sz="900" dirty="0">
                <a:latin typeface="Helvetica Neue" panose="02000503000000020004"/>
              </a:rPr>
              <a:t>MMKSI share access of ASA application, catalogue book, and Price book to dealers (based on request).</a:t>
            </a:r>
          </a:p>
        </p:txBody>
      </p:sp>
      <p:sp>
        <p:nvSpPr>
          <p:cNvPr id="24" name="TextBox 23">
            <a:extLst>
              <a:ext uri="{FF2B5EF4-FFF2-40B4-BE49-F238E27FC236}">
                <a16:creationId xmlns:a16="http://schemas.microsoft.com/office/drawing/2014/main" id="{F99FB48A-8DFD-A403-48F5-5685B7F07082}"/>
              </a:ext>
            </a:extLst>
          </p:cNvPr>
          <p:cNvSpPr txBox="1"/>
          <p:nvPr/>
        </p:nvSpPr>
        <p:spPr bwMode="auto">
          <a:xfrm>
            <a:off x="5509870" y="4094365"/>
            <a:ext cx="2365172" cy="507831"/>
          </a:xfrm>
          <a:prstGeom prst="rect">
            <a:avLst/>
          </a:prstGeom>
          <a:noFill/>
          <a:ln w="9525">
            <a:noFill/>
            <a:miter lim="800000"/>
            <a:headEnd/>
            <a:tailEnd/>
          </a:ln>
        </p:spPr>
        <p:txBody>
          <a:bodyPr wrap="square" rtlCol="0">
            <a:spAutoFit/>
          </a:bodyPr>
          <a:lstStyle/>
          <a:p>
            <a:pPr marL="214313" indent="-171450">
              <a:spcBef>
                <a:spcPts val="450"/>
              </a:spcBef>
              <a:buFont typeface="+mj-lt"/>
              <a:buAutoNum type="arabicPeriod" startAt="4"/>
              <a:tabLst>
                <a:tab pos="255985" algn="l"/>
              </a:tabLst>
            </a:pPr>
            <a:r>
              <a:rPr lang="en-US" sz="900">
                <a:latin typeface="Helvetica Neue" panose="02000503000000020004"/>
              </a:rPr>
              <a:t>Dealer distribute catalogue book and price book to Part shop's based on Part shop's demand</a:t>
            </a:r>
          </a:p>
        </p:txBody>
      </p:sp>
      <p:sp>
        <p:nvSpPr>
          <p:cNvPr id="10" name="Rectangle: Top Corners Rounded 9">
            <a:extLst>
              <a:ext uri="{FF2B5EF4-FFF2-40B4-BE49-F238E27FC236}">
                <a16:creationId xmlns:a16="http://schemas.microsoft.com/office/drawing/2014/main" id="{E8519913-DAEE-A3A3-6D93-4B7654D40527}"/>
              </a:ext>
            </a:extLst>
          </p:cNvPr>
          <p:cNvSpPr/>
          <p:nvPr/>
        </p:nvSpPr>
        <p:spPr>
          <a:xfrm>
            <a:off x="688858" y="2746988"/>
            <a:ext cx="807855" cy="217795"/>
          </a:xfrm>
          <a:prstGeom prst="round2SameRect">
            <a:avLst/>
          </a:prstGeom>
          <a:noFill/>
          <a:ln w="28575">
            <a:noFill/>
          </a:ln>
        </p:spPr>
        <p:txBody>
          <a:bodyPr wrap="none" lIns="68580" tIns="34290" rIns="68580" bIns="34290" rtlCol="0" anchor="ctr">
            <a:spAutoFit/>
          </a:bodyPr>
          <a:lstStyle/>
          <a:p>
            <a:pPr algn="ctr"/>
            <a:r>
              <a:rPr lang="en-US" sz="900">
                <a:latin typeface="Helvetica Neue" panose="02000503000000020004"/>
                <a:ea typeface="ＭＳ Ｐゴシック"/>
                <a:cs typeface="Arial"/>
              </a:rPr>
              <a:t>MMKSI User</a:t>
            </a:r>
            <a:endParaRPr lang="en-US" sz="900">
              <a:latin typeface="Helvetica Neue" panose="02000503000000020004"/>
            </a:endParaRPr>
          </a:p>
        </p:txBody>
      </p:sp>
      <p:sp>
        <p:nvSpPr>
          <p:cNvPr id="14" name="Rectangle 13">
            <a:extLst>
              <a:ext uri="{FF2B5EF4-FFF2-40B4-BE49-F238E27FC236}">
                <a16:creationId xmlns:a16="http://schemas.microsoft.com/office/drawing/2014/main" id="{118610DE-1518-D65D-62C1-D81F55B89A97}"/>
              </a:ext>
            </a:extLst>
          </p:cNvPr>
          <p:cNvSpPr>
            <a:spLocks noChangeArrowheads="1"/>
          </p:cNvSpPr>
          <p:nvPr/>
        </p:nvSpPr>
        <p:spPr bwMode="auto">
          <a:xfrm>
            <a:off x="250825" y="41733"/>
            <a:ext cx="7225682" cy="487056"/>
          </a:xfrm>
          <a:prstGeom prst="rect">
            <a:avLst/>
          </a:prstGeom>
        </p:spPr>
        <p:txBody>
          <a:bodyPr/>
          <a:lstStyle/>
          <a:p>
            <a:pPr>
              <a:lnSpc>
                <a:spcPts val="3400"/>
              </a:lnSpc>
              <a:spcBef>
                <a:spcPct val="20000"/>
              </a:spcBef>
              <a:buFont typeface="Arial" panose="020B0604020202020204" pitchFamily="34" charset="0"/>
              <a:buNone/>
            </a:pPr>
            <a:r>
              <a:rPr lang="en-US" altLang="id-ID" b="1" dirty="0">
                <a:latin typeface="MMC OFFICE" panose="00000500000000000000" pitchFamily="2" charset="0"/>
                <a:ea typeface="ヒラギノ角ゴ Std W6" pitchFamily="34" charset="-128"/>
              </a:rPr>
              <a:t>Problem Definition and Solutions</a:t>
            </a:r>
          </a:p>
        </p:txBody>
      </p:sp>
      <p:sp>
        <p:nvSpPr>
          <p:cNvPr id="16" name="スライド番号プレースホルダー 3">
            <a:extLst>
              <a:ext uri="{FF2B5EF4-FFF2-40B4-BE49-F238E27FC236}">
                <a16:creationId xmlns:a16="http://schemas.microsoft.com/office/drawing/2014/main" id="{6CF5DB96-6666-62D2-804A-045083437058}"/>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5</a:t>
            </a:fld>
            <a:endParaRPr lang="ja-JP" altLang="en-US"/>
          </a:p>
        </p:txBody>
      </p:sp>
      <p:sp>
        <p:nvSpPr>
          <p:cNvPr id="18" name="サブタイトル 7">
            <a:extLst>
              <a:ext uri="{FF2B5EF4-FFF2-40B4-BE49-F238E27FC236}">
                <a16:creationId xmlns:a16="http://schemas.microsoft.com/office/drawing/2014/main" id="{09DFDF61-C5CB-11F4-CEEE-DA8AEB162BE7}"/>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20" name="サブタイトル 7">
            <a:extLst>
              <a:ext uri="{FF2B5EF4-FFF2-40B4-BE49-F238E27FC236}">
                <a16:creationId xmlns:a16="http://schemas.microsoft.com/office/drawing/2014/main" id="{903E81A6-12C5-F1F7-77EC-460BC337948B}"/>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25" name="Picture 24" descr="A picture containing graphics, graphic design, design&#10;&#10;Description automatically generated">
            <a:extLst>
              <a:ext uri="{FF2B5EF4-FFF2-40B4-BE49-F238E27FC236}">
                <a16:creationId xmlns:a16="http://schemas.microsoft.com/office/drawing/2014/main" id="{05D2FBD7-643D-D661-90E0-0024EB675515}"/>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395178761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93CA30-72D0-D53A-5767-63C57C69F277}"/>
              </a:ext>
            </a:extLst>
          </p:cNvPr>
          <p:cNvSpPr/>
          <p:nvPr/>
        </p:nvSpPr>
        <p:spPr>
          <a:xfrm>
            <a:off x="7216345" y="2431092"/>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65" name="Rectangle 64">
            <a:extLst>
              <a:ext uri="{FF2B5EF4-FFF2-40B4-BE49-F238E27FC236}">
                <a16:creationId xmlns:a16="http://schemas.microsoft.com/office/drawing/2014/main" id="{863B49F3-CC5A-6062-B9A4-F17917E7F2F9}"/>
              </a:ext>
            </a:extLst>
          </p:cNvPr>
          <p:cNvSpPr/>
          <p:nvPr/>
        </p:nvSpPr>
        <p:spPr>
          <a:xfrm>
            <a:off x="5923742" y="2429915"/>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60" name="Rectangle 59">
            <a:extLst>
              <a:ext uri="{FF2B5EF4-FFF2-40B4-BE49-F238E27FC236}">
                <a16:creationId xmlns:a16="http://schemas.microsoft.com/office/drawing/2014/main" id="{FFA62EF7-207F-BE6E-AB1E-1236C6A21056}"/>
              </a:ext>
            </a:extLst>
          </p:cNvPr>
          <p:cNvSpPr/>
          <p:nvPr/>
        </p:nvSpPr>
        <p:spPr>
          <a:xfrm>
            <a:off x="4683997" y="2439599"/>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33" name="Rectangle 32">
            <a:extLst>
              <a:ext uri="{FF2B5EF4-FFF2-40B4-BE49-F238E27FC236}">
                <a16:creationId xmlns:a16="http://schemas.microsoft.com/office/drawing/2014/main" id="{2A524886-70C0-609C-5FB2-43B0C7D4146E}"/>
              </a:ext>
            </a:extLst>
          </p:cNvPr>
          <p:cNvSpPr/>
          <p:nvPr/>
        </p:nvSpPr>
        <p:spPr>
          <a:xfrm>
            <a:off x="1665396" y="2456334"/>
            <a:ext cx="24688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0" name="Rectangle 39">
            <a:extLst>
              <a:ext uri="{FF2B5EF4-FFF2-40B4-BE49-F238E27FC236}">
                <a16:creationId xmlns:a16="http://schemas.microsoft.com/office/drawing/2014/main" id="{C0334B50-A0EC-C7F7-7A27-0B5FF3AF3B3F}"/>
              </a:ext>
            </a:extLst>
          </p:cNvPr>
          <p:cNvSpPr/>
          <p:nvPr/>
        </p:nvSpPr>
        <p:spPr>
          <a:xfrm>
            <a:off x="1665398" y="1531751"/>
            <a:ext cx="24688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 name="Title 1">
            <a:extLst>
              <a:ext uri="{FF2B5EF4-FFF2-40B4-BE49-F238E27FC236}">
                <a16:creationId xmlns:a16="http://schemas.microsoft.com/office/drawing/2014/main" id="{134200FE-FE72-104A-9CC9-F4D669BE92D0}"/>
              </a:ext>
            </a:extLst>
          </p:cNvPr>
          <p:cNvSpPr>
            <a:spLocks noGrp="1"/>
          </p:cNvSpPr>
          <p:nvPr>
            <p:ph type="title"/>
          </p:nvPr>
        </p:nvSpPr>
        <p:spPr/>
        <p:txBody>
          <a:bodyPr/>
          <a:lstStyle/>
          <a:p>
            <a:pPr algn="l"/>
            <a:endParaRPr lang="en-US" sz="100" dirty="0"/>
          </a:p>
        </p:txBody>
      </p:sp>
      <p:sp>
        <p:nvSpPr>
          <p:cNvPr id="10" name="Content Placeholder 9">
            <a:extLst>
              <a:ext uri="{FF2B5EF4-FFF2-40B4-BE49-F238E27FC236}">
                <a16:creationId xmlns:a16="http://schemas.microsoft.com/office/drawing/2014/main" id="{96F216A6-2103-5519-9AEE-304597B06474}"/>
              </a:ext>
            </a:extLst>
          </p:cNvPr>
          <p:cNvSpPr>
            <a:spLocks noGrp="1"/>
          </p:cNvSpPr>
          <p:nvPr>
            <p:ph idx="1"/>
          </p:nvPr>
        </p:nvSpPr>
        <p:spPr/>
        <p:txBody>
          <a:bodyPr/>
          <a:lstStyle/>
          <a:p>
            <a:endParaRPr lang="en-US" sz="100" dirty="0"/>
          </a:p>
        </p:txBody>
      </p:sp>
      <p:sp>
        <p:nvSpPr>
          <p:cNvPr id="5" name="Text Placeholder 2">
            <a:extLst>
              <a:ext uri="{FF2B5EF4-FFF2-40B4-BE49-F238E27FC236}">
                <a16:creationId xmlns:a16="http://schemas.microsoft.com/office/drawing/2014/main" id="{4603FDED-0238-9FC0-A23D-4E91FA5CA5BB}"/>
              </a:ext>
            </a:extLst>
          </p:cNvPr>
          <p:cNvSpPr txBox="1">
            <a:spLocks/>
          </p:cNvSpPr>
          <p:nvPr/>
        </p:nvSpPr>
        <p:spPr bwMode="auto">
          <a:xfrm>
            <a:off x="140575" y="610969"/>
            <a:ext cx="6713019" cy="505441"/>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82563" indent="-182563" algn="l" rtl="0" eaLnBrk="0" fontAlgn="base" hangingPunct="0">
              <a:spcBef>
                <a:spcPts val="0"/>
              </a:spcBef>
              <a:spcAft>
                <a:spcPct val="0"/>
              </a:spcAft>
              <a:buFont typeface="Arial" charset="0"/>
              <a:buChar char="•"/>
              <a:defRPr sz="1600" kern="1200">
                <a:solidFill>
                  <a:schemeClr val="tx1"/>
                </a:solidFill>
                <a:latin typeface="+mn-lt"/>
                <a:ea typeface="ＭＳ Ｐゴシック" panose="020B0600070205080204" pitchFamily="34" charset="-128"/>
                <a:cs typeface="ＭＳ Ｐゴシック" charset="0"/>
              </a:defRPr>
            </a:lvl1pPr>
            <a:lvl2pPr marL="352425" indent="-169863" algn="l" rtl="0" eaLnBrk="0" fontAlgn="base" hangingPunct="0">
              <a:spcBef>
                <a:spcPts val="0"/>
              </a:spcBef>
              <a:spcAft>
                <a:spcPct val="0"/>
              </a:spcAft>
              <a:buFont typeface="Arial" charset="0"/>
              <a:buChar char="–"/>
              <a:defRPr sz="1400" kern="1200">
                <a:solidFill>
                  <a:schemeClr val="tx1"/>
                </a:solidFill>
                <a:latin typeface="+mn-lt"/>
                <a:ea typeface="ＭＳ Ｐゴシック" panose="020B0600070205080204" pitchFamily="34" charset="-128"/>
                <a:cs typeface="+mn-cs"/>
              </a:defRPr>
            </a:lvl2pPr>
            <a:lvl3pPr marL="534988"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3pPr>
            <a:lvl4pPr marL="719138" indent="-184150"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4pPr>
            <a:lvl5pPr marL="901700"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pPr marL="204788" indent="-204788">
              <a:buNone/>
            </a:pPr>
            <a:r>
              <a:rPr lang="en-US" sz="1350" b="1" dirty="0">
                <a:latin typeface="Helvetica Neue" panose="02000503000000020004"/>
                <a:ea typeface="游ゴシック"/>
                <a:cs typeface="Arial"/>
              </a:rPr>
              <a:t>Current Process </a:t>
            </a:r>
            <a:r>
              <a:rPr lang="en-US" sz="900" dirty="0">
                <a:latin typeface="Helvetica Neue" panose="02000503000000020004"/>
                <a:ea typeface="游ゴシック"/>
                <a:cs typeface="Arial"/>
              </a:rPr>
              <a:t>(cont.)</a:t>
            </a:r>
          </a:p>
          <a:p>
            <a:pPr marL="0" indent="0">
              <a:spcBef>
                <a:spcPts val="450"/>
              </a:spcBef>
              <a:buNone/>
            </a:pPr>
            <a:r>
              <a:rPr lang="en-US" sz="900" dirty="0">
                <a:latin typeface="Helvetica Neue" panose="02000503000000020004"/>
                <a:ea typeface="ＭＳ Ｐゴシック"/>
              </a:rPr>
              <a:t>Below are current condition of Spare Part Catalogue distribution to dealers in MMKSI:</a:t>
            </a:r>
          </a:p>
          <a:p>
            <a:pPr marL="0" indent="0">
              <a:spcBef>
                <a:spcPts val="450"/>
              </a:spcBef>
              <a:buNone/>
            </a:pPr>
            <a:endParaRPr lang="en-US" sz="900" dirty="0">
              <a:latin typeface="Helvetica Neue" panose="02000503000000020004"/>
              <a:ea typeface="ＭＳ Ｐゴシック"/>
            </a:endParaRPr>
          </a:p>
        </p:txBody>
      </p:sp>
      <p:pic>
        <p:nvPicPr>
          <p:cNvPr id="7" name="Picture 6">
            <a:extLst>
              <a:ext uri="{FF2B5EF4-FFF2-40B4-BE49-F238E27FC236}">
                <a16:creationId xmlns:a16="http://schemas.microsoft.com/office/drawing/2014/main" id="{C782392F-6200-C8AA-2B19-815CC5B02497}"/>
              </a:ext>
            </a:extLst>
          </p:cNvPr>
          <p:cNvPicPr>
            <a:picLocks noChangeAspect="1"/>
          </p:cNvPicPr>
          <p:nvPr/>
        </p:nvPicPr>
        <p:blipFill>
          <a:blip r:embed="rId4"/>
          <a:stretch>
            <a:fillRect/>
          </a:stretch>
        </p:blipFill>
        <p:spPr>
          <a:xfrm>
            <a:off x="867784" y="2270285"/>
            <a:ext cx="360356" cy="500754"/>
          </a:xfrm>
          <a:prstGeom prst="rect">
            <a:avLst/>
          </a:prstGeom>
        </p:spPr>
      </p:pic>
      <p:sp>
        <p:nvSpPr>
          <p:cNvPr id="12" name="Rectangle: Top Corners Rounded 11">
            <a:extLst>
              <a:ext uri="{FF2B5EF4-FFF2-40B4-BE49-F238E27FC236}">
                <a16:creationId xmlns:a16="http://schemas.microsoft.com/office/drawing/2014/main" id="{6BE0980D-5C76-4099-8E9F-31FE3D894B26}"/>
              </a:ext>
            </a:extLst>
          </p:cNvPr>
          <p:cNvSpPr/>
          <p:nvPr/>
        </p:nvSpPr>
        <p:spPr>
          <a:xfrm>
            <a:off x="2111472" y="1368287"/>
            <a:ext cx="887358"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ASA (CAPS)</a:t>
            </a:r>
            <a:br>
              <a:rPr lang="en-US" sz="900">
                <a:latin typeface="Helvetica Neue" panose="02000503000000020004"/>
              </a:rPr>
            </a:br>
            <a:r>
              <a:rPr lang="en-US" sz="900">
                <a:latin typeface="Helvetica Neue" panose="02000503000000020004"/>
              </a:rPr>
              <a:t>Application</a:t>
            </a:r>
          </a:p>
        </p:txBody>
      </p:sp>
      <p:sp>
        <p:nvSpPr>
          <p:cNvPr id="13" name="Arrow: Right 12">
            <a:extLst>
              <a:ext uri="{FF2B5EF4-FFF2-40B4-BE49-F238E27FC236}">
                <a16:creationId xmlns:a16="http://schemas.microsoft.com/office/drawing/2014/main" id="{38F77801-1B1C-3FBD-C570-B4BD663DF43B}"/>
              </a:ext>
            </a:extLst>
          </p:cNvPr>
          <p:cNvSpPr/>
          <p:nvPr/>
        </p:nvSpPr>
        <p:spPr>
          <a:xfrm>
            <a:off x="1325824" y="2346275"/>
            <a:ext cx="245474" cy="458539"/>
          </a:xfrm>
          <a:prstGeom prst="rightArrow">
            <a:avLst/>
          </a:prstGeom>
          <a:solidFill>
            <a:schemeClr val="accent1"/>
          </a:solidFill>
        </p:spPr>
        <p:txBody>
          <a:bodyPr wrap="none" rtlCol="0" anchor="ctr">
            <a:spAutoFit/>
          </a:bodyPr>
          <a:lstStyle/>
          <a:p>
            <a:pPr algn="ctr"/>
            <a:endParaRPr lang="en-US" sz="900"/>
          </a:p>
        </p:txBody>
      </p:sp>
      <p:pic>
        <p:nvPicPr>
          <p:cNvPr id="15" name="Picture 14" descr="A picture containing screenshot, graphics, font, symbol&#10;&#10;Description automatically generated">
            <a:extLst>
              <a:ext uri="{FF2B5EF4-FFF2-40B4-BE49-F238E27FC236}">
                <a16:creationId xmlns:a16="http://schemas.microsoft.com/office/drawing/2014/main" id="{FFDE708C-03B0-9C40-B871-F61EE42200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31784" y="2443941"/>
            <a:ext cx="288730" cy="288730"/>
          </a:xfrm>
          <a:prstGeom prst="rect">
            <a:avLst/>
          </a:prstGeom>
        </p:spPr>
      </p:pic>
      <p:pic>
        <p:nvPicPr>
          <p:cNvPr id="17" name="Graphic 16" descr="Images with solid fill">
            <a:extLst>
              <a:ext uri="{FF2B5EF4-FFF2-40B4-BE49-F238E27FC236}">
                <a16:creationId xmlns:a16="http://schemas.microsoft.com/office/drawing/2014/main" id="{047F659F-3BBA-81F0-895C-456F5498F50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87721" y="2409014"/>
            <a:ext cx="358588" cy="358588"/>
          </a:xfrm>
          <a:prstGeom prst="rect">
            <a:avLst/>
          </a:prstGeom>
        </p:spPr>
      </p:pic>
      <p:sp>
        <p:nvSpPr>
          <p:cNvPr id="22" name="Arrow: Right 21">
            <a:extLst>
              <a:ext uri="{FF2B5EF4-FFF2-40B4-BE49-F238E27FC236}">
                <a16:creationId xmlns:a16="http://schemas.microsoft.com/office/drawing/2014/main" id="{500BDDA8-C823-807D-5B94-02CB09A6F8A1}"/>
              </a:ext>
            </a:extLst>
          </p:cNvPr>
          <p:cNvSpPr/>
          <p:nvPr/>
        </p:nvSpPr>
        <p:spPr>
          <a:xfrm>
            <a:off x="4292398" y="1435512"/>
            <a:ext cx="245474" cy="458539"/>
          </a:xfrm>
          <a:prstGeom prst="rightArrow">
            <a:avLst/>
          </a:prstGeom>
          <a:solidFill>
            <a:schemeClr val="accent1"/>
          </a:solidFill>
        </p:spPr>
        <p:txBody>
          <a:bodyPr wrap="none" rtlCol="0" anchor="ctr">
            <a:spAutoFit/>
          </a:bodyPr>
          <a:lstStyle/>
          <a:p>
            <a:pPr algn="ctr"/>
            <a:endParaRPr lang="en-US" sz="900"/>
          </a:p>
        </p:txBody>
      </p:sp>
      <p:pic>
        <p:nvPicPr>
          <p:cNvPr id="32" name="Graphic 31" descr="Users with solid fill">
            <a:extLst>
              <a:ext uri="{FF2B5EF4-FFF2-40B4-BE49-F238E27FC236}">
                <a16:creationId xmlns:a16="http://schemas.microsoft.com/office/drawing/2014/main" id="{3364C5ED-0904-1D8C-915A-818A51CAD8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1024" y="1369635"/>
            <a:ext cx="590291" cy="590291"/>
          </a:xfrm>
          <a:prstGeom prst="rect">
            <a:avLst/>
          </a:prstGeom>
        </p:spPr>
      </p:pic>
      <p:pic>
        <p:nvPicPr>
          <p:cNvPr id="34" name="Graphic 33" descr="Users with solid fill">
            <a:extLst>
              <a:ext uri="{FF2B5EF4-FFF2-40B4-BE49-F238E27FC236}">
                <a16:creationId xmlns:a16="http://schemas.microsoft.com/office/drawing/2014/main" id="{F0C9F4FF-FF81-DD2A-16FB-1FFAD08AEA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68823" y="2228850"/>
            <a:ext cx="590291" cy="590291"/>
          </a:xfrm>
          <a:prstGeom prst="rect">
            <a:avLst/>
          </a:prstGeom>
        </p:spPr>
      </p:pic>
      <p:pic>
        <p:nvPicPr>
          <p:cNvPr id="35" name="Graphic 34" descr="Users with solid fill">
            <a:extLst>
              <a:ext uri="{FF2B5EF4-FFF2-40B4-BE49-F238E27FC236}">
                <a16:creationId xmlns:a16="http://schemas.microsoft.com/office/drawing/2014/main" id="{76DC3228-87CB-FFF2-C3B9-619A6998F6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84940" y="3168708"/>
            <a:ext cx="590291" cy="590291"/>
          </a:xfrm>
          <a:prstGeom prst="rect">
            <a:avLst/>
          </a:prstGeom>
        </p:spPr>
      </p:pic>
      <p:sp>
        <p:nvSpPr>
          <p:cNvPr id="36" name="Rectangle: Top Corners Rounded 35">
            <a:extLst>
              <a:ext uri="{FF2B5EF4-FFF2-40B4-BE49-F238E27FC236}">
                <a16:creationId xmlns:a16="http://schemas.microsoft.com/office/drawing/2014/main" id="{B68339C5-281B-B97B-C1BF-4CDF1A59FB7B}"/>
              </a:ext>
            </a:extLst>
          </p:cNvPr>
          <p:cNvSpPr/>
          <p:nvPr/>
        </p:nvSpPr>
        <p:spPr>
          <a:xfrm>
            <a:off x="4740226" y="1803673"/>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A</a:t>
            </a:r>
          </a:p>
        </p:txBody>
      </p:sp>
      <p:sp>
        <p:nvSpPr>
          <p:cNvPr id="37" name="Rectangle: Top Corners Rounded 36">
            <a:extLst>
              <a:ext uri="{FF2B5EF4-FFF2-40B4-BE49-F238E27FC236}">
                <a16:creationId xmlns:a16="http://schemas.microsoft.com/office/drawing/2014/main" id="{9201756E-B002-5213-1531-E8DBA27D790E}"/>
              </a:ext>
            </a:extLst>
          </p:cNvPr>
          <p:cNvSpPr/>
          <p:nvPr/>
        </p:nvSpPr>
        <p:spPr>
          <a:xfrm>
            <a:off x="4738024" y="2654757"/>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B</a:t>
            </a:r>
          </a:p>
        </p:txBody>
      </p:sp>
      <p:sp>
        <p:nvSpPr>
          <p:cNvPr id="38" name="Rectangle: Top Corners Rounded 37">
            <a:extLst>
              <a:ext uri="{FF2B5EF4-FFF2-40B4-BE49-F238E27FC236}">
                <a16:creationId xmlns:a16="http://schemas.microsoft.com/office/drawing/2014/main" id="{443CCEB9-E69C-D6A2-D171-A76BD64F0D52}"/>
              </a:ext>
            </a:extLst>
          </p:cNvPr>
          <p:cNvSpPr/>
          <p:nvPr/>
        </p:nvSpPr>
        <p:spPr>
          <a:xfrm>
            <a:off x="4752067" y="3549877"/>
            <a:ext cx="658485"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C</a:t>
            </a:r>
          </a:p>
        </p:txBody>
      </p:sp>
      <p:grpSp>
        <p:nvGrpSpPr>
          <p:cNvPr id="89" name="Group 88">
            <a:extLst>
              <a:ext uri="{FF2B5EF4-FFF2-40B4-BE49-F238E27FC236}">
                <a16:creationId xmlns:a16="http://schemas.microsoft.com/office/drawing/2014/main" id="{E919CD63-CAF9-EDC7-B90C-FAAFAC5578A3}"/>
              </a:ext>
            </a:extLst>
          </p:cNvPr>
          <p:cNvGrpSpPr/>
          <p:nvPr/>
        </p:nvGrpSpPr>
        <p:grpSpPr>
          <a:xfrm>
            <a:off x="1517043" y="2105081"/>
            <a:ext cx="237899" cy="324594"/>
            <a:chOff x="2361384" y="1749060"/>
            <a:chExt cx="317198" cy="432791"/>
          </a:xfrm>
        </p:grpSpPr>
        <p:sp>
          <p:nvSpPr>
            <p:cNvPr id="87" name="Oval 86">
              <a:extLst>
                <a:ext uri="{FF2B5EF4-FFF2-40B4-BE49-F238E27FC236}">
                  <a16:creationId xmlns:a16="http://schemas.microsoft.com/office/drawing/2014/main" id="{89A7A373-6D38-7114-BDD8-04DA1A87D39C}"/>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8" name="TextBox 87">
              <a:extLst>
                <a:ext uri="{FF2B5EF4-FFF2-40B4-BE49-F238E27FC236}">
                  <a16:creationId xmlns:a16="http://schemas.microsoft.com/office/drawing/2014/main" id="{702436FC-8222-38BC-E696-FB5A6F3382D9}"/>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1</a:t>
              </a:r>
              <a:endParaRPr lang="en-US" sz="900">
                <a:cs typeface="Arial" charset="0"/>
              </a:endParaRPr>
            </a:p>
          </p:txBody>
        </p:sp>
      </p:grpSp>
      <p:pic>
        <p:nvPicPr>
          <p:cNvPr id="30" name="Graphic 29" descr="Document with solid fill">
            <a:extLst>
              <a:ext uri="{FF2B5EF4-FFF2-40B4-BE49-F238E27FC236}">
                <a16:creationId xmlns:a16="http://schemas.microsoft.com/office/drawing/2014/main" id="{74B793AD-67ED-C06A-D1C0-3AD9133CBBE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82687" y="2409014"/>
            <a:ext cx="358588" cy="358588"/>
          </a:xfrm>
          <a:prstGeom prst="rect">
            <a:avLst/>
          </a:prstGeom>
        </p:spPr>
      </p:pic>
      <p:sp>
        <p:nvSpPr>
          <p:cNvPr id="31" name="Arrow: Right 30">
            <a:extLst>
              <a:ext uri="{FF2B5EF4-FFF2-40B4-BE49-F238E27FC236}">
                <a16:creationId xmlns:a16="http://schemas.microsoft.com/office/drawing/2014/main" id="{E0228EFD-4FFE-C16E-A9A8-89303C601F8D}"/>
              </a:ext>
            </a:extLst>
          </p:cNvPr>
          <p:cNvSpPr/>
          <p:nvPr/>
        </p:nvSpPr>
        <p:spPr>
          <a:xfrm>
            <a:off x="2885572" y="2372847"/>
            <a:ext cx="245474" cy="458539"/>
          </a:xfrm>
          <a:prstGeom prst="rightArrow">
            <a:avLst/>
          </a:prstGeom>
          <a:solidFill>
            <a:schemeClr val="accent1"/>
          </a:solidFill>
        </p:spPr>
        <p:txBody>
          <a:bodyPr wrap="none" rtlCol="0" anchor="ctr">
            <a:spAutoFit/>
          </a:bodyPr>
          <a:lstStyle/>
          <a:p>
            <a:pPr algn="ctr"/>
            <a:endParaRPr lang="en-US" sz="900"/>
          </a:p>
        </p:txBody>
      </p:sp>
      <p:sp>
        <p:nvSpPr>
          <p:cNvPr id="44" name="Rectangle 43">
            <a:extLst>
              <a:ext uri="{FF2B5EF4-FFF2-40B4-BE49-F238E27FC236}">
                <a16:creationId xmlns:a16="http://schemas.microsoft.com/office/drawing/2014/main" id="{2E467514-3B70-9F2C-C218-9E0AA527E3AA}"/>
              </a:ext>
            </a:extLst>
          </p:cNvPr>
          <p:cNvSpPr/>
          <p:nvPr/>
        </p:nvSpPr>
        <p:spPr>
          <a:xfrm>
            <a:off x="1674639" y="3331139"/>
            <a:ext cx="24688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7" name="Arrow: Right 46">
            <a:extLst>
              <a:ext uri="{FF2B5EF4-FFF2-40B4-BE49-F238E27FC236}">
                <a16:creationId xmlns:a16="http://schemas.microsoft.com/office/drawing/2014/main" id="{4939AB76-A396-5EBC-2A78-9CCEA8AB368C}"/>
              </a:ext>
            </a:extLst>
          </p:cNvPr>
          <p:cNvSpPr/>
          <p:nvPr/>
        </p:nvSpPr>
        <p:spPr>
          <a:xfrm rot="5400000">
            <a:off x="2938265" y="1875974"/>
            <a:ext cx="137160" cy="458539"/>
          </a:xfrm>
          <a:prstGeom prst="rightArrow">
            <a:avLst/>
          </a:prstGeom>
          <a:solidFill>
            <a:schemeClr val="accent1"/>
          </a:solidFill>
        </p:spPr>
        <p:txBody>
          <a:bodyPr wrap="square" rtlCol="0" anchor="ctr">
            <a:spAutoFit/>
          </a:bodyPr>
          <a:lstStyle/>
          <a:p>
            <a:pPr algn="ctr"/>
            <a:endParaRPr lang="en-US" sz="900"/>
          </a:p>
        </p:txBody>
      </p:sp>
      <p:sp>
        <p:nvSpPr>
          <p:cNvPr id="50" name="TextBox 49">
            <a:extLst>
              <a:ext uri="{FF2B5EF4-FFF2-40B4-BE49-F238E27FC236}">
                <a16:creationId xmlns:a16="http://schemas.microsoft.com/office/drawing/2014/main" id="{961ECC2D-B0BB-98C7-6DD1-BD2495EDB254}"/>
              </a:ext>
            </a:extLst>
          </p:cNvPr>
          <p:cNvSpPr txBox="1"/>
          <p:nvPr/>
        </p:nvSpPr>
        <p:spPr bwMode="auto">
          <a:xfrm>
            <a:off x="3389742" y="2425898"/>
            <a:ext cx="810007" cy="369332"/>
          </a:xfrm>
          <a:prstGeom prst="rect">
            <a:avLst/>
          </a:prstGeom>
          <a:noFill/>
          <a:ln w="9525">
            <a:noFill/>
            <a:miter lim="800000"/>
            <a:headEnd/>
            <a:tailEnd/>
          </a:ln>
        </p:spPr>
        <p:txBody>
          <a:bodyPr wrap="square" rtlCol="0">
            <a:spAutoFit/>
          </a:bodyPr>
          <a:lstStyle/>
          <a:p>
            <a:pPr marL="40481">
              <a:tabLst>
                <a:tab pos="255985" algn="l"/>
              </a:tabLst>
            </a:pPr>
            <a:r>
              <a:rPr lang="en-US" sz="900">
                <a:latin typeface="Helvetica Neue" panose="02000503000000020004"/>
              </a:rPr>
              <a:t>Catalogue </a:t>
            </a:r>
          </a:p>
          <a:p>
            <a:pPr marL="40481">
              <a:tabLst>
                <a:tab pos="255985" algn="l"/>
              </a:tabLst>
            </a:pPr>
            <a:r>
              <a:rPr lang="en-US" sz="900">
                <a:latin typeface="Helvetica Neue" panose="02000503000000020004"/>
              </a:rPr>
              <a:t>Book</a:t>
            </a:r>
          </a:p>
        </p:txBody>
      </p:sp>
      <p:sp>
        <p:nvSpPr>
          <p:cNvPr id="51" name="Rectangle: Top Corners Rounded 50">
            <a:extLst>
              <a:ext uri="{FF2B5EF4-FFF2-40B4-BE49-F238E27FC236}">
                <a16:creationId xmlns:a16="http://schemas.microsoft.com/office/drawing/2014/main" id="{7BA2A2B1-AA8A-D2DF-72C5-D0F1503254DC}"/>
              </a:ext>
            </a:extLst>
          </p:cNvPr>
          <p:cNvSpPr/>
          <p:nvPr/>
        </p:nvSpPr>
        <p:spPr>
          <a:xfrm>
            <a:off x="2127413" y="3168991"/>
            <a:ext cx="799625"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SAP </a:t>
            </a:r>
            <a:br>
              <a:rPr lang="en-US" sz="900">
                <a:latin typeface="Helvetica Neue" panose="02000503000000020004"/>
              </a:rPr>
            </a:br>
            <a:r>
              <a:rPr lang="en-US" sz="900">
                <a:latin typeface="Helvetica Neue" panose="02000503000000020004"/>
              </a:rPr>
              <a:t>Application</a:t>
            </a:r>
          </a:p>
        </p:txBody>
      </p:sp>
      <p:sp>
        <p:nvSpPr>
          <p:cNvPr id="52" name="Arrow: Right 51">
            <a:extLst>
              <a:ext uri="{FF2B5EF4-FFF2-40B4-BE49-F238E27FC236}">
                <a16:creationId xmlns:a16="http://schemas.microsoft.com/office/drawing/2014/main" id="{A9B66F28-1909-7F8F-69DC-73D0CF068D70}"/>
              </a:ext>
            </a:extLst>
          </p:cNvPr>
          <p:cNvSpPr/>
          <p:nvPr/>
        </p:nvSpPr>
        <p:spPr>
          <a:xfrm>
            <a:off x="2893351" y="3235320"/>
            <a:ext cx="245474" cy="458539"/>
          </a:xfrm>
          <a:prstGeom prst="rightArrow">
            <a:avLst/>
          </a:prstGeom>
          <a:solidFill>
            <a:schemeClr val="accent1"/>
          </a:solidFill>
        </p:spPr>
        <p:txBody>
          <a:bodyPr wrap="none" rtlCol="0" anchor="ctr">
            <a:spAutoFit/>
          </a:bodyPr>
          <a:lstStyle/>
          <a:p>
            <a:pPr algn="ctr"/>
            <a:endParaRPr lang="en-US" sz="900"/>
          </a:p>
        </p:txBody>
      </p:sp>
      <p:pic>
        <p:nvPicPr>
          <p:cNvPr id="53" name="Graphic 52" descr="Document with solid fill">
            <a:extLst>
              <a:ext uri="{FF2B5EF4-FFF2-40B4-BE49-F238E27FC236}">
                <a16:creationId xmlns:a16="http://schemas.microsoft.com/office/drawing/2014/main" id="{46A454EA-6987-3761-8141-C4D9FB99A5C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094006" y="3268551"/>
            <a:ext cx="358588" cy="358588"/>
          </a:xfrm>
          <a:prstGeom prst="rect">
            <a:avLst/>
          </a:prstGeom>
        </p:spPr>
      </p:pic>
      <p:sp>
        <p:nvSpPr>
          <p:cNvPr id="54" name="TextBox 53">
            <a:extLst>
              <a:ext uri="{FF2B5EF4-FFF2-40B4-BE49-F238E27FC236}">
                <a16:creationId xmlns:a16="http://schemas.microsoft.com/office/drawing/2014/main" id="{9F7A0BD9-3ADD-C0D4-B3D4-6EAD557019C6}"/>
              </a:ext>
            </a:extLst>
          </p:cNvPr>
          <p:cNvSpPr txBox="1"/>
          <p:nvPr/>
        </p:nvSpPr>
        <p:spPr bwMode="auto">
          <a:xfrm>
            <a:off x="3401061" y="3285434"/>
            <a:ext cx="810007" cy="369332"/>
          </a:xfrm>
          <a:prstGeom prst="rect">
            <a:avLst/>
          </a:prstGeom>
          <a:noFill/>
          <a:ln w="9525">
            <a:noFill/>
            <a:miter lim="800000"/>
            <a:headEnd/>
            <a:tailEnd/>
          </a:ln>
        </p:spPr>
        <p:txBody>
          <a:bodyPr wrap="square" rtlCol="0">
            <a:spAutoFit/>
          </a:bodyPr>
          <a:lstStyle/>
          <a:p>
            <a:pPr marL="40481">
              <a:tabLst>
                <a:tab pos="255985" algn="l"/>
              </a:tabLst>
            </a:pPr>
            <a:r>
              <a:rPr lang="en-US" sz="900">
                <a:latin typeface="Helvetica Neue" panose="02000503000000020004"/>
              </a:rPr>
              <a:t>Price </a:t>
            </a:r>
          </a:p>
          <a:p>
            <a:pPr marL="40481">
              <a:tabLst>
                <a:tab pos="255985" algn="l"/>
              </a:tabLst>
            </a:pPr>
            <a:r>
              <a:rPr lang="en-US" sz="900">
                <a:latin typeface="Helvetica Neue" panose="02000503000000020004"/>
              </a:rPr>
              <a:t>Book</a:t>
            </a:r>
          </a:p>
        </p:txBody>
      </p:sp>
      <p:grpSp>
        <p:nvGrpSpPr>
          <p:cNvPr id="55" name="Group 54">
            <a:extLst>
              <a:ext uri="{FF2B5EF4-FFF2-40B4-BE49-F238E27FC236}">
                <a16:creationId xmlns:a16="http://schemas.microsoft.com/office/drawing/2014/main" id="{307E72C9-E7A7-27BB-86CD-A7D295C47AC5}"/>
              </a:ext>
            </a:extLst>
          </p:cNvPr>
          <p:cNvGrpSpPr/>
          <p:nvPr/>
        </p:nvGrpSpPr>
        <p:grpSpPr>
          <a:xfrm>
            <a:off x="1526286" y="2968091"/>
            <a:ext cx="237899" cy="324594"/>
            <a:chOff x="2361384" y="1749060"/>
            <a:chExt cx="317198" cy="432791"/>
          </a:xfrm>
        </p:grpSpPr>
        <p:sp>
          <p:nvSpPr>
            <p:cNvPr id="56" name="Oval 55">
              <a:extLst>
                <a:ext uri="{FF2B5EF4-FFF2-40B4-BE49-F238E27FC236}">
                  <a16:creationId xmlns:a16="http://schemas.microsoft.com/office/drawing/2014/main" id="{A01147EF-B362-6DEE-3133-E2778C796F2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57" name="TextBox 56">
              <a:extLst>
                <a:ext uri="{FF2B5EF4-FFF2-40B4-BE49-F238E27FC236}">
                  <a16:creationId xmlns:a16="http://schemas.microsoft.com/office/drawing/2014/main" id="{8ACA2461-1E0E-489C-135B-CB06EAF97647}"/>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2</a:t>
              </a:r>
              <a:endParaRPr lang="en-US" sz="900">
                <a:cs typeface="Arial" charset="0"/>
              </a:endParaRPr>
            </a:p>
          </p:txBody>
        </p:sp>
      </p:grpSp>
      <p:sp>
        <p:nvSpPr>
          <p:cNvPr id="58" name="Arrow: Right 57">
            <a:extLst>
              <a:ext uri="{FF2B5EF4-FFF2-40B4-BE49-F238E27FC236}">
                <a16:creationId xmlns:a16="http://schemas.microsoft.com/office/drawing/2014/main" id="{E3D41338-37AD-FA80-A99F-43F4A4BC972A}"/>
              </a:ext>
            </a:extLst>
          </p:cNvPr>
          <p:cNvSpPr/>
          <p:nvPr/>
        </p:nvSpPr>
        <p:spPr>
          <a:xfrm>
            <a:off x="4287797" y="2342482"/>
            <a:ext cx="245474" cy="458539"/>
          </a:xfrm>
          <a:prstGeom prst="rightArrow">
            <a:avLst/>
          </a:prstGeom>
          <a:solidFill>
            <a:schemeClr val="accent1"/>
          </a:solidFill>
        </p:spPr>
        <p:txBody>
          <a:bodyPr wrap="none" rtlCol="0" anchor="ctr">
            <a:spAutoFit/>
          </a:bodyPr>
          <a:lstStyle/>
          <a:p>
            <a:pPr algn="ctr"/>
            <a:endParaRPr lang="en-US" sz="900"/>
          </a:p>
        </p:txBody>
      </p:sp>
      <p:sp>
        <p:nvSpPr>
          <p:cNvPr id="59" name="Arrow: Right 58">
            <a:extLst>
              <a:ext uri="{FF2B5EF4-FFF2-40B4-BE49-F238E27FC236}">
                <a16:creationId xmlns:a16="http://schemas.microsoft.com/office/drawing/2014/main" id="{68EBCC56-A752-E204-1E43-C8F486634D90}"/>
              </a:ext>
            </a:extLst>
          </p:cNvPr>
          <p:cNvSpPr/>
          <p:nvPr/>
        </p:nvSpPr>
        <p:spPr>
          <a:xfrm>
            <a:off x="4287796" y="3205916"/>
            <a:ext cx="245474" cy="458539"/>
          </a:xfrm>
          <a:prstGeom prst="rightArrow">
            <a:avLst/>
          </a:prstGeom>
          <a:solidFill>
            <a:schemeClr val="accent1"/>
          </a:solidFill>
        </p:spPr>
        <p:txBody>
          <a:bodyPr wrap="none" rtlCol="0" anchor="ctr">
            <a:spAutoFit/>
          </a:bodyPr>
          <a:lstStyle/>
          <a:p>
            <a:pPr algn="ctr"/>
            <a:endParaRPr lang="en-US" sz="900"/>
          </a:p>
        </p:txBody>
      </p:sp>
      <p:pic>
        <p:nvPicPr>
          <p:cNvPr id="61" name="Graphic 60" descr="Document with solid fill">
            <a:extLst>
              <a:ext uri="{FF2B5EF4-FFF2-40B4-BE49-F238E27FC236}">
                <a16:creationId xmlns:a16="http://schemas.microsoft.com/office/drawing/2014/main" id="{E2DA8DF6-698B-2C15-7E72-528F04C4B89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08484" y="1870988"/>
            <a:ext cx="358588" cy="358588"/>
          </a:xfrm>
          <a:prstGeom prst="rect">
            <a:avLst/>
          </a:prstGeom>
        </p:spPr>
      </p:pic>
      <p:sp>
        <p:nvSpPr>
          <p:cNvPr id="62" name="TextBox 61">
            <a:extLst>
              <a:ext uri="{FF2B5EF4-FFF2-40B4-BE49-F238E27FC236}">
                <a16:creationId xmlns:a16="http://schemas.microsoft.com/office/drawing/2014/main" id="{FF6D99EC-350C-C030-EEDE-57497733DED1}"/>
              </a:ext>
            </a:extLst>
          </p:cNvPr>
          <p:cNvSpPr txBox="1"/>
          <p:nvPr/>
        </p:nvSpPr>
        <p:spPr bwMode="auto">
          <a:xfrm>
            <a:off x="5889396" y="2213753"/>
            <a:ext cx="810008" cy="369332"/>
          </a:xfrm>
          <a:prstGeom prst="rect">
            <a:avLst/>
          </a:prstGeom>
          <a:noFill/>
          <a:ln w="9525">
            <a:noFill/>
            <a:miter lim="800000"/>
            <a:headEnd/>
            <a:tailEnd/>
          </a:ln>
        </p:spPr>
        <p:txBody>
          <a:bodyPr wrap="square" rtlCol="0">
            <a:spAutoFit/>
          </a:bodyPr>
          <a:lstStyle/>
          <a:p>
            <a:pPr marL="40481" algn="ctr">
              <a:tabLst>
                <a:tab pos="255985" algn="l"/>
              </a:tabLst>
            </a:pPr>
            <a:r>
              <a:rPr lang="en-US" sz="900">
                <a:latin typeface="Helvetica Neue" panose="02000503000000020004"/>
              </a:rPr>
              <a:t>Catalogue </a:t>
            </a:r>
          </a:p>
          <a:p>
            <a:pPr marL="40481" algn="ctr">
              <a:tabLst>
                <a:tab pos="255985" algn="l"/>
              </a:tabLst>
            </a:pPr>
            <a:r>
              <a:rPr lang="en-US" sz="900">
                <a:latin typeface="Helvetica Neue" panose="02000503000000020004"/>
              </a:rPr>
              <a:t>Book</a:t>
            </a:r>
          </a:p>
        </p:txBody>
      </p:sp>
      <p:pic>
        <p:nvPicPr>
          <p:cNvPr id="63" name="Graphic 62" descr="Document with solid fill">
            <a:extLst>
              <a:ext uri="{FF2B5EF4-FFF2-40B4-BE49-F238E27FC236}">
                <a16:creationId xmlns:a16="http://schemas.microsoft.com/office/drawing/2014/main" id="{85667E97-32FC-E415-04D3-B70A427A7AC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19803" y="2730525"/>
            <a:ext cx="358588" cy="358588"/>
          </a:xfrm>
          <a:prstGeom prst="rect">
            <a:avLst/>
          </a:prstGeom>
        </p:spPr>
      </p:pic>
      <p:sp>
        <p:nvSpPr>
          <p:cNvPr id="64" name="TextBox 63">
            <a:extLst>
              <a:ext uri="{FF2B5EF4-FFF2-40B4-BE49-F238E27FC236}">
                <a16:creationId xmlns:a16="http://schemas.microsoft.com/office/drawing/2014/main" id="{FEFA1A8D-5CC2-E259-4FBE-67476324DE96}"/>
              </a:ext>
            </a:extLst>
          </p:cNvPr>
          <p:cNvSpPr txBox="1"/>
          <p:nvPr/>
        </p:nvSpPr>
        <p:spPr bwMode="auto">
          <a:xfrm>
            <a:off x="6002071" y="3081440"/>
            <a:ext cx="589154" cy="369332"/>
          </a:xfrm>
          <a:prstGeom prst="rect">
            <a:avLst/>
          </a:prstGeom>
          <a:noFill/>
          <a:ln w="9525">
            <a:noFill/>
            <a:miter lim="800000"/>
            <a:headEnd/>
            <a:tailEnd/>
          </a:ln>
        </p:spPr>
        <p:txBody>
          <a:bodyPr wrap="square" rtlCol="0">
            <a:spAutoFit/>
          </a:bodyPr>
          <a:lstStyle/>
          <a:p>
            <a:pPr marL="40481" algn="ctr">
              <a:tabLst>
                <a:tab pos="255985" algn="l"/>
              </a:tabLst>
            </a:pPr>
            <a:r>
              <a:rPr lang="en-US" sz="900">
                <a:latin typeface="Helvetica Neue" panose="02000503000000020004"/>
              </a:rPr>
              <a:t>Price </a:t>
            </a:r>
          </a:p>
          <a:p>
            <a:pPr marL="40481" algn="ctr">
              <a:tabLst>
                <a:tab pos="255985" algn="l"/>
              </a:tabLst>
            </a:pPr>
            <a:r>
              <a:rPr lang="en-US" sz="900">
                <a:latin typeface="Helvetica Neue" panose="02000503000000020004"/>
              </a:rPr>
              <a:t>Book</a:t>
            </a:r>
          </a:p>
        </p:txBody>
      </p:sp>
      <p:sp>
        <p:nvSpPr>
          <p:cNvPr id="66" name="Arrow: Right 65">
            <a:extLst>
              <a:ext uri="{FF2B5EF4-FFF2-40B4-BE49-F238E27FC236}">
                <a16:creationId xmlns:a16="http://schemas.microsoft.com/office/drawing/2014/main" id="{EDB8BDEF-21AE-9B8B-0B28-0A6076F0BA51}"/>
              </a:ext>
            </a:extLst>
          </p:cNvPr>
          <p:cNvSpPr/>
          <p:nvPr/>
        </p:nvSpPr>
        <p:spPr>
          <a:xfrm>
            <a:off x="5582991" y="1435512"/>
            <a:ext cx="245474" cy="458539"/>
          </a:xfrm>
          <a:prstGeom prst="rightArrow">
            <a:avLst/>
          </a:prstGeom>
          <a:solidFill>
            <a:schemeClr val="accent1"/>
          </a:solidFill>
        </p:spPr>
        <p:txBody>
          <a:bodyPr wrap="none" rtlCol="0" anchor="ctr">
            <a:spAutoFit/>
          </a:bodyPr>
          <a:lstStyle/>
          <a:p>
            <a:pPr algn="ctr"/>
            <a:endParaRPr lang="en-US" sz="900"/>
          </a:p>
        </p:txBody>
      </p:sp>
      <p:sp>
        <p:nvSpPr>
          <p:cNvPr id="67" name="Arrow: Right 66">
            <a:extLst>
              <a:ext uri="{FF2B5EF4-FFF2-40B4-BE49-F238E27FC236}">
                <a16:creationId xmlns:a16="http://schemas.microsoft.com/office/drawing/2014/main" id="{97C91DD8-377F-328C-BD63-72E05C5005C6}"/>
              </a:ext>
            </a:extLst>
          </p:cNvPr>
          <p:cNvSpPr/>
          <p:nvPr/>
        </p:nvSpPr>
        <p:spPr>
          <a:xfrm>
            <a:off x="5578390" y="2342482"/>
            <a:ext cx="245474" cy="458539"/>
          </a:xfrm>
          <a:prstGeom prst="rightArrow">
            <a:avLst/>
          </a:prstGeom>
          <a:solidFill>
            <a:schemeClr val="accent1"/>
          </a:solidFill>
        </p:spPr>
        <p:txBody>
          <a:bodyPr wrap="none" rtlCol="0" anchor="ctr">
            <a:spAutoFit/>
          </a:bodyPr>
          <a:lstStyle/>
          <a:p>
            <a:pPr algn="ctr"/>
            <a:endParaRPr lang="en-US" sz="900"/>
          </a:p>
        </p:txBody>
      </p:sp>
      <p:sp>
        <p:nvSpPr>
          <p:cNvPr id="68" name="Arrow: Right 67">
            <a:extLst>
              <a:ext uri="{FF2B5EF4-FFF2-40B4-BE49-F238E27FC236}">
                <a16:creationId xmlns:a16="http://schemas.microsoft.com/office/drawing/2014/main" id="{88B61D7D-FBC7-EC17-77EB-9E24039CAD24}"/>
              </a:ext>
            </a:extLst>
          </p:cNvPr>
          <p:cNvSpPr/>
          <p:nvPr/>
        </p:nvSpPr>
        <p:spPr>
          <a:xfrm>
            <a:off x="5578390" y="3205916"/>
            <a:ext cx="245474" cy="458539"/>
          </a:xfrm>
          <a:prstGeom prst="rightArrow">
            <a:avLst/>
          </a:prstGeom>
          <a:solidFill>
            <a:schemeClr val="accent1"/>
          </a:solidFill>
        </p:spPr>
        <p:txBody>
          <a:bodyPr wrap="none" rtlCol="0" anchor="ctr">
            <a:spAutoFit/>
          </a:bodyPr>
          <a:lstStyle/>
          <a:p>
            <a:pPr algn="ctr"/>
            <a:endParaRPr lang="en-US" sz="900"/>
          </a:p>
        </p:txBody>
      </p:sp>
      <p:pic>
        <p:nvPicPr>
          <p:cNvPr id="69" name="Graphic 68" descr="Users with solid fill">
            <a:extLst>
              <a:ext uri="{FF2B5EF4-FFF2-40B4-BE49-F238E27FC236}">
                <a16:creationId xmlns:a16="http://schemas.microsoft.com/office/drawing/2014/main" id="{7A0E525F-712E-FDB0-BC6D-AA97DBC6DD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10514" y="1384192"/>
            <a:ext cx="590291" cy="590291"/>
          </a:xfrm>
          <a:prstGeom prst="rect">
            <a:avLst/>
          </a:prstGeom>
        </p:spPr>
      </p:pic>
      <p:sp>
        <p:nvSpPr>
          <p:cNvPr id="70" name="Rectangle: Top Corners Rounded 69">
            <a:extLst>
              <a:ext uri="{FF2B5EF4-FFF2-40B4-BE49-F238E27FC236}">
                <a16:creationId xmlns:a16="http://schemas.microsoft.com/office/drawing/2014/main" id="{15ECAAF4-1AF2-F27F-BA40-2C9742685F7E}"/>
              </a:ext>
            </a:extLst>
          </p:cNvPr>
          <p:cNvSpPr/>
          <p:nvPr/>
        </p:nvSpPr>
        <p:spPr>
          <a:xfrm>
            <a:off x="7201763" y="1765362"/>
            <a:ext cx="810240" cy="241995"/>
          </a:xfrm>
          <a:prstGeom prst="round2SameRect">
            <a:avLst/>
          </a:prstGeom>
          <a:noFill/>
          <a:ln w="28575">
            <a:noFill/>
          </a:ln>
        </p:spPr>
        <p:txBody>
          <a:bodyPr wrap="none" rtlCol="0" anchor="ctr">
            <a:spAutoFit/>
          </a:bodyPr>
          <a:lstStyle/>
          <a:p>
            <a:pPr algn="ctr"/>
            <a:r>
              <a:rPr lang="en-US" sz="900">
                <a:latin typeface="Helvetica Neue" panose="02000503000000020004"/>
              </a:rPr>
              <a:t>Part shop A</a:t>
            </a:r>
          </a:p>
        </p:txBody>
      </p:sp>
      <p:pic>
        <p:nvPicPr>
          <p:cNvPr id="71" name="Graphic 70" descr="Users with solid fill">
            <a:extLst>
              <a:ext uri="{FF2B5EF4-FFF2-40B4-BE49-F238E27FC236}">
                <a16:creationId xmlns:a16="http://schemas.microsoft.com/office/drawing/2014/main" id="{E6D0F0FA-40B2-84AD-9D8C-BF8A12A34C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10514" y="2260271"/>
            <a:ext cx="590291" cy="590291"/>
          </a:xfrm>
          <a:prstGeom prst="rect">
            <a:avLst/>
          </a:prstGeom>
        </p:spPr>
      </p:pic>
      <p:sp>
        <p:nvSpPr>
          <p:cNvPr id="72" name="Rectangle: Top Corners Rounded 71">
            <a:extLst>
              <a:ext uri="{FF2B5EF4-FFF2-40B4-BE49-F238E27FC236}">
                <a16:creationId xmlns:a16="http://schemas.microsoft.com/office/drawing/2014/main" id="{C596ED42-7833-C291-FEDD-25189EB35C6E}"/>
              </a:ext>
            </a:extLst>
          </p:cNvPr>
          <p:cNvSpPr/>
          <p:nvPr/>
        </p:nvSpPr>
        <p:spPr>
          <a:xfrm>
            <a:off x="7201763" y="2641441"/>
            <a:ext cx="810240" cy="241995"/>
          </a:xfrm>
          <a:prstGeom prst="round2SameRect">
            <a:avLst/>
          </a:prstGeom>
          <a:noFill/>
          <a:ln w="28575">
            <a:noFill/>
          </a:ln>
        </p:spPr>
        <p:txBody>
          <a:bodyPr wrap="none" rtlCol="0" anchor="ctr">
            <a:spAutoFit/>
          </a:bodyPr>
          <a:lstStyle/>
          <a:p>
            <a:pPr algn="ctr"/>
            <a:r>
              <a:rPr lang="en-US" sz="900">
                <a:latin typeface="Helvetica Neue" panose="02000503000000020004"/>
              </a:rPr>
              <a:t>Part shop B</a:t>
            </a:r>
          </a:p>
        </p:txBody>
      </p:sp>
      <p:pic>
        <p:nvPicPr>
          <p:cNvPr id="73" name="Graphic 72" descr="Users with solid fill">
            <a:extLst>
              <a:ext uri="{FF2B5EF4-FFF2-40B4-BE49-F238E27FC236}">
                <a16:creationId xmlns:a16="http://schemas.microsoft.com/office/drawing/2014/main" id="{5885BDD8-176B-83CB-77D0-2B2663D52B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08670" y="3136350"/>
            <a:ext cx="590291" cy="590291"/>
          </a:xfrm>
          <a:prstGeom prst="rect">
            <a:avLst/>
          </a:prstGeom>
        </p:spPr>
      </p:pic>
      <p:sp>
        <p:nvSpPr>
          <p:cNvPr id="74" name="Rectangle: Top Corners Rounded 73">
            <a:extLst>
              <a:ext uri="{FF2B5EF4-FFF2-40B4-BE49-F238E27FC236}">
                <a16:creationId xmlns:a16="http://schemas.microsoft.com/office/drawing/2014/main" id="{64E35C44-B8D5-9374-EAB5-B56E3C1C2480}"/>
              </a:ext>
            </a:extLst>
          </p:cNvPr>
          <p:cNvSpPr/>
          <p:nvPr/>
        </p:nvSpPr>
        <p:spPr>
          <a:xfrm>
            <a:off x="7199919" y="3517519"/>
            <a:ext cx="810240" cy="241995"/>
          </a:xfrm>
          <a:prstGeom prst="round2SameRect">
            <a:avLst/>
          </a:prstGeom>
          <a:noFill/>
          <a:ln w="28575">
            <a:noFill/>
          </a:ln>
        </p:spPr>
        <p:txBody>
          <a:bodyPr wrap="none" rtlCol="0" anchor="ctr">
            <a:spAutoFit/>
          </a:bodyPr>
          <a:lstStyle/>
          <a:p>
            <a:pPr algn="ctr"/>
            <a:r>
              <a:rPr lang="en-US" sz="900">
                <a:latin typeface="Helvetica Neue" panose="02000503000000020004"/>
              </a:rPr>
              <a:t>Part shop B</a:t>
            </a:r>
          </a:p>
        </p:txBody>
      </p:sp>
      <p:sp>
        <p:nvSpPr>
          <p:cNvPr id="75" name="Arrow: Right 74">
            <a:extLst>
              <a:ext uri="{FF2B5EF4-FFF2-40B4-BE49-F238E27FC236}">
                <a16:creationId xmlns:a16="http://schemas.microsoft.com/office/drawing/2014/main" id="{39A43952-2229-300D-0C53-52D3C0E19D26}"/>
              </a:ext>
            </a:extLst>
          </p:cNvPr>
          <p:cNvSpPr/>
          <p:nvPr/>
        </p:nvSpPr>
        <p:spPr>
          <a:xfrm>
            <a:off x="6824214" y="1435512"/>
            <a:ext cx="245474" cy="458539"/>
          </a:xfrm>
          <a:prstGeom prst="rightArrow">
            <a:avLst/>
          </a:prstGeom>
          <a:solidFill>
            <a:schemeClr val="accent1"/>
          </a:solidFill>
        </p:spPr>
        <p:txBody>
          <a:bodyPr wrap="none" rtlCol="0" anchor="ctr">
            <a:spAutoFit/>
          </a:bodyPr>
          <a:lstStyle/>
          <a:p>
            <a:pPr algn="ctr"/>
            <a:endParaRPr lang="en-US" sz="900"/>
          </a:p>
        </p:txBody>
      </p:sp>
      <p:sp>
        <p:nvSpPr>
          <p:cNvPr id="76" name="Arrow: Right 75">
            <a:extLst>
              <a:ext uri="{FF2B5EF4-FFF2-40B4-BE49-F238E27FC236}">
                <a16:creationId xmlns:a16="http://schemas.microsoft.com/office/drawing/2014/main" id="{09CF0998-351A-30EF-F7FB-4790092EB5D7}"/>
              </a:ext>
            </a:extLst>
          </p:cNvPr>
          <p:cNvSpPr/>
          <p:nvPr/>
        </p:nvSpPr>
        <p:spPr>
          <a:xfrm>
            <a:off x="6824213" y="2342482"/>
            <a:ext cx="245474" cy="458539"/>
          </a:xfrm>
          <a:prstGeom prst="rightArrow">
            <a:avLst/>
          </a:prstGeom>
          <a:solidFill>
            <a:schemeClr val="accent1"/>
          </a:solidFill>
        </p:spPr>
        <p:txBody>
          <a:bodyPr wrap="none" rtlCol="0" anchor="ctr">
            <a:spAutoFit/>
          </a:bodyPr>
          <a:lstStyle/>
          <a:p>
            <a:pPr algn="ctr"/>
            <a:endParaRPr lang="en-US" sz="900"/>
          </a:p>
        </p:txBody>
      </p:sp>
      <p:sp>
        <p:nvSpPr>
          <p:cNvPr id="77" name="Arrow: Right 76">
            <a:extLst>
              <a:ext uri="{FF2B5EF4-FFF2-40B4-BE49-F238E27FC236}">
                <a16:creationId xmlns:a16="http://schemas.microsoft.com/office/drawing/2014/main" id="{EB06C12F-4C1D-0B98-050D-52627A12F2F5}"/>
              </a:ext>
            </a:extLst>
          </p:cNvPr>
          <p:cNvSpPr/>
          <p:nvPr/>
        </p:nvSpPr>
        <p:spPr>
          <a:xfrm>
            <a:off x="6831630" y="3208679"/>
            <a:ext cx="245474" cy="458539"/>
          </a:xfrm>
          <a:prstGeom prst="rightArrow">
            <a:avLst/>
          </a:prstGeom>
          <a:solidFill>
            <a:schemeClr val="accent1"/>
          </a:solidFill>
        </p:spPr>
        <p:txBody>
          <a:bodyPr wrap="none" rtlCol="0" anchor="ctr">
            <a:spAutoFit/>
          </a:bodyPr>
          <a:lstStyle/>
          <a:p>
            <a:pPr algn="ctr"/>
            <a:endParaRPr lang="en-US" sz="900"/>
          </a:p>
        </p:txBody>
      </p:sp>
      <p:grpSp>
        <p:nvGrpSpPr>
          <p:cNvPr id="78" name="Group 77">
            <a:extLst>
              <a:ext uri="{FF2B5EF4-FFF2-40B4-BE49-F238E27FC236}">
                <a16:creationId xmlns:a16="http://schemas.microsoft.com/office/drawing/2014/main" id="{D1820269-CC37-BDF3-5FB1-7E276C701C95}"/>
              </a:ext>
            </a:extLst>
          </p:cNvPr>
          <p:cNvGrpSpPr/>
          <p:nvPr/>
        </p:nvGrpSpPr>
        <p:grpSpPr>
          <a:xfrm>
            <a:off x="4586480" y="1182809"/>
            <a:ext cx="237899" cy="324594"/>
            <a:chOff x="2361384" y="1749060"/>
            <a:chExt cx="317198" cy="432791"/>
          </a:xfrm>
        </p:grpSpPr>
        <p:sp>
          <p:nvSpPr>
            <p:cNvPr id="79" name="Oval 78">
              <a:extLst>
                <a:ext uri="{FF2B5EF4-FFF2-40B4-BE49-F238E27FC236}">
                  <a16:creationId xmlns:a16="http://schemas.microsoft.com/office/drawing/2014/main" id="{EE74B787-AFEA-C1A1-8570-68454EAB116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0" name="TextBox 79">
              <a:extLst>
                <a:ext uri="{FF2B5EF4-FFF2-40B4-BE49-F238E27FC236}">
                  <a16:creationId xmlns:a16="http://schemas.microsoft.com/office/drawing/2014/main" id="{0566BFCE-04E0-82CF-3BA0-411DB1F07BCC}"/>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3</a:t>
              </a:r>
              <a:endParaRPr lang="en-US" sz="900">
                <a:cs typeface="Arial" charset="0"/>
              </a:endParaRPr>
            </a:p>
          </p:txBody>
        </p:sp>
      </p:grpSp>
      <p:grpSp>
        <p:nvGrpSpPr>
          <p:cNvPr id="81" name="Group 80">
            <a:extLst>
              <a:ext uri="{FF2B5EF4-FFF2-40B4-BE49-F238E27FC236}">
                <a16:creationId xmlns:a16="http://schemas.microsoft.com/office/drawing/2014/main" id="{B72111AD-1396-6AE2-2923-D0AA1D8BF969}"/>
              </a:ext>
            </a:extLst>
          </p:cNvPr>
          <p:cNvGrpSpPr/>
          <p:nvPr/>
        </p:nvGrpSpPr>
        <p:grpSpPr>
          <a:xfrm>
            <a:off x="5818009" y="1167065"/>
            <a:ext cx="237899" cy="324594"/>
            <a:chOff x="2361384" y="1749060"/>
            <a:chExt cx="317198" cy="432791"/>
          </a:xfrm>
        </p:grpSpPr>
        <p:sp>
          <p:nvSpPr>
            <p:cNvPr id="82" name="Oval 81">
              <a:extLst>
                <a:ext uri="{FF2B5EF4-FFF2-40B4-BE49-F238E27FC236}">
                  <a16:creationId xmlns:a16="http://schemas.microsoft.com/office/drawing/2014/main" id="{86904EF7-E52D-2106-6AC0-187C37A91511}"/>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3" name="TextBox 82">
              <a:extLst>
                <a:ext uri="{FF2B5EF4-FFF2-40B4-BE49-F238E27FC236}">
                  <a16:creationId xmlns:a16="http://schemas.microsoft.com/office/drawing/2014/main" id="{AFBAE478-FCAC-5926-8AB9-C847470517FA}"/>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4</a:t>
              </a:r>
              <a:endParaRPr lang="en-US" sz="900">
                <a:cs typeface="Arial" charset="0"/>
              </a:endParaRPr>
            </a:p>
          </p:txBody>
        </p:sp>
      </p:grpSp>
      <p:grpSp>
        <p:nvGrpSpPr>
          <p:cNvPr id="3" name="Group 2">
            <a:extLst>
              <a:ext uri="{FF2B5EF4-FFF2-40B4-BE49-F238E27FC236}">
                <a16:creationId xmlns:a16="http://schemas.microsoft.com/office/drawing/2014/main" id="{31B0D27E-85C7-4679-E005-3D849EBA3A68}"/>
              </a:ext>
            </a:extLst>
          </p:cNvPr>
          <p:cNvGrpSpPr/>
          <p:nvPr/>
        </p:nvGrpSpPr>
        <p:grpSpPr>
          <a:xfrm>
            <a:off x="7168876" y="1182809"/>
            <a:ext cx="237899" cy="324594"/>
            <a:chOff x="2361384" y="1749060"/>
            <a:chExt cx="317198" cy="432791"/>
          </a:xfrm>
        </p:grpSpPr>
        <p:sp>
          <p:nvSpPr>
            <p:cNvPr id="6" name="Oval 5">
              <a:extLst>
                <a:ext uri="{FF2B5EF4-FFF2-40B4-BE49-F238E27FC236}">
                  <a16:creationId xmlns:a16="http://schemas.microsoft.com/office/drawing/2014/main" id="{9065DB07-78F4-9529-DA51-A3E9BB24BBCF}"/>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 name="TextBox 7">
              <a:extLst>
                <a:ext uri="{FF2B5EF4-FFF2-40B4-BE49-F238E27FC236}">
                  <a16:creationId xmlns:a16="http://schemas.microsoft.com/office/drawing/2014/main" id="{2BA1687C-B877-5982-CD06-7501B85D3C77}"/>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5</a:t>
              </a:r>
              <a:endParaRPr lang="en-US" sz="900">
                <a:cs typeface="Arial" charset="0"/>
              </a:endParaRPr>
            </a:p>
          </p:txBody>
        </p:sp>
      </p:grpSp>
      <p:pic>
        <p:nvPicPr>
          <p:cNvPr id="11" name="Graphic 10" descr="Computer with solid fill">
            <a:extLst>
              <a:ext uri="{FF2B5EF4-FFF2-40B4-BE49-F238E27FC236}">
                <a16:creationId xmlns:a16="http://schemas.microsoft.com/office/drawing/2014/main" id="{E396FBD3-7815-334F-328C-4E5F20E77F8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86558" y="1486294"/>
            <a:ext cx="356972" cy="356972"/>
          </a:xfrm>
          <a:prstGeom prst="rect">
            <a:avLst/>
          </a:prstGeom>
        </p:spPr>
      </p:pic>
      <p:pic>
        <p:nvPicPr>
          <p:cNvPr id="19" name="Graphic 18" descr="Web design with solid fill">
            <a:extLst>
              <a:ext uri="{FF2B5EF4-FFF2-40B4-BE49-F238E27FC236}">
                <a16:creationId xmlns:a16="http://schemas.microsoft.com/office/drawing/2014/main" id="{9B644ED3-F43D-B803-89F3-0CFCCD4141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45114" y="3226387"/>
            <a:ext cx="440337" cy="440337"/>
          </a:xfrm>
          <a:prstGeom prst="rect">
            <a:avLst/>
          </a:prstGeom>
        </p:spPr>
      </p:pic>
      <p:sp>
        <p:nvSpPr>
          <p:cNvPr id="9" name="TextBox 8">
            <a:extLst>
              <a:ext uri="{FF2B5EF4-FFF2-40B4-BE49-F238E27FC236}">
                <a16:creationId xmlns:a16="http://schemas.microsoft.com/office/drawing/2014/main" id="{E916439F-100B-2C5A-A4A5-D2364D30666C}"/>
              </a:ext>
            </a:extLst>
          </p:cNvPr>
          <p:cNvSpPr txBox="1"/>
          <p:nvPr/>
        </p:nvSpPr>
        <p:spPr bwMode="auto">
          <a:xfrm>
            <a:off x="585874" y="3900641"/>
            <a:ext cx="4125929" cy="369332"/>
          </a:xfrm>
          <a:prstGeom prst="rect">
            <a:avLst/>
          </a:prstGeom>
          <a:noFill/>
          <a:ln w="9525">
            <a:noFill/>
            <a:miter lim="800000"/>
            <a:headEnd/>
            <a:tailEnd/>
          </a:ln>
        </p:spPr>
        <p:txBody>
          <a:bodyPr wrap="square" rtlCol="0">
            <a:spAutoFit/>
          </a:bodyPr>
          <a:lstStyle/>
          <a:p>
            <a:pPr marL="40481">
              <a:tabLst>
                <a:tab pos="255985" algn="l"/>
              </a:tabLst>
            </a:pPr>
            <a:r>
              <a:rPr lang="en-US" sz="900">
                <a:solidFill>
                  <a:srgbClr val="FF0000"/>
                </a:solidFill>
                <a:latin typeface="Helvetica Neue" panose="02000503000000020004"/>
              </a:rPr>
              <a:t>Problems :</a:t>
            </a:r>
          </a:p>
          <a:p>
            <a:pPr marL="211931" indent="-171450">
              <a:buFont typeface="Arial" panose="020B0604020202020204" pitchFamily="34" charset="0"/>
              <a:buChar char="•"/>
              <a:tabLst>
                <a:tab pos="255985" algn="l"/>
              </a:tabLst>
            </a:pPr>
            <a:endParaRPr lang="en-US" sz="900">
              <a:latin typeface="Helvetica Neue" panose="02000503000000020004"/>
            </a:endParaRPr>
          </a:p>
        </p:txBody>
      </p:sp>
      <p:graphicFrame>
        <p:nvGraphicFramePr>
          <p:cNvPr id="14" name="Table 15">
            <a:extLst>
              <a:ext uri="{FF2B5EF4-FFF2-40B4-BE49-F238E27FC236}">
                <a16:creationId xmlns:a16="http://schemas.microsoft.com/office/drawing/2014/main" id="{21D9A339-A23C-0711-8C52-D1739ECC23DC}"/>
              </a:ext>
            </a:extLst>
          </p:cNvPr>
          <p:cNvGraphicFramePr>
            <a:graphicFrameLocks noGrp="1"/>
          </p:cNvGraphicFramePr>
          <p:nvPr/>
        </p:nvGraphicFramePr>
        <p:xfrm>
          <a:off x="700292" y="4075850"/>
          <a:ext cx="3771900" cy="10287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409010845"/>
                    </a:ext>
                  </a:extLst>
                </a:gridCol>
                <a:gridCol w="3086100">
                  <a:extLst>
                    <a:ext uri="{9D8B030D-6E8A-4147-A177-3AD203B41FA5}">
                      <a16:colId xmlns:a16="http://schemas.microsoft.com/office/drawing/2014/main" val="3173180657"/>
                    </a:ext>
                  </a:extLst>
                </a:gridCol>
              </a:tblGrid>
              <a:tr h="891540">
                <a:tc>
                  <a:txBody>
                    <a:bodyPr/>
                    <a:lstStyle/>
                    <a:p>
                      <a:endParaRPr lang="en-US" sz="140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buFont typeface="Arial" panose="020B0604020202020204" pitchFamily="34" charset="0"/>
                        <a:buChar char="•"/>
                      </a:pPr>
                      <a:r>
                        <a:rPr lang="en-US" sz="900" b="0" dirty="0">
                          <a:solidFill>
                            <a:sysClr val="windowText" lastClr="000000"/>
                          </a:solidFill>
                          <a:latin typeface="Helvetica Neue" panose="02000503000000020004"/>
                        </a:rPr>
                        <a:t>Manual effort of data extraction and </a:t>
                      </a:r>
                      <a:r>
                        <a:rPr lang="en-US" sz="900" b="1" dirty="0">
                          <a:solidFill>
                            <a:sysClr val="windowText" lastClr="000000"/>
                          </a:solidFill>
                          <a:latin typeface="Helvetica Neue" panose="02000503000000020004"/>
                        </a:rPr>
                        <a:t>compiling information takes a lot of time (4 – 5 months)</a:t>
                      </a:r>
                    </a:p>
                    <a:p>
                      <a:pPr marL="173038" indent="-173038">
                        <a:buFont typeface="Arial" panose="020B0604020202020204" pitchFamily="34" charset="0"/>
                        <a:buChar char="•"/>
                      </a:pPr>
                      <a:r>
                        <a:rPr lang="en-US" sz="900" b="0" dirty="0">
                          <a:solidFill>
                            <a:sysClr val="windowText" lastClr="000000"/>
                          </a:solidFill>
                          <a:latin typeface="Helvetica Neue" panose="02000503000000020004"/>
                        </a:rPr>
                        <a:t>Hardcopy distribution impacting of delayed information :</a:t>
                      </a:r>
                    </a:p>
                    <a:p>
                      <a:pPr marL="461963" lvl="1" indent="-279400">
                        <a:buFont typeface="Wingdings" panose="05000000000000000000" pitchFamily="2" charset="2"/>
                        <a:buChar char="Ø"/>
                      </a:pPr>
                      <a:r>
                        <a:rPr lang="en-US" sz="900" b="0" dirty="0">
                          <a:solidFill>
                            <a:sysClr val="windowText" lastClr="000000"/>
                          </a:solidFill>
                          <a:latin typeface="Helvetica Neue" panose="02000503000000020004"/>
                        </a:rPr>
                        <a:t>Price updates (redistribute for price book or reconfirm price before purchase)</a:t>
                      </a:r>
                    </a:p>
                    <a:p>
                      <a:pPr marL="461963" lvl="1" indent="-279400">
                        <a:buFont typeface="Wingdings" panose="05000000000000000000" pitchFamily="2" charset="2"/>
                        <a:buChar char="Ø"/>
                      </a:pPr>
                      <a:r>
                        <a:rPr lang="en-US" sz="900" b="0" dirty="0">
                          <a:solidFill>
                            <a:sysClr val="windowText" lastClr="000000"/>
                          </a:solidFill>
                          <a:latin typeface="Helvetica Neue" panose="02000503000000020004"/>
                        </a:rPr>
                        <a:t>Any updates in Catalogue information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1860290"/>
                  </a:ext>
                </a:extLst>
              </a:tr>
            </a:tbl>
          </a:graphicData>
        </a:graphic>
      </p:graphicFrame>
      <p:pic>
        <p:nvPicPr>
          <p:cNvPr id="18" name="Graphic 17" descr="Stopwatch 33% with solid fill">
            <a:extLst>
              <a:ext uri="{FF2B5EF4-FFF2-40B4-BE49-F238E27FC236}">
                <a16:creationId xmlns:a16="http://schemas.microsoft.com/office/drawing/2014/main" id="{768EFC23-A010-D36B-29CA-3DDCD5D763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0731" y="4180958"/>
            <a:ext cx="450248" cy="450248"/>
          </a:xfrm>
          <a:prstGeom prst="rect">
            <a:avLst/>
          </a:prstGeom>
        </p:spPr>
      </p:pic>
      <p:sp>
        <p:nvSpPr>
          <p:cNvPr id="25" name="TextBox 24">
            <a:extLst>
              <a:ext uri="{FF2B5EF4-FFF2-40B4-BE49-F238E27FC236}">
                <a16:creationId xmlns:a16="http://schemas.microsoft.com/office/drawing/2014/main" id="{AB3D8DF7-A8F8-7BC6-07F8-C65220E3989B}"/>
              </a:ext>
            </a:extLst>
          </p:cNvPr>
          <p:cNvSpPr txBox="1"/>
          <p:nvPr/>
        </p:nvSpPr>
        <p:spPr bwMode="auto">
          <a:xfrm>
            <a:off x="615997" y="4631206"/>
            <a:ext cx="840407" cy="253916"/>
          </a:xfrm>
          <a:prstGeom prst="rect">
            <a:avLst/>
          </a:prstGeom>
          <a:noFill/>
          <a:ln w="9525">
            <a:noFill/>
            <a:miter lim="800000"/>
            <a:headEnd/>
            <a:tailEnd/>
          </a:ln>
        </p:spPr>
        <p:txBody>
          <a:bodyPr wrap="square">
            <a:spAutoFit/>
          </a:bodyPr>
          <a:lstStyle/>
          <a:p>
            <a:pPr algn="ctr"/>
            <a:r>
              <a:rPr lang="en-US" sz="1050">
                <a:latin typeface="Helvetica Neue" panose="02000503000000020004"/>
              </a:rPr>
              <a:t>Lead Time</a:t>
            </a:r>
            <a:endParaRPr lang="en-US" sz="1050"/>
          </a:p>
        </p:txBody>
      </p:sp>
      <p:graphicFrame>
        <p:nvGraphicFramePr>
          <p:cNvPr id="26" name="Table 15">
            <a:extLst>
              <a:ext uri="{FF2B5EF4-FFF2-40B4-BE49-F238E27FC236}">
                <a16:creationId xmlns:a16="http://schemas.microsoft.com/office/drawing/2014/main" id="{C2F2A4E7-A30C-AC21-EE12-4D256465AA0E}"/>
              </a:ext>
            </a:extLst>
          </p:cNvPr>
          <p:cNvGraphicFramePr>
            <a:graphicFrameLocks noGrp="1"/>
          </p:cNvGraphicFramePr>
          <p:nvPr/>
        </p:nvGraphicFramePr>
        <p:xfrm>
          <a:off x="4538439" y="4075161"/>
          <a:ext cx="3909060" cy="61722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409010845"/>
                    </a:ext>
                  </a:extLst>
                </a:gridCol>
                <a:gridCol w="3223260">
                  <a:extLst>
                    <a:ext uri="{9D8B030D-6E8A-4147-A177-3AD203B41FA5}">
                      <a16:colId xmlns:a16="http://schemas.microsoft.com/office/drawing/2014/main" val="3173180657"/>
                    </a:ext>
                  </a:extLst>
                </a:gridCol>
              </a:tblGrid>
              <a:tr h="480060">
                <a:tc>
                  <a:txBody>
                    <a:bodyPr/>
                    <a:lstStyle/>
                    <a:p>
                      <a:endParaRPr lang="en-US" sz="140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Arial" panose="020B0604020202020204" pitchFamily="34" charset="0"/>
                        <a:buChar char="•"/>
                      </a:pPr>
                      <a:r>
                        <a:rPr lang="en-US" sz="900" b="0" dirty="0">
                          <a:solidFill>
                            <a:sysClr val="windowText" lastClr="000000"/>
                          </a:solidFill>
                          <a:latin typeface="Helvetica Neue" panose="02000503000000020004"/>
                        </a:rPr>
                        <a:t>Labor cost of extraction and compiling (4 – 5 months)</a:t>
                      </a:r>
                    </a:p>
                    <a:p>
                      <a:pPr marL="342900" indent="-342900">
                        <a:buFont typeface="Arial" panose="020B0604020202020204" pitchFamily="34" charset="0"/>
                        <a:buChar char="•"/>
                      </a:pPr>
                      <a:r>
                        <a:rPr lang="en-US" sz="900" b="0" dirty="0">
                          <a:solidFill>
                            <a:sysClr val="windowText" lastClr="000000"/>
                          </a:solidFill>
                          <a:latin typeface="Helvetica Neue" panose="02000503000000020004"/>
                        </a:rPr>
                        <a:t>Printing and distribution of Catalogue book &amp; Price book</a:t>
                      </a:r>
                    </a:p>
                    <a:p>
                      <a:pPr marL="342900" indent="-342900">
                        <a:buFont typeface="Arial" panose="020B0604020202020204" pitchFamily="34" charset="0"/>
                        <a:buChar char="•"/>
                      </a:pPr>
                      <a:r>
                        <a:rPr lang="en-US" sz="900" b="0" dirty="0">
                          <a:solidFill>
                            <a:sysClr val="windowText" lastClr="000000"/>
                          </a:solidFill>
                          <a:latin typeface="Helvetica Neue" panose="02000503000000020004"/>
                        </a:rPr>
                        <a:t>Any parts return impact of wrong parts delivered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1860290"/>
                  </a:ext>
                </a:extLst>
              </a:tr>
            </a:tbl>
          </a:graphicData>
        </a:graphic>
      </p:graphicFrame>
      <p:pic>
        <p:nvPicPr>
          <p:cNvPr id="42" name="Graphic 41" descr="Coins with solid fill">
            <a:extLst>
              <a:ext uri="{FF2B5EF4-FFF2-40B4-BE49-F238E27FC236}">
                <a16:creationId xmlns:a16="http://schemas.microsoft.com/office/drawing/2014/main" id="{624AB5B6-03B2-9DE7-C066-C431E27EA23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99946" y="4070879"/>
            <a:ext cx="367755" cy="367755"/>
          </a:xfrm>
          <a:prstGeom prst="rect">
            <a:avLst/>
          </a:prstGeom>
        </p:spPr>
      </p:pic>
      <p:sp>
        <p:nvSpPr>
          <p:cNvPr id="43" name="TextBox 42">
            <a:extLst>
              <a:ext uri="{FF2B5EF4-FFF2-40B4-BE49-F238E27FC236}">
                <a16:creationId xmlns:a16="http://schemas.microsoft.com/office/drawing/2014/main" id="{6FD93046-2C10-46E0-95B6-9497A87F6582}"/>
              </a:ext>
            </a:extLst>
          </p:cNvPr>
          <p:cNvSpPr txBox="1"/>
          <p:nvPr/>
        </p:nvSpPr>
        <p:spPr bwMode="auto">
          <a:xfrm>
            <a:off x="4463530" y="4355700"/>
            <a:ext cx="840407" cy="253916"/>
          </a:xfrm>
          <a:prstGeom prst="rect">
            <a:avLst/>
          </a:prstGeom>
          <a:noFill/>
          <a:ln w="9525">
            <a:noFill/>
            <a:miter lim="800000"/>
            <a:headEnd/>
            <a:tailEnd/>
          </a:ln>
        </p:spPr>
        <p:txBody>
          <a:bodyPr wrap="square">
            <a:spAutoFit/>
          </a:bodyPr>
          <a:lstStyle/>
          <a:p>
            <a:pPr algn="ctr"/>
            <a:r>
              <a:rPr lang="en-US" sz="1050">
                <a:latin typeface="Helvetica Neue" panose="02000503000000020004"/>
              </a:rPr>
              <a:t>Cost</a:t>
            </a:r>
            <a:endParaRPr lang="en-US" sz="1050"/>
          </a:p>
        </p:txBody>
      </p:sp>
      <p:graphicFrame>
        <p:nvGraphicFramePr>
          <p:cNvPr id="45" name="Table 15">
            <a:extLst>
              <a:ext uri="{FF2B5EF4-FFF2-40B4-BE49-F238E27FC236}">
                <a16:creationId xmlns:a16="http://schemas.microsoft.com/office/drawing/2014/main" id="{983DA4D3-09DC-7E0D-E88A-2FDE143F4C75}"/>
              </a:ext>
            </a:extLst>
          </p:cNvPr>
          <p:cNvGraphicFramePr>
            <a:graphicFrameLocks noGrp="1"/>
          </p:cNvGraphicFramePr>
          <p:nvPr>
            <p:extLst>
              <p:ext uri="{D42A27DB-BD31-4B8C-83A1-F6EECF244321}">
                <p14:modId xmlns:p14="http://schemas.microsoft.com/office/powerpoint/2010/main" val="1540157407"/>
              </p:ext>
            </p:extLst>
          </p:nvPr>
        </p:nvGraphicFramePr>
        <p:xfrm>
          <a:off x="4524507" y="4705731"/>
          <a:ext cx="3017520" cy="369752"/>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409010845"/>
                    </a:ext>
                  </a:extLst>
                </a:gridCol>
                <a:gridCol w="2331720">
                  <a:extLst>
                    <a:ext uri="{9D8B030D-6E8A-4147-A177-3AD203B41FA5}">
                      <a16:colId xmlns:a16="http://schemas.microsoft.com/office/drawing/2014/main" val="3173180657"/>
                    </a:ext>
                  </a:extLst>
                </a:gridCol>
              </a:tblGrid>
              <a:tr h="369752">
                <a:tc>
                  <a:txBody>
                    <a:bodyPr/>
                    <a:lstStyle/>
                    <a:p>
                      <a:endParaRPr lang="en-US" sz="140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Arial" panose="020B0604020202020204" pitchFamily="34" charset="0"/>
                        <a:buChar char="•"/>
                      </a:pPr>
                      <a:r>
                        <a:rPr lang="en-US" sz="900" b="0" dirty="0">
                          <a:solidFill>
                            <a:sysClr val="windowText" lastClr="000000"/>
                          </a:solidFill>
                          <a:latin typeface="Helvetica Neue" panose="02000503000000020004"/>
                        </a:rPr>
                        <a:t>Hardcopy is not user friendly for searching information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1860290"/>
                  </a:ext>
                </a:extLst>
              </a:tr>
            </a:tbl>
          </a:graphicData>
        </a:graphic>
      </p:graphicFrame>
      <p:pic>
        <p:nvPicPr>
          <p:cNvPr id="49" name="Graphic 48" descr="Magnifying glass with solid fill">
            <a:extLst>
              <a:ext uri="{FF2B5EF4-FFF2-40B4-BE49-F238E27FC236}">
                <a16:creationId xmlns:a16="http://schemas.microsoft.com/office/drawing/2014/main" id="{D41F36A1-52E9-FEDE-7F16-9A27F22334B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06410" y="4581889"/>
            <a:ext cx="354648" cy="354648"/>
          </a:xfrm>
          <a:prstGeom prst="rect">
            <a:avLst/>
          </a:prstGeom>
        </p:spPr>
      </p:pic>
      <p:sp>
        <p:nvSpPr>
          <p:cNvPr id="16" name="Rectangle: Top Corners Rounded 15">
            <a:extLst>
              <a:ext uri="{FF2B5EF4-FFF2-40B4-BE49-F238E27FC236}">
                <a16:creationId xmlns:a16="http://schemas.microsoft.com/office/drawing/2014/main" id="{0BA7D331-D1E5-7BBD-485A-7D66D1A68152}"/>
              </a:ext>
            </a:extLst>
          </p:cNvPr>
          <p:cNvSpPr/>
          <p:nvPr/>
        </p:nvSpPr>
        <p:spPr>
          <a:xfrm>
            <a:off x="688858" y="2746988"/>
            <a:ext cx="807855" cy="217795"/>
          </a:xfrm>
          <a:prstGeom prst="round2SameRect">
            <a:avLst/>
          </a:prstGeom>
          <a:noFill/>
          <a:ln w="28575">
            <a:noFill/>
          </a:ln>
        </p:spPr>
        <p:txBody>
          <a:bodyPr wrap="none" lIns="68580" tIns="34290" rIns="68580" bIns="34290" rtlCol="0" anchor="ctr">
            <a:spAutoFit/>
          </a:bodyPr>
          <a:lstStyle/>
          <a:p>
            <a:pPr algn="ctr"/>
            <a:r>
              <a:rPr lang="en-US" sz="900">
                <a:latin typeface="Helvetica Neue" panose="02000503000000020004"/>
                <a:ea typeface="ＭＳ Ｐゴシック"/>
                <a:cs typeface="Arial"/>
              </a:rPr>
              <a:t>MMKSI User</a:t>
            </a:r>
            <a:endParaRPr lang="en-US" sz="900">
              <a:latin typeface="Helvetica Neue" panose="02000503000000020004"/>
            </a:endParaRPr>
          </a:p>
        </p:txBody>
      </p:sp>
      <p:sp>
        <p:nvSpPr>
          <p:cNvPr id="20" name="Rectangle 19">
            <a:extLst>
              <a:ext uri="{FF2B5EF4-FFF2-40B4-BE49-F238E27FC236}">
                <a16:creationId xmlns:a16="http://schemas.microsoft.com/office/drawing/2014/main" id="{B3EB2EA6-1086-01D6-B224-067DA7DD9926}"/>
              </a:ext>
            </a:extLst>
          </p:cNvPr>
          <p:cNvSpPr>
            <a:spLocks noChangeArrowheads="1"/>
          </p:cNvSpPr>
          <p:nvPr/>
        </p:nvSpPr>
        <p:spPr bwMode="auto">
          <a:xfrm>
            <a:off x="250825" y="41733"/>
            <a:ext cx="7225682" cy="487056"/>
          </a:xfrm>
          <a:prstGeom prst="rect">
            <a:avLst/>
          </a:prstGeom>
        </p:spPr>
        <p:txBody>
          <a:bodyPr/>
          <a:lstStyle/>
          <a:p>
            <a:pPr>
              <a:lnSpc>
                <a:spcPts val="3400"/>
              </a:lnSpc>
              <a:spcBef>
                <a:spcPct val="20000"/>
              </a:spcBef>
              <a:buFont typeface="Arial" panose="020B0604020202020204" pitchFamily="34" charset="0"/>
              <a:buNone/>
            </a:pPr>
            <a:r>
              <a:rPr lang="en-US" altLang="id-ID" b="1" dirty="0">
                <a:latin typeface="MMC OFFICE" panose="00000500000000000000" pitchFamily="2" charset="0"/>
                <a:ea typeface="ヒラギノ角ゴ Std W6" pitchFamily="34" charset="-128"/>
              </a:rPr>
              <a:t>Problem Definition and Solutions</a:t>
            </a:r>
          </a:p>
        </p:txBody>
      </p:sp>
      <p:sp>
        <p:nvSpPr>
          <p:cNvPr id="21" name="Rectangle 20">
            <a:extLst>
              <a:ext uri="{FF2B5EF4-FFF2-40B4-BE49-F238E27FC236}">
                <a16:creationId xmlns:a16="http://schemas.microsoft.com/office/drawing/2014/main" id="{74B705AB-1AA7-4691-18ED-ACB861D6975A}"/>
              </a:ext>
            </a:extLst>
          </p:cNvPr>
          <p:cNvSpPr/>
          <p:nvPr/>
        </p:nvSpPr>
        <p:spPr>
          <a:xfrm>
            <a:off x="700292" y="1182809"/>
            <a:ext cx="7406640" cy="2650935"/>
          </a:xfrm>
          <a:prstGeom prst="rect">
            <a:avLst/>
          </a:prstGeom>
          <a:noFill/>
          <a:ln w="28575">
            <a:solidFill>
              <a:schemeClr val="tx1"/>
            </a:solidFill>
          </a:ln>
        </p:spPr>
        <p:txBody>
          <a:bodyPr wrap="square" rtlCol="0" anchor="ctr">
            <a:noAutofit/>
          </a:bodyPr>
          <a:lstStyle/>
          <a:p>
            <a:pPr algn="ctr"/>
            <a:endParaRPr lang="en-US" sz="900"/>
          </a:p>
        </p:txBody>
      </p:sp>
      <p:sp>
        <p:nvSpPr>
          <p:cNvPr id="23" name="スライド番号プレースホルダー 3">
            <a:extLst>
              <a:ext uri="{FF2B5EF4-FFF2-40B4-BE49-F238E27FC236}">
                <a16:creationId xmlns:a16="http://schemas.microsoft.com/office/drawing/2014/main" id="{E5635759-EF92-D3E0-3268-233005557E2C}"/>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6</a:t>
            </a:fld>
            <a:endParaRPr lang="ja-JP" altLang="en-US"/>
          </a:p>
        </p:txBody>
      </p:sp>
      <p:sp>
        <p:nvSpPr>
          <p:cNvPr id="24" name="サブタイトル 7">
            <a:extLst>
              <a:ext uri="{FF2B5EF4-FFF2-40B4-BE49-F238E27FC236}">
                <a16:creationId xmlns:a16="http://schemas.microsoft.com/office/drawing/2014/main" id="{F40340D2-3F3C-E328-8DDE-14443FBF4980}"/>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27" name="サブタイトル 7">
            <a:extLst>
              <a:ext uri="{FF2B5EF4-FFF2-40B4-BE49-F238E27FC236}">
                <a16:creationId xmlns:a16="http://schemas.microsoft.com/office/drawing/2014/main" id="{3813383D-D931-6011-9E02-1FE80EC4749E}"/>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28" name="Picture 27" descr="A picture containing graphics, graphic design, design&#10;&#10;Description automatically generated">
            <a:extLst>
              <a:ext uri="{FF2B5EF4-FFF2-40B4-BE49-F238E27FC236}">
                <a16:creationId xmlns:a16="http://schemas.microsoft.com/office/drawing/2014/main" id="{A3B646D9-AD56-0DB2-E978-E948552A8335}"/>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227915214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FFA62EF7-207F-BE6E-AB1E-1236C6A21056}"/>
              </a:ext>
            </a:extLst>
          </p:cNvPr>
          <p:cNvSpPr/>
          <p:nvPr/>
        </p:nvSpPr>
        <p:spPr>
          <a:xfrm>
            <a:off x="3665290" y="2456334"/>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33" name="Rectangle 32">
            <a:extLst>
              <a:ext uri="{FF2B5EF4-FFF2-40B4-BE49-F238E27FC236}">
                <a16:creationId xmlns:a16="http://schemas.microsoft.com/office/drawing/2014/main" id="{2A524886-70C0-609C-5FB2-43B0C7D4146E}"/>
              </a:ext>
            </a:extLst>
          </p:cNvPr>
          <p:cNvSpPr/>
          <p:nvPr/>
        </p:nvSpPr>
        <p:spPr>
          <a:xfrm>
            <a:off x="1665396" y="2456334"/>
            <a:ext cx="14401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0" name="Rectangle 39">
            <a:extLst>
              <a:ext uri="{FF2B5EF4-FFF2-40B4-BE49-F238E27FC236}">
                <a16:creationId xmlns:a16="http://schemas.microsoft.com/office/drawing/2014/main" id="{C0334B50-A0EC-C7F7-7A27-0B5FF3AF3B3F}"/>
              </a:ext>
            </a:extLst>
          </p:cNvPr>
          <p:cNvSpPr/>
          <p:nvPr/>
        </p:nvSpPr>
        <p:spPr>
          <a:xfrm>
            <a:off x="1665398" y="1531751"/>
            <a:ext cx="14401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 name="Title 1">
            <a:extLst>
              <a:ext uri="{FF2B5EF4-FFF2-40B4-BE49-F238E27FC236}">
                <a16:creationId xmlns:a16="http://schemas.microsoft.com/office/drawing/2014/main" id="{134200FE-FE72-104A-9CC9-F4D669BE92D0}"/>
              </a:ext>
            </a:extLst>
          </p:cNvPr>
          <p:cNvSpPr>
            <a:spLocks noGrp="1"/>
          </p:cNvSpPr>
          <p:nvPr>
            <p:ph type="title"/>
          </p:nvPr>
        </p:nvSpPr>
        <p:spPr/>
        <p:txBody>
          <a:bodyPr/>
          <a:lstStyle/>
          <a:p>
            <a:pPr algn="l"/>
            <a:endParaRPr lang="en-US" sz="100" dirty="0"/>
          </a:p>
        </p:txBody>
      </p:sp>
      <p:sp>
        <p:nvSpPr>
          <p:cNvPr id="3" name="Content Placeholder 2">
            <a:extLst>
              <a:ext uri="{FF2B5EF4-FFF2-40B4-BE49-F238E27FC236}">
                <a16:creationId xmlns:a16="http://schemas.microsoft.com/office/drawing/2014/main" id="{68EB36C4-E608-D5BC-D6DA-6F7E89D167F4}"/>
              </a:ext>
            </a:extLst>
          </p:cNvPr>
          <p:cNvSpPr>
            <a:spLocks noGrp="1"/>
          </p:cNvSpPr>
          <p:nvPr>
            <p:ph idx="1"/>
          </p:nvPr>
        </p:nvSpPr>
        <p:spPr/>
        <p:txBody>
          <a:bodyPr/>
          <a:lstStyle/>
          <a:p>
            <a:endParaRPr lang="en-US" sz="100" dirty="0"/>
          </a:p>
        </p:txBody>
      </p:sp>
      <p:pic>
        <p:nvPicPr>
          <p:cNvPr id="7" name="Picture 6">
            <a:extLst>
              <a:ext uri="{FF2B5EF4-FFF2-40B4-BE49-F238E27FC236}">
                <a16:creationId xmlns:a16="http://schemas.microsoft.com/office/drawing/2014/main" id="{C782392F-6200-C8AA-2B19-815CC5B02497}"/>
              </a:ext>
            </a:extLst>
          </p:cNvPr>
          <p:cNvPicPr>
            <a:picLocks noChangeAspect="1"/>
          </p:cNvPicPr>
          <p:nvPr/>
        </p:nvPicPr>
        <p:blipFill>
          <a:blip r:embed="rId4"/>
          <a:stretch>
            <a:fillRect/>
          </a:stretch>
        </p:blipFill>
        <p:spPr>
          <a:xfrm>
            <a:off x="867784" y="2270285"/>
            <a:ext cx="360356" cy="500754"/>
          </a:xfrm>
          <a:prstGeom prst="rect">
            <a:avLst/>
          </a:prstGeom>
        </p:spPr>
      </p:pic>
      <p:sp>
        <p:nvSpPr>
          <p:cNvPr id="12" name="Rectangle: Top Corners Rounded 11">
            <a:extLst>
              <a:ext uri="{FF2B5EF4-FFF2-40B4-BE49-F238E27FC236}">
                <a16:creationId xmlns:a16="http://schemas.microsoft.com/office/drawing/2014/main" id="{6BE0980D-5C76-4099-8E9F-31FE3D894B26}"/>
              </a:ext>
            </a:extLst>
          </p:cNvPr>
          <p:cNvSpPr/>
          <p:nvPr/>
        </p:nvSpPr>
        <p:spPr>
          <a:xfrm>
            <a:off x="2111472" y="1368287"/>
            <a:ext cx="887358"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ASA (CAPS)</a:t>
            </a:r>
            <a:br>
              <a:rPr lang="en-US" sz="900">
                <a:latin typeface="Helvetica Neue" panose="02000503000000020004"/>
              </a:rPr>
            </a:br>
            <a:r>
              <a:rPr lang="en-US" sz="900">
                <a:latin typeface="Helvetica Neue" panose="02000503000000020004"/>
              </a:rPr>
              <a:t>Application</a:t>
            </a:r>
          </a:p>
        </p:txBody>
      </p:sp>
      <p:sp>
        <p:nvSpPr>
          <p:cNvPr id="13" name="Arrow: Right 12">
            <a:extLst>
              <a:ext uri="{FF2B5EF4-FFF2-40B4-BE49-F238E27FC236}">
                <a16:creationId xmlns:a16="http://schemas.microsoft.com/office/drawing/2014/main" id="{38F77801-1B1C-3FBD-C570-B4BD663DF43B}"/>
              </a:ext>
            </a:extLst>
          </p:cNvPr>
          <p:cNvSpPr/>
          <p:nvPr/>
        </p:nvSpPr>
        <p:spPr>
          <a:xfrm>
            <a:off x="1325824" y="2346275"/>
            <a:ext cx="245474" cy="458539"/>
          </a:xfrm>
          <a:prstGeom prst="rightArrow">
            <a:avLst/>
          </a:prstGeom>
          <a:solidFill>
            <a:schemeClr val="accent1"/>
          </a:solidFill>
        </p:spPr>
        <p:txBody>
          <a:bodyPr wrap="none" rtlCol="0" anchor="ctr">
            <a:spAutoFit/>
          </a:bodyPr>
          <a:lstStyle/>
          <a:p>
            <a:pPr algn="ctr"/>
            <a:endParaRPr lang="en-US" sz="900"/>
          </a:p>
        </p:txBody>
      </p:sp>
      <p:pic>
        <p:nvPicPr>
          <p:cNvPr id="32" name="Graphic 31" descr="Users with solid fill">
            <a:extLst>
              <a:ext uri="{FF2B5EF4-FFF2-40B4-BE49-F238E27FC236}">
                <a16:creationId xmlns:a16="http://schemas.microsoft.com/office/drawing/2014/main" id="{3364C5ED-0904-1D8C-915A-818A51CAD8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2317" y="1386370"/>
            <a:ext cx="590291" cy="590291"/>
          </a:xfrm>
          <a:prstGeom prst="rect">
            <a:avLst/>
          </a:prstGeom>
        </p:spPr>
      </p:pic>
      <p:pic>
        <p:nvPicPr>
          <p:cNvPr id="34" name="Graphic 33" descr="Users with solid fill">
            <a:extLst>
              <a:ext uri="{FF2B5EF4-FFF2-40B4-BE49-F238E27FC236}">
                <a16:creationId xmlns:a16="http://schemas.microsoft.com/office/drawing/2014/main" id="{F0C9F4FF-FF81-DD2A-16FB-1FFAD08AEA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0158" y="2016802"/>
            <a:ext cx="590291" cy="590291"/>
          </a:xfrm>
          <a:prstGeom prst="rect">
            <a:avLst/>
          </a:prstGeom>
        </p:spPr>
      </p:pic>
      <p:sp>
        <p:nvSpPr>
          <p:cNvPr id="36" name="Rectangle: Top Corners Rounded 35">
            <a:extLst>
              <a:ext uri="{FF2B5EF4-FFF2-40B4-BE49-F238E27FC236}">
                <a16:creationId xmlns:a16="http://schemas.microsoft.com/office/drawing/2014/main" id="{B68339C5-281B-B97B-C1BF-4CDF1A59FB7B}"/>
              </a:ext>
            </a:extLst>
          </p:cNvPr>
          <p:cNvSpPr/>
          <p:nvPr/>
        </p:nvSpPr>
        <p:spPr>
          <a:xfrm>
            <a:off x="3721519" y="1820408"/>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A</a:t>
            </a:r>
          </a:p>
        </p:txBody>
      </p:sp>
      <p:sp>
        <p:nvSpPr>
          <p:cNvPr id="37" name="Rectangle: Top Corners Rounded 36">
            <a:extLst>
              <a:ext uri="{FF2B5EF4-FFF2-40B4-BE49-F238E27FC236}">
                <a16:creationId xmlns:a16="http://schemas.microsoft.com/office/drawing/2014/main" id="{9201756E-B002-5213-1531-E8DBA27D790E}"/>
              </a:ext>
            </a:extLst>
          </p:cNvPr>
          <p:cNvSpPr/>
          <p:nvPr/>
        </p:nvSpPr>
        <p:spPr>
          <a:xfrm>
            <a:off x="3719359" y="2442709"/>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B</a:t>
            </a:r>
          </a:p>
        </p:txBody>
      </p:sp>
      <p:sp>
        <p:nvSpPr>
          <p:cNvPr id="48" name="Oval 47">
            <a:extLst>
              <a:ext uri="{FF2B5EF4-FFF2-40B4-BE49-F238E27FC236}">
                <a16:creationId xmlns:a16="http://schemas.microsoft.com/office/drawing/2014/main" id="{3B059071-D539-EE07-6495-919FAEFD3A79}"/>
              </a:ext>
            </a:extLst>
          </p:cNvPr>
          <p:cNvSpPr/>
          <p:nvPr/>
        </p:nvSpPr>
        <p:spPr>
          <a:xfrm>
            <a:off x="1551935" y="1156430"/>
            <a:ext cx="228656" cy="324594"/>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49" name="TextBox 48">
            <a:extLst>
              <a:ext uri="{FF2B5EF4-FFF2-40B4-BE49-F238E27FC236}">
                <a16:creationId xmlns:a16="http://schemas.microsoft.com/office/drawing/2014/main" id="{7DC302B7-E266-F9AE-B3F4-B61544121141}"/>
              </a:ext>
            </a:extLst>
          </p:cNvPr>
          <p:cNvSpPr txBox="1"/>
          <p:nvPr/>
        </p:nvSpPr>
        <p:spPr bwMode="auto">
          <a:xfrm>
            <a:off x="1542692" y="1220644"/>
            <a:ext cx="213116" cy="230832"/>
          </a:xfrm>
          <a:prstGeom prst="rect">
            <a:avLst/>
          </a:prstGeom>
          <a:noFill/>
          <a:ln w="9525">
            <a:noFill/>
            <a:miter lim="800000"/>
            <a:headEnd/>
            <a:tailEnd/>
          </a:ln>
        </p:spPr>
        <p:txBody>
          <a:bodyPr wrap="square" rtlCol="0">
            <a:spAutoFit/>
          </a:bodyPr>
          <a:lstStyle/>
          <a:p>
            <a:pPr marL="40481" algn="ctr">
              <a:tabLst>
                <a:tab pos="255985" algn="l"/>
              </a:tabLst>
            </a:pPr>
            <a:r>
              <a:rPr lang="en-US" sz="900"/>
              <a:t>1</a:t>
            </a:r>
            <a:endParaRPr lang="en-US" sz="900">
              <a:cs typeface="Arial" charset="0"/>
            </a:endParaRPr>
          </a:p>
        </p:txBody>
      </p:sp>
      <p:sp>
        <p:nvSpPr>
          <p:cNvPr id="44" name="Rectangle 43">
            <a:extLst>
              <a:ext uri="{FF2B5EF4-FFF2-40B4-BE49-F238E27FC236}">
                <a16:creationId xmlns:a16="http://schemas.microsoft.com/office/drawing/2014/main" id="{2E467514-3B70-9F2C-C218-9E0AA527E3AA}"/>
              </a:ext>
            </a:extLst>
          </p:cNvPr>
          <p:cNvSpPr/>
          <p:nvPr/>
        </p:nvSpPr>
        <p:spPr>
          <a:xfrm>
            <a:off x="1674639" y="3331139"/>
            <a:ext cx="14401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7" name="Arrow: Right 46">
            <a:extLst>
              <a:ext uri="{FF2B5EF4-FFF2-40B4-BE49-F238E27FC236}">
                <a16:creationId xmlns:a16="http://schemas.microsoft.com/office/drawing/2014/main" id="{4939AB76-A396-5EBC-2A78-9CCEA8AB368C}"/>
              </a:ext>
            </a:extLst>
          </p:cNvPr>
          <p:cNvSpPr/>
          <p:nvPr/>
        </p:nvSpPr>
        <p:spPr>
          <a:xfrm rot="5400000">
            <a:off x="2349586" y="1882546"/>
            <a:ext cx="137160" cy="458539"/>
          </a:xfrm>
          <a:prstGeom prst="rightArrow">
            <a:avLst/>
          </a:prstGeom>
          <a:solidFill>
            <a:schemeClr val="accent1"/>
          </a:solidFill>
        </p:spPr>
        <p:txBody>
          <a:bodyPr wrap="square" rtlCol="0" anchor="ctr">
            <a:spAutoFit/>
          </a:bodyPr>
          <a:lstStyle/>
          <a:p>
            <a:pPr algn="ctr"/>
            <a:endParaRPr lang="en-US" sz="900"/>
          </a:p>
        </p:txBody>
      </p:sp>
      <p:sp>
        <p:nvSpPr>
          <p:cNvPr id="51" name="Rectangle: Top Corners Rounded 50">
            <a:extLst>
              <a:ext uri="{FF2B5EF4-FFF2-40B4-BE49-F238E27FC236}">
                <a16:creationId xmlns:a16="http://schemas.microsoft.com/office/drawing/2014/main" id="{7BA2A2B1-AA8A-D2DF-72C5-D0F1503254DC}"/>
              </a:ext>
            </a:extLst>
          </p:cNvPr>
          <p:cNvSpPr/>
          <p:nvPr/>
        </p:nvSpPr>
        <p:spPr>
          <a:xfrm>
            <a:off x="2127413" y="3168991"/>
            <a:ext cx="799625"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SAP </a:t>
            </a:r>
            <a:br>
              <a:rPr lang="en-US" sz="900">
                <a:latin typeface="Helvetica Neue" panose="02000503000000020004"/>
              </a:rPr>
            </a:br>
            <a:r>
              <a:rPr lang="en-US" sz="900">
                <a:latin typeface="Helvetica Neue" panose="02000503000000020004"/>
              </a:rPr>
              <a:t>Application</a:t>
            </a:r>
          </a:p>
        </p:txBody>
      </p:sp>
      <p:grpSp>
        <p:nvGrpSpPr>
          <p:cNvPr id="55" name="Group 54">
            <a:extLst>
              <a:ext uri="{FF2B5EF4-FFF2-40B4-BE49-F238E27FC236}">
                <a16:creationId xmlns:a16="http://schemas.microsoft.com/office/drawing/2014/main" id="{307E72C9-E7A7-27BB-86CD-A7D295C47AC5}"/>
              </a:ext>
            </a:extLst>
          </p:cNvPr>
          <p:cNvGrpSpPr/>
          <p:nvPr/>
        </p:nvGrpSpPr>
        <p:grpSpPr>
          <a:xfrm>
            <a:off x="1562666" y="2933238"/>
            <a:ext cx="237899" cy="324594"/>
            <a:chOff x="2361384" y="1749060"/>
            <a:chExt cx="317198" cy="432791"/>
          </a:xfrm>
        </p:grpSpPr>
        <p:sp>
          <p:nvSpPr>
            <p:cNvPr id="56" name="Oval 55">
              <a:extLst>
                <a:ext uri="{FF2B5EF4-FFF2-40B4-BE49-F238E27FC236}">
                  <a16:creationId xmlns:a16="http://schemas.microsoft.com/office/drawing/2014/main" id="{A01147EF-B362-6DEE-3133-E2778C796F2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57" name="TextBox 56">
              <a:extLst>
                <a:ext uri="{FF2B5EF4-FFF2-40B4-BE49-F238E27FC236}">
                  <a16:creationId xmlns:a16="http://schemas.microsoft.com/office/drawing/2014/main" id="{8ACA2461-1E0E-489C-135B-CB06EAF97647}"/>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2</a:t>
              </a:r>
              <a:endParaRPr lang="en-US" sz="900">
                <a:cs typeface="Arial" charset="0"/>
              </a:endParaRPr>
            </a:p>
          </p:txBody>
        </p:sp>
      </p:grpSp>
      <p:sp>
        <p:nvSpPr>
          <p:cNvPr id="58" name="Arrow: Right 57">
            <a:extLst>
              <a:ext uri="{FF2B5EF4-FFF2-40B4-BE49-F238E27FC236}">
                <a16:creationId xmlns:a16="http://schemas.microsoft.com/office/drawing/2014/main" id="{E3D41338-37AD-FA80-A99F-43F4A4BC972A}"/>
              </a:ext>
            </a:extLst>
          </p:cNvPr>
          <p:cNvSpPr/>
          <p:nvPr/>
        </p:nvSpPr>
        <p:spPr>
          <a:xfrm>
            <a:off x="3269090" y="2359217"/>
            <a:ext cx="245474" cy="458539"/>
          </a:xfrm>
          <a:prstGeom prst="rightArrow">
            <a:avLst/>
          </a:prstGeom>
          <a:solidFill>
            <a:schemeClr val="accent1"/>
          </a:solidFill>
        </p:spPr>
        <p:txBody>
          <a:bodyPr wrap="none" rtlCol="0" anchor="ctr">
            <a:spAutoFit/>
          </a:bodyPr>
          <a:lstStyle/>
          <a:p>
            <a:pPr algn="ctr"/>
            <a:endParaRPr lang="en-US" sz="900"/>
          </a:p>
        </p:txBody>
      </p:sp>
      <p:pic>
        <p:nvPicPr>
          <p:cNvPr id="69" name="Graphic 68" descr="Users with solid fill">
            <a:extLst>
              <a:ext uri="{FF2B5EF4-FFF2-40B4-BE49-F238E27FC236}">
                <a16:creationId xmlns:a16="http://schemas.microsoft.com/office/drawing/2014/main" id="{7A0E525F-712E-FDB0-BC6D-AA97DBC6DD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66041" y="2607092"/>
            <a:ext cx="590291" cy="590291"/>
          </a:xfrm>
          <a:prstGeom prst="rect">
            <a:avLst/>
          </a:prstGeom>
        </p:spPr>
      </p:pic>
      <p:sp>
        <p:nvSpPr>
          <p:cNvPr id="70" name="Rectangle: Top Corners Rounded 69">
            <a:extLst>
              <a:ext uri="{FF2B5EF4-FFF2-40B4-BE49-F238E27FC236}">
                <a16:creationId xmlns:a16="http://schemas.microsoft.com/office/drawing/2014/main" id="{15ECAAF4-1AF2-F27F-BA40-2C9742685F7E}"/>
              </a:ext>
            </a:extLst>
          </p:cNvPr>
          <p:cNvSpPr/>
          <p:nvPr/>
        </p:nvSpPr>
        <p:spPr>
          <a:xfrm>
            <a:off x="3673785" y="2988262"/>
            <a:ext cx="777250" cy="241995"/>
          </a:xfrm>
          <a:prstGeom prst="round2SameRect">
            <a:avLst/>
          </a:prstGeom>
          <a:noFill/>
          <a:ln w="28575">
            <a:noFill/>
          </a:ln>
        </p:spPr>
        <p:txBody>
          <a:bodyPr wrap="none" rtlCol="0" anchor="ctr">
            <a:spAutoFit/>
          </a:bodyPr>
          <a:lstStyle/>
          <a:p>
            <a:pPr algn="ctr"/>
            <a:r>
              <a:rPr lang="en-US" sz="900" err="1">
                <a:latin typeface="Helvetica Neue" panose="02000503000000020004"/>
              </a:rPr>
              <a:t>Partshop</a:t>
            </a:r>
            <a:r>
              <a:rPr lang="en-US" sz="900">
                <a:latin typeface="Helvetica Neue" panose="02000503000000020004"/>
              </a:rPr>
              <a:t> A</a:t>
            </a:r>
          </a:p>
        </p:txBody>
      </p:sp>
      <p:pic>
        <p:nvPicPr>
          <p:cNvPr id="71" name="Graphic 70" descr="Users with solid fill">
            <a:extLst>
              <a:ext uri="{FF2B5EF4-FFF2-40B4-BE49-F238E27FC236}">
                <a16:creationId xmlns:a16="http://schemas.microsoft.com/office/drawing/2014/main" id="{E6D0F0FA-40B2-84AD-9D8C-BF8A12A34C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66041" y="3191827"/>
            <a:ext cx="590291" cy="590291"/>
          </a:xfrm>
          <a:prstGeom prst="rect">
            <a:avLst/>
          </a:prstGeom>
        </p:spPr>
      </p:pic>
      <p:sp>
        <p:nvSpPr>
          <p:cNvPr id="72" name="Rectangle: Top Corners Rounded 71">
            <a:extLst>
              <a:ext uri="{FF2B5EF4-FFF2-40B4-BE49-F238E27FC236}">
                <a16:creationId xmlns:a16="http://schemas.microsoft.com/office/drawing/2014/main" id="{C596ED42-7833-C291-FEDD-25189EB35C6E}"/>
              </a:ext>
            </a:extLst>
          </p:cNvPr>
          <p:cNvSpPr/>
          <p:nvPr/>
        </p:nvSpPr>
        <p:spPr>
          <a:xfrm>
            <a:off x="3673785" y="3572997"/>
            <a:ext cx="777250" cy="241995"/>
          </a:xfrm>
          <a:prstGeom prst="round2SameRect">
            <a:avLst/>
          </a:prstGeom>
          <a:noFill/>
          <a:ln w="28575">
            <a:noFill/>
          </a:ln>
        </p:spPr>
        <p:txBody>
          <a:bodyPr wrap="none" rtlCol="0" anchor="ctr">
            <a:spAutoFit/>
          </a:bodyPr>
          <a:lstStyle/>
          <a:p>
            <a:pPr algn="ctr"/>
            <a:r>
              <a:rPr lang="en-US" sz="900" err="1">
                <a:latin typeface="Helvetica Neue" panose="02000503000000020004"/>
              </a:rPr>
              <a:t>Partshop</a:t>
            </a:r>
            <a:r>
              <a:rPr lang="en-US" sz="900">
                <a:latin typeface="Helvetica Neue" panose="02000503000000020004"/>
              </a:rPr>
              <a:t> B</a:t>
            </a:r>
          </a:p>
        </p:txBody>
      </p:sp>
      <p:grpSp>
        <p:nvGrpSpPr>
          <p:cNvPr id="78" name="Group 77">
            <a:extLst>
              <a:ext uri="{FF2B5EF4-FFF2-40B4-BE49-F238E27FC236}">
                <a16:creationId xmlns:a16="http://schemas.microsoft.com/office/drawing/2014/main" id="{D1820269-CC37-BDF3-5FB1-7E276C701C95}"/>
              </a:ext>
            </a:extLst>
          </p:cNvPr>
          <p:cNvGrpSpPr/>
          <p:nvPr/>
        </p:nvGrpSpPr>
        <p:grpSpPr>
          <a:xfrm>
            <a:off x="3567773" y="1199543"/>
            <a:ext cx="237899" cy="324594"/>
            <a:chOff x="2361384" y="1749060"/>
            <a:chExt cx="317198" cy="432791"/>
          </a:xfrm>
        </p:grpSpPr>
        <p:sp>
          <p:nvSpPr>
            <p:cNvPr id="79" name="Oval 78">
              <a:extLst>
                <a:ext uri="{FF2B5EF4-FFF2-40B4-BE49-F238E27FC236}">
                  <a16:creationId xmlns:a16="http://schemas.microsoft.com/office/drawing/2014/main" id="{EE74B787-AFEA-C1A1-8570-68454EAB116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0" name="TextBox 79">
              <a:extLst>
                <a:ext uri="{FF2B5EF4-FFF2-40B4-BE49-F238E27FC236}">
                  <a16:creationId xmlns:a16="http://schemas.microsoft.com/office/drawing/2014/main" id="{0566BFCE-04E0-82CF-3BA0-411DB1F07BCC}"/>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cs typeface="Arial" charset="0"/>
                </a:rPr>
                <a:t>4</a:t>
              </a:r>
            </a:p>
          </p:txBody>
        </p:sp>
      </p:grpSp>
      <p:sp>
        <p:nvSpPr>
          <p:cNvPr id="11" name="Rectangle: Top Corners Rounded 10">
            <a:extLst>
              <a:ext uri="{FF2B5EF4-FFF2-40B4-BE49-F238E27FC236}">
                <a16:creationId xmlns:a16="http://schemas.microsoft.com/office/drawing/2014/main" id="{28FD2314-4EBF-13A0-BC83-C67583ECCE05}"/>
              </a:ext>
            </a:extLst>
          </p:cNvPr>
          <p:cNvSpPr/>
          <p:nvPr/>
        </p:nvSpPr>
        <p:spPr>
          <a:xfrm>
            <a:off x="2077288" y="2318228"/>
            <a:ext cx="1000244"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Part Catalogue</a:t>
            </a:r>
          </a:p>
          <a:p>
            <a:pPr algn="ctr"/>
            <a:r>
              <a:rPr lang="en-US" sz="900">
                <a:latin typeface="Helvetica Neue" panose="02000503000000020004"/>
              </a:rPr>
              <a:t>Application</a:t>
            </a:r>
          </a:p>
        </p:txBody>
      </p:sp>
      <p:sp>
        <p:nvSpPr>
          <p:cNvPr id="14" name="Arrow: Right 13">
            <a:extLst>
              <a:ext uri="{FF2B5EF4-FFF2-40B4-BE49-F238E27FC236}">
                <a16:creationId xmlns:a16="http://schemas.microsoft.com/office/drawing/2014/main" id="{FD835175-4FB7-C90D-6E0A-D0EE58B4F35B}"/>
              </a:ext>
            </a:extLst>
          </p:cNvPr>
          <p:cNvSpPr/>
          <p:nvPr/>
        </p:nvSpPr>
        <p:spPr>
          <a:xfrm rot="16200000">
            <a:off x="2346139" y="2792183"/>
            <a:ext cx="137160" cy="458539"/>
          </a:xfrm>
          <a:prstGeom prst="rightArrow">
            <a:avLst/>
          </a:prstGeom>
          <a:solidFill>
            <a:schemeClr val="accent1"/>
          </a:solidFill>
        </p:spPr>
        <p:txBody>
          <a:bodyPr wrap="square" rtlCol="0" anchor="ctr">
            <a:spAutoFit/>
          </a:bodyPr>
          <a:lstStyle/>
          <a:p>
            <a:pPr algn="ctr"/>
            <a:endParaRPr lang="en-US" sz="900"/>
          </a:p>
        </p:txBody>
      </p:sp>
      <p:pic>
        <p:nvPicPr>
          <p:cNvPr id="16" name="Graphic 15" descr="Computer with solid fill">
            <a:extLst>
              <a:ext uri="{FF2B5EF4-FFF2-40B4-BE49-F238E27FC236}">
                <a16:creationId xmlns:a16="http://schemas.microsoft.com/office/drawing/2014/main" id="{55054F14-BB7E-7F18-3A3A-5D3C8B45FC6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6558" y="1486294"/>
            <a:ext cx="356972" cy="356972"/>
          </a:xfrm>
          <a:prstGeom prst="rect">
            <a:avLst/>
          </a:prstGeom>
        </p:spPr>
      </p:pic>
      <p:pic>
        <p:nvPicPr>
          <p:cNvPr id="18" name="Graphic 17" descr="Web design with solid fill">
            <a:extLst>
              <a:ext uri="{FF2B5EF4-FFF2-40B4-BE49-F238E27FC236}">
                <a16:creationId xmlns:a16="http://schemas.microsoft.com/office/drawing/2014/main" id="{B9E2CB5D-FB5B-1797-E957-4379FF79E7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45114" y="3226387"/>
            <a:ext cx="440337" cy="440337"/>
          </a:xfrm>
          <a:prstGeom prst="rect">
            <a:avLst/>
          </a:prstGeom>
        </p:spPr>
      </p:pic>
      <p:pic>
        <p:nvPicPr>
          <p:cNvPr id="19" name="Graphic 18" descr="Web design with solid fill">
            <a:extLst>
              <a:ext uri="{FF2B5EF4-FFF2-40B4-BE49-F238E27FC236}">
                <a16:creationId xmlns:a16="http://schemas.microsoft.com/office/drawing/2014/main" id="{4A5DE261-50D0-EC7F-B103-83FF10D2A7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34842" y="2343536"/>
            <a:ext cx="440337" cy="440337"/>
          </a:xfrm>
          <a:prstGeom prst="rect">
            <a:avLst/>
          </a:prstGeom>
        </p:spPr>
      </p:pic>
      <p:sp>
        <p:nvSpPr>
          <p:cNvPr id="20" name="Text Placeholder 2">
            <a:extLst>
              <a:ext uri="{FF2B5EF4-FFF2-40B4-BE49-F238E27FC236}">
                <a16:creationId xmlns:a16="http://schemas.microsoft.com/office/drawing/2014/main" id="{03829599-78EC-4AD2-75D7-204B211C0A1F}"/>
              </a:ext>
            </a:extLst>
          </p:cNvPr>
          <p:cNvSpPr txBox="1">
            <a:spLocks/>
          </p:cNvSpPr>
          <p:nvPr/>
        </p:nvSpPr>
        <p:spPr bwMode="auto">
          <a:xfrm>
            <a:off x="317275" y="626240"/>
            <a:ext cx="6713019" cy="505441"/>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82563" indent="-182563" algn="l" rtl="0" eaLnBrk="0" fontAlgn="base" hangingPunct="0">
              <a:spcBef>
                <a:spcPts val="0"/>
              </a:spcBef>
              <a:spcAft>
                <a:spcPct val="0"/>
              </a:spcAft>
              <a:buFont typeface="Arial" charset="0"/>
              <a:buChar char="•"/>
              <a:defRPr sz="1600" kern="1200">
                <a:solidFill>
                  <a:schemeClr val="tx1"/>
                </a:solidFill>
                <a:latin typeface="+mn-lt"/>
                <a:ea typeface="ＭＳ Ｐゴシック" panose="020B0600070205080204" pitchFamily="34" charset="-128"/>
                <a:cs typeface="ＭＳ Ｐゴシック" charset="0"/>
              </a:defRPr>
            </a:lvl1pPr>
            <a:lvl2pPr marL="352425" indent="-169863" algn="l" rtl="0" eaLnBrk="0" fontAlgn="base" hangingPunct="0">
              <a:spcBef>
                <a:spcPts val="0"/>
              </a:spcBef>
              <a:spcAft>
                <a:spcPct val="0"/>
              </a:spcAft>
              <a:buFont typeface="Arial" charset="0"/>
              <a:buChar char="–"/>
              <a:defRPr sz="1400" kern="1200">
                <a:solidFill>
                  <a:schemeClr val="tx1"/>
                </a:solidFill>
                <a:latin typeface="+mn-lt"/>
                <a:ea typeface="ＭＳ Ｐゴシック" panose="020B0600070205080204" pitchFamily="34" charset="-128"/>
                <a:cs typeface="+mn-cs"/>
              </a:defRPr>
            </a:lvl2pPr>
            <a:lvl3pPr marL="534988"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3pPr>
            <a:lvl4pPr marL="719138" indent="-184150"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4pPr>
            <a:lvl5pPr marL="901700"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pPr marL="204788" indent="-204788">
              <a:buNone/>
            </a:pPr>
            <a:r>
              <a:rPr lang="en-US" sz="1350" b="1" dirty="0">
                <a:latin typeface="Helvetica Neue" panose="02000503000000020004"/>
                <a:ea typeface="游ゴシック"/>
                <a:cs typeface="Arial"/>
              </a:rPr>
              <a:t>Solutions</a:t>
            </a:r>
          </a:p>
          <a:p>
            <a:pPr marL="0" indent="0">
              <a:spcBef>
                <a:spcPts val="450"/>
              </a:spcBef>
              <a:buNone/>
            </a:pPr>
            <a:r>
              <a:rPr lang="en-US" sz="900" dirty="0">
                <a:latin typeface="Helvetica Neue" panose="02000503000000020004"/>
                <a:ea typeface="ＭＳ Ｐゴシック"/>
              </a:rPr>
              <a:t>Below are proposed To-be Process of Spare Part Catalogue information distribution in MMKSI:</a:t>
            </a:r>
          </a:p>
          <a:p>
            <a:pPr marL="0" indent="0">
              <a:spcBef>
                <a:spcPts val="450"/>
              </a:spcBef>
              <a:buNone/>
            </a:pPr>
            <a:endParaRPr lang="en-US" sz="900" dirty="0">
              <a:latin typeface="Helvetica Neue" panose="02000503000000020004"/>
              <a:ea typeface="ＭＳ Ｐゴシック"/>
            </a:endParaRPr>
          </a:p>
        </p:txBody>
      </p:sp>
      <p:sp>
        <p:nvSpPr>
          <p:cNvPr id="21" name="TextBox 20">
            <a:extLst>
              <a:ext uri="{FF2B5EF4-FFF2-40B4-BE49-F238E27FC236}">
                <a16:creationId xmlns:a16="http://schemas.microsoft.com/office/drawing/2014/main" id="{0F966016-9738-3C80-A8F3-1547BA8E9048}"/>
              </a:ext>
            </a:extLst>
          </p:cNvPr>
          <p:cNvSpPr txBox="1"/>
          <p:nvPr/>
        </p:nvSpPr>
        <p:spPr bwMode="auto">
          <a:xfrm>
            <a:off x="595502" y="3925039"/>
            <a:ext cx="3762807" cy="1166986"/>
          </a:xfrm>
          <a:prstGeom prst="rect">
            <a:avLst/>
          </a:prstGeom>
          <a:noFill/>
          <a:ln w="9525">
            <a:noFill/>
            <a:miter lim="800000"/>
            <a:headEnd/>
            <a:tailEnd/>
          </a:ln>
        </p:spPr>
        <p:txBody>
          <a:bodyPr wrap="square" lIns="68580" tIns="34290" rIns="68580" bIns="34290" rtlCol="0" anchor="t">
            <a:spAutoFit/>
          </a:bodyPr>
          <a:lstStyle/>
          <a:p>
            <a:pPr marL="40481">
              <a:spcBef>
                <a:spcPts val="450"/>
              </a:spcBef>
              <a:tabLst>
                <a:tab pos="255985" algn="l"/>
              </a:tabLst>
            </a:pPr>
            <a:r>
              <a:rPr lang="en-US" sz="900">
                <a:latin typeface="Helvetica Neue" panose="02000503000000020004"/>
              </a:rPr>
              <a:t>Process Flow Detail :</a:t>
            </a:r>
          </a:p>
          <a:p>
            <a:pPr marL="211931" indent="-171450">
              <a:spcBef>
                <a:spcPts val="450"/>
              </a:spcBef>
              <a:buFont typeface="+mj-lt"/>
              <a:buAutoNum type="arabicPeriod"/>
              <a:tabLst>
                <a:tab pos="255985" algn="l"/>
              </a:tabLst>
            </a:pPr>
            <a:r>
              <a:rPr lang="en-US" sz="900">
                <a:latin typeface="Helvetica Neue" panose="02000503000000020004"/>
                <a:ea typeface="ＭＳ Ｐゴシック"/>
                <a:cs typeface="Arial"/>
              </a:rPr>
              <a:t>BSI will assist MMKSI for extracting information’s from ASA Application of </a:t>
            </a:r>
          </a:p>
          <a:p>
            <a:pPr marL="388144" lvl="1" indent="-171450">
              <a:buFont typeface="+mj-lt"/>
              <a:buAutoNum type="alphaLcPeriod"/>
              <a:tabLst>
                <a:tab pos="255985" algn="l"/>
              </a:tabLst>
            </a:pPr>
            <a:r>
              <a:rPr lang="en-US" sz="900">
                <a:latin typeface="Helvetica Neue" panose="02000503000000020004"/>
              </a:rPr>
              <a:t>Parts data and Parts image.</a:t>
            </a:r>
          </a:p>
          <a:p>
            <a:pPr marL="388144" lvl="1" indent="-171450">
              <a:buFont typeface="+mj-lt"/>
              <a:buAutoNum type="alphaLcPeriod"/>
              <a:tabLst>
                <a:tab pos="255985" algn="l"/>
              </a:tabLst>
            </a:pPr>
            <a:r>
              <a:rPr lang="en-US" sz="900">
                <a:latin typeface="Helvetica Neue" panose="02000503000000020004"/>
                <a:ea typeface="ＭＳ Ｐゴシック"/>
                <a:cs typeface="Arial"/>
              </a:rPr>
              <a:t>Upload data to Parts Catalogue Application</a:t>
            </a:r>
          </a:p>
          <a:p>
            <a:pPr marL="214313" indent="-171450">
              <a:spcBef>
                <a:spcPts val="450"/>
              </a:spcBef>
              <a:buFont typeface="+mj-lt"/>
              <a:buAutoNum type="arabicPeriod"/>
              <a:tabLst>
                <a:tab pos="255985" algn="l"/>
              </a:tabLst>
            </a:pPr>
            <a:r>
              <a:rPr lang="en-US" sz="900">
                <a:latin typeface="Helvetica Neue" panose="02000503000000020004"/>
              </a:rPr>
              <a:t>SAP application integrated with Mitsubishi Part catalogue for spare parts price information integration.</a:t>
            </a:r>
          </a:p>
        </p:txBody>
      </p:sp>
      <p:grpSp>
        <p:nvGrpSpPr>
          <p:cNvPr id="23" name="Group 22">
            <a:extLst>
              <a:ext uri="{FF2B5EF4-FFF2-40B4-BE49-F238E27FC236}">
                <a16:creationId xmlns:a16="http://schemas.microsoft.com/office/drawing/2014/main" id="{8D1F2455-59E6-3D64-4DE5-23936E5235F4}"/>
              </a:ext>
            </a:extLst>
          </p:cNvPr>
          <p:cNvGrpSpPr/>
          <p:nvPr/>
        </p:nvGrpSpPr>
        <p:grpSpPr>
          <a:xfrm>
            <a:off x="1551935" y="2073503"/>
            <a:ext cx="237899" cy="324594"/>
            <a:chOff x="2361384" y="1749060"/>
            <a:chExt cx="317198" cy="432791"/>
          </a:xfrm>
        </p:grpSpPr>
        <p:sp>
          <p:nvSpPr>
            <p:cNvPr id="24" name="Oval 23">
              <a:extLst>
                <a:ext uri="{FF2B5EF4-FFF2-40B4-BE49-F238E27FC236}">
                  <a16:creationId xmlns:a16="http://schemas.microsoft.com/office/drawing/2014/main" id="{221D1D1B-FC76-49CC-E1FD-85A7445E5A2C}"/>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25" name="TextBox 24">
              <a:extLst>
                <a:ext uri="{FF2B5EF4-FFF2-40B4-BE49-F238E27FC236}">
                  <a16:creationId xmlns:a16="http://schemas.microsoft.com/office/drawing/2014/main" id="{28468C77-D2BD-E99D-8B38-BBBCE2E43CAC}"/>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cs typeface="Arial" charset="0"/>
                </a:rPr>
                <a:t>3</a:t>
              </a:r>
            </a:p>
          </p:txBody>
        </p:sp>
      </p:grpSp>
      <p:sp>
        <p:nvSpPr>
          <p:cNvPr id="26" name="TextBox 25">
            <a:extLst>
              <a:ext uri="{FF2B5EF4-FFF2-40B4-BE49-F238E27FC236}">
                <a16:creationId xmlns:a16="http://schemas.microsoft.com/office/drawing/2014/main" id="{0AB249C5-BF84-0E84-1FA0-A1A689699245}"/>
              </a:ext>
            </a:extLst>
          </p:cNvPr>
          <p:cNvSpPr txBox="1"/>
          <p:nvPr/>
        </p:nvSpPr>
        <p:spPr bwMode="auto">
          <a:xfrm>
            <a:off x="4768818" y="1154958"/>
            <a:ext cx="2889107" cy="230832"/>
          </a:xfrm>
          <a:prstGeom prst="rect">
            <a:avLst/>
          </a:prstGeom>
          <a:noFill/>
          <a:ln w="9525">
            <a:noFill/>
            <a:miter lim="800000"/>
            <a:headEnd/>
            <a:tailEnd/>
          </a:ln>
        </p:spPr>
        <p:txBody>
          <a:bodyPr wrap="square" rtlCol="0">
            <a:spAutoFit/>
          </a:bodyPr>
          <a:lstStyle/>
          <a:p>
            <a:pPr marL="40481">
              <a:tabLst>
                <a:tab pos="255985" algn="l"/>
              </a:tabLst>
            </a:pPr>
            <a:r>
              <a:rPr lang="en-US" sz="900">
                <a:solidFill>
                  <a:schemeClr val="tx2"/>
                </a:solidFill>
                <a:latin typeface="Helvetica Neue" panose="02000503000000020004"/>
              </a:rPr>
              <a:t>Solved Problems</a:t>
            </a:r>
          </a:p>
        </p:txBody>
      </p:sp>
      <p:graphicFrame>
        <p:nvGraphicFramePr>
          <p:cNvPr id="27" name="Table 84">
            <a:extLst>
              <a:ext uri="{FF2B5EF4-FFF2-40B4-BE49-F238E27FC236}">
                <a16:creationId xmlns:a16="http://schemas.microsoft.com/office/drawing/2014/main" id="{2489B953-79C3-6AF6-5B19-4014A1680A8A}"/>
              </a:ext>
            </a:extLst>
          </p:cNvPr>
          <p:cNvGraphicFramePr>
            <a:graphicFrameLocks noGrp="1"/>
          </p:cNvGraphicFramePr>
          <p:nvPr/>
        </p:nvGraphicFramePr>
        <p:xfrm>
          <a:off x="4888712" y="1375634"/>
          <a:ext cx="3947280" cy="2956560"/>
        </p:xfrm>
        <a:graphic>
          <a:graphicData uri="http://schemas.openxmlformats.org/drawingml/2006/table">
            <a:tbl>
              <a:tblPr firstRow="1" bandRow="1">
                <a:tableStyleId>{5940675A-B579-460E-94D1-54222C63F5DA}</a:tableStyleId>
              </a:tblPr>
              <a:tblGrid>
                <a:gridCol w="1973640">
                  <a:extLst>
                    <a:ext uri="{9D8B030D-6E8A-4147-A177-3AD203B41FA5}">
                      <a16:colId xmlns:a16="http://schemas.microsoft.com/office/drawing/2014/main" val="3748279835"/>
                    </a:ext>
                  </a:extLst>
                </a:gridCol>
                <a:gridCol w="1973640">
                  <a:extLst>
                    <a:ext uri="{9D8B030D-6E8A-4147-A177-3AD203B41FA5}">
                      <a16:colId xmlns:a16="http://schemas.microsoft.com/office/drawing/2014/main" val="23394210"/>
                    </a:ext>
                  </a:extLst>
                </a:gridCol>
              </a:tblGrid>
              <a:tr h="640080">
                <a:tc>
                  <a:txBody>
                    <a:bodyPr/>
                    <a:lstStyle/>
                    <a:p>
                      <a:pPr marL="171450" marR="0" lvl="0" indent="-171450" algn="l" defTabSz="9905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a:solidFill>
                            <a:sysClr val="windowText" lastClr="000000"/>
                          </a:solidFill>
                          <a:latin typeface="Helvetica Neue" panose="02000503000000020004"/>
                        </a:rPr>
                        <a:t>Manual effort of data extraction and </a:t>
                      </a:r>
                      <a:r>
                        <a:rPr lang="en-US" sz="800" b="1">
                          <a:solidFill>
                            <a:sysClr val="windowText" lastClr="000000"/>
                          </a:solidFill>
                          <a:latin typeface="Helvetica Neue" panose="02000503000000020004"/>
                        </a:rPr>
                        <a:t>compiling information takes a lot of time (4 – 5 months)</a:t>
                      </a:r>
                    </a:p>
                    <a:p>
                      <a:pPr marL="171450" marR="0" lvl="0" indent="-171450" algn="l" defTabSz="9905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a:solidFill>
                            <a:sysClr val="windowText" lastClr="000000"/>
                          </a:solidFill>
                          <a:latin typeface="Helvetica Neue" panose="02000503000000020004"/>
                        </a:rPr>
                        <a:t>Labor cost of extraction and compiling </a:t>
                      </a:r>
                    </a:p>
                    <a:p>
                      <a:pPr marL="173038" marR="0" lvl="0" indent="0" algn="l" defTabSz="9905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0">
                          <a:solidFill>
                            <a:sysClr val="windowText" lastClr="000000"/>
                          </a:solidFill>
                          <a:latin typeface="Helvetica Neue" panose="02000503000000020004"/>
                        </a:rPr>
                        <a:t>(4 – 5 months)</a:t>
                      </a:r>
                    </a:p>
                  </a:txBody>
                  <a:tcPr marL="68580" marR="68580" marT="34290" marB="34290"/>
                </a:tc>
                <a:tc>
                  <a:txBody>
                    <a:bodyPr/>
                    <a:lstStyle/>
                    <a:p>
                      <a:r>
                        <a:rPr lang="en-US" sz="800" b="1">
                          <a:latin typeface="Helvetica Neue" panose="02000503000000020004"/>
                        </a:rPr>
                        <a:t>Each year </a:t>
                      </a:r>
                      <a:r>
                        <a:rPr lang="en-US" sz="800">
                          <a:latin typeface="Helvetica Neue" panose="02000503000000020004"/>
                        </a:rPr>
                        <a:t>BSI will provide professional service of </a:t>
                      </a:r>
                      <a:r>
                        <a:rPr lang="en-US" sz="800" b="1">
                          <a:latin typeface="Helvetica Neue" panose="02000503000000020004"/>
                        </a:rPr>
                        <a:t>one model </a:t>
                      </a:r>
                      <a:r>
                        <a:rPr lang="en-US" sz="800">
                          <a:latin typeface="Helvetica Neue" panose="02000503000000020004"/>
                        </a:rPr>
                        <a:t>data extraction and migration from ASA application to  Mitsubishi Part Catalogue application        (20 working days)</a:t>
                      </a:r>
                    </a:p>
                  </a:txBody>
                  <a:tcPr marL="68580" marR="68580" marT="34290" marB="34290" anchor="ctr"/>
                </a:tc>
                <a:extLst>
                  <a:ext uri="{0D108BD9-81ED-4DB2-BD59-A6C34878D82A}">
                    <a16:rowId xmlns:a16="http://schemas.microsoft.com/office/drawing/2014/main" val="14237777"/>
                  </a:ext>
                </a:extLst>
              </a:tr>
              <a:tr h="1211580">
                <a:tc>
                  <a:txBody>
                    <a:bodyPr/>
                    <a:lstStyle/>
                    <a:p>
                      <a:pPr marL="171450" indent="-171450">
                        <a:buFont typeface="Arial" panose="020B0604020202020204" pitchFamily="34" charset="0"/>
                        <a:buChar char="•"/>
                      </a:pPr>
                      <a:r>
                        <a:rPr lang="en-US" sz="800" b="0">
                          <a:solidFill>
                            <a:sysClr val="windowText" lastClr="000000"/>
                          </a:solidFill>
                          <a:latin typeface="Helvetica Neue" panose="02000503000000020004"/>
                        </a:rPr>
                        <a:t>Delayed information impact of hardcopy channeling (MMKSI-Dealers-Part Shop) distribution :</a:t>
                      </a:r>
                    </a:p>
                    <a:p>
                      <a:pPr marL="346075" lvl="1" indent="-163513">
                        <a:buFont typeface="Wingdings" panose="05000000000000000000" pitchFamily="2" charset="2"/>
                        <a:buChar char="Ø"/>
                      </a:pPr>
                      <a:r>
                        <a:rPr lang="en-US" sz="800" b="0">
                          <a:solidFill>
                            <a:sysClr val="windowText" lastClr="000000"/>
                          </a:solidFill>
                          <a:latin typeface="Helvetica Neue" panose="02000503000000020004"/>
                        </a:rPr>
                        <a:t>Price updates (redistribute for price book or reconfirm price before purchase)</a:t>
                      </a:r>
                    </a:p>
                    <a:p>
                      <a:pPr marL="346075" lvl="1" indent="-163513">
                        <a:buFont typeface="Wingdings" panose="05000000000000000000" pitchFamily="2" charset="2"/>
                        <a:buChar char="Ø"/>
                      </a:pPr>
                      <a:r>
                        <a:rPr lang="en-US" sz="800" b="0">
                          <a:solidFill>
                            <a:sysClr val="windowText" lastClr="000000"/>
                          </a:solidFill>
                          <a:latin typeface="Helvetica Neue" panose="02000503000000020004"/>
                        </a:rPr>
                        <a:t>Any updates in Catalogue information</a:t>
                      </a:r>
                    </a:p>
                    <a:p>
                      <a:pPr marL="180975" lvl="1" indent="-171450">
                        <a:buFont typeface="Arial" panose="020B0604020202020204" pitchFamily="34" charset="0"/>
                        <a:buChar char="•"/>
                      </a:pPr>
                      <a:r>
                        <a:rPr lang="en-US" sz="800" b="0">
                          <a:solidFill>
                            <a:sysClr val="windowText" lastClr="000000"/>
                          </a:solidFill>
                          <a:latin typeface="Helvetica Neue" panose="02000503000000020004"/>
                        </a:rPr>
                        <a:t>Printing and distribution of Catalogue book &amp; Price book</a:t>
                      </a:r>
                    </a:p>
                  </a:txBody>
                  <a:tcPr marL="68580" marR="68580" marT="34290" marB="34290"/>
                </a:tc>
                <a:tc>
                  <a:txBody>
                    <a:bodyPr/>
                    <a:lstStyle/>
                    <a:p>
                      <a:pPr marL="0" marR="0" lvl="0" indent="0" algn="l" defTabSz="990570" rtl="0" eaLnBrk="1" fontAlgn="auto" latinLnBrk="0" hangingPunct="1">
                        <a:lnSpc>
                          <a:spcPct val="100000"/>
                        </a:lnSpc>
                        <a:spcBef>
                          <a:spcPts val="0"/>
                        </a:spcBef>
                        <a:spcAft>
                          <a:spcPts val="0"/>
                        </a:spcAft>
                        <a:buClrTx/>
                        <a:buSzTx/>
                        <a:buFontTx/>
                        <a:buNone/>
                        <a:tabLst/>
                        <a:defRPr/>
                      </a:pPr>
                      <a:r>
                        <a:rPr lang="en-US" sz="800">
                          <a:latin typeface="Helvetica Neue" panose="02000503000000020004"/>
                        </a:rPr>
                        <a:t>Dealer user and Part shops user will open Mitsubishi Parts catalogue to access Spare parts information includes with its spare parts price information's.</a:t>
                      </a:r>
                    </a:p>
                  </a:txBody>
                  <a:tcPr marL="68580" marR="68580" marT="34290" marB="34290" anchor="ctr"/>
                </a:tc>
                <a:extLst>
                  <a:ext uri="{0D108BD9-81ED-4DB2-BD59-A6C34878D82A}">
                    <a16:rowId xmlns:a16="http://schemas.microsoft.com/office/drawing/2014/main" val="1167400262"/>
                  </a:ext>
                </a:extLst>
              </a:tr>
              <a:tr h="411480">
                <a:tc>
                  <a:txBody>
                    <a:bodyPr/>
                    <a:lstStyle/>
                    <a:p>
                      <a:pPr marL="180975" marR="0" lvl="1" indent="-171450" algn="l" defTabSz="9905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a:solidFill>
                            <a:sysClr val="windowText" lastClr="000000"/>
                          </a:solidFill>
                          <a:latin typeface="Helvetica Neue" panose="02000503000000020004"/>
                        </a:rPr>
                        <a:t>Any parts return impact of wrong parts delivered</a:t>
                      </a:r>
                    </a:p>
                  </a:txBody>
                  <a:tcPr marL="68580" marR="68580" marT="34290" marB="34290"/>
                </a:tc>
                <a:tc>
                  <a:txBody>
                    <a:bodyPr/>
                    <a:lstStyle/>
                    <a:p>
                      <a:pPr marL="0" marR="0" lvl="0" indent="0" algn="l" defTabSz="990570" rtl="0" eaLnBrk="1" fontAlgn="auto" latinLnBrk="0" hangingPunct="1">
                        <a:lnSpc>
                          <a:spcPct val="100000"/>
                        </a:lnSpc>
                        <a:spcBef>
                          <a:spcPts val="0"/>
                        </a:spcBef>
                        <a:spcAft>
                          <a:spcPts val="0"/>
                        </a:spcAft>
                        <a:buClrTx/>
                        <a:buSzTx/>
                        <a:buFontTx/>
                        <a:buNone/>
                        <a:tabLst/>
                        <a:defRPr/>
                      </a:pPr>
                      <a:r>
                        <a:rPr lang="en-US" sz="800">
                          <a:latin typeface="Helvetica Neue" panose="02000503000000020004"/>
                        </a:rPr>
                        <a:t>Parts return will be reduced due to information in Part catalogue is user friendly and have better information.</a:t>
                      </a:r>
                    </a:p>
                  </a:txBody>
                  <a:tcPr marL="68580" marR="68580" marT="34290" marB="34290" anchor="ctr"/>
                </a:tc>
                <a:extLst>
                  <a:ext uri="{0D108BD9-81ED-4DB2-BD59-A6C34878D82A}">
                    <a16:rowId xmlns:a16="http://schemas.microsoft.com/office/drawing/2014/main" val="415393373"/>
                  </a:ext>
                </a:extLst>
              </a:tr>
              <a:tr h="297180">
                <a:tc>
                  <a:txBody>
                    <a:bodyPr/>
                    <a:lstStyle/>
                    <a:p>
                      <a:pPr marL="171450" marR="0" lvl="0" indent="-171450" algn="l" defTabSz="9905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a:latin typeface="Helvetica Neue" panose="02000503000000020004"/>
                        </a:rPr>
                        <a:t>PDF/Hardcopy part catalogue is not user friendly for searching information</a:t>
                      </a:r>
                    </a:p>
                  </a:txBody>
                  <a:tcPr marL="68580" marR="68580" marT="34290" marB="34290"/>
                </a:tc>
                <a:tc>
                  <a:txBody>
                    <a:bodyPr/>
                    <a:lstStyle/>
                    <a:p>
                      <a:r>
                        <a:rPr lang="en-US" sz="800">
                          <a:latin typeface="Helvetica Neue" panose="02000503000000020004"/>
                        </a:rPr>
                        <a:t>Implement user friendly feature in Digitalize Part Catalogue (see </a:t>
                      </a:r>
                      <a:r>
                        <a:rPr lang="en-US" sz="800">
                          <a:latin typeface="Helvetica Neue" panose="02000503000000020004"/>
                          <a:hlinkClick r:id="" action="ppaction://noaction"/>
                        </a:rPr>
                        <a:t>appendix 3</a:t>
                      </a:r>
                      <a:r>
                        <a:rPr lang="en-US" sz="800">
                          <a:latin typeface="Helvetica Neue" panose="02000503000000020004"/>
                        </a:rPr>
                        <a:t>)</a:t>
                      </a:r>
                    </a:p>
                  </a:txBody>
                  <a:tcPr marL="68580" marR="68580" marT="34290" marB="34290" anchor="ctr"/>
                </a:tc>
                <a:extLst>
                  <a:ext uri="{0D108BD9-81ED-4DB2-BD59-A6C34878D82A}">
                    <a16:rowId xmlns:a16="http://schemas.microsoft.com/office/drawing/2014/main" val="4142393878"/>
                  </a:ext>
                </a:extLst>
              </a:tr>
            </a:tbl>
          </a:graphicData>
        </a:graphic>
      </p:graphicFrame>
      <p:sp>
        <p:nvSpPr>
          <p:cNvPr id="28" name="TextBox 27">
            <a:extLst>
              <a:ext uri="{FF2B5EF4-FFF2-40B4-BE49-F238E27FC236}">
                <a16:creationId xmlns:a16="http://schemas.microsoft.com/office/drawing/2014/main" id="{5679D173-C559-3878-BA8B-4B610F8724CE}"/>
              </a:ext>
            </a:extLst>
          </p:cNvPr>
          <p:cNvSpPr txBox="1"/>
          <p:nvPr/>
        </p:nvSpPr>
        <p:spPr bwMode="auto">
          <a:xfrm>
            <a:off x="7096267" y="1159340"/>
            <a:ext cx="1970732" cy="230832"/>
          </a:xfrm>
          <a:prstGeom prst="rect">
            <a:avLst/>
          </a:prstGeom>
          <a:noFill/>
          <a:ln w="9525">
            <a:noFill/>
            <a:miter lim="800000"/>
            <a:headEnd/>
            <a:tailEnd/>
          </a:ln>
        </p:spPr>
        <p:txBody>
          <a:bodyPr wrap="square" rtlCol="0">
            <a:spAutoFit/>
          </a:bodyPr>
          <a:lstStyle/>
          <a:p>
            <a:pPr marL="40481">
              <a:tabLst>
                <a:tab pos="255985" algn="l"/>
              </a:tabLst>
            </a:pPr>
            <a:r>
              <a:rPr lang="en-US" sz="900">
                <a:solidFill>
                  <a:srgbClr val="00B050"/>
                </a:solidFill>
                <a:latin typeface="Helvetica Neue" panose="02000503000000020004"/>
              </a:rPr>
              <a:t>Solution</a:t>
            </a:r>
          </a:p>
        </p:txBody>
      </p:sp>
      <p:sp>
        <p:nvSpPr>
          <p:cNvPr id="29" name="TextBox 28">
            <a:extLst>
              <a:ext uri="{FF2B5EF4-FFF2-40B4-BE49-F238E27FC236}">
                <a16:creationId xmlns:a16="http://schemas.microsoft.com/office/drawing/2014/main" id="{2DD5C56D-E3F4-B355-9614-D13D22B25753}"/>
              </a:ext>
            </a:extLst>
          </p:cNvPr>
          <p:cNvSpPr txBox="1"/>
          <p:nvPr/>
        </p:nvSpPr>
        <p:spPr bwMode="auto">
          <a:xfrm>
            <a:off x="4267562" y="4160967"/>
            <a:ext cx="3762807" cy="710451"/>
          </a:xfrm>
          <a:prstGeom prst="rect">
            <a:avLst/>
          </a:prstGeom>
          <a:noFill/>
          <a:ln w="9525">
            <a:noFill/>
            <a:miter lim="800000"/>
            <a:headEnd/>
            <a:tailEnd/>
          </a:ln>
        </p:spPr>
        <p:txBody>
          <a:bodyPr wrap="square" rtlCol="0">
            <a:spAutoFit/>
          </a:bodyPr>
          <a:lstStyle/>
          <a:p>
            <a:pPr marL="214313" indent="-171450">
              <a:spcBef>
                <a:spcPts val="450"/>
              </a:spcBef>
              <a:buFont typeface="+mj-lt"/>
              <a:buAutoNum type="arabicPeriod" startAt="3"/>
              <a:tabLst>
                <a:tab pos="255985" algn="l"/>
              </a:tabLst>
            </a:pPr>
            <a:r>
              <a:rPr lang="en-US" sz="900">
                <a:latin typeface="Helvetica Neue" panose="02000503000000020004"/>
              </a:rPr>
              <a:t>Information of parts detail and price will be displayed in Mitsubishi Part Catalogue. </a:t>
            </a:r>
          </a:p>
          <a:p>
            <a:pPr marL="214313" indent="-171450">
              <a:spcBef>
                <a:spcPts val="450"/>
              </a:spcBef>
              <a:buFont typeface="+mj-lt"/>
              <a:buAutoNum type="arabicPeriod" startAt="3"/>
              <a:tabLst>
                <a:tab pos="255985" algn="l"/>
              </a:tabLst>
            </a:pPr>
            <a:r>
              <a:rPr lang="en-US" sz="900">
                <a:latin typeface="Helvetica Neue" panose="02000503000000020004"/>
              </a:rPr>
              <a:t>Dealer user and Part shops user will open Mitsubishi Parts catalogue to access Spare parts information.</a:t>
            </a:r>
          </a:p>
        </p:txBody>
      </p:sp>
      <p:sp>
        <p:nvSpPr>
          <p:cNvPr id="2" name="Rectangle: Top Corners Rounded 1">
            <a:extLst>
              <a:ext uri="{FF2B5EF4-FFF2-40B4-BE49-F238E27FC236}">
                <a16:creationId xmlns:a16="http://schemas.microsoft.com/office/drawing/2014/main" id="{2A3DF3DE-A79C-991E-95D4-44B5F9BA4D19}"/>
              </a:ext>
            </a:extLst>
          </p:cNvPr>
          <p:cNvSpPr/>
          <p:nvPr/>
        </p:nvSpPr>
        <p:spPr>
          <a:xfrm>
            <a:off x="688858" y="2746988"/>
            <a:ext cx="807855" cy="217795"/>
          </a:xfrm>
          <a:prstGeom prst="round2SameRect">
            <a:avLst/>
          </a:prstGeom>
          <a:noFill/>
          <a:ln w="28575">
            <a:noFill/>
          </a:ln>
        </p:spPr>
        <p:txBody>
          <a:bodyPr wrap="none" lIns="68580" tIns="34290" rIns="68580" bIns="34290" rtlCol="0" anchor="ctr">
            <a:spAutoFit/>
          </a:bodyPr>
          <a:lstStyle/>
          <a:p>
            <a:pPr algn="ctr"/>
            <a:r>
              <a:rPr lang="en-US" sz="900">
                <a:latin typeface="Helvetica Neue" panose="02000503000000020004"/>
                <a:ea typeface="ＭＳ Ｐゴシック"/>
                <a:cs typeface="Arial"/>
              </a:rPr>
              <a:t>MMKSI User</a:t>
            </a:r>
            <a:endParaRPr lang="en-US" sz="900">
              <a:latin typeface="Helvetica Neue" panose="02000503000000020004"/>
            </a:endParaRPr>
          </a:p>
        </p:txBody>
      </p:sp>
      <p:sp>
        <p:nvSpPr>
          <p:cNvPr id="5" name="Rectangle 4">
            <a:extLst>
              <a:ext uri="{FF2B5EF4-FFF2-40B4-BE49-F238E27FC236}">
                <a16:creationId xmlns:a16="http://schemas.microsoft.com/office/drawing/2014/main" id="{2C8F77EF-9CD4-342D-7A26-664849A49AFD}"/>
              </a:ext>
            </a:extLst>
          </p:cNvPr>
          <p:cNvSpPr/>
          <p:nvPr/>
        </p:nvSpPr>
        <p:spPr>
          <a:xfrm>
            <a:off x="700292" y="1182809"/>
            <a:ext cx="3871708" cy="2650935"/>
          </a:xfrm>
          <a:prstGeom prst="rect">
            <a:avLst/>
          </a:prstGeom>
          <a:noFill/>
          <a:ln w="28575">
            <a:solidFill>
              <a:schemeClr val="tx1"/>
            </a:solidFill>
          </a:ln>
        </p:spPr>
        <p:txBody>
          <a:bodyPr wrap="square" rtlCol="0" anchor="ctr">
            <a:noAutofit/>
          </a:bodyPr>
          <a:lstStyle/>
          <a:p>
            <a:pPr algn="ctr"/>
            <a:endParaRPr lang="en-US" sz="900"/>
          </a:p>
        </p:txBody>
      </p:sp>
      <p:sp>
        <p:nvSpPr>
          <p:cNvPr id="6" name="Rectangle 5">
            <a:extLst>
              <a:ext uri="{FF2B5EF4-FFF2-40B4-BE49-F238E27FC236}">
                <a16:creationId xmlns:a16="http://schemas.microsoft.com/office/drawing/2014/main" id="{BCFF237C-94B1-019E-1863-ED2CA1EB1005}"/>
              </a:ext>
            </a:extLst>
          </p:cNvPr>
          <p:cNvSpPr>
            <a:spLocks noChangeArrowheads="1"/>
          </p:cNvSpPr>
          <p:nvPr/>
        </p:nvSpPr>
        <p:spPr bwMode="auto">
          <a:xfrm>
            <a:off x="250825" y="41733"/>
            <a:ext cx="7225682" cy="487056"/>
          </a:xfrm>
          <a:prstGeom prst="rect">
            <a:avLst/>
          </a:prstGeom>
        </p:spPr>
        <p:txBody>
          <a:bodyPr/>
          <a:lstStyle/>
          <a:p>
            <a:pPr>
              <a:lnSpc>
                <a:spcPts val="3400"/>
              </a:lnSpc>
              <a:spcBef>
                <a:spcPct val="20000"/>
              </a:spcBef>
              <a:buFont typeface="Arial" panose="020B0604020202020204" pitchFamily="34" charset="0"/>
              <a:buNone/>
            </a:pPr>
            <a:r>
              <a:rPr lang="en-US" altLang="id-ID" b="1" dirty="0">
                <a:latin typeface="MMC OFFICE" panose="00000500000000000000" pitchFamily="2" charset="0"/>
                <a:ea typeface="ヒラギノ角ゴ Std W6" pitchFamily="34" charset="-128"/>
              </a:rPr>
              <a:t>Problem Definition and Solutions</a:t>
            </a:r>
          </a:p>
        </p:txBody>
      </p:sp>
      <p:sp>
        <p:nvSpPr>
          <p:cNvPr id="8" name="スライド番号プレースホルダー 3">
            <a:extLst>
              <a:ext uri="{FF2B5EF4-FFF2-40B4-BE49-F238E27FC236}">
                <a16:creationId xmlns:a16="http://schemas.microsoft.com/office/drawing/2014/main" id="{09258CB7-A6D3-4EDC-E5DA-BE0A3FEF6589}"/>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7</a:t>
            </a:fld>
            <a:endParaRPr lang="ja-JP" altLang="en-US"/>
          </a:p>
        </p:txBody>
      </p:sp>
      <p:sp>
        <p:nvSpPr>
          <p:cNvPr id="9" name="サブタイトル 7">
            <a:extLst>
              <a:ext uri="{FF2B5EF4-FFF2-40B4-BE49-F238E27FC236}">
                <a16:creationId xmlns:a16="http://schemas.microsoft.com/office/drawing/2014/main" id="{AA7EEE5D-7009-AD71-E21E-0BD83F73FD2A}"/>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0" name="サブタイトル 7">
            <a:extLst>
              <a:ext uri="{FF2B5EF4-FFF2-40B4-BE49-F238E27FC236}">
                <a16:creationId xmlns:a16="http://schemas.microsoft.com/office/drawing/2014/main" id="{AB170F95-1A75-5DBC-7CF7-4866A59B1557}"/>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15" name="Picture 14" descr="A picture containing graphics, graphic design, design&#10;&#10;Description automatically generated">
            <a:extLst>
              <a:ext uri="{FF2B5EF4-FFF2-40B4-BE49-F238E27FC236}">
                <a16:creationId xmlns:a16="http://schemas.microsoft.com/office/drawing/2014/main" id="{458760B1-83E1-557F-FFC9-D4CD4D4EC61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Tree>
    <p:extLst>
      <p:ext uri="{BB962C8B-B14F-4D97-AF65-F5344CB8AC3E}">
        <p14:creationId xmlns:p14="http://schemas.microsoft.com/office/powerpoint/2010/main" val="4189828828"/>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B9B735-6B0F-C256-0A1F-E3E274790218}"/>
              </a:ext>
            </a:extLst>
          </p:cNvPr>
          <p:cNvSpPr>
            <a:spLocks noChangeArrowheads="1"/>
          </p:cNvSpPr>
          <p:nvPr/>
        </p:nvSpPr>
        <p:spPr bwMode="auto">
          <a:xfrm>
            <a:off x="250825" y="41733"/>
            <a:ext cx="7225682" cy="487056"/>
          </a:xfrm>
          <a:prstGeom prst="rect">
            <a:avLst/>
          </a:prstGeom>
        </p:spPr>
        <p:txBody>
          <a:bodyPr/>
          <a:lstStyle/>
          <a:p>
            <a:pPr>
              <a:lnSpc>
                <a:spcPts val="3400"/>
              </a:lnSpc>
              <a:spcBef>
                <a:spcPct val="20000"/>
              </a:spcBef>
              <a:buFont typeface="Arial" panose="020B0604020202020204" pitchFamily="34" charset="0"/>
              <a:buNone/>
            </a:pPr>
            <a:r>
              <a:rPr lang="en-US" altLang="id-ID" b="1" dirty="0">
                <a:latin typeface="MMC OFFICE" panose="00000500000000000000" pitchFamily="2" charset="0"/>
                <a:ea typeface="ヒラギノ角ゴ Std W6" pitchFamily="34" charset="-128"/>
              </a:rPr>
              <a:t>Product Vision &amp; Strategy – North Star Matrix (NSM)</a:t>
            </a:r>
          </a:p>
        </p:txBody>
      </p:sp>
      <p:pic>
        <p:nvPicPr>
          <p:cNvPr id="3" name="Google Shape;139;p16">
            <a:extLst>
              <a:ext uri="{FF2B5EF4-FFF2-40B4-BE49-F238E27FC236}">
                <a16:creationId xmlns:a16="http://schemas.microsoft.com/office/drawing/2014/main" id="{F458E79D-77ED-F77C-3F50-EA494772A3A4}"/>
              </a:ext>
            </a:extLst>
          </p:cNvPr>
          <p:cNvPicPr preferRelativeResize="0"/>
          <p:nvPr/>
        </p:nvPicPr>
        <p:blipFill>
          <a:blip r:embed="rId3">
            <a:alphaModFix/>
          </a:blip>
          <a:stretch>
            <a:fillRect/>
          </a:stretch>
        </p:blipFill>
        <p:spPr>
          <a:xfrm>
            <a:off x="1331641" y="1569460"/>
            <a:ext cx="5631499" cy="2717000"/>
          </a:xfrm>
          <a:prstGeom prst="rect">
            <a:avLst/>
          </a:prstGeom>
          <a:noFill/>
          <a:ln>
            <a:noFill/>
          </a:ln>
        </p:spPr>
      </p:pic>
      <p:sp>
        <p:nvSpPr>
          <p:cNvPr id="4" name="Google Shape;140;p16">
            <a:extLst>
              <a:ext uri="{FF2B5EF4-FFF2-40B4-BE49-F238E27FC236}">
                <a16:creationId xmlns:a16="http://schemas.microsoft.com/office/drawing/2014/main" id="{AA22C8B5-43FB-83FB-B725-11774869D9D8}"/>
              </a:ext>
            </a:extLst>
          </p:cNvPr>
          <p:cNvSpPr/>
          <p:nvPr/>
        </p:nvSpPr>
        <p:spPr>
          <a:xfrm>
            <a:off x="455860" y="710303"/>
            <a:ext cx="946189" cy="856417"/>
          </a:xfrm>
          <a:prstGeom prst="ellipse">
            <a:avLst/>
          </a:prstGeom>
          <a:solidFill>
            <a:schemeClr val="bg1">
              <a:lumMod val="8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defTabSz="685800">
              <a:defRPr/>
            </a:pPr>
            <a:r>
              <a:rPr kumimoji="0" lang="en-US" sz="1050">
                <a:solidFill>
                  <a:prstClr val="black"/>
                </a:solidFill>
                <a:latin typeface="Calibri"/>
              </a:rPr>
              <a:t>The Problem</a:t>
            </a:r>
            <a:endParaRPr kumimoji="0" sz="1050">
              <a:solidFill>
                <a:prstClr val="black"/>
              </a:solidFill>
              <a:latin typeface="Calibri"/>
            </a:endParaRPr>
          </a:p>
        </p:txBody>
      </p:sp>
      <p:sp>
        <p:nvSpPr>
          <p:cNvPr id="5" name="Google Shape;141;p16">
            <a:extLst>
              <a:ext uri="{FF2B5EF4-FFF2-40B4-BE49-F238E27FC236}">
                <a16:creationId xmlns:a16="http://schemas.microsoft.com/office/drawing/2014/main" id="{487C917D-4CF2-D543-AEED-1582B979D0D2}"/>
              </a:ext>
            </a:extLst>
          </p:cNvPr>
          <p:cNvSpPr/>
          <p:nvPr/>
        </p:nvSpPr>
        <p:spPr>
          <a:xfrm>
            <a:off x="7209932" y="668696"/>
            <a:ext cx="946190" cy="885005"/>
          </a:xfrm>
          <a:prstGeom prst="ellipse">
            <a:avLst/>
          </a:prstGeom>
          <a:solidFill>
            <a:schemeClr val="bg1">
              <a:lumMod val="8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defTabSz="685800"/>
            <a:r>
              <a:rPr kumimoji="0" lang="en-US" sz="1050">
                <a:solidFill>
                  <a:prstClr val="black"/>
                </a:solidFill>
                <a:latin typeface="Calibri"/>
              </a:rPr>
              <a:t>Product Vision</a:t>
            </a:r>
            <a:endParaRPr kumimoji="0" sz="1050">
              <a:solidFill>
                <a:prstClr val="black"/>
              </a:solidFill>
              <a:latin typeface="Calibri"/>
            </a:endParaRPr>
          </a:p>
        </p:txBody>
      </p:sp>
      <p:sp>
        <p:nvSpPr>
          <p:cNvPr id="6" name="Google Shape;142;p16">
            <a:extLst>
              <a:ext uri="{FF2B5EF4-FFF2-40B4-BE49-F238E27FC236}">
                <a16:creationId xmlns:a16="http://schemas.microsoft.com/office/drawing/2014/main" id="{F74B620E-028A-EB92-2494-E3B4B216E678}"/>
              </a:ext>
            </a:extLst>
          </p:cNvPr>
          <p:cNvSpPr/>
          <p:nvPr/>
        </p:nvSpPr>
        <p:spPr>
          <a:xfrm>
            <a:off x="1689402" y="851248"/>
            <a:ext cx="5228135" cy="519900"/>
          </a:xfrm>
          <a:prstGeom prst="rightArrow">
            <a:avLst>
              <a:gd name="adj1" fmla="val 50000"/>
              <a:gd name="adj2" fmla="val 50000"/>
            </a:avLst>
          </a:prstGeom>
          <a:solidFill>
            <a:schemeClr val="bg1">
              <a:lumMod val="9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defTabSz="685800">
              <a:defRPr/>
            </a:pPr>
            <a:r>
              <a:rPr kumimoji="0" lang="en-US" sz="1100" b="1" dirty="0">
                <a:latin typeface="Calibri"/>
              </a:rPr>
              <a:t>PRODUCT STRATEGY</a:t>
            </a:r>
            <a:endParaRPr kumimoji="0" sz="1100" b="1" dirty="0">
              <a:latin typeface="Calibri"/>
            </a:endParaRPr>
          </a:p>
        </p:txBody>
      </p:sp>
      <p:sp>
        <p:nvSpPr>
          <p:cNvPr id="7" name="Google Shape;143;p16">
            <a:extLst>
              <a:ext uri="{FF2B5EF4-FFF2-40B4-BE49-F238E27FC236}">
                <a16:creationId xmlns:a16="http://schemas.microsoft.com/office/drawing/2014/main" id="{1A57BA25-6B1A-232F-CC37-A8E832CD7639}"/>
              </a:ext>
            </a:extLst>
          </p:cNvPr>
          <p:cNvSpPr txBox="1"/>
          <p:nvPr/>
        </p:nvSpPr>
        <p:spPr>
          <a:xfrm>
            <a:off x="1646675" y="1209580"/>
            <a:ext cx="3947289" cy="307746"/>
          </a:xfrm>
          <a:prstGeom prst="rect">
            <a:avLst/>
          </a:prstGeom>
          <a:noFill/>
          <a:ln>
            <a:noFill/>
          </a:ln>
        </p:spPr>
        <p:txBody>
          <a:bodyPr spcFirstLastPara="1" wrap="square" lIns="91425" tIns="91425" rIns="91425" bIns="91425" anchor="t" anchorCtr="0">
            <a:spAutoFit/>
          </a:bodyPr>
          <a:lstStyle/>
          <a:p>
            <a:pPr defTabSz="685800">
              <a:defRPr/>
            </a:pPr>
            <a:r>
              <a:rPr kumimoji="0" lang="en-US" sz="800" dirty="0">
                <a:latin typeface="Lato"/>
                <a:ea typeface="Lato"/>
                <a:cs typeface="Lato"/>
                <a:sym typeface="Lato"/>
              </a:rPr>
              <a:t>Simplify Process and digitalize spare parts catalog</a:t>
            </a:r>
            <a:endParaRPr kumimoji="0" sz="800" dirty="0">
              <a:latin typeface="Calibri"/>
            </a:endParaRPr>
          </a:p>
        </p:txBody>
      </p:sp>
      <p:sp>
        <p:nvSpPr>
          <p:cNvPr id="8" name="Google Shape;144;p16">
            <a:extLst>
              <a:ext uri="{FF2B5EF4-FFF2-40B4-BE49-F238E27FC236}">
                <a16:creationId xmlns:a16="http://schemas.microsoft.com/office/drawing/2014/main" id="{BE2CBCBA-41BE-F23A-228A-C071B12BBB75}"/>
              </a:ext>
            </a:extLst>
          </p:cNvPr>
          <p:cNvSpPr txBox="1"/>
          <p:nvPr/>
        </p:nvSpPr>
        <p:spPr>
          <a:xfrm>
            <a:off x="4662010" y="1862519"/>
            <a:ext cx="2093130" cy="553968"/>
          </a:xfrm>
          <a:prstGeom prst="rect">
            <a:avLst/>
          </a:prstGeom>
          <a:noFill/>
          <a:ln>
            <a:noFill/>
          </a:ln>
        </p:spPr>
        <p:txBody>
          <a:bodyPr spcFirstLastPara="1" wrap="square" lIns="91425" tIns="91425" rIns="91425" bIns="91425" anchor="t" anchorCtr="0">
            <a:spAutoFit/>
          </a:bodyPr>
          <a:lstStyle/>
          <a:p>
            <a:pPr defTabSz="685800">
              <a:defRPr/>
            </a:pPr>
            <a:r>
              <a:rPr kumimoji="0" lang="en-US" sz="800" dirty="0">
                <a:solidFill>
                  <a:srgbClr val="595959"/>
                </a:solidFill>
                <a:ea typeface="Lato"/>
                <a:cs typeface="Lato"/>
                <a:sym typeface="Lato"/>
              </a:rPr>
              <a:t>1. Average time consume by </a:t>
            </a:r>
          </a:p>
          <a:p>
            <a:pPr defTabSz="685800">
              <a:defRPr/>
            </a:pPr>
            <a:r>
              <a:rPr kumimoji="0" lang="en-US" sz="800" dirty="0">
                <a:solidFill>
                  <a:srgbClr val="595959"/>
                </a:solidFill>
                <a:ea typeface="Lato"/>
                <a:cs typeface="Lato"/>
                <a:sym typeface="Lato"/>
              </a:rPr>
              <a:t>     dealer/part shop access parts</a:t>
            </a:r>
            <a:endParaRPr kumimoji="0" sz="800" dirty="0">
              <a:solidFill>
                <a:srgbClr val="595959"/>
              </a:solidFill>
              <a:ea typeface="Lato"/>
              <a:cs typeface="Lato"/>
              <a:sym typeface="Lato"/>
            </a:endParaRPr>
          </a:p>
          <a:p>
            <a:pPr defTabSz="685800">
              <a:defRPr/>
            </a:pPr>
            <a:r>
              <a:rPr kumimoji="0" lang="en-US" sz="800" dirty="0">
                <a:solidFill>
                  <a:srgbClr val="595959"/>
                </a:solidFill>
                <a:ea typeface="Lato"/>
                <a:cs typeface="Lato"/>
                <a:sym typeface="Lato"/>
              </a:rPr>
              <a:t>2. Conversion until realization</a:t>
            </a:r>
            <a:endParaRPr kumimoji="0" sz="800" dirty="0">
              <a:solidFill>
                <a:srgbClr val="595959"/>
              </a:solidFill>
              <a:ea typeface="Lato"/>
              <a:cs typeface="Lato"/>
              <a:sym typeface="Lato"/>
            </a:endParaRPr>
          </a:p>
        </p:txBody>
      </p:sp>
      <p:sp>
        <p:nvSpPr>
          <p:cNvPr id="9" name="Google Shape;145;p16">
            <a:extLst>
              <a:ext uri="{FF2B5EF4-FFF2-40B4-BE49-F238E27FC236}">
                <a16:creationId xmlns:a16="http://schemas.microsoft.com/office/drawing/2014/main" id="{7DF0BFAC-5981-DC4B-01BD-0E90C535AFF0}"/>
              </a:ext>
            </a:extLst>
          </p:cNvPr>
          <p:cNvSpPr txBox="1"/>
          <p:nvPr/>
        </p:nvSpPr>
        <p:spPr>
          <a:xfrm>
            <a:off x="1187219" y="4170139"/>
            <a:ext cx="2467083" cy="430857"/>
          </a:xfrm>
          <a:prstGeom prst="rect">
            <a:avLst/>
          </a:prstGeom>
          <a:noFill/>
          <a:ln>
            <a:noFill/>
          </a:ln>
        </p:spPr>
        <p:txBody>
          <a:bodyPr spcFirstLastPara="1" wrap="square" lIns="91425" tIns="91425" rIns="91425" bIns="91425" anchor="t" anchorCtr="0">
            <a:spAutoFit/>
          </a:bodyPr>
          <a:lstStyle/>
          <a:p>
            <a:pPr defTabSz="685800">
              <a:defRPr/>
            </a:pPr>
            <a:r>
              <a:rPr kumimoji="0" lang="en-US" sz="800" dirty="0">
                <a:latin typeface="Lato"/>
                <a:ea typeface="Lato"/>
                <a:cs typeface="Lato"/>
                <a:sym typeface="Lato"/>
              </a:rPr>
              <a:t>Awareness</a:t>
            </a:r>
            <a:endParaRPr kumimoji="0" sz="800" dirty="0">
              <a:latin typeface="Lato"/>
              <a:ea typeface="Lato"/>
              <a:cs typeface="Lato"/>
              <a:sym typeface="Lato"/>
            </a:endParaRPr>
          </a:p>
          <a:p>
            <a:pPr>
              <a:defRPr/>
            </a:pPr>
            <a:r>
              <a:rPr kumimoji="0" lang="en-US" sz="800" dirty="0">
                <a:latin typeface="Lato"/>
                <a:ea typeface="Lato"/>
                <a:cs typeface="Lato"/>
                <a:sym typeface="Lato"/>
              </a:rPr>
              <a:t>1. # Number Dealer/</a:t>
            </a:r>
            <a:r>
              <a:rPr lang="en-US" sz="800" dirty="0">
                <a:latin typeface="Lato"/>
                <a:ea typeface="Lato"/>
                <a:cs typeface="Lato"/>
                <a:sym typeface="Lato"/>
              </a:rPr>
              <a:t>Part shop</a:t>
            </a:r>
            <a:r>
              <a:rPr kumimoji="0" lang="en-US" sz="800" dirty="0">
                <a:latin typeface="Lato"/>
                <a:ea typeface="Lato"/>
                <a:cs typeface="Lato"/>
                <a:sym typeface="Lato"/>
              </a:rPr>
              <a:t> Access</a:t>
            </a:r>
            <a:endParaRPr kumimoji="0" lang="en-ID" sz="800" dirty="0">
              <a:latin typeface="Lato"/>
              <a:ea typeface="Lato"/>
              <a:cs typeface="Lato"/>
              <a:sym typeface="Lato"/>
            </a:endParaRPr>
          </a:p>
        </p:txBody>
      </p:sp>
      <p:sp>
        <p:nvSpPr>
          <p:cNvPr id="10" name="Google Shape;146;p16">
            <a:extLst>
              <a:ext uri="{FF2B5EF4-FFF2-40B4-BE49-F238E27FC236}">
                <a16:creationId xmlns:a16="http://schemas.microsoft.com/office/drawing/2014/main" id="{48394F07-4A20-6493-8F33-48C6900A8AE7}"/>
              </a:ext>
            </a:extLst>
          </p:cNvPr>
          <p:cNvSpPr txBox="1"/>
          <p:nvPr/>
        </p:nvSpPr>
        <p:spPr>
          <a:xfrm>
            <a:off x="3505810" y="4153041"/>
            <a:ext cx="2461346" cy="553968"/>
          </a:xfrm>
          <a:prstGeom prst="rect">
            <a:avLst/>
          </a:prstGeom>
          <a:noFill/>
          <a:ln>
            <a:noFill/>
          </a:ln>
        </p:spPr>
        <p:txBody>
          <a:bodyPr spcFirstLastPara="1" wrap="square" lIns="91425" tIns="91425" rIns="91425" bIns="91425" anchor="t" anchorCtr="0">
            <a:spAutoFit/>
          </a:bodyPr>
          <a:lstStyle/>
          <a:p>
            <a:pPr defTabSz="685800">
              <a:defRPr/>
            </a:pPr>
            <a:r>
              <a:rPr kumimoji="0" lang="en-US" sz="800" dirty="0">
                <a:latin typeface="Lato"/>
                <a:ea typeface="Lato"/>
                <a:cs typeface="Lato"/>
                <a:sym typeface="Lato"/>
              </a:rPr>
              <a:t>Activation</a:t>
            </a:r>
            <a:endParaRPr kumimoji="0" sz="800" dirty="0">
              <a:latin typeface="Lato"/>
              <a:ea typeface="Lato"/>
              <a:cs typeface="Lato"/>
              <a:sym typeface="Lato"/>
            </a:endParaRPr>
          </a:p>
          <a:p>
            <a:pPr defTabSz="685800">
              <a:defRPr/>
            </a:pPr>
            <a:r>
              <a:rPr kumimoji="0" lang="en-US" sz="800" dirty="0">
                <a:latin typeface="Lato"/>
                <a:ea typeface="Lato"/>
                <a:cs typeface="Lato"/>
                <a:sym typeface="Lato"/>
              </a:rPr>
              <a:t>1. # Time Consume Per Access</a:t>
            </a:r>
            <a:endParaRPr kumimoji="0" sz="800" dirty="0">
              <a:latin typeface="Lato"/>
              <a:ea typeface="Lato"/>
              <a:cs typeface="Lato"/>
              <a:sym typeface="Lato"/>
            </a:endParaRPr>
          </a:p>
          <a:p>
            <a:pPr defTabSz="685800">
              <a:defRPr/>
            </a:pPr>
            <a:r>
              <a:rPr kumimoji="0" lang="en-US" sz="800" dirty="0">
                <a:latin typeface="Lato"/>
                <a:ea typeface="Lato"/>
                <a:cs typeface="Lato"/>
                <a:sym typeface="Lato"/>
              </a:rPr>
              <a:t>2. # Number request data parts</a:t>
            </a:r>
            <a:endParaRPr kumimoji="0" sz="800" dirty="0">
              <a:latin typeface="Lato"/>
              <a:ea typeface="Lato"/>
              <a:cs typeface="Lato"/>
              <a:sym typeface="Lato"/>
            </a:endParaRPr>
          </a:p>
        </p:txBody>
      </p:sp>
      <p:sp>
        <p:nvSpPr>
          <p:cNvPr id="11" name="Google Shape;147;p16">
            <a:extLst>
              <a:ext uri="{FF2B5EF4-FFF2-40B4-BE49-F238E27FC236}">
                <a16:creationId xmlns:a16="http://schemas.microsoft.com/office/drawing/2014/main" id="{ACA50F2D-FF8C-73F5-D47B-CC80907108B7}"/>
              </a:ext>
            </a:extLst>
          </p:cNvPr>
          <p:cNvSpPr txBox="1"/>
          <p:nvPr/>
        </p:nvSpPr>
        <p:spPr>
          <a:xfrm>
            <a:off x="5708575" y="4156267"/>
            <a:ext cx="2541458" cy="553968"/>
          </a:xfrm>
          <a:prstGeom prst="rect">
            <a:avLst/>
          </a:prstGeom>
          <a:noFill/>
          <a:ln>
            <a:noFill/>
          </a:ln>
        </p:spPr>
        <p:txBody>
          <a:bodyPr spcFirstLastPara="1" wrap="square" lIns="91425" tIns="91425" rIns="91425" bIns="91425" anchor="t" anchorCtr="0">
            <a:spAutoFit/>
          </a:bodyPr>
          <a:lstStyle/>
          <a:p>
            <a:pPr defTabSz="685800">
              <a:defRPr/>
            </a:pPr>
            <a:r>
              <a:rPr kumimoji="0" lang="en-US" sz="800" dirty="0">
                <a:latin typeface="Lato"/>
                <a:ea typeface="Lato"/>
                <a:cs typeface="Lato"/>
                <a:sym typeface="Lato"/>
              </a:rPr>
              <a:t>Revenue</a:t>
            </a:r>
            <a:endParaRPr kumimoji="0" sz="800" dirty="0">
              <a:latin typeface="Lato"/>
              <a:ea typeface="Lato"/>
              <a:cs typeface="Lato"/>
              <a:sym typeface="Lato"/>
            </a:endParaRPr>
          </a:p>
          <a:p>
            <a:pPr defTabSz="685800">
              <a:defRPr/>
            </a:pPr>
            <a:r>
              <a:rPr kumimoji="0" lang="en-US" sz="800" dirty="0">
                <a:latin typeface="Lato"/>
                <a:ea typeface="Lato"/>
                <a:cs typeface="Lato"/>
                <a:sym typeface="Lato"/>
              </a:rPr>
              <a:t>1. # Cost efficiency for provide licenses</a:t>
            </a:r>
          </a:p>
          <a:p>
            <a:pPr defTabSz="685800">
              <a:defRPr/>
            </a:pPr>
            <a:r>
              <a:rPr lang="en-US" sz="800" dirty="0">
                <a:latin typeface="Lato"/>
                <a:ea typeface="Lato"/>
                <a:cs typeface="Lato"/>
                <a:sym typeface="Lato"/>
              </a:rPr>
              <a:t>2. </a:t>
            </a:r>
            <a:r>
              <a:rPr kumimoji="0" lang="en-US" sz="800" dirty="0">
                <a:latin typeface="Lato"/>
                <a:ea typeface="Lato"/>
                <a:cs typeface="Lato"/>
                <a:sym typeface="Lato"/>
              </a:rPr>
              <a:t># Cost efficiency for hard copy document</a:t>
            </a:r>
            <a:endParaRPr kumimoji="0" sz="800" dirty="0">
              <a:latin typeface="Lato"/>
              <a:ea typeface="Lato"/>
              <a:cs typeface="Lato"/>
              <a:sym typeface="Lato"/>
            </a:endParaRPr>
          </a:p>
        </p:txBody>
      </p:sp>
      <p:sp>
        <p:nvSpPr>
          <p:cNvPr id="12" name="Google Shape;144;p16">
            <a:extLst>
              <a:ext uri="{FF2B5EF4-FFF2-40B4-BE49-F238E27FC236}">
                <a16:creationId xmlns:a16="http://schemas.microsoft.com/office/drawing/2014/main" id="{900909FD-801F-9274-34CC-11891F5E6075}"/>
              </a:ext>
            </a:extLst>
          </p:cNvPr>
          <p:cNvSpPr txBox="1"/>
          <p:nvPr/>
        </p:nvSpPr>
        <p:spPr>
          <a:xfrm>
            <a:off x="6832654" y="1720605"/>
            <a:ext cx="2012532" cy="1046410"/>
          </a:xfrm>
          <a:prstGeom prst="rect">
            <a:avLst/>
          </a:prstGeom>
          <a:noFill/>
          <a:ln>
            <a:noFill/>
          </a:ln>
        </p:spPr>
        <p:txBody>
          <a:bodyPr spcFirstLastPara="1" wrap="square" lIns="91425" tIns="91425" rIns="91425" bIns="91425" anchor="t" anchorCtr="0">
            <a:spAutoFit/>
          </a:bodyPr>
          <a:lstStyle/>
          <a:p>
            <a:pPr>
              <a:defRPr/>
            </a:pPr>
            <a:r>
              <a:rPr lang="en-US" sz="800" dirty="0">
                <a:sym typeface="Lato"/>
              </a:rPr>
              <a:t>Web based system which has seamless, intuitive, and comprehensive platform that simplifies spare part identification, selection, and procurement, ultimately enhancing operational efficiency and provide customers and businesses interact with Mitsubishi source spare parts.</a:t>
            </a:r>
          </a:p>
        </p:txBody>
      </p:sp>
      <p:sp>
        <p:nvSpPr>
          <p:cNvPr id="13" name="Google Shape;143;p16">
            <a:extLst>
              <a:ext uri="{FF2B5EF4-FFF2-40B4-BE49-F238E27FC236}">
                <a16:creationId xmlns:a16="http://schemas.microsoft.com/office/drawing/2014/main" id="{D1A312EA-2BDC-FE51-1D1F-F318998182E0}"/>
              </a:ext>
            </a:extLst>
          </p:cNvPr>
          <p:cNvSpPr txBox="1"/>
          <p:nvPr/>
        </p:nvSpPr>
        <p:spPr>
          <a:xfrm>
            <a:off x="180953" y="1578009"/>
            <a:ext cx="2012532" cy="800189"/>
          </a:xfrm>
          <a:prstGeom prst="rect">
            <a:avLst/>
          </a:prstGeom>
          <a:noFill/>
          <a:ln>
            <a:noFill/>
          </a:ln>
        </p:spPr>
        <p:txBody>
          <a:bodyPr spcFirstLastPara="1" wrap="square" lIns="91425" tIns="91425" rIns="91425" bIns="91425" anchor="t" anchorCtr="0">
            <a:spAutoFit/>
          </a:bodyPr>
          <a:lstStyle>
            <a:defPPr>
              <a:defRPr lang="ja-JP"/>
            </a:defPPr>
            <a:lvl1pPr>
              <a:defRPr sz="800"/>
            </a:lvl1pPr>
          </a:lstStyle>
          <a:p>
            <a:pPr marL="171450" indent="-171450">
              <a:buFont typeface="Arial" panose="020B0604020202020204" pitchFamily="34" charset="0"/>
              <a:buChar char="•"/>
            </a:pPr>
            <a:r>
              <a:rPr lang="en-US" dirty="0">
                <a:sym typeface="Lato"/>
              </a:rPr>
              <a:t>Too many manual administrative for distributing information parts due to limitation user access for CAPS </a:t>
            </a:r>
          </a:p>
          <a:p>
            <a:pPr marL="171450" indent="-171450">
              <a:buFont typeface="Arial" panose="020B0604020202020204" pitchFamily="34" charset="0"/>
              <a:buChar char="•"/>
            </a:pPr>
            <a:r>
              <a:rPr lang="en-US" dirty="0">
                <a:sym typeface="Lato"/>
              </a:rPr>
              <a:t>Document parts need update manually if there is update too from CAPS</a:t>
            </a:r>
            <a:endParaRPr dirty="0"/>
          </a:p>
        </p:txBody>
      </p:sp>
      <p:pic>
        <p:nvPicPr>
          <p:cNvPr id="20" name="Picture 19" descr="A picture containing graphics, graphic design, design&#10;&#10;Description automatically generated">
            <a:extLst>
              <a:ext uri="{FF2B5EF4-FFF2-40B4-BE49-F238E27FC236}">
                <a16:creationId xmlns:a16="http://schemas.microsoft.com/office/drawing/2014/main" id="{09964C98-2264-2EF4-9F1A-542FA38E40B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21" name="スライド番号プレースホルダー 3">
            <a:extLst>
              <a:ext uri="{FF2B5EF4-FFF2-40B4-BE49-F238E27FC236}">
                <a16:creationId xmlns:a16="http://schemas.microsoft.com/office/drawing/2014/main" id="{708E9089-6D70-9087-3672-E53EB88B5D14}"/>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8</a:t>
            </a:fld>
            <a:endParaRPr lang="ja-JP" altLang="en-US"/>
          </a:p>
        </p:txBody>
      </p:sp>
      <p:sp>
        <p:nvSpPr>
          <p:cNvPr id="22" name="サブタイトル 7">
            <a:extLst>
              <a:ext uri="{FF2B5EF4-FFF2-40B4-BE49-F238E27FC236}">
                <a16:creationId xmlns:a16="http://schemas.microsoft.com/office/drawing/2014/main" id="{65400603-CE91-558E-8D26-BF27A02B71E0}"/>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23" name="サブタイトル 7">
            <a:extLst>
              <a:ext uri="{FF2B5EF4-FFF2-40B4-BE49-F238E27FC236}">
                <a16:creationId xmlns:a16="http://schemas.microsoft.com/office/drawing/2014/main" id="{852D69E5-7DCE-4B91-7920-7DE2431A62BB}"/>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Tree>
    <p:extLst>
      <p:ext uri="{BB962C8B-B14F-4D97-AF65-F5344CB8AC3E}">
        <p14:creationId xmlns:p14="http://schemas.microsoft.com/office/powerpoint/2010/main" val="249408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B9B735-6B0F-C256-0A1F-E3E274790218}"/>
              </a:ext>
            </a:extLst>
          </p:cNvPr>
          <p:cNvSpPr>
            <a:spLocks noChangeArrowheads="1"/>
          </p:cNvSpPr>
          <p:nvPr/>
        </p:nvSpPr>
        <p:spPr bwMode="auto">
          <a:xfrm>
            <a:off x="250825" y="41733"/>
            <a:ext cx="7225682" cy="487056"/>
          </a:xfrm>
          <a:prstGeom prst="rect">
            <a:avLst/>
          </a:prstGeom>
        </p:spPr>
        <p:txBody>
          <a:bodyPr/>
          <a:lstStyle/>
          <a:p>
            <a:pPr>
              <a:lnSpc>
                <a:spcPts val="3400"/>
              </a:lnSpc>
              <a:spcBef>
                <a:spcPct val="20000"/>
              </a:spcBef>
              <a:buFont typeface="Arial" panose="020B0604020202020204" pitchFamily="34" charset="0"/>
              <a:buNone/>
            </a:pPr>
            <a:r>
              <a:rPr lang="en-US" sz="1800" b="1" dirty="0">
                <a:ea typeface="ヒラギノ角ゴ Std W6" pitchFamily="34" charset="-128"/>
              </a:rPr>
              <a:t>Product Digital Spare Parts Catalog - Roadmap</a:t>
            </a:r>
            <a:endParaRPr lang="en-US" altLang="id-ID" b="1" dirty="0">
              <a:latin typeface="MMC OFFICE" panose="00000500000000000000" pitchFamily="2" charset="0"/>
              <a:ea typeface="ヒラギノ角ゴ Std W6" pitchFamily="34" charset="-128"/>
            </a:endParaRPr>
          </a:p>
        </p:txBody>
      </p:sp>
      <p:pic>
        <p:nvPicPr>
          <p:cNvPr id="20" name="Picture 19" descr="A picture containing graphics, graphic design, design&#10;&#10;Description automatically generated">
            <a:extLst>
              <a:ext uri="{FF2B5EF4-FFF2-40B4-BE49-F238E27FC236}">
                <a16:creationId xmlns:a16="http://schemas.microsoft.com/office/drawing/2014/main" id="{09964C98-2264-2EF4-9F1A-542FA38E40B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21" name="スライド番号プレースホルダー 3">
            <a:extLst>
              <a:ext uri="{FF2B5EF4-FFF2-40B4-BE49-F238E27FC236}">
                <a16:creationId xmlns:a16="http://schemas.microsoft.com/office/drawing/2014/main" id="{708E9089-6D70-9087-3672-E53EB88B5D14}"/>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9</a:t>
            </a:fld>
            <a:endParaRPr lang="ja-JP" altLang="en-US"/>
          </a:p>
        </p:txBody>
      </p:sp>
      <p:sp>
        <p:nvSpPr>
          <p:cNvPr id="22" name="サブタイトル 7">
            <a:extLst>
              <a:ext uri="{FF2B5EF4-FFF2-40B4-BE49-F238E27FC236}">
                <a16:creationId xmlns:a16="http://schemas.microsoft.com/office/drawing/2014/main" id="{65400603-CE91-558E-8D26-BF27A02B71E0}"/>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23" name="サブタイトル 7">
            <a:extLst>
              <a:ext uri="{FF2B5EF4-FFF2-40B4-BE49-F238E27FC236}">
                <a16:creationId xmlns:a16="http://schemas.microsoft.com/office/drawing/2014/main" id="{852D69E5-7DCE-4B91-7920-7DE2431A62BB}"/>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graphicFrame>
        <p:nvGraphicFramePr>
          <p:cNvPr id="16" name="Diagram 15">
            <a:extLst>
              <a:ext uri="{FF2B5EF4-FFF2-40B4-BE49-F238E27FC236}">
                <a16:creationId xmlns:a16="http://schemas.microsoft.com/office/drawing/2014/main" id="{A10A9AD7-F59E-EBE5-84BE-7952A4435F88}"/>
              </a:ext>
            </a:extLst>
          </p:cNvPr>
          <p:cNvGraphicFramePr/>
          <p:nvPr>
            <p:extLst>
              <p:ext uri="{D42A27DB-BD31-4B8C-83A1-F6EECF244321}">
                <p14:modId xmlns:p14="http://schemas.microsoft.com/office/powerpoint/2010/main" val="3740866346"/>
              </p:ext>
            </p:extLst>
          </p:nvPr>
        </p:nvGraphicFramePr>
        <p:xfrm>
          <a:off x="-2088740" y="1311610"/>
          <a:ext cx="9451050" cy="3282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7" name="Google Shape;228;p21">
            <a:extLst>
              <a:ext uri="{FF2B5EF4-FFF2-40B4-BE49-F238E27FC236}">
                <a16:creationId xmlns:a16="http://schemas.microsoft.com/office/drawing/2014/main" id="{788763A7-69C8-9833-529E-B48A1232C589}"/>
              </a:ext>
            </a:extLst>
          </p:cNvPr>
          <p:cNvSpPr txBox="1"/>
          <p:nvPr/>
        </p:nvSpPr>
        <p:spPr>
          <a:xfrm>
            <a:off x="5395456" y="590780"/>
            <a:ext cx="5462471" cy="252309"/>
          </a:xfrm>
          <a:prstGeom prst="rect">
            <a:avLst/>
          </a:prstGeom>
          <a:noFill/>
          <a:ln>
            <a:noFill/>
          </a:ln>
        </p:spPr>
        <p:txBody>
          <a:bodyPr spcFirstLastPara="1" wrap="square" lIns="68569" tIns="68569" rIns="68569" bIns="68569" anchor="ctr" anchorCtr="0">
            <a:noAutofit/>
          </a:bodyPr>
          <a:lstStyle>
            <a:defPPr>
              <a:defRPr lang="en-US"/>
            </a:defPPr>
            <a:lvl1pPr lvl="0" indent="0">
              <a:spcBef>
                <a:spcPts val="0"/>
              </a:spcBef>
              <a:spcAft>
                <a:spcPts val="0"/>
              </a:spcAft>
              <a:buNone/>
              <a:defRPr b="1">
                <a:solidFill>
                  <a:schemeClr val="accent5">
                    <a:lumMod val="75000"/>
                  </a:schemeClr>
                </a:solidFill>
                <a:latin typeface="Fira Sans Extra Condensed Medium"/>
                <a:ea typeface="Fira Sans Extra Condensed Medium"/>
                <a:cs typeface="Fira Sans Extra Condensed Medium"/>
              </a:defRPr>
            </a:lvl1pPr>
          </a:lstStyle>
          <a:p>
            <a:r>
              <a:rPr lang="en" sz="1350" dirty="0">
                <a:solidFill>
                  <a:schemeClr val="tx1"/>
                </a:solidFill>
                <a:sym typeface="Fira Sans Extra Condensed Medium"/>
              </a:rPr>
              <a:t>PRODUCT VISION – Microsite Spare Part</a:t>
            </a:r>
            <a:endParaRPr sz="1350" dirty="0">
              <a:solidFill>
                <a:schemeClr val="tx1"/>
              </a:solidFill>
              <a:sym typeface="Fira Sans Extra Condensed Medium"/>
            </a:endParaRPr>
          </a:p>
        </p:txBody>
      </p:sp>
      <p:sp>
        <p:nvSpPr>
          <p:cNvPr id="18" name="Google Shape;229;p21">
            <a:extLst>
              <a:ext uri="{FF2B5EF4-FFF2-40B4-BE49-F238E27FC236}">
                <a16:creationId xmlns:a16="http://schemas.microsoft.com/office/drawing/2014/main" id="{15E84B35-CBC5-A283-EA01-579245931741}"/>
              </a:ext>
            </a:extLst>
          </p:cNvPr>
          <p:cNvSpPr txBox="1"/>
          <p:nvPr/>
        </p:nvSpPr>
        <p:spPr>
          <a:xfrm>
            <a:off x="5414701" y="808082"/>
            <a:ext cx="3397413" cy="873801"/>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mn-lt"/>
                <a:ea typeface="+mn-ea"/>
                <a:cs typeface="+mn-cs"/>
                <a:sym typeface="Lato"/>
              </a:rPr>
              <a:t>Ecosystem which seamless, intuitive, and comprehensive platform that simplifies spare part identification, selection, and procurement, ultimately enhancing operational efficiency and provide customers and businesses interact with Mitsubishi source spare parts.</a:t>
            </a:r>
          </a:p>
        </p:txBody>
      </p:sp>
      <p:pic>
        <p:nvPicPr>
          <p:cNvPr id="19" name="Picture 18">
            <a:extLst>
              <a:ext uri="{FF2B5EF4-FFF2-40B4-BE49-F238E27FC236}">
                <a16:creationId xmlns:a16="http://schemas.microsoft.com/office/drawing/2014/main" id="{AB100C4C-29DA-CD32-F1C1-12297B8BC28B}"/>
              </a:ext>
            </a:extLst>
          </p:cNvPr>
          <p:cNvPicPr>
            <a:picLocks noChangeAspect="1"/>
          </p:cNvPicPr>
          <p:nvPr/>
        </p:nvPicPr>
        <p:blipFill>
          <a:blip r:embed="rId9"/>
          <a:stretch>
            <a:fillRect/>
          </a:stretch>
        </p:blipFill>
        <p:spPr>
          <a:xfrm>
            <a:off x="5395456" y="1651935"/>
            <a:ext cx="3531188" cy="2293882"/>
          </a:xfrm>
          <a:prstGeom prst="rect">
            <a:avLst/>
          </a:prstGeom>
        </p:spPr>
      </p:pic>
      <p:pic>
        <p:nvPicPr>
          <p:cNvPr id="25" name="Picture 24">
            <a:extLst>
              <a:ext uri="{FF2B5EF4-FFF2-40B4-BE49-F238E27FC236}">
                <a16:creationId xmlns:a16="http://schemas.microsoft.com/office/drawing/2014/main" id="{D2D1826B-E30E-B1E3-E3BB-4551AF76D8F9}"/>
              </a:ext>
            </a:extLst>
          </p:cNvPr>
          <p:cNvPicPr>
            <a:picLocks noChangeAspect="1"/>
          </p:cNvPicPr>
          <p:nvPr/>
        </p:nvPicPr>
        <p:blipFill>
          <a:blip r:embed="rId10"/>
          <a:stretch>
            <a:fillRect/>
          </a:stretch>
        </p:blipFill>
        <p:spPr>
          <a:xfrm>
            <a:off x="6521206" y="3350619"/>
            <a:ext cx="2290908" cy="732964"/>
          </a:xfrm>
          <a:prstGeom prst="rect">
            <a:avLst/>
          </a:prstGeom>
        </p:spPr>
      </p:pic>
      <p:sp>
        <p:nvSpPr>
          <p:cNvPr id="26" name="Rectangle: Rounded Corners 25">
            <a:extLst>
              <a:ext uri="{FF2B5EF4-FFF2-40B4-BE49-F238E27FC236}">
                <a16:creationId xmlns:a16="http://schemas.microsoft.com/office/drawing/2014/main" id="{7DCB0BBD-9FE5-9D90-AA69-BF61E1D80D64}"/>
              </a:ext>
            </a:extLst>
          </p:cNvPr>
          <p:cNvSpPr/>
          <p:nvPr/>
        </p:nvSpPr>
        <p:spPr>
          <a:xfrm>
            <a:off x="250825" y="1266605"/>
            <a:ext cx="1170825" cy="3458034"/>
          </a:xfrm>
          <a:prstGeom prst="round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Google Shape;229;p21">
            <a:extLst>
              <a:ext uri="{FF2B5EF4-FFF2-40B4-BE49-F238E27FC236}">
                <a16:creationId xmlns:a16="http://schemas.microsoft.com/office/drawing/2014/main" id="{666C3BD1-A02A-52FF-85CC-1364BC0D159C}"/>
              </a:ext>
            </a:extLst>
          </p:cNvPr>
          <p:cNvSpPr txBox="1"/>
          <p:nvPr/>
        </p:nvSpPr>
        <p:spPr>
          <a:xfrm>
            <a:off x="378586" y="1387833"/>
            <a:ext cx="908050" cy="528203"/>
          </a:xfrm>
          <a:prstGeom prst="rect">
            <a:avLst/>
          </a:prstGeom>
          <a:noFill/>
          <a:ln>
            <a:noFill/>
          </a:ln>
        </p:spPr>
        <p:txBody>
          <a:bodyPr spcFirstLastPara="1" wrap="square" lIns="68569" tIns="68569" rIns="68569" bIns="68569" anchor="t" anchorCtr="0">
            <a:noAutofit/>
          </a:bodyPr>
          <a:lstStyle/>
          <a:p>
            <a:pPr algn="ctr"/>
            <a:r>
              <a:rPr lang="en-US" sz="1400" b="1" dirty="0">
                <a:solidFill>
                  <a:srgbClr val="FF0000"/>
                </a:solidFill>
                <a:latin typeface="Roboto"/>
                <a:ea typeface="Roboto"/>
                <a:cs typeface="Roboto"/>
                <a:sym typeface="Roboto"/>
              </a:rPr>
              <a:t>Current </a:t>
            </a:r>
          </a:p>
          <a:p>
            <a:pPr algn="ctr"/>
            <a:r>
              <a:rPr lang="en-US" sz="1400" b="1" dirty="0">
                <a:solidFill>
                  <a:srgbClr val="FF0000"/>
                </a:solidFill>
                <a:latin typeface="Roboto"/>
                <a:ea typeface="Roboto"/>
                <a:cs typeface="Roboto"/>
                <a:sym typeface="Roboto"/>
              </a:rPr>
              <a:t>Scope</a:t>
            </a:r>
            <a:endParaRPr lang="en-US" sz="1600" b="1" dirty="0">
              <a:solidFill>
                <a:srgbClr val="FF0000"/>
              </a:solidFill>
              <a:latin typeface="Roboto"/>
              <a:ea typeface="Roboto"/>
              <a:cs typeface="Roboto"/>
              <a:sym typeface="Roboto"/>
            </a:endParaRPr>
          </a:p>
          <a:p>
            <a:pPr algn="ctr"/>
            <a:r>
              <a:rPr lang="en-US" sz="900" dirty="0">
                <a:solidFill>
                  <a:srgbClr val="FF0000"/>
                </a:solidFill>
                <a:latin typeface="Roboto"/>
                <a:ea typeface="Roboto"/>
                <a:cs typeface="Roboto"/>
                <a:sym typeface="Roboto"/>
              </a:rPr>
              <a:t> </a:t>
            </a:r>
            <a:endParaRPr lang="en" sz="900" dirty="0">
              <a:solidFill>
                <a:srgbClr val="FF0000"/>
              </a:solidFill>
              <a:latin typeface="Roboto"/>
              <a:ea typeface="Roboto"/>
              <a:cs typeface="Roboto"/>
              <a:sym typeface="Roboto"/>
            </a:endParaRPr>
          </a:p>
        </p:txBody>
      </p:sp>
      <p:sp>
        <p:nvSpPr>
          <p:cNvPr id="29" name="Flowchart: Magnetic Disk 28">
            <a:extLst>
              <a:ext uri="{FF2B5EF4-FFF2-40B4-BE49-F238E27FC236}">
                <a16:creationId xmlns:a16="http://schemas.microsoft.com/office/drawing/2014/main" id="{8C6A3FC9-DA32-DD59-1C9E-A02421F808BF}"/>
              </a:ext>
            </a:extLst>
          </p:cNvPr>
          <p:cNvSpPr/>
          <p:nvPr/>
        </p:nvSpPr>
        <p:spPr>
          <a:xfrm>
            <a:off x="5606430" y="4249927"/>
            <a:ext cx="2591854" cy="578483"/>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B843A5E-4F3D-2F9F-B9C4-19744400168C}"/>
              </a:ext>
            </a:extLst>
          </p:cNvPr>
          <p:cNvSpPr txBox="1"/>
          <p:nvPr/>
        </p:nvSpPr>
        <p:spPr>
          <a:xfrm>
            <a:off x="6168239" y="4431077"/>
            <a:ext cx="1493036" cy="415498"/>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MMKSI Analytics Platform</a:t>
            </a:r>
          </a:p>
        </p:txBody>
      </p:sp>
    </p:spTree>
    <p:extLst>
      <p:ext uri="{BB962C8B-B14F-4D97-AF65-F5344CB8AC3E}">
        <p14:creationId xmlns:p14="http://schemas.microsoft.com/office/powerpoint/2010/main" val="1510906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393130" cy="364901"/>
          </a:xfrm>
        </p:spPr>
        <p:txBody>
          <a:bodyPr anchor="ctr"/>
          <a:lstStyle/>
          <a:p>
            <a:r>
              <a:rPr lang="en-US" sz="2000" dirty="0">
                <a:ea typeface="ヒラギノ角ゴ Std W6" pitchFamily="34" charset="-128"/>
              </a:rPr>
              <a:t>Microsite Spare Parts Catalogues – Product Metrics</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10</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graphicFrame>
        <p:nvGraphicFramePr>
          <p:cNvPr id="2" name="Table 1">
            <a:extLst>
              <a:ext uri="{FF2B5EF4-FFF2-40B4-BE49-F238E27FC236}">
                <a16:creationId xmlns:a16="http://schemas.microsoft.com/office/drawing/2014/main" id="{DC621FEE-F678-95DC-9193-87500BFB820A}"/>
              </a:ext>
            </a:extLst>
          </p:cNvPr>
          <p:cNvGraphicFramePr>
            <a:graphicFrameLocks noGrp="1"/>
          </p:cNvGraphicFramePr>
          <p:nvPr>
            <p:extLst>
              <p:ext uri="{D42A27DB-BD31-4B8C-83A1-F6EECF244321}">
                <p14:modId xmlns:p14="http://schemas.microsoft.com/office/powerpoint/2010/main" val="205638316"/>
              </p:ext>
            </p:extLst>
          </p:nvPr>
        </p:nvGraphicFramePr>
        <p:xfrm>
          <a:off x="296523" y="681540"/>
          <a:ext cx="8190911" cy="3258300"/>
        </p:xfrm>
        <a:graphic>
          <a:graphicData uri="http://schemas.openxmlformats.org/drawingml/2006/table">
            <a:tbl>
              <a:tblPr firstRow="1" firstCol="1" bandRow="1">
                <a:tableStyleId>{073A0DAA-6AF3-43AB-8588-CEC1D06C72B9}</a:tableStyleId>
              </a:tblPr>
              <a:tblGrid>
                <a:gridCol w="630072">
                  <a:extLst>
                    <a:ext uri="{9D8B030D-6E8A-4147-A177-3AD203B41FA5}">
                      <a16:colId xmlns:a16="http://schemas.microsoft.com/office/drawing/2014/main" val="1187814462"/>
                    </a:ext>
                  </a:extLst>
                </a:gridCol>
                <a:gridCol w="990110">
                  <a:extLst>
                    <a:ext uri="{9D8B030D-6E8A-4147-A177-3AD203B41FA5}">
                      <a16:colId xmlns:a16="http://schemas.microsoft.com/office/drawing/2014/main" val="2157590205"/>
                    </a:ext>
                  </a:extLst>
                </a:gridCol>
                <a:gridCol w="3330370">
                  <a:extLst>
                    <a:ext uri="{9D8B030D-6E8A-4147-A177-3AD203B41FA5}">
                      <a16:colId xmlns:a16="http://schemas.microsoft.com/office/drawing/2014/main" val="2307521735"/>
                    </a:ext>
                  </a:extLst>
                </a:gridCol>
                <a:gridCol w="3240359">
                  <a:extLst>
                    <a:ext uri="{9D8B030D-6E8A-4147-A177-3AD203B41FA5}">
                      <a16:colId xmlns:a16="http://schemas.microsoft.com/office/drawing/2014/main" val="1106418748"/>
                    </a:ext>
                  </a:extLst>
                </a:gridCol>
              </a:tblGrid>
              <a:tr h="159590">
                <a:tc>
                  <a:txBody>
                    <a:bodyPr/>
                    <a:lstStyle/>
                    <a:p>
                      <a:pPr marL="457200" marR="0" indent="-457200">
                        <a:spcBef>
                          <a:spcPts val="0"/>
                        </a:spcBef>
                        <a:spcAft>
                          <a:spcPts val="0"/>
                        </a:spcAft>
                      </a:pPr>
                      <a:r>
                        <a:rPr lang="en-US" sz="1000">
                          <a:effectLst/>
                        </a:rPr>
                        <a:t>OKR</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457200" marR="0" indent="-457200">
                        <a:spcBef>
                          <a:spcPts val="0"/>
                        </a:spcBef>
                        <a:spcAft>
                          <a:spcPts val="0"/>
                        </a:spcAft>
                      </a:pPr>
                      <a:r>
                        <a:rPr lang="en-US" sz="1000">
                          <a:effectLst/>
                        </a:rPr>
                        <a:t>Key Point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0" marR="0" indent="-457200" algn="just">
                        <a:spcBef>
                          <a:spcPts val="0"/>
                        </a:spcBef>
                        <a:spcAft>
                          <a:spcPts val="0"/>
                        </a:spcAft>
                        <a:tabLst>
                          <a:tab pos="600075" algn="l"/>
                        </a:tabLst>
                      </a:pPr>
                      <a:r>
                        <a:rPr lang="en-US" sz="1000" dirty="0">
                          <a:effectLst/>
                        </a:rPr>
                        <a:t>	Key Value</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635" marR="0" indent="0" algn="just">
                        <a:spcBef>
                          <a:spcPts val="0"/>
                        </a:spcBef>
                        <a:spcAft>
                          <a:spcPts val="0"/>
                        </a:spcAft>
                      </a:pPr>
                      <a:r>
                        <a:rPr lang="en-US" sz="1000">
                          <a:effectLst/>
                        </a:rPr>
                        <a:t>Key Indicator</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extLst>
                  <a:ext uri="{0D108BD9-81ED-4DB2-BD59-A6C34878D82A}">
                    <a16:rowId xmlns:a16="http://schemas.microsoft.com/office/drawing/2014/main" val="3216076456"/>
                  </a:ext>
                </a:extLst>
              </a:tr>
              <a:tr h="1048861">
                <a:tc>
                  <a:txBody>
                    <a:bodyPr/>
                    <a:lstStyle/>
                    <a:p>
                      <a:pPr marL="457200" marR="0" indent="-457200">
                        <a:spcBef>
                          <a:spcPts val="0"/>
                        </a:spcBef>
                        <a:spcAft>
                          <a:spcPts val="0"/>
                        </a:spcAft>
                      </a:pPr>
                      <a:r>
                        <a:rPr lang="en-US" sz="1000">
                          <a:effectLst/>
                        </a:rPr>
                        <a:t>OKR - 1</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457200" marR="0" indent="-457200">
                        <a:spcBef>
                          <a:spcPts val="0"/>
                        </a:spcBef>
                        <a:spcAft>
                          <a:spcPts val="0"/>
                        </a:spcAft>
                      </a:pPr>
                      <a:r>
                        <a:rPr lang="en-US" sz="1000">
                          <a:effectLst/>
                        </a:rPr>
                        <a:t>Reliable Apps</a:t>
                      </a:r>
                    </a:p>
                    <a:p>
                      <a:pPr marL="457200" marR="0" indent="-457200">
                        <a:spcBef>
                          <a:spcPts val="0"/>
                        </a:spcBef>
                        <a:spcAft>
                          <a:spcPts val="0"/>
                        </a:spcAft>
                      </a:pPr>
                      <a:r>
                        <a:rPr lang="en-US" sz="1000">
                          <a:effectLst/>
                        </a:rPr>
                        <a:t>(User tool)</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169863" marR="0" lvl="0" indent="-169863" algn="l">
                        <a:spcBef>
                          <a:spcPts val="0"/>
                        </a:spcBef>
                        <a:spcAft>
                          <a:spcPts val="0"/>
                        </a:spcAft>
                        <a:buFont typeface="Symbol" panose="05050102010706020507" pitchFamily="18" charset="2"/>
                        <a:buChar char=""/>
                      </a:pPr>
                      <a:r>
                        <a:rPr lang="en-US" sz="1000" dirty="0">
                          <a:effectLst/>
                        </a:rPr>
                        <a:t>Performed for 24/7 always ON, including data management protection based on Data Protection Policies.</a:t>
                      </a:r>
                    </a:p>
                    <a:p>
                      <a:pPr marL="169863" marR="0" lvl="0" indent="-169863" algn="l">
                        <a:spcBef>
                          <a:spcPts val="0"/>
                        </a:spcBef>
                        <a:spcAft>
                          <a:spcPts val="0"/>
                        </a:spcAft>
                        <a:buFont typeface="Symbol" panose="05050102010706020507" pitchFamily="18" charset="2"/>
                        <a:buChar char=""/>
                      </a:pPr>
                      <a:r>
                        <a:rPr lang="en-US" sz="1000" dirty="0">
                          <a:effectLst/>
                        </a:rPr>
                        <a:t>Performance Web Consist of User Experience (UX)</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342900" marR="0" lvl="0" indent="-342900" algn="just">
                        <a:spcBef>
                          <a:spcPts val="0"/>
                        </a:spcBef>
                        <a:spcAft>
                          <a:spcPts val="0"/>
                        </a:spcAft>
                        <a:buFont typeface="+mj-lt"/>
                        <a:buAutoNum type="arabicPeriod"/>
                      </a:pPr>
                      <a:r>
                        <a:rPr lang="en-US" sz="1000" dirty="0">
                          <a:effectLst/>
                        </a:rPr>
                        <a:t>Conversion rate – 2 %</a:t>
                      </a:r>
                    </a:p>
                    <a:p>
                      <a:pPr marL="342900" marR="0" lvl="0" indent="-342900" algn="just">
                        <a:spcBef>
                          <a:spcPts val="0"/>
                        </a:spcBef>
                        <a:spcAft>
                          <a:spcPts val="0"/>
                        </a:spcAft>
                        <a:buFont typeface="+mj-lt"/>
                        <a:buAutoNum type="arabicPeriod"/>
                      </a:pPr>
                      <a:r>
                        <a:rPr lang="en-US" sz="1000" dirty="0">
                          <a:effectLst/>
                        </a:rPr>
                        <a:t>New Customer Growth Rate - 12.5 %</a:t>
                      </a:r>
                    </a:p>
                    <a:p>
                      <a:pPr marL="342900" marR="0" lvl="0" indent="-342900" algn="just">
                        <a:spcBef>
                          <a:spcPts val="0"/>
                        </a:spcBef>
                        <a:spcAft>
                          <a:spcPts val="0"/>
                        </a:spcAft>
                        <a:buFont typeface="+mj-lt"/>
                        <a:buAutoNum type="arabicPeriod"/>
                      </a:pPr>
                      <a:r>
                        <a:rPr lang="en-US" sz="1000" dirty="0">
                          <a:effectLst/>
                        </a:rPr>
                        <a:t>Churn Rate – Max  1.09 %</a:t>
                      </a:r>
                    </a:p>
                    <a:p>
                      <a:pPr marL="342900" marR="0" lvl="0" indent="-342900" algn="just">
                        <a:spcBef>
                          <a:spcPts val="0"/>
                        </a:spcBef>
                        <a:spcAft>
                          <a:spcPts val="0"/>
                        </a:spcAft>
                        <a:buFont typeface="+mj-lt"/>
                        <a:buAutoNum type="arabicPeriod"/>
                      </a:pPr>
                      <a:r>
                        <a:rPr lang="en-US" sz="1000" dirty="0">
                          <a:effectLst/>
                        </a:rPr>
                        <a:t>Customer Lifetime Value - </a:t>
                      </a:r>
                    </a:p>
                    <a:p>
                      <a:pPr marL="342900" marR="0" lvl="0" indent="-342900" algn="just">
                        <a:spcBef>
                          <a:spcPts val="0"/>
                        </a:spcBef>
                        <a:spcAft>
                          <a:spcPts val="0"/>
                        </a:spcAft>
                        <a:buFont typeface="+mj-lt"/>
                        <a:buAutoNum type="arabicPeriod"/>
                      </a:pPr>
                      <a:r>
                        <a:rPr lang="en-US" sz="1000" dirty="0">
                          <a:effectLst/>
                        </a:rPr>
                        <a:t>BE Performance &lt; 5 Seconds for Information</a:t>
                      </a:r>
                    </a:p>
                    <a:p>
                      <a:pPr marL="342900" marR="0" lvl="0" indent="-342900" algn="just">
                        <a:spcBef>
                          <a:spcPts val="0"/>
                        </a:spcBef>
                        <a:spcAft>
                          <a:spcPts val="0"/>
                        </a:spcAft>
                        <a:buFont typeface="+mj-lt"/>
                        <a:buAutoNum type="arabicPeriod"/>
                      </a:pPr>
                      <a:r>
                        <a:rPr lang="en-US" sz="1000" dirty="0">
                          <a:effectLst/>
                        </a:rPr>
                        <a:t>BE Performance &lt; 2 Seconds for Transaction</a:t>
                      </a:r>
                    </a:p>
                    <a:p>
                      <a:pPr marL="342900" marR="0" lvl="0" indent="-342900" algn="just">
                        <a:spcBef>
                          <a:spcPts val="0"/>
                        </a:spcBef>
                        <a:spcAft>
                          <a:spcPts val="600"/>
                        </a:spcAft>
                        <a:buFont typeface="+mj-lt"/>
                        <a:buAutoNum type="arabicPeriod"/>
                      </a:pPr>
                      <a:r>
                        <a:rPr lang="en-US" sz="1000" dirty="0">
                          <a:effectLst/>
                        </a:rPr>
                        <a:t>System offline &lt; 2 % </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extLst>
                  <a:ext uri="{0D108BD9-81ED-4DB2-BD59-A6C34878D82A}">
                    <a16:rowId xmlns:a16="http://schemas.microsoft.com/office/drawing/2014/main" val="2732802099"/>
                  </a:ext>
                </a:extLst>
              </a:tr>
              <a:tr h="609572">
                <a:tc>
                  <a:txBody>
                    <a:bodyPr/>
                    <a:lstStyle/>
                    <a:p>
                      <a:pPr marL="457200" marR="0" indent="-457200">
                        <a:spcBef>
                          <a:spcPts val="600"/>
                        </a:spcBef>
                        <a:spcAft>
                          <a:spcPts val="600"/>
                        </a:spcAft>
                      </a:pPr>
                      <a:r>
                        <a:rPr lang="en-US" sz="1000">
                          <a:effectLst/>
                        </a:rPr>
                        <a:t>OKR - 2</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10160" marR="0" indent="-10160">
                        <a:spcBef>
                          <a:spcPts val="0"/>
                        </a:spcBef>
                        <a:spcAft>
                          <a:spcPts val="0"/>
                        </a:spcAft>
                      </a:pPr>
                      <a:r>
                        <a:rPr lang="en-US" sz="1000">
                          <a:effectLst/>
                        </a:rPr>
                        <a:t>Fulfilling user Needs</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169863" marR="0" lvl="0" indent="-169863" algn="l">
                        <a:spcBef>
                          <a:spcPts val="600"/>
                        </a:spcBef>
                        <a:spcAft>
                          <a:spcPts val="0"/>
                        </a:spcAft>
                        <a:buFont typeface="Symbol" panose="05050102010706020507" pitchFamily="18" charset="2"/>
                        <a:buChar char=""/>
                      </a:pPr>
                      <a:r>
                        <a:rPr lang="en-US" sz="1000" dirty="0">
                          <a:effectLst/>
                        </a:rPr>
                        <a:t>fulfilling user needs</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342900" marR="0" lvl="0" indent="-342900" algn="just">
                        <a:spcBef>
                          <a:spcPts val="0"/>
                        </a:spcBef>
                        <a:spcAft>
                          <a:spcPts val="0"/>
                        </a:spcAft>
                        <a:buFont typeface="+mj-lt"/>
                        <a:buAutoNum type="arabicPeriod"/>
                      </a:pPr>
                      <a:r>
                        <a:rPr lang="en-US" sz="1000" dirty="0">
                          <a:effectLst/>
                          <a:latin typeface="Calibri" panose="020F0502020204030204" pitchFamily="34" charset="0"/>
                          <a:ea typeface="MS Mincho" panose="02020609040205080304" pitchFamily="49" charset="-128"/>
                          <a:cs typeface="Times New Roman" panose="02020603050405020304" pitchFamily="18" charset="0"/>
                        </a:rPr>
                        <a:t>Feature MY Wishlist -  Utilization &gt; 80 %</a:t>
                      </a:r>
                    </a:p>
                    <a:p>
                      <a:pPr marL="342900" marR="0" lvl="0" indent="-342900" algn="just">
                        <a:spcBef>
                          <a:spcPts val="0"/>
                        </a:spcBef>
                        <a:spcAft>
                          <a:spcPts val="0"/>
                        </a:spcAft>
                        <a:buFont typeface="+mj-lt"/>
                        <a:buAutoNum type="arabicPeriod"/>
                      </a:pPr>
                      <a:r>
                        <a:rPr lang="en-US" sz="1000" dirty="0">
                          <a:effectLst/>
                          <a:latin typeface="Calibri" panose="020F0502020204030204" pitchFamily="34" charset="0"/>
                          <a:ea typeface="MS Mincho" panose="02020609040205080304" pitchFamily="49" charset="-128"/>
                          <a:cs typeface="Times New Roman" panose="02020603050405020304" pitchFamily="18" charset="0"/>
                        </a:rPr>
                        <a:t>Feature Share By WA , Email &gt; 50 %</a:t>
                      </a:r>
                    </a:p>
                    <a:p>
                      <a:pPr marL="342900" marR="0" lvl="0" indent="-342900" algn="just">
                        <a:spcBef>
                          <a:spcPts val="0"/>
                        </a:spcBef>
                        <a:spcAft>
                          <a:spcPts val="0"/>
                        </a:spcAft>
                        <a:buFont typeface="+mj-lt"/>
                        <a:buAutoNum type="arabicPeriod"/>
                      </a:pPr>
                      <a:r>
                        <a:rPr lang="en-US" sz="1000" dirty="0">
                          <a:effectLst/>
                          <a:latin typeface="Calibri" panose="020F0502020204030204" pitchFamily="34" charset="0"/>
                          <a:ea typeface="MS Mincho" panose="02020609040205080304" pitchFamily="49" charset="-128"/>
                          <a:cs typeface="Times New Roman" panose="02020603050405020304" pitchFamily="18" charset="0"/>
                        </a:rPr>
                        <a:t>Feature Download &gt; 50 %</a:t>
                      </a:r>
                    </a:p>
                  </a:txBody>
                  <a:tcPr marL="46500" marR="46500" marT="0" marB="0"/>
                </a:tc>
                <a:extLst>
                  <a:ext uri="{0D108BD9-81ED-4DB2-BD59-A6C34878D82A}">
                    <a16:rowId xmlns:a16="http://schemas.microsoft.com/office/drawing/2014/main" val="1609557084"/>
                  </a:ext>
                </a:extLst>
              </a:tr>
              <a:tr h="711169">
                <a:tc>
                  <a:txBody>
                    <a:bodyPr/>
                    <a:lstStyle/>
                    <a:p>
                      <a:pPr marL="457200" marR="0" indent="-457200">
                        <a:spcBef>
                          <a:spcPts val="600"/>
                        </a:spcBef>
                        <a:spcAft>
                          <a:spcPts val="600"/>
                        </a:spcAft>
                      </a:pPr>
                      <a:r>
                        <a:rPr lang="en-US" sz="1000">
                          <a:effectLst/>
                        </a:rPr>
                        <a:t>OKR - 3</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457200" marR="0" indent="-457200">
                        <a:spcBef>
                          <a:spcPts val="0"/>
                        </a:spcBef>
                        <a:spcAft>
                          <a:spcPts val="0"/>
                        </a:spcAft>
                      </a:pPr>
                      <a:r>
                        <a:rPr lang="en-US" sz="1000">
                          <a:effectLst/>
                        </a:rPr>
                        <a:t>Daily used</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117475" marR="0" lvl="0" indent="-117475" algn="l">
                        <a:spcBef>
                          <a:spcPts val="600"/>
                        </a:spcBef>
                        <a:spcAft>
                          <a:spcPts val="0"/>
                        </a:spcAft>
                        <a:buFont typeface="Symbol" panose="05050102010706020507" pitchFamily="18" charset="2"/>
                        <a:buChar char=""/>
                      </a:pPr>
                      <a:r>
                        <a:rPr lang="en-US" sz="1000" dirty="0">
                          <a:effectLst/>
                        </a:rPr>
                        <a:t>As single apps to equip Application</a:t>
                      </a:r>
                    </a:p>
                    <a:p>
                      <a:pPr marL="117475" marR="0" lvl="0" indent="-117475" algn="l">
                        <a:spcBef>
                          <a:spcPts val="0"/>
                        </a:spcBef>
                        <a:spcAft>
                          <a:spcPts val="0"/>
                        </a:spcAft>
                        <a:buFont typeface="Symbol" panose="05050102010706020507" pitchFamily="18" charset="2"/>
                        <a:buChar char=""/>
                      </a:pPr>
                      <a:r>
                        <a:rPr lang="en-US" sz="1000" dirty="0">
                          <a:effectLst/>
                        </a:rPr>
                        <a:t> Beneficial for users.</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342900" marR="0" lvl="0" indent="-342900" algn="just">
                        <a:spcBef>
                          <a:spcPts val="0"/>
                        </a:spcBef>
                        <a:spcAft>
                          <a:spcPts val="0"/>
                        </a:spcAft>
                        <a:buFont typeface="+mj-lt"/>
                        <a:buAutoNum type="arabicPeriod"/>
                      </a:pPr>
                      <a:r>
                        <a:rPr lang="en-US" sz="1000" dirty="0">
                          <a:effectLst/>
                        </a:rPr>
                        <a:t>Active Users – &gt; 85 %</a:t>
                      </a:r>
                    </a:p>
                    <a:p>
                      <a:pPr marL="342900" marR="0" lvl="0" indent="-342900" algn="just">
                        <a:spcBef>
                          <a:spcPts val="0"/>
                        </a:spcBef>
                        <a:spcAft>
                          <a:spcPts val="0"/>
                        </a:spcAft>
                        <a:buFont typeface="+mj-lt"/>
                        <a:buAutoNum type="arabicPeriod"/>
                      </a:pPr>
                      <a:r>
                        <a:rPr lang="en-US" sz="1000" dirty="0">
                          <a:effectLst/>
                        </a:rPr>
                        <a:t>Session Length  &gt; 80 % </a:t>
                      </a:r>
                    </a:p>
                    <a:p>
                      <a:pPr marL="342900" marR="0" lvl="0" indent="-342900" algn="just">
                        <a:spcBef>
                          <a:spcPts val="0"/>
                        </a:spcBef>
                        <a:spcAft>
                          <a:spcPts val="0"/>
                        </a:spcAft>
                        <a:buFont typeface="+mj-lt"/>
                        <a:buAutoNum type="arabicPeriod"/>
                      </a:pP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extLst>
                  <a:ext uri="{0D108BD9-81ED-4DB2-BD59-A6C34878D82A}">
                    <a16:rowId xmlns:a16="http://schemas.microsoft.com/office/drawing/2014/main" val="2761568880"/>
                  </a:ext>
                </a:extLst>
              </a:tr>
              <a:tr h="711169">
                <a:tc>
                  <a:txBody>
                    <a:bodyPr/>
                    <a:lstStyle/>
                    <a:p>
                      <a:pPr marL="457200" marR="0" indent="-457200">
                        <a:spcBef>
                          <a:spcPts val="600"/>
                        </a:spcBef>
                        <a:spcAft>
                          <a:spcPts val="600"/>
                        </a:spcAft>
                      </a:pPr>
                      <a:r>
                        <a:rPr lang="en-US" sz="1000">
                          <a:effectLst/>
                        </a:rPr>
                        <a:t>OKR - 4</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457200" marR="0" indent="-457200">
                        <a:spcBef>
                          <a:spcPts val="0"/>
                        </a:spcBef>
                        <a:spcAft>
                          <a:spcPts val="0"/>
                        </a:spcAft>
                      </a:pPr>
                      <a:r>
                        <a:rPr lang="en-US" sz="1000">
                          <a:effectLst/>
                        </a:rPr>
                        <a:t>Data Quality</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tc>
                  <a:txBody>
                    <a:bodyPr/>
                    <a:lstStyle/>
                    <a:p>
                      <a:pPr marL="117475" marR="0" lvl="0" indent="-117475" algn="l">
                        <a:spcBef>
                          <a:spcPts val="0"/>
                        </a:spcBef>
                        <a:spcAft>
                          <a:spcPts val="0"/>
                        </a:spcAft>
                        <a:buFont typeface="Symbol" panose="05050102010706020507" pitchFamily="18" charset="2"/>
                        <a:buChar char=""/>
                      </a:pPr>
                      <a:r>
                        <a:rPr lang="en-US" sz="1000" dirty="0">
                          <a:effectLst/>
                        </a:rPr>
                        <a:t>Data Quality – Accuracy OCR </a:t>
                      </a:r>
                    </a:p>
                    <a:p>
                      <a:pPr marL="117475" marR="0" lvl="0" indent="-117475" algn="l">
                        <a:spcBef>
                          <a:spcPts val="0"/>
                        </a:spcBef>
                        <a:spcAft>
                          <a:spcPts val="0"/>
                        </a:spcAft>
                        <a:buFont typeface="Symbol" panose="05050102010706020507" pitchFamily="18" charset="2"/>
                        <a:buChar char=""/>
                      </a:pPr>
                      <a:r>
                        <a:rPr lang="en-US" sz="1000" dirty="0">
                          <a:effectLst/>
                          <a:latin typeface="Calibri" panose="020F0502020204030204" pitchFamily="34" charset="0"/>
                          <a:ea typeface="MS Mincho" panose="02020609040205080304" pitchFamily="49" charset="-128"/>
                          <a:cs typeface="Times New Roman" panose="02020603050405020304" pitchFamily="18" charset="0"/>
                        </a:rPr>
                        <a:t>Matching OCR and Spare Part master</a:t>
                      </a:r>
                    </a:p>
                  </a:txBody>
                  <a:tcPr marL="46500" marR="46500" marT="0" marB="0"/>
                </a:tc>
                <a:tc>
                  <a:txBody>
                    <a:bodyPr/>
                    <a:lstStyle/>
                    <a:p>
                      <a:pPr marL="342900" marR="0" lvl="0" indent="-342900" algn="just">
                        <a:spcBef>
                          <a:spcPts val="0"/>
                        </a:spcBef>
                        <a:spcAft>
                          <a:spcPts val="0"/>
                        </a:spcAft>
                        <a:buFont typeface="+mj-lt"/>
                        <a:buAutoNum type="arabicPeriod"/>
                      </a:pPr>
                      <a:r>
                        <a:rPr lang="en-US" sz="1000" dirty="0">
                          <a:effectLst/>
                        </a:rPr>
                        <a:t>Bad Quality Data &lt; 5 %</a:t>
                      </a:r>
                    </a:p>
                    <a:p>
                      <a:pPr marL="342900" marR="0" lvl="0" indent="-342900" algn="just">
                        <a:spcBef>
                          <a:spcPts val="0"/>
                        </a:spcBef>
                        <a:spcAft>
                          <a:spcPts val="600"/>
                        </a:spcAft>
                        <a:buFont typeface="+mj-lt"/>
                        <a:buAutoNum type="arabicPeriod"/>
                      </a:pPr>
                      <a:r>
                        <a:rPr lang="en-US" sz="1000" dirty="0">
                          <a:effectLst/>
                        </a:rPr>
                        <a:t>Not Available Data &lt; 5 %</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46500" marR="46500" marT="0" marB="0"/>
                </a:tc>
                <a:extLst>
                  <a:ext uri="{0D108BD9-81ED-4DB2-BD59-A6C34878D82A}">
                    <a16:rowId xmlns:a16="http://schemas.microsoft.com/office/drawing/2014/main" val="940000280"/>
                  </a:ext>
                </a:extLst>
              </a:tr>
            </a:tbl>
          </a:graphicData>
        </a:graphic>
      </p:graphicFrame>
    </p:spTree>
    <p:extLst>
      <p:ext uri="{BB962C8B-B14F-4D97-AF65-F5344CB8AC3E}">
        <p14:creationId xmlns:p14="http://schemas.microsoft.com/office/powerpoint/2010/main" val="1345066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0DE5B5-7CC5-01CC-DC70-A9E819C057B8}"/>
              </a:ext>
            </a:extLst>
          </p:cNvPr>
          <p:cNvSpPr txBox="1"/>
          <p:nvPr/>
        </p:nvSpPr>
        <p:spPr>
          <a:xfrm>
            <a:off x="342899" y="151634"/>
            <a:ext cx="7424456" cy="577081"/>
          </a:xfrm>
          <a:prstGeom prst="rect">
            <a:avLst/>
          </a:prstGeom>
          <a:noFill/>
        </p:spPr>
        <p:txBody>
          <a:bodyPr wrap="square" lIns="68580" tIns="34290" rIns="68580" bIns="34290" rtlCol="0" anchor="t">
            <a:spAutoFit/>
          </a:bodyPr>
          <a:lstStyle/>
          <a:p>
            <a:pPr defTabSz="685800">
              <a:defRPr/>
            </a:pPr>
            <a:r>
              <a:rPr kumimoji="0" lang="en-US" altLang="en-US" sz="1650" b="1" dirty="0">
                <a:solidFill>
                  <a:srgbClr val="212121"/>
                </a:solidFill>
                <a:latin typeface="MMC OFFICE"/>
              </a:rPr>
              <a:t>EPICS : </a:t>
            </a:r>
            <a:r>
              <a:rPr kumimoji="0" lang="en-US" sz="1650" b="1" dirty="0">
                <a:solidFill>
                  <a:srgbClr val="212121"/>
                </a:solidFill>
                <a:latin typeface="MMC OFFICE"/>
                <a:sym typeface="Lato"/>
              </a:rPr>
              <a:t>Simplify Process and digitalize spare parts catalog</a:t>
            </a:r>
            <a:endParaRPr kumimoji="0" lang="en-US" sz="1650" b="1" dirty="0">
              <a:solidFill>
                <a:srgbClr val="212121"/>
              </a:solidFill>
              <a:latin typeface="MMC OFFICE"/>
            </a:endParaRPr>
          </a:p>
          <a:p>
            <a:pPr defTabSz="685800">
              <a:defRPr/>
            </a:pPr>
            <a:endParaRPr kumimoji="0" lang="en-US" altLang="en-US" sz="1650" b="1" dirty="0">
              <a:solidFill>
                <a:srgbClr val="212121"/>
              </a:solidFill>
              <a:latin typeface="MMC OFFICE"/>
            </a:endParaRPr>
          </a:p>
        </p:txBody>
      </p:sp>
      <p:sp>
        <p:nvSpPr>
          <p:cNvPr id="5" name="Rectangle: Rounded Corners 32">
            <a:extLst>
              <a:ext uri="{FF2B5EF4-FFF2-40B4-BE49-F238E27FC236}">
                <a16:creationId xmlns:a16="http://schemas.microsoft.com/office/drawing/2014/main" id="{BECB0042-CF24-1D81-2EA9-BC83385F18B8}"/>
              </a:ext>
            </a:extLst>
          </p:cNvPr>
          <p:cNvSpPr/>
          <p:nvPr/>
        </p:nvSpPr>
        <p:spPr>
          <a:xfrm>
            <a:off x="427219" y="758797"/>
            <a:ext cx="2521448" cy="3992108"/>
          </a:xfrm>
          <a:prstGeom prst="roundRect">
            <a:avLst>
              <a:gd name="adj" fmla="val 6240"/>
            </a:avLst>
          </a:prstGeom>
          <a:solidFill>
            <a:schemeClr val="tx2">
              <a:lumMod val="20000"/>
              <a:lumOff val="80000"/>
            </a:schemeClr>
          </a:solidFill>
          <a:ln>
            <a:noFill/>
          </a:ln>
          <a:effectLst/>
        </p:spPr>
        <p:txBody>
          <a:bodyPr rtlCol="0" anchor="t"/>
          <a:lstStyle/>
          <a:p>
            <a:pPr algn="ctr" defTabSz="685800">
              <a:spcAft>
                <a:spcPts val="1800"/>
              </a:spcAft>
              <a:defRPr/>
            </a:pPr>
            <a:r>
              <a:rPr kumimoji="0" lang="en-US" sz="1350" b="1" u="sng" kern="0" dirty="0">
                <a:latin typeface="Calibri" panose="020F0502020204030204"/>
              </a:rPr>
              <a:t>Background</a:t>
            </a:r>
          </a:p>
          <a:p>
            <a:pPr marL="228594" indent="-228594" defTabSz="685800">
              <a:buFontTx/>
              <a:buAutoNum type="arabicPeriod"/>
              <a:defRPr/>
            </a:pPr>
            <a:r>
              <a:rPr kumimoji="0" lang="en-US" sz="975" dirty="0">
                <a:latin typeface="Calibri"/>
              </a:rPr>
              <a:t>MMKSI get data vehicle spare part catalogue using </a:t>
            </a:r>
            <a:r>
              <a:rPr kumimoji="0" lang="en-US" sz="975" b="1" dirty="0">
                <a:latin typeface="Calibri"/>
              </a:rPr>
              <a:t>CAPS which is desktop-based and get licensed applications by MMC </a:t>
            </a:r>
            <a:r>
              <a:rPr kumimoji="0" lang="en-US" sz="975" dirty="0">
                <a:latin typeface="Calibri"/>
              </a:rPr>
              <a:t>and it can only read the data without any other party can integrated with in.</a:t>
            </a: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r>
              <a:rPr kumimoji="0" lang="en-US" sz="975" b="1" dirty="0">
                <a:latin typeface="Calibri"/>
              </a:rPr>
              <a:t>Much effort for MMKSI to provide the data from CAPS</a:t>
            </a:r>
            <a:r>
              <a:rPr kumimoji="0" lang="en-US" sz="975" dirty="0">
                <a:latin typeface="Calibri"/>
              </a:rPr>
              <a:t> since all data should be captured and input manually to be generated as PDF format and print as hardcopy document.</a:t>
            </a: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r>
              <a:rPr lang="en-US" sz="975" b="1" dirty="0">
                <a:latin typeface="Calibri"/>
              </a:rPr>
              <a:t>P</a:t>
            </a:r>
            <a:r>
              <a:rPr kumimoji="0" lang="en-US" sz="975" b="1" dirty="0" err="1">
                <a:latin typeface="Calibri"/>
              </a:rPr>
              <a:t>rovide</a:t>
            </a:r>
            <a:r>
              <a:rPr kumimoji="0" lang="en-US" sz="975" b="1" dirty="0">
                <a:latin typeface="Calibri"/>
              </a:rPr>
              <a:t> data manually to business partner </a:t>
            </a:r>
            <a:r>
              <a:rPr lang="en-US" sz="975" dirty="0">
                <a:latin typeface="Calibri"/>
              </a:rPr>
              <a:t>related</a:t>
            </a:r>
            <a:r>
              <a:rPr kumimoji="0" lang="en-US" sz="975" dirty="0">
                <a:latin typeface="Calibri"/>
              </a:rPr>
              <a:t> to spare-part information and price list, PDF format and hardcopy should be prepared and created from CAPS.</a:t>
            </a:r>
          </a:p>
          <a:p>
            <a:pPr marL="228594" indent="-228594" defTabSz="685800">
              <a:buFontTx/>
              <a:buAutoNum type="arabicPeriod"/>
              <a:defRPr/>
            </a:pPr>
            <a:endParaRPr lang="en-US" sz="975" dirty="0">
              <a:latin typeface="Calibri"/>
            </a:endParaRPr>
          </a:p>
          <a:p>
            <a:pPr marL="228594" indent="-228594" defTabSz="685800">
              <a:buFontTx/>
              <a:buAutoNum type="arabicPeriod"/>
              <a:defRPr/>
            </a:pPr>
            <a:r>
              <a:rPr kumimoji="0" lang="en-US" sz="975" b="1" dirty="0">
                <a:latin typeface="Calibri"/>
              </a:rPr>
              <a:t>Manual update data pricing &amp; image </a:t>
            </a:r>
            <a:r>
              <a:rPr kumimoji="0" lang="en-US" sz="975" dirty="0">
                <a:latin typeface="Calibri"/>
              </a:rPr>
              <a:t>part due to different system access.</a:t>
            </a: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endParaRPr kumimoji="0" lang="en-US" sz="975" dirty="0">
              <a:latin typeface="Calibri"/>
            </a:endParaRPr>
          </a:p>
          <a:p>
            <a:pPr algn="ctr" defTabSz="685800">
              <a:spcAft>
                <a:spcPts val="1800"/>
              </a:spcAft>
              <a:defRPr/>
            </a:pPr>
            <a:endParaRPr kumimoji="0" lang="en-US" sz="975" u="sng" kern="0" dirty="0">
              <a:latin typeface="Calibri" panose="020F0502020204030204"/>
            </a:endParaRPr>
          </a:p>
        </p:txBody>
      </p:sp>
      <p:sp>
        <p:nvSpPr>
          <p:cNvPr id="7" name="Rectangle: Rounded Corners 34">
            <a:extLst>
              <a:ext uri="{FF2B5EF4-FFF2-40B4-BE49-F238E27FC236}">
                <a16:creationId xmlns:a16="http://schemas.microsoft.com/office/drawing/2014/main" id="{513D9B75-1C97-BA3C-13F7-EE34BBE45348}"/>
              </a:ext>
            </a:extLst>
          </p:cNvPr>
          <p:cNvSpPr/>
          <p:nvPr/>
        </p:nvSpPr>
        <p:spPr>
          <a:xfrm>
            <a:off x="6089657" y="758797"/>
            <a:ext cx="2521448" cy="3992108"/>
          </a:xfrm>
          <a:prstGeom prst="roundRect">
            <a:avLst>
              <a:gd name="adj" fmla="val 4473"/>
            </a:avLst>
          </a:prstGeom>
          <a:solidFill>
            <a:schemeClr val="accent5">
              <a:lumMod val="20000"/>
              <a:lumOff val="80000"/>
            </a:schemeClr>
          </a:solidFill>
          <a:ln>
            <a:noFill/>
          </a:ln>
          <a:effectLst/>
        </p:spPr>
        <p:txBody>
          <a:bodyPr rtlCol="0" anchor="t"/>
          <a:lstStyle/>
          <a:p>
            <a:pPr algn="ctr" defTabSz="685800">
              <a:spcAft>
                <a:spcPts val="1800"/>
              </a:spcAft>
              <a:defRPr/>
            </a:pPr>
            <a:r>
              <a:rPr kumimoji="0" lang="en-US" sz="1350" b="1" u="sng" kern="0" dirty="0">
                <a:latin typeface="Calibri" panose="020F0502020204030204"/>
              </a:rPr>
              <a:t>Expected Benefit</a:t>
            </a:r>
          </a:p>
          <a:p>
            <a:pPr marL="228594" indent="-228594" defTabSz="685800">
              <a:buFontTx/>
              <a:buAutoNum type="arabicPeriod"/>
              <a:defRPr/>
            </a:pPr>
            <a:r>
              <a:rPr kumimoji="0" lang="en-US" sz="975" b="1" dirty="0">
                <a:latin typeface="Calibri"/>
              </a:rPr>
              <a:t>Unlimited user access for accessing parts data due to user access </a:t>
            </a:r>
            <a:r>
              <a:rPr kumimoji="0" lang="en-US" sz="975" dirty="0">
                <a:latin typeface="Calibri"/>
              </a:rPr>
              <a:t>can be arranged according to MMKSI's needs in distributing parts data.</a:t>
            </a: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r>
              <a:rPr kumimoji="0" lang="en-US" sz="975" b="1" dirty="0">
                <a:latin typeface="Calibri"/>
              </a:rPr>
              <a:t>Centralize spare part data collected in same data source</a:t>
            </a:r>
            <a:r>
              <a:rPr kumimoji="0" lang="en-US" sz="975" dirty="0">
                <a:latin typeface="Calibri"/>
              </a:rPr>
              <a:t> which makes it easier to be updated, add new data, and make it data more relevant with DNET.</a:t>
            </a: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r>
              <a:rPr kumimoji="0" lang="en-US" sz="975" b="1" dirty="0">
                <a:latin typeface="Calibri"/>
              </a:rPr>
              <a:t>Easy distribute parts and pricing information </a:t>
            </a:r>
            <a:r>
              <a:rPr kumimoji="0" lang="en-US" sz="975" dirty="0">
                <a:latin typeface="Calibri"/>
              </a:rPr>
              <a:t>to dealers and part shops thereby increasing efficiency in distributing parts appropriately according to relevant information</a:t>
            </a:r>
          </a:p>
          <a:p>
            <a:pPr marL="228594" indent="-228594" defTabSz="685800">
              <a:buFontTx/>
              <a:buAutoNum type="arabicPeriod"/>
              <a:defRPr/>
            </a:pPr>
            <a:endParaRPr lang="en-US" sz="975" dirty="0">
              <a:latin typeface="Calibri"/>
            </a:endParaRPr>
          </a:p>
          <a:p>
            <a:pPr marL="228594" indent="-228594" defTabSz="685800">
              <a:buFontTx/>
              <a:buAutoNum type="arabicPeriod"/>
              <a:defRPr/>
            </a:pPr>
            <a:endParaRPr lang="en-US" sz="975" dirty="0">
              <a:latin typeface="Calibri"/>
            </a:endParaRPr>
          </a:p>
          <a:p>
            <a:pPr marL="228594" indent="-228594" defTabSz="685800">
              <a:buFontTx/>
              <a:buAutoNum type="arabicPeriod"/>
              <a:defRPr/>
            </a:pPr>
            <a:r>
              <a:rPr lang="en-US" sz="975" b="1" dirty="0">
                <a:latin typeface="Calibri"/>
              </a:rPr>
              <a:t>Less duration </a:t>
            </a:r>
            <a:r>
              <a:rPr lang="en-US" sz="975" dirty="0">
                <a:latin typeface="Calibri"/>
              </a:rPr>
              <a:t>to check parts &amp; price on single front-end</a:t>
            </a:r>
            <a:endParaRPr kumimoji="0" lang="en-US" sz="975" dirty="0">
              <a:latin typeface="Calibri"/>
            </a:endParaRPr>
          </a:p>
        </p:txBody>
      </p:sp>
      <p:sp>
        <p:nvSpPr>
          <p:cNvPr id="8" name="Rectangle: Rounded Corners 32">
            <a:extLst>
              <a:ext uri="{FF2B5EF4-FFF2-40B4-BE49-F238E27FC236}">
                <a16:creationId xmlns:a16="http://schemas.microsoft.com/office/drawing/2014/main" id="{2636FA97-CEDE-0699-D7B9-5EC81CA6E90F}"/>
              </a:ext>
            </a:extLst>
          </p:cNvPr>
          <p:cNvSpPr/>
          <p:nvPr/>
        </p:nvSpPr>
        <p:spPr>
          <a:xfrm>
            <a:off x="3228505" y="758797"/>
            <a:ext cx="2521448" cy="3992108"/>
          </a:xfrm>
          <a:prstGeom prst="roundRect">
            <a:avLst>
              <a:gd name="adj" fmla="val 6239"/>
            </a:avLst>
          </a:prstGeom>
          <a:solidFill>
            <a:schemeClr val="accent5">
              <a:lumMod val="40000"/>
              <a:lumOff val="60000"/>
            </a:schemeClr>
          </a:solidFill>
          <a:ln>
            <a:noFill/>
          </a:ln>
          <a:effectLst/>
        </p:spPr>
        <p:txBody>
          <a:bodyPr rtlCol="0" anchor="t"/>
          <a:lstStyle/>
          <a:p>
            <a:pPr algn="ctr" defTabSz="685800">
              <a:spcAft>
                <a:spcPts val="1800"/>
              </a:spcAft>
              <a:defRPr/>
            </a:pPr>
            <a:r>
              <a:rPr kumimoji="0" lang="en-US" sz="1350" b="1" u="sng" kern="0" dirty="0">
                <a:latin typeface="Calibri" panose="020F0502020204030204"/>
              </a:rPr>
              <a:t>Initiative Solutions</a:t>
            </a:r>
          </a:p>
          <a:p>
            <a:pPr marL="228594" indent="-228594" defTabSz="685800">
              <a:buFontTx/>
              <a:buAutoNum type="arabicPeriod"/>
              <a:defRPr/>
            </a:pPr>
            <a:r>
              <a:rPr kumimoji="0" lang="en-US" sz="975" b="1" dirty="0">
                <a:latin typeface="Calibri"/>
              </a:rPr>
              <a:t>Web based application to replace hardcopy document and maintain part catalogue </a:t>
            </a:r>
            <a:r>
              <a:rPr kumimoji="0" lang="en-US" sz="975" dirty="0">
                <a:latin typeface="Calibri"/>
              </a:rPr>
              <a:t>to increase customer experience (CX) with digitalize Part Catalogue. </a:t>
            </a:r>
            <a:endParaRPr lang="en-US" sz="975" dirty="0">
              <a:latin typeface="Calibri"/>
            </a:endParaRPr>
          </a:p>
          <a:p>
            <a:pPr marL="228594" indent="-228594" defTabSz="685800">
              <a:buFontTx/>
              <a:buAutoNum type="arabicPeriod"/>
              <a:defRPr/>
            </a:pPr>
            <a:endParaRPr lang="en-US" sz="975" dirty="0">
              <a:latin typeface="Calibri"/>
            </a:endParaRPr>
          </a:p>
          <a:p>
            <a:pPr marL="228594" indent="-228594" defTabSz="685800">
              <a:buFontTx/>
              <a:buAutoNum type="arabicPeriod"/>
              <a:defRPr/>
            </a:pPr>
            <a:r>
              <a:rPr kumimoji="0" lang="en-US" sz="975" b="1" dirty="0">
                <a:latin typeface="Calibri"/>
              </a:rPr>
              <a:t>A system that capable to save data and upload </a:t>
            </a:r>
            <a:r>
              <a:rPr lang="en-US" sz="975" b="1" dirty="0">
                <a:latin typeface="Calibri"/>
              </a:rPr>
              <a:t>image</a:t>
            </a:r>
            <a:r>
              <a:rPr kumimoji="0" lang="en-US" sz="975" b="1" dirty="0">
                <a:latin typeface="Calibri"/>
              </a:rPr>
              <a:t> from CAPS </a:t>
            </a:r>
            <a:r>
              <a:rPr kumimoji="0" lang="en-US" sz="975" dirty="0">
                <a:latin typeface="Calibri"/>
              </a:rPr>
              <a:t>then shown as Part Shop and Dealer information, allow dealer and customer to </a:t>
            </a:r>
            <a:r>
              <a:rPr lang="en-US" sz="975" dirty="0">
                <a:latin typeface="Calibri"/>
              </a:rPr>
              <a:t>view</a:t>
            </a:r>
            <a:r>
              <a:rPr kumimoji="0" lang="en-US" sz="975" dirty="0">
                <a:latin typeface="Calibri"/>
              </a:rPr>
              <a:t> parts detail and its prices using </a:t>
            </a:r>
            <a:r>
              <a:rPr lang="en-US" sz="975" dirty="0">
                <a:latin typeface="Calibri"/>
              </a:rPr>
              <a:t>web application.</a:t>
            </a:r>
            <a:br>
              <a:rPr lang="en-US" sz="975" dirty="0">
                <a:latin typeface="Calibri"/>
              </a:rPr>
            </a:br>
            <a:br>
              <a:rPr kumimoji="0" lang="en-US" sz="975" dirty="0">
                <a:latin typeface="Calibri"/>
              </a:rPr>
            </a:br>
            <a:endParaRPr kumimoji="0" lang="en-US" sz="975" dirty="0">
              <a:latin typeface="Calibri"/>
            </a:endParaRPr>
          </a:p>
          <a:p>
            <a:pPr marL="228594" indent="-228594" defTabSz="685800">
              <a:buFontTx/>
              <a:buAutoNum type="arabicPeriod"/>
              <a:defRPr/>
            </a:pPr>
            <a:r>
              <a:rPr kumimoji="0" lang="en-US" sz="975" b="1" dirty="0">
                <a:latin typeface="Calibri"/>
              </a:rPr>
              <a:t>MMKSI able to track cookies MMKSI Digital Parts and increase </a:t>
            </a:r>
            <a:r>
              <a:rPr lang="en-US" sz="975" b="1" dirty="0">
                <a:latin typeface="Calibri"/>
              </a:rPr>
              <a:t>spare-part </a:t>
            </a:r>
            <a:r>
              <a:rPr kumimoji="0" lang="en-US" sz="975" b="1" dirty="0">
                <a:latin typeface="Calibri"/>
              </a:rPr>
              <a:t>and accessories sales </a:t>
            </a:r>
            <a:r>
              <a:rPr kumimoji="0" lang="en-US" sz="975" dirty="0">
                <a:latin typeface="Calibri"/>
              </a:rPr>
              <a:t>to </a:t>
            </a:r>
            <a:r>
              <a:rPr kumimoji="0" lang="en-ID" sz="975" dirty="0">
                <a:latin typeface="Söhne"/>
              </a:rPr>
              <a:t>improve efficiency, reduce errors, and enhance collaboration with business partners.</a:t>
            </a:r>
          </a:p>
          <a:p>
            <a:pPr marL="228594" indent="-228594" defTabSz="685800">
              <a:buFontTx/>
              <a:buAutoNum type="arabicPeriod"/>
              <a:defRPr/>
            </a:pPr>
            <a:endParaRPr kumimoji="0" lang="en-US" sz="975" dirty="0">
              <a:latin typeface="Calibri"/>
            </a:endParaRPr>
          </a:p>
          <a:p>
            <a:pPr marL="228594" indent="-228594" defTabSz="685800">
              <a:buFontTx/>
              <a:buAutoNum type="arabicPeriod"/>
              <a:defRPr/>
            </a:pPr>
            <a:r>
              <a:rPr kumimoji="0" lang="en-US" sz="975" b="1" dirty="0">
                <a:latin typeface="Calibri"/>
              </a:rPr>
              <a:t>Integrate data pricing from DNET &amp; image capture from CAPS </a:t>
            </a:r>
            <a:r>
              <a:rPr kumimoji="0" lang="en-US" sz="975" dirty="0">
                <a:latin typeface="Calibri"/>
              </a:rPr>
              <a:t>to visualized on microsite.</a:t>
            </a:r>
          </a:p>
          <a:p>
            <a:pPr algn="ctr" defTabSz="685800">
              <a:spcAft>
                <a:spcPts val="1800"/>
              </a:spcAft>
              <a:defRPr/>
            </a:pPr>
            <a:endParaRPr kumimoji="0" lang="en-US" sz="975" u="sng" kern="0" dirty="0">
              <a:latin typeface="Calibri" panose="020F0502020204030204"/>
            </a:endParaRPr>
          </a:p>
        </p:txBody>
      </p:sp>
      <p:pic>
        <p:nvPicPr>
          <p:cNvPr id="4" name="Graphic 3" descr="Arrow Straight">
            <a:extLst>
              <a:ext uri="{FF2B5EF4-FFF2-40B4-BE49-F238E27FC236}">
                <a16:creationId xmlns:a16="http://schemas.microsoft.com/office/drawing/2014/main" id="{9E2074A3-892E-3B59-A3A5-466984A212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579563">
            <a:off x="2866074" y="1515802"/>
            <a:ext cx="418941" cy="418941"/>
          </a:xfrm>
          <a:prstGeom prst="rect">
            <a:avLst/>
          </a:prstGeom>
        </p:spPr>
      </p:pic>
      <p:pic>
        <p:nvPicPr>
          <p:cNvPr id="6" name="Graphic 5" descr="Arrow Straight">
            <a:extLst>
              <a:ext uri="{FF2B5EF4-FFF2-40B4-BE49-F238E27FC236}">
                <a16:creationId xmlns:a16="http://schemas.microsoft.com/office/drawing/2014/main" id="{001C6EC0-D5CA-3303-2906-C90BF84097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5630294" y="1419377"/>
            <a:ext cx="566210" cy="476652"/>
          </a:xfrm>
          <a:prstGeom prst="rect">
            <a:avLst/>
          </a:prstGeom>
        </p:spPr>
      </p:pic>
      <p:pic>
        <p:nvPicPr>
          <p:cNvPr id="9" name="Graphic 8" descr="Arrow Straight">
            <a:extLst>
              <a:ext uri="{FF2B5EF4-FFF2-40B4-BE49-F238E27FC236}">
                <a16:creationId xmlns:a16="http://schemas.microsoft.com/office/drawing/2014/main" id="{40A0E94A-FF81-7508-AF9E-8630D02F7C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579563">
            <a:off x="2866074" y="2440559"/>
            <a:ext cx="418941" cy="418941"/>
          </a:xfrm>
          <a:prstGeom prst="rect">
            <a:avLst/>
          </a:prstGeom>
        </p:spPr>
      </p:pic>
      <p:pic>
        <p:nvPicPr>
          <p:cNvPr id="10" name="Graphic 9" descr="Arrow Straight">
            <a:extLst>
              <a:ext uri="{FF2B5EF4-FFF2-40B4-BE49-F238E27FC236}">
                <a16:creationId xmlns:a16="http://schemas.microsoft.com/office/drawing/2014/main" id="{010EC7DA-2FAE-F8D6-FD6F-7037F938B5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5630294" y="2344134"/>
            <a:ext cx="566210" cy="476652"/>
          </a:xfrm>
          <a:prstGeom prst="rect">
            <a:avLst/>
          </a:prstGeom>
        </p:spPr>
      </p:pic>
      <p:pic>
        <p:nvPicPr>
          <p:cNvPr id="11" name="Graphic 10" descr="Arrow Straight">
            <a:extLst>
              <a:ext uri="{FF2B5EF4-FFF2-40B4-BE49-F238E27FC236}">
                <a16:creationId xmlns:a16="http://schemas.microsoft.com/office/drawing/2014/main" id="{218C9CC2-2DCC-DB4C-323D-FB9E705811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579563">
            <a:off x="2866074" y="3336742"/>
            <a:ext cx="418941" cy="418941"/>
          </a:xfrm>
          <a:prstGeom prst="rect">
            <a:avLst/>
          </a:prstGeom>
        </p:spPr>
      </p:pic>
      <p:pic>
        <p:nvPicPr>
          <p:cNvPr id="12" name="Graphic 11" descr="Arrow Straight">
            <a:extLst>
              <a:ext uri="{FF2B5EF4-FFF2-40B4-BE49-F238E27FC236}">
                <a16:creationId xmlns:a16="http://schemas.microsoft.com/office/drawing/2014/main" id="{B12240E3-68B0-1D2F-8A50-6718BF0D69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5630294" y="3268892"/>
            <a:ext cx="566210" cy="476652"/>
          </a:xfrm>
          <a:prstGeom prst="rect">
            <a:avLst/>
          </a:prstGeom>
        </p:spPr>
      </p:pic>
      <p:pic>
        <p:nvPicPr>
          <p:cNvPr id="13" name="Graphic 12" descr="Arrow Straight">
            <a:extLst>
              <a:ext uri="{FF2B5EF4-FFF2-40B4-BE49-F238E27FC236}">
                <a16:creationId xmlns:a16="http://schemas.microsoft.com/office/drawing/2014/main" id="{7DA39934-1CED-8BC4-9831-1F98428518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579563">
            <a:off x="2866073" y="3981473"/>
            <a:ext cx="418941" cy="418941"/>
          </a:xfrm>
          <a:prstGeom prst="rect">
            <a:avLst/>
          </a:prstGeom>
        </p:spPr>
      </p:pic>
      <p:pic>
        <p:nvPicPr>
          <p:cNvPr id="14" name="Graphic 13" descr="Arrow Straight">
            <a:extLst>
              <a:ext uri="{FF2B5EF4-FFF2-40B4-BE49-F238E27FC236}">
                <a16:creationId xmlns:a16="http://schemas.microsoft.com/office/drawing/2014/main" id="{1FF12F17-2D08-0B6B-6A34-964306839D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5605990" y="4009898"/>
            <a:ext cx="566210" cy="476652"/>
          </a:xfrm>
          <a:prstGeom prst="rect">
            <a:avLst/>
          </a:prstGeom>
        </p:spPr>
      </p:pic>
      <p:sp>
        <p:nvSpPr>
          <p:cNvPr id="2" name="スライド番号プレースホルダー 3">
            <a:extLst>
              <a:ext uri="{FF2B5EF4-FFF2-40B4-BE49-F238E27FC236}">
                <a16:creationId xmlns:a16="http://schemas.microsoft.com/office/drawing/2014/main" id="{95420624-6A1D-554E-CA8D-28590DF3AD01}"/>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11</a:t>
            </a:fld>
            <a:endParaRPr lang="ja-JP" altLang="en-US"/>
          </a:p>
        </p:txBody>
      </p:sp>
      <p:sp>
        <p:nvSpPr>
          <p:cNvPr id="15" name="サブタイトル 7">
            <a:extLst>
              <a:ext uri="{FF2B5EF4-FFF2-40B4-BE49-F238E27FC236}">
                <a16:creationId xmlns:a16="http://schemas.microsoft.com/office/drawing/2014/main" id="{E582DD9A-444C-5AE8-5450-FF864F5B84A3}"/>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6" name="サブタイトル 7">
            <a:extLst>
              <a:ext uri="{FF2B5EF4-FFF2-40B4-BE49-F238E27FC236}">
                <a16:creationId xmlns:a16="http://schemas.microsoft.com/office/drawing/2014/main" id="{89ACA13A-3F06-5E67-0E34-7A2380EDA876}"/>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17" name="Picture 16" descr="A picture containing graphics, graphic design, design&#10;&#10;Description automatically generated">
            <a:extLst>
              <a:ext uri="{FF2B5EF4-FFF2-40B4-BE49-F238E27FC236}">
                <a16:creationId xmlns:a16="http://schemas.microsoft.com/office/drawing/2014/main" id="{6B48B08F-74F2-3BB2-5C4C-61FA5D0000F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18" name="Title 17">
            <a:extLst>
              <a:ext uri="{FF2B5EF4-FFF2-40B4-BE49-F238E27FC236}">
                <a16:creationId xmlns:a16="http://schemas.microsoft.com/office/drawing/2014/main" id="{66950D42-0857-07E2-CEED-4AE56790B650}"/>
              </a:ext>
            </a:extLst>
          </p:cNvPr>
          <p:cNvSpPr>
            <a:spLocks noGrp="1"/>
          </p:cNvSpPr>
          <p:nvPr>
            <p:ph type="title"/>
          </p:nvPr>
        </p:nvSpPr>
        <p:spPr/>
        <p:txBody>
          <a:bodyPr/>
          <a:lstStyle/>
          <a:p>
            <a:endParaRPr lang="en-US" sz="100" dirty="0"/>
          </a:p>
        </p:txBody>
      </p:sp>
      <p:sp>
        <p:nvSpPr>
          <p:cNvPr id="19" name="Content Placeholder 18">
            <a:extLst>
              <a:ext uri="{FF2B5EF4-FFF2-40B4-BE49-F238E27FC236}">
                <a16:creationId xmlns:a16="http://schemas.microsoft.com/office/drawing/2014/main" id="{4FB878B0-E344-D0CF-9E21-F11B0139CFE8}"/>
              </a:ext>
            </a:extLst>
          </p:cNvPr>
          <p:cNvSpPr>
            <a:spLocks noGrp="1"/>
          </p:cNvSpPr>
          <p:nvPr>
            <p:ph idx="1"/>
          </p:nvPr>
        </p:nvSpPr>
        <p:spPr/>
        <p:txBody>
          <a:bodyPr/>
          <a:lstStyle/>
          <a:p>
            <a:endParaRPr lang="en-US" sz="100" dirty="0"/>
          </a:p>
        </p:txBody>
      </p:sp>
    </p:spTree>
    <p:extLst>
      <p:ext uri="{BB962C8B-B14F-4D97-AF65-F5344CB8AC3E}">
        <p14:creationId xmlns:p14="http://schemas.microsoft.com/office/powerpoint/2010/main" val="408372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0DE5B5-7CC5-01CC-DC70-A9E819C057B8}"/>
              </a:ext>
            </a:extLst>
          </p:cNvPr>
          <p:cNvSpPr txBox="1"/>
          <p:nvPr/>
        </p:nvSpPr>
        <p:spPr>
          <a:xfrm>
            <a:off x="342899" y="151634"/>
            <a:ext cx="7424456" cy="577081"/>
          </a:xfrm>
          <a:prstGeom prst="rect">
            <a:avLst/>
          </a:prstGeom>
          <a:noFill/>
        </p:spPr>
        <p:txBody>
          <a:bodyPr wrap="square" lIns="68580" tIns="34290" rIns="68580" bIns="34290" rtlCol="0" anchor="t">
            <a:spAutoFit/>
          </a:bodyPr>
          <a:lstStyle/>
          <a:p>
            <a:pPr defTabSz="685800">
              <a:defRPr/>
            </a:pPr>
            <a:r>
              <a:rPr kumimoji="0" lang="en-US" altLang="en-US" sz="1650" b="1" dirty="0">
                <a:solidFill>
                  <a:srgbClr val="212121"/>
                </a:solidFill>
                <a:latin typeface="MMC OFFICE"/>
              </a:rPr>
              <a:t>Who is the Users – User Persona</a:t>
            </a:r>
            <a:endParaRPr kumimoji="0" lang="en-US" sz="1650" b="1" dirty="0">
              <a:solidFill>
                <a:srgbClr val="212121"/>
              </a:solidFill>
              <a:latin typeface="MMC OFFICE"/>
            </a:endParaRPr>
          </a:p>
          <a:p>
            <a:pPr defTabSz="685800">
              <a:defRPr/>
            </a:pPr>
            <a:endParaRPr kumimoji="0" lang="en-US" altLang="en-US" sz="1650" b="1" dirty="0">
              <a:solidFill>
                <a:srgbClr val="212121"/>
              </a:solidFill>
              <a:latin typeface="MMC OFFICE"/>
            </a:endParaRPr>
          </a:p>
        </p:txBody>
      </p:sp>
      <p:sp>
        <p:nvSpPr>
          <p:cNvPr id="2" name="スライド番号プレースホルダー 3">
            <a:extLst>
              <a:ext uri="{FF2B5EF4-FFF2-40B4-BE49-F238E27FC236}">
                <a16:creationId xmlns:a16="http://schemas.microsoft.com/office/drawing/2014/main" id="{95420624-6A1D-554E-CA8D-28590DF3AD01}"/>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12</a:t>
            </a:fld>
            <a:endParaRPr lang="ja-JP" altLang="en-US"/>
          </a:p>
        </p:txBody>
      </p:sp>
      <p:sp>
        <p:nvSpPr>
          <p:cNvPr id="15" name="サブタイトル 7">
            <a:extLst>
              <a:ext uri="{FF2B5EF4-FFF2-40B4-BE49-F238E27FC236}">
                <a16:creationId xmlns:a16="http://schemas.microsoft.com/office/drawing/2014/main" id="{E582DD9A-444C-5AE8-5450-FF864F5B84A3}"/>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6" name="サブタイトル 7">
            <a:extLst>
              <a:ext uri="{FF2B5EF4-FFF2-40B4-BE49-F238E27FC236}">
                <a16:creationId xmlns:a16="http://schemas.microsoft.com/office/drawing/2014/main" id="{89ACA13A-3F06-5E67-0E34-7A2380EDA876}"/>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17" name="Picture 16" descr="A picture containing graphics, graphic design, design&#10;&#10;Description automatically generated">
            <a:extLst>
              <a:ext uri="{FF2B5EF4-FFF2-40B4-BE49-F238E27FC236}">
                <a16:creationId xmlns:a16="http://schemas.microsoft.com/office/drawing/2014/main" id="{6B48B08F-74F2-3BB2-5C4C-61FA5D0000F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pic>
        <p:nvPicPr>
          <p:cNvPr id="19" name="Picture 18">
            <a:extLst>
              <a:ext uri="{FF2B5EF4-FFF2-40B4-BE49-F238E27FC236}">
                <a16:creationId xmlns:a16="http://schemas.microsoft.com/office/drawing/2014/main" id="{6547A3A5-F5D8-73F3-15EB-B7CA06793FA3}"/>
              </a:ext>
            </a:extLst>
          </p:cNvPr>
          <p:cNvPicPr>
            <a:picLocks noChangeAspect="1"/>
          </p:cNvPicPr>
          <p:nvPr/>
        </p:nvPicPr>
        <p:blipFill>
          <a:blip r:embed="rId3"/>
          <a:stretch>
            <a:fillRect/>
          </a:stretch>
        </p:blipFill>
        <p:spPr>
          <a:xfrm>
            <a:off x="2096725" y="764907"/>
            <a:ext cx="873107" cy="1019364"/>
          </a:xfrm>
          <a:prstGeom prst="rect">
            <a:avLst/>
          </a:prstGeom>
        </p:spPr>
      </p:pic>
      <p:pic>
        <p:nvPicPr>
          <p:cNvPr id="20" name="Picture 19">
            <a:extLst>
              <a:ext uri="{FF2B5EF4-FFF2-40B4-BE49-F238E27FC236}">
                <a16:creationId xmlns:a16="http://schemas.microsoft.com/office/drawing/2014/main" id="{8709B0CF-CD62-76C7-1691-E3CDF24264EE}"/>
              </a:ext>
            </a:extLst>
          </p:cNvPr>
          <p:cNvPicPr>
            <a:picLocks noChangeAspect="1"/>
          </p:cNvPicPr>
          <p:nvPr/>
        </p:nvPicPr>
        <p:blipFill>
          <a:blip r:embed="rId3"/>
          <a:stretch>
            <a:fillRect/>
          </a:stretch>
        </p:blipFill>
        <p:spPr>
          <a:xfrm>
            <a:off x="3851920" y="764907"/>
            <a:ext cx="873107" cy="1019364"/>
          </a:xfrm>
          <a:prstGeom prst="rect">
            <a:avLst/>
          </a:prstGeom>
        </p:spPr>
      </p:pic>
      <p:pic>
        <p:nvPicPr>
          <p:cNvPr id="21" name="Picture 20">
            <a:extLst>
              <a:ext uri="{FF2B5EF4-FFF2-40B4-BE49-F238E27FC236}">
                <a16:creationId xmlns:a16="http://schemas.microsoft.com/office/drawing/2014/main" id="{3B5B6235-318A-C8EB-1B43-B6478D9A21E3}"/>
              </a:ext>
            </a:extLst>
          </p:cNvPr>
          <p:cNvPicPr>
            <a:picLocks noChangeAspect="1"/>
          </p:cNvPicPr>
          <p:nvPr/>
        </p:nvPicPr>
        <p:blipFill>
          <a:blip r:embed="rId3"/>
          <a:stretch>
            <a:fillRect/>
          </a:stretch>
        </p:blipFill>
        <p:spPr>
          <a:xfrm>
            <a:off x="5607115" y="782735"/>
            <a:ext cx="873107" cy="1019364"/>
          </a:xfrm>
          <a:prstGeom prst="rect">
            <a:avLst/>
          </a:prstGeom>
        </p:spPr>
      </p:pic>
      <p:pic>
        <p:nvPicPr>
          <p:cNvPr id="22" name="Picture 21">
            <a:extLst>
              <a:ext uri="{FF2B5EF4-FFF2-40B4-BE49-F238E27FC236}">
                <a16:creationId xmlns:a16="http://schemas.microsoft.com/office/drawing/2014/main" id="{9D4B102D-B72B-0A2C-0D49-444AFC32BB6F}"/>
              </a:ext>
            </a:extLst>
          </p:cNvPr>
          <p:cNvPicPr>
            <a:picLocks noChangeAspect="1"/>
          </p:cNvPicPr>
          <p:nvPr/>
        </p:nvPicPr>
        <p:blipFill>
          <a:blip r:embed="rId3"/>
          <a:stretch>
            <a:fillRect/>
          </a:stretch>
        </p:blipFill>
        <p:spPr>
          <a:xfrm>
            <a:off x="7232362" y="746811"/>
            <a:ext cx="873107" cy="1019364"/>
          </a:xfrm>
          <a:prstGeom prst="rect">
            <a:avLst/>
          </a:prstGeom>
        </p:spPr>
      </p:pic>
      <p:sp>
        <p:nvSpPr>
          <p:cNvPr id="23" name="Google Shape;144;p16">
            <a:extLst>
              <a:ext uri="{FF2B5EF4-FFF2-40B4-BE49-F238E27FC236}">
                <a16:creationId xmlns:a16="http://schemas.microsoft.com/office/drawing/2014/main" id="{926A8526-6184-129A-5652-E71AD138DB70}"/>
              </a:ext>
            </a:extLst>
          </p:cNvPr>
          <p:cNvSpPr txBox="1"/>
          <p:nvPr/>
        </p:nvSpPr>
        <p:spPr>
          <a:xfrm>
            <a:off x="1947511" y="1784271"/>
            <a:ext cx="1133005" cy="307746"/>
          </a:xfrm>
          <a:prstGeom prst="rect">
            <a:avLst/>
          </a:prstGeom>
          <a:noFill/>
          <a:ln>
            <a:noFill/>
          </a:ln>
        </p:spPr>
        <p:txBody>
          <a:bodyPr spcFirstLastPara="1" wrap="square" lIns="91425" tIns="91425" rIns="91425" bIns="91425" anchor="t" anchorCtr="0">
            <a:spAutoFit/>
          </a:bodyPr>
          <a:lstStyle/>
          <a:p>
            <a:pPr algn="ctr" defTabSz="685800">
              <a:defRPr/>
            </a:pPr>
            <a:r>
              <a:rPr kumimoji="0" lang="en-US" sz="800" b="1" dirty="0">
                <a:solidFill>
                  <a:srgbClr val="595959"/>
                </a:solidFill>
                <a:ea typeface="Lato"/>
                <a:cs typeface="Lato"/>
                <a:sym typeface="Lato"/>
              </a:rPr>
              <a:t>Mitsubishi Parts Shop</a:t>
            </a:r>
          </a:p>
        </p:txBody>
      </p:sp>
      <p:sp>
        <p:nvSpPr>
          <p:cNvPr id="24" name="Google Shape;144;p16">
            <a:extLst>
              <a:ext uri="{FF2B5EF4-FFF2-40B4-BE49-F238E27FC236}">
                <a16:creationId xmlns:a16="http://schemas.microsoft.com/office/drawing/2014/main" id="{79858E6D-3EEE-4E08-34DF-503DD3996753}"/>
              </a:ext>
            </a:extLst>
          </p:cNvPr>
          <p:cNvSpPr txBox="1"/>
          <p:nvPr/>
        </p:nvSpPr>
        <p:spPr>
          <a:xfrm>
            <a:off x="3721970" y="1784271"/>
            <a:ext cx="1133005" cy="307746"/>
          </a:xfrm>
          <a:prstGeom prst="rect">
            <a:avLst/>
          </a:prstGeom>
          <a:noFill/>
          <a:ln>
            <a:noFill/>
          </a:ln>
        </p:spPr>
        <p:txBody>
          <a:bodyPr spcFirstLastPara="1" wrap="square" lIns="91425" tIns="91425" rIns="91425" bIns="91425" anchor="t" anchorCtr="0">
            <a:spAutoFit/>
          </a:bodyPr>
          <a:lstStyle/>
          <a:p>
            <a:pPr algn="ctr" defTabSz="685800">
              <a:defRPr/>
            </a:pPr>
            <a:r>
              <a:rPr kumimoji="0" lang="en-US" sz="800" b="1" dirty="0">
                <a:solidFill>
                  <a:srgbClr val="595959"/>
                </a:solidFill>
                <a:ea typeface="Lato"/>
                <a:cs typeface="Lato"/>
                <a:sym typeface="Lato"/>
              </a:rPr>
              <a:t>Mitsubishi Dealer</a:t>
            </a:r>
          </a:p>
        </p:txBody>
      </p:sp>
      <p:sp>
        <p:nvSpPr>
          <p:cNvPr id="25" name="Google Shape;144;p16">
            <a:extLst>
              <a:ext uri="{FF2B5EF4-FFF2-40B4-BE49-F238E27FC236}">
                <a16:creationId xmlns:a16="http://schemas.microsoft.com/office/drawing/2014/main" id="{AD4B657D-7541-151A-7561-FA73F94AC1B2}"/>
              </a:ext>
            </a:extLst>
          </p:cNvPr>
          <p:cNvSpPr txBox="1"/>
          <p:nvPr/>
        </p:nvSpPr>
        <p:spPr>
          <a:xfrm>
            <a:off x="5477165" y="1797349"/>
            <a:ext cx="1133005" cy="307746"/>
          </a:xfrm>
          <a:prstGeom prst="rect">
            <a:avLst/>
          </a:prstGeom>
          <a:noFill/>
          <a:ln>
            <a:noFill/>
          </a:ln>
        </p:spPr>
        <p:txBody>
          <a:bodyPr spcFirstLastPara="1" wrap="square" lIns="91425" tIns="91425" rIns="91425" bIns="91425" anchor="t" anchorCtr="0">
            <a:spAutoFit/>
          </a:bodyPr>
          <a:lstStyle/>
          <a:p>
            <a:pPr algn="ctr" defTabSz="685800">
              <a:defRPr/>
            </a:pPr>
            <a:r>
              <a:rPr kumimoji="0" lang="en-US" sz="800" b="1" dirty="0">
                <a:solidFill>
                  <a:srgbClr val="595959"/>
                </a:solidFill>
                <a:ea typeface="Lato"/>
                <a:cs typeface="Lato"/>
                <a:sym typeface="Lato"/>
              </a:rPr>
              <a:t>Mitsubishi APM</a:t>
            </a:r>
          </a:p>
        </p:txBody>
      </p:sp>
      <p:sp>
        <p:nvSpPr>
          <p:cNvPr id="26" name="Google Shape;144;p16">
            <a:extLst>
              <a:ext uri="{FF2B5EF4-FFF2-40B4-BE49-F238E27FC236}">
                <a16:creationId xmlns:a16="http://schemas.microsoft.com/office/drawing/2014/main" id="{A227944C-790F-AC43-C399-AEA8F2E2145D}"/>
              </a:ext>
            </a:extLst>
          </p:cNvPr>
          <p:cNvSpPr txBox="1"/>
          <p:nvPr/>
        </p:nvSpPr>
        <p:spPr>
          <a:xfrm>
            <a:off x="7121676" y="1761259"/>
            <a:ext cx="1133005" cy="430857"/>
          </a:xfrm>
          <a:prstGeom prst="rect">
            <a:avLst/>
          </a:prstGeom>
          <a:noFill/>
          <a:ln>
            <a:noFill/>
          </a:ln>
        </p:spPr>
        <p:txBody>
          <a:bodyPr spcFirstLastPara="1" wrap="square" lIns="91425" tIns="91425" rIns="91425" bIns="91425" anchor="t" anchorCtr="0">
            <a:spAutoFit/>
          </a:bodyPr>
          <a:lstStyle/>
          <a:p>
            <a:pPr algn="ctr" defTabSz="685800">
              <a:defRPr/>
            </a:pPr>
            <a:r>
              <a:rPr kumimoji="0" lang="en-US" sz="800" b="1" dirty="0">
                <a:solidFill>
                  <a:srgbClr val="595959"/>
                </a:solidFill>
                <a:ea typeface="Lato"/>
                <a:cs typeface="Lato"/>
                <a:sym typeface="Lato"/>
              </a:rPr>
              <a:t>Mitsubishi Fleet Customer</a:t>
            </a:r>
          </a:p>
        </p:txBody>
      </p:sp>
      <p:sp>
        <p:nvSpPr>
          <p:cNvPr id="29" name="Google Shape;144;p16">
            <a:extLst>
              <a:ext uri="{FF2B5EF4-FFF2-40B4-BE49-F238E27FC236}">
                <a16:creationId xmlns:a16="http://schemas.microsoft.com/office/drawing/2014/main" id="{AAFF9AD6-9B22-CA86-48B2-3F9B34B3BF47}"/>
              </a:ext>
            </a:extLst>
          </p:cNvPr>
          <p:cNvSpPr txBox="1"/>
          <p:nvPr/>
        </p:nvSpPr>
        <p:spPr>
          <a:xfrm>
            <a:off x="396667" y="845923"/>
            <a:ext cx="1133005" cy="523190"/>
          </a:xfrm>
          <a:prstGeom prst="rect">
            <a:avLst/>
          </a:prstGeom>
          <a:noFill/>
          <a:ln>
            <a:noFill/>
          </a:ln>
        </p:spPr>
        <p:txBody>
          <a:bodyPr spcFirstLastPara="1" wrap="square" lIns="91425" tIns="91425" rIns="91425" bIns="91425" anchor="t" anchorCtr="0">
            <a:spAutoFit/>
          </a:bodyPr>
          <a:lstStyle/>
          <a:p>
            <a:pPr defTabSz="685800">
              <a:defRPr/>
            </a:pPr>
            <a:r>
              <a:rPr kumimoji="0" lang="en-US" sz="1050" b="1" dirty="0">
                <a:solidFill>
                  <a:srgbClr val="595959"/>
                </a:solidFill>
                <a:ea typeface="Lato"/>
                <a:cs typeface="Lato"/>
                <a:sym typeface="Lato"/>
              </a:rPr>
              <a:t>User Class </a:t>
            </a:r>
          </a:p>
          <a:p>
            <a:pPr defTabSz="685800">
              <a:defRPr/>
            </a:pPr>
            <a:r>
              <a:rPr kumimoji="0" lang="en-US" sz="1050" b="1" dirty="0">
                <a:solidFill>
                  <a:srgbClr val="595959"/>
                </a:solidFill>
                <a:ea typeface="Lato"/>
                <a:cs typeface="Lato"/>
                <a:sym typeface="Lato"/>
              </a:rPr>
              <a:t>&amp; Category</a:t>
            </a:r>
          </a:p>
        </p:txBody>
      </p:sp>
      <p:sp>
        <p:nvSpPr>
          <p:cNvPr id="30" name="Google Shape;229;p21">
            <a:extLst>
              <a:ext uri="{FF2B5EF4-FFF2-40B4-BE49-F238E27FC236}">
                <a16:creationId xmlns:a16="http://schemas.microsoft.com/office/drawing/2014/main" id="{3274EC6D-A071-6F11-2982-FED39F23C44E}"/>
              </a:ext>
            </a:extLst>
          </p:cNvPr>
          <p:cNvSpPr txBox="1"/>
          <p:nvPr/>
        </p:nvSpPr>
        <p:spPr>
          <a:xfrm>
            <a:off x="509051" y="2209531"/>
            <a:ext cx="1317644" cy="938042"/>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 </a:t>
            </a:r>
            <a:r>
              <a:rPr kumimoji="1" lang="en-US" sz="1000" b="0" kern="1200" dirty="0">
                <a:solidFill>
                  <a:schemeClr val="tx1"/>
                </a:solidFill>
                <a:effectLst/>
                <a:latin typeface="+mn-lt"/>
                <a:ea typeface="+mn-ea"/>
                <a:cs typeface="+mn-cs"/>
                <a:sym typeface="Lato"/>
              </a:rPr>
              <a:t>Occupation </a:t>
            </a:r>
          </a:p>
          <a:p>
            <a:pPr marL="0" marR="0">
              <a:spcBef>
                <a:spcPts val="0"/>
              </a:spcBef>
              <a:spcAft>
                <a:spcPts val="0"/>
              </a:spcAft>
            </a:pPr>
            <a:r>
              <a:rPr lang="en-US" sz="1000" dirty="0">
                <a:sym typeface="Lato"/>
              </a:rPr>
              <a:t>❷ Marital Status</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❸ Locations</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❹ Tech Literature</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❺ Platform Digital  </a:t>
            </a: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31" name="Google Shape;229;p21">
            <a:extLst>
              <a:ext uri="{FF2B5EF4-FFF2-40B4-BE49-F238E27FC236}">
                <a16:creationId xmlns:a16="http://schemas.microsoft.com/office/drawing/2014/main" id="{2D43B175-924F-8251-95FD-0B35E2158F7D}"/>
              </a:ext>
            </a:extLst>
          </p:cNvPr>
          <p:cNvSpPr txBox="1"/>
          <p:nvPr/>
        </p:nvSpPr>
        <p:spPr>
          <a:xfrm>
            <a:off x="510209" y="3796574"/>
            <a:ext cx="1317644" cy="938042"/>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a:t>
            </a:r>
            <a:r>
              <a:rPr lang="en-US" sz="1000" dirty="0">
                <a:sym typeface="Lato"/>
              </a:rPr>
              <a:t> Goal</a:t>
            </a:r>
          </a:p>
          <a:p>
            <a:pPr marL="0" marR="0">
              <a:spcBef>
                <a:spcPts val="0"/>
              </a:spcBef>
              <a:spcAft>
                <a:spcPts val="0"/>
              </a:spcAft>
            </a:pPr>
            <a:r>
              <a:rPr lang="en-US" sz="1000" dirty="0">
                <a:sym typeface="Lato"/>
              </a:rPr>
              <a:t>❷</a:t>
            </a:r>
            <a:r>
              <a:rPr lang="en-US" sz="1000" dirty="0">
                <a:latin typeface="Calibri" panose="020F0502020204030204" pitchFamily="34" charset="0"/>
                <a:cs typeface="Calibri" panose="020F0502020204030204" pitchFamily="34" charset="0"/>
                <a:sym typeface="Lato"/>
              </a:rPr>
              <a:t> Struggles</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33" name="Google Shape;229;p21">
            <a:extLst>
              <a:ext uri="{FF2B5EF4-FFF2-40B4-BE49-F238E27FC236}">
                <a16:creationId xmlns:a16="http://schemas.microsoft.com/office/drawing/2014/main" id="{985F3EC9-5D32-0802-0D13-30F71DA645F6}"/>
              </a:ext>
            </a:extLst>
          </p:cNvPr>
          <p:cNvSpPr txBox="1"/>
          <p:nvPr/>
        </p:nvSpPr>
        <p:spPr>
          <a:xfrm>
            <a:off x="1874456" y="2192116"/>
            <a:ext cx="1707434" cy="1063618"/>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 </a:t>
            </a:r>
            <a:r>
              <a:rPr kumimoji="1" lang="en-US" sz="1000" b="0" kern="1200" dirty="0">
                <a:solidFill>
                  <a:schemeClr val="tx1"/>
                </a:solidFill>
                <a:effectLst/>
                <a:latin typeface="+mn-lt"/>
                <a:ea typeface="+mn-ea"/>
                <a:cs typeface="+mn-cs"/>
                <a:sym typeface="Lato"/>
              </a:rPr>
              <a:t>Spare Parts Admin</a:t>
            </a:r>
          </a:p>
          <a:p>
            <a:pPr marL="0" marR="0">
              <a:spcBef>
                <a:spcPts val="0"/>
              </a:spcBef>
              <a:spcAft>
                <a:spcPts val="0"/>
              </a:spcAft>
            </a:pPr>
            <a:r>
              <a:rPr lang="en-US" sz="1000" dirty="0">
                <a:sym typeface="Lato"/>
              </a:rPr>
              <a:t>❷ Single</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❸ Jakarta</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❹ Low -&gt; Medium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Able to Operate Simple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Spreadsheet.</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❺ Tablet, Phone</a:t>
            </a:r>
          </a:p>
        </p:txBody>
      </p:sp>
      <p:sp>
        <p:nvSpPr>
          <p:cNvPr id="35" name="Google Shape;229;p21">
            <a:extLst>
              <a:ext uri="{FF2B5EF4-FFF2-40B4-BE49-F238E27FC236}">
                <a16:creationId xmlns:a16="http://schemas.microsoft.com/office/drawing/2014/main" id="{C92FAB91-BB8E-BAC1-97A4-124AD03C9ECB}"/>
              </a:ext>
            </a:extLst>
          </p:cNvPr>
          <p:cNvSpPr txBox="1"/>
          <p:nvPr/>
        </p:nvSpPr>
        <p:spPr>
          <a:xfrm>
            <a:off x="3703902" y="2204972"/>
            <a:ext cx="1707434" cy="1210204"/>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 </a:t>
            </a:r>
            <a:r>
              <a:rPr kumimoji="1" lang="en-US" sz="1000" b="0" kern="1200" dirty="0">
                <a:solidFill>
                  <a:schemeClr val="tx1"/>
                </a:solidFill>
                <a:effectLst/>
                <a:latin typeface="+mn-lt"/>
                <a:ea typeface="+mn-ea"/>
                <a:cs typeface="+mn-cs"/>
                <a:sym typeface="Lato"/>
              </a:rPr>
              <a:t>Spare Parts Admin</a:t>
            </a:r>
          </a:p>
          <a:p>
            <a:pPr marL="0" marR="0">
              <a:spcBef>
                <a:spcPts val="0"/>
              </a:spcBef>
              <a:spcAft>
                <a:spcPts val="0"/>
              </a:spcAft>
            </a:pPr>
            <a:r>
              <a:rPr lang="en-US" sz="1000" dirty="0">
                <a:sym typeface="Lato"/>
              </a:rPr>
              <a:t>❷ Married</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❸ Jakarta</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❹ Medium. Able to Operate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Computer and Familiar with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DMS system</a:t>
            </a:r>
          </a:p>
          <a:p>
            <a:r>
              <a:rPr lang="en-US" sz="1000" dirty="0">
                <a:latin typeface="Calibri" panose="020F0502020204030204" pitchFamily="34" charset="0"/>
                <a:cs typeface="Calibri" panose="020F0502020204030204" pitchFamily="34" charset="0"/>
                <a:sym typeface="Lato"/>
              </a:rPr>
              <a:t>❺ PC Computer</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36" name="Google Shape;229;p21">
            <a:extLst>
              <a:ext uri="{FF2B5EF4-FFF2-40B4-BE49-F238E27FC236}">
                <a16:creationId xmlns:a16="http://schemas.microsoft.com/office/drawing/2014/main" id="{34DC2745-08DF-E23E-1348-F9BE62F05FA5}"/>
              </a:ext>
            </a:extLst>
          </p:cNvPr>
          <p:cNvSpPr txBox="1"/>
          <p:nvPr/>
        </p:nvSpPr>
        <p:spPr>
          <a:xfrm>
            <a:off x="5436739" y="2207226"/>
            <a:ext cx="1851804" cy="1714674"/>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 </a:t>
            </a:r>
            <a:r>
              <a:rPr lang="en-US" sz="1000" dirty="0">
                <a:sym typeface="Lato"/>
              </a:rPr>
              <a:t>After Sales Team</a:t>
            </a:r>
            <a:endParaRPr kumimoji="1" lang="en-US" sz="1000" b="0" kern="1200" dirty="0">
              <a:solidFill>
                <a:schemeClr val="tx1"/>
              </a:solidFill>
              <a:effectLst/>
              <a:latin typeface="+mn-lt"/>
              <a:ea typeface="+mn-ea"/>
              <a:cs typeface="+mn-cs"/>
              <a:sym typeface="Lato"/>
            </a:endParaRPr>
          </a:p>
          <a:p>
            <a:pPr marL="0" marR="0">
              <a:spcBef>
                <a:spcPts val="0"/>
              </a:spcBef>
              <a:spcAft>
                <a:spcPts val="0"/>
              </a:spcAft>
            </a:pPr>
            <a:r>
              <a:rPr lang="en-US" sz="1000" dirty="0">
                <a:sym typeface="Lato"/>
              </a:rPr>
              <a:t>❷ Married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❸ Jakarta</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❹ Medium. Able to Operate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Computer , Tablet and</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Mobile Apps and Familiar with Business Apps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(such as SAP, DMS , D-NET, etc)</a:t>
            </a:r>
          </a:p>
          <a:p>
            <a:r>
              <a:rPr lang="en-US" sz="1000" dirty="0">
                <a:latin typeface="Calibri" panose="020F0502020204030204" pitchFamily="34" charset="0"/>
                <a:cs typeface="Calibri" panose="020F0502020204030204" pitchFamily="34" charset="0"/>
                <a:sym typeface="Lato"/>
              </a:rPr>
              <a:t>❺ PC Computer, </a:t>
            </a:r>
          </a:p>
          <a:p>
            <a:r>
              <a:rPr lang="en-US" sz="1000" dirty="0">
                <a:latin typeface="Calibri" panose="020F0502020204030204" pitchFamily="34" charset="0"/>
                <a:cs typeface="Calibri" panose="020F0502020204030204" pitchFamily="34" charset="0"/>
                <a:sym typeface="Lato"/>
              </a:rPr>
              <a:t>Tablet, Mob. Apps</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37" name="Google Shape;229;p21">
            <a:extLst>
              <a:ext uri="{FF2B5EF4-FFF2-40B4-BE49-F238E27FC236}">
                <a16:creationId xmlns:a16="http://schemas.microsoft.com/office/drawing/2014/main" id="{E96E905D-F92C-FF30-FA4B-5D4DFD007948}"/>
              </a:ext>
            </a:extLst>
          </p:cNvPr>
          <p:cNvSpPr txBox="1"/>
          <p:nvPr/>
        </p:nvSpPr>
        <p:spPr>
          <a:xfrm>
            <a:off x="7191934" y="2192116"/>
            <a:ext cx="1851804" cy="1714674"/>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 Fleet Service Admin</a:t>
            </a:r>
            <a:endParaRPr kumimoji="1" lang="en-US" sz="1000" b="0" kern="1200" dirty="0">
              <a:solidFill>
                <a:schemeClr val="tx1"/>
              </a:solidFill>
              <a:effectLst/>
              <a:latin typeface="+mn-lt"/>
              <a:ea typeface="+mn-ea"/>
              <a:cs typeface="+mn-cs"/>
              <a:sym typeface="Lato"/>
            </a:endParaRPr>
          </a:p>
          <a:p>
            <a:pPr marL="0" marR="0">
              <a:spcBef>
                <a:spcPts val="0"/>
              </a:spcBef>
              <a:spcAft>
                <a:spcPts val="0"/>
              </a:spcAft>
            </a:pPr>
            <a:r>
              <a:rPr lang="en-US" sz="1000" dirty="0">
                <a:sym typeface="Lato"/>
              </a:rPr>
              <a:t>❷ Married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❸ Jakarta</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❹ Medium. Able to Operate    </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Computer , Tablet and</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 Mobile Apps and Familiar with Business Apps)</a:t>
            </a:r>
          </a:p>
          <a:p>
            <a:r>
              <a:rPr lang="en-US" sz="1000" dirty="0">
                <a:latin typeface="Calibri" panose="020F0502020204030204" pitchFamily="34" charset="0"/>
                <a:cs typeface="Calibri" panose="020F0502020204030204" pitchFamily="34" charset="0"/>
                <a:sym typeface="Lato"/>
              </a:rPr>
              <a:t>❺ PC Computer, </a:t>
            </a:r>
          </a:p>
          <a:p>
            <a:r>
              <a:rPr lang="en-US" sz="1000" dirty="0">
                <a:latin typeface="Calibri" panose="020F0502020204030204" pitchFamily="34" charset="0"/>
                <a:cs typeface="Calibri" panose="020F0502020204030204" pitchFamily="34" charset="0"/>
                <a:sym typeface="Lato"/>
              </a:rPr>
              <a:t>Tablet, Mob. Apps</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38" name="Google Shape;229;p21">
            <a:extLst>
              <a:ext uri="{FF2B5EF4-FFF2-40B4-BE49-F238E27FC236}">
                <a16:creationId xmlns:a16="http://schemas.microsoft.com/office/drawing/2014/main" id="{1BB9E444-65E7-89C8-1484-68072B725695}"/>
              </a:ext>
            </a:extLst>
          </p:cNvPr>
          <p:cNvSpPr txBox="1"/>
          <p:nvPr/>
        </p:nvSpPr>
        <p:spPr>
          <a:xfrm>
            <a:off x="1862982" y="3803019"/>
            <a:ext cx="1718908" cy="1132266"/>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a:t>
            </a:r>
            <a:r>
              <a:rPr lang="en-US" sz="1000" dirty="0">
                <a:sym typeface="Lato"/>
              </a:rPr>
              <a:t> Simple Apps and System can show recommendation spare parts based on stock availability</a:t>
            </a:r>
          </a:p>
          <a:p>
            <a:pPr marL="0" marR="0">
              <a:spcBef>
                <a:spcPts val="0"/>
              </a:spcBef>
              <a:spcAft>
                <a:spcPts val="0"/>
              </a:spcAft>
            </a:pPr>
            <a:r>
              <a:rPr lang="en-US" sz="1000" dirty="0">
                <a:sym typeface="Lato"/>
              </a:rPr>
              <a:t>❷</a:t>
            </a:r>
            <a:r>
              <a:rPr lang="en-US" sz="1000" dirty="0">
                <a:latin typeface="Calibri" panose="020F0502020204030204" pitchFamily="34" charset="0"/>
                <a:cs typeface="Calibri" panose="020F0502020204030204" pitchFamily="34" charset="0"/>
                <a:sym typeface="Lato"/>
              </a:rPr>
              <a:t> Struggles</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Difficult to find spare parts based on parts Number</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39" name="Google Shape;229;p21">
            <a:extLst>
              <a:ext uri="{FF2B5EF4-FFF2-40B4-BE49-F238E27FC236}">
                <a16:creationId xmlns:a16="http://schemas.microsoft.com/office/drawing/2014/main" id="{1DDAC7C4-FC83-C08F-A4D5-25985F4A2BAF}"/>
              </a:ext>
            </a:extLst>
          </p:cNvPr>
          <p:cNvSpPr txBox="1"/>
          <p:nvPr/>
        </p:nvSpPr>
        <p:spPr>
          <a:xfrm>
            <a:off x="3666875" y="3812460"/>
            <a:ext cx="1718908" cy="1132266"/>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a:t>
            </a:r>
            <a:r>
              <a:rPr lang="en-US" sz="1000" dirty="0">
                <a:sym typeface="Lato"/>
              </a:rPr>
              <a:t> Simple Apps and System can find spare parts based on Model and Vehicle variance</a:t>
            </a:r>
          </a:p>
          <a:p>
            <a:pPr marL="0" marR="0">
              <a:spcBef>
                <a:spcPts val="0"/>
              </a:spcBef>
              <a:spcAft>
                <a:spcPts val="0"/>
              </a:spcAft>
            </a:pPr>
            <a:r>
              <a:rPr lang="en-US" sz="1000" dirty="0">
                <a:sym typeface="Lato"/>
              </a:rPr>
              <a:t>❷</a:t>
            </a:r>
            <a:r>
              <a:rPr lang="en-US" sz="1000" dirty="0">
                <a:latin typeface="Calibri" panose="020F0502020204030204" pitchFamily="34" charset="0"/>
                <a:cs typeface="Calibri" panose="020F0502020204030204" pitchFamily="34" charset="0"/>
                <a:sym typeface="Lato"/>
              </a:rPr>
              <a:t> Struggles</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Difficult to find spare parts based on parts Number</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40" name="Google Shape;229;p21">
            <a:extLst>
              <a:ext uri="{FF2B5EF4-FFF2-40B4-BE49-F238E27FC236}">
                <a16:creationId xmlns:a16="http://schemas.microsoft.com/office/drawing/2014/main" id="{B2DA774D-B085-030C-A073-A02E8D74DA24}"/>
              </a:ext>
            </a:extLst>
          </p:cNvPr>
          <p:cNvSpPr txBox="1"/>
          <p:nvPr/>
        </p:nvSpPr>
        <p:spPr>
          <a:xfrm>
            <a:off x="5402768" y="3825871"/>
            <a:ext cx="1718908" cy="1132266"/>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a:t>
            </a:r>
            <a:r>
              <a:rPr lang="en-US" sz="1000" dirty="0">
                <a:sym typeface="Lato"/>
              </a:rPr>
              <a:t> Simple Apps and System can manage CMS with low effort mapping and manage data spare parts </a:t>
            </a:r>
          </a:p>
          <a:p>
            <a:pPr marL="0" marR="0">
              <a:spcBef>
                <a:spcPts val="0"/>
              </a:spcBef>
              <a:spcAft>
                <a:spcPts val="0"/>
              </a:spcAft>
            </a:pPr>
            <a:r>
              <a:rPr lang="en-US" sz="1000" dirty="0">
                <a:sym typeface="Lato"/>
              </a:rPr>
              <a:t>❷</a:t>
            </a:r>
            <a:r>
              <a:rPr lang="en-US" sz="1000" dirty="0">
                <a:latin typeface="Calibri" panose="020F0502020204030204" pitchFamily="34" charset="0"/>
                <a:cs typeface="Calibri" panose="020F0502020204030204" pitchFamily="34" charset="0"/>
                <a:sym typeface="Lato"/>
              </a:rPr>
              <a:t> High effort to manage</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The master data</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42" name="Google Shape;229;p21">
            <a:extLst>
              <a:ext uri="{FF2B5EF4-FFF2-40B4-BE49-F238E27FC236}">
                <a16:creationId xmlns:a16="http://schemas.microsoft.com/office/drawing/2014/main" id="{D9B65C17-0A22-6D52-B4DB-4D43DAC0E1DA}"/>
              </a:ext>
            </a:extLst>
          </p:cNvPr>
          <p:cNvSpPr txBox="1"/>
          <p:nvPr/>
        </p:nvSpPr>
        <p:spPr>
          <a:xfrm>
            <a:off x="7138661" y="3818858"/>
            <a:ext cx="1718908" cy="1132266"/>
          </a:xfrm>
          <a:prstGeom prst="rect">
            <a:avLst/>
          </a:prstGeom>
          <a:noFill/>
          <a:ln>
            <a:noFill/>
          </a:ln>
        </p:spPr>
        <p:txBody>
          <a:bodyPr spcFirstLastPara="1" wrap="square" lIns="68569" tIns="68569" rIns="68569" bIns="68569" anchor="t" anchorCtr="0">
            <a:noAutofit/>
          </a:bodyPr>
          <a:lstStyle/>
          <a:p>
            <a:pPr marL="0" marR="0">
              <a:spcBef>
                <a:spcPts val="0"/>
              </a:spcBef>
              <a:spcAft>
                <a:spcPts val="0"/>
              </a:spcAft>
            </a:pPr>
            <a:r>
              <a:rPr kumimoji="1" lang="en-US" sz="1000" b="0" kern="1200" dirty="0">
                <a:solidFill>
                  <a:schemeClr val="tx1"/>
                </a:solidFill>
                <a:effectLst/>
                <a:latin typeface="Calibri" panose="020F0502020204030204" pitchFamily="34" charset="0"/>
                <a:cs typeface="Calibri" panose="020F0502020204030204" pitchFamily="34" charset="0"/>
                <a:sym typeface="Lato"/>
              </a:rPr>
              <a:t>❶</a:t>
            </a:r>
            <a:r>
              <a:rPr lang="en-US" sz="1000" dirty="0">
                <a:sym typeface="Lato"/>
              </a:rPr>
              <a:t> Simple Apps and System can integrated with fleet master data &amp; vehicle</a:t>
            </a:r>
          </a:p>
          <a:p>
            <a:pPr marL="0" marR="0">
              <a:spcBef>
                <a:spcPts val="0"/>
              </a:spcBef>
              <a:spcAft>
                <a:spcPts val="0"/>
              </a:spcAft>
            </a:pPr>
            <a:r>
              <a:rPr lang="en-US" sz="1000" dirty="0">
                <a:sym typeface="Lato"/>
              </a:rPr>
              <a:t>❷</a:t>
            </a:r>
            <a:r>
              <a:rPr lang="en-US" sz="1000" dirty="0">
                <a:latin typeface="Calibri" panose="020F0502020204030204" pitchFamily="34" charset="0"/>
                <a:cs typeface="Calibri" panose="020F0502020204030204" pitchFamily="34" charset="0"/>
                <a:sym typeface="Lato"/>
              </a:rPr>
              <a:t> Struggles</a:t>
            </a:r>
          </a:p>
          <a:p>
            <a:pPr marL="0" marR="0">
              <a:spcBef>
                <a:spcPts val="0"/>
              </a:spcBef>
              <a:spcAft>
                <a:spcPts val="0"/>
              </a:spcAft>
            </a:pPr>
            <a:r>
              <a:rPr lang="en-US" sz="1000" dirty="0">
                <a:latin typeface="Calibri" panose="020F0502020204030204" pitchFamily="34" charset="0"/>
                <a:cs typeface="Calibri" panose="020F0502020204030204" pitchFamily="34" charset="0"/>
                <a:sym typeface="Lato"/>
              </a:rPr>
              <a:t>Manage huge number of vehicle and spare parts order.</a:t>
            </a:r>
          </a:p>
          <a:p>
            <a:pPr marL="0" marR="0">
              <a:spcBef>
                <a:spcPts val="0"/>
              </a:spcBef>
              <a:spcAft>
                <a:spcPts val="0"/>
              </a:spcAft>
            </a:pPr>
            <a:endParaRPr lang="en-US" sz="1000" dirty="0">
              <a:latin typeface="Calibri" panose="020F0502020204030204" pitchFamily="34" charset="0"/>
              <a:cs typeface="Calibri" panose="020F0502020204030204" pitchFamily="34" charset="0"/>
              <a:sym typeface="Lato"/>
            </a:endParaRPr>
          </a:p>
          <a:p>
            <a:pPr marL="0" marR="0">
              <a:spcBef>
                <a:spcPts val="0"/>
              </a:spcBef>
              <a:spcAft>
                <a:spcPts val="0"/>
              </a:spcAft>
            </a:pPr>
            <a:endParaRPr lang="en-US" sz="1000" dirty="0">
              <a:sym typeface="Lato"/>
            </a:endParaRPr>
          </a:p>
          <a:p>
            <a:pPr marL="0" marR="0">
              <a:spcBef>
                <a:spcPts val="0"/>
              </a:spcBef>
              <a:spcAft>
                <a:spcPts val="0"/>
              </a:spcAft>
            </a:pPr>
            <a:endParaRPr kumimoji="1" lang="en-US" sz="1000" b="0" kern="1200" dirty="0">
              <a:solidFill>
                <a:schemeClr val="tx1"/>
              </a:solidFill>
              <a:effectLst/>
              <a:latin typeface="+mn-lt"/>
              <a:ea typeface="+mn-ea"/>
              <a:cs typeface="+mn-cs"/>
              <a:sym typeface="Lato"/>
            </a:endParaRPr>
          </a:p>
        </p:txBody>
      </p:sp>
      <p:sp>
        <p:nvSpPr>
          <p:cNvPr id="44" name="Rectangle: Rounded Corners 43">
            <a:extLst>
              <a:ext uri="{FF2B5EF4-FFF2-40B4-BE49-F238E27FC236}">
                <a16:creationId xmlns:a16="http://schemas.microsoft.com/office/drawing/2014/main" id="{15DC1D42-E8A2-63A3-27FD-274C0713F116}"/>
              </a:ext>
            </a:extLst>
          </p:cNvPr>
          <p:cNvSpPr/>
          <p:nvPr/>
        </p:nvSpPr>
        <p:spPr>
          <a:xfrm>
            <a:off x="425941" y="2031690"/>
            <a:ext cx="8617797" cy="2926816"/>
          </a:xfrm>
          <a:prstGeom prst="round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8977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4FDB6D-CC94-AD5D-C8FB-CDADD53A9C1E}"/>
              </a:ext>
            </a:extLst>
          </p:cNvPr>
          <p:cNvPicPr>
            <a:picLocks noChangeAspect="1"/>
          </p:cNvPicPr>
          <p:nvPr/>
        </p:nvPicPr>
        <p:blipFill rotWithShape="1">
          <a:blip r:embed="rId2"/>
          <a:srcRect l="9690" t="17115" r="7090" b="25011"/>
          <a:stretch/>
        </p:blipFill>
        <p:spPr>
          <a:xfrm>
            <a:off x="1029144" y="2436275"/>
            <a:ext cx="4239274" cy="2211095"/>
          </a:xfrm>
          <a:prstGeom prst="rect">
            <a:avLst/>
          </a:prstGeom>
        </p:spPr>
      </p:pic>
      <p:sp>
        <p:nvSpPr>
          <p:cNvPr id="4" name="Rectangle: Rounded Corners 133">
            <a:extLst>
              <a:ext uri="{FF2B5EF4-FFF2-40B4-BE49-F238E27FC236}">
                <a16:creationId xmlns:a16="http://schemas.microsoft.com/office/drawing/2014/main" id="{95D01A30-6DDF-A188-8C30-8423F5F4799F}"/>
              </a:ext>
            </a:extLst>
          </p:cNvPr>
          <p:cNvSpPr/>
          <p:nvPr/>
        </p:nvSpPr>
        <p:spPr>
          <a:xfrm>
            <a:off x="5995219" y="1244634"/>
            <a:ext cx="2706330" cy="3047146"/>
          </a:xfrm>
          <a:prstGeom prst="roundRect">
            <a:avLst>
              <a:gd name="adj" fmla="val 4772"/>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fontAlgn="b"/>
            <a:r>
              <a:rPr lang="en-ID" sz="900" b="1" u="sng" dirty="0">
                <a:solidFill>
                  <a:srgbClr val="000000"/>
                </a:solidFill>
                <a:latin typeface="Effra" panose="02000506080000020004" pitchFamily="2" charset="77"/>
              </a:rPr>
              <a:t>24H Genuine Part Availability</a:t>
            </a:r>
          </a:p>
          <a:p>
            <a:pPr algn="l" fontAlgn="b"/>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Hyundai does not display detailed part catalogue and open it to the public (only certain parts can be consumed by the public)</a:t>
            </a:r>
          </a:p>
          <a:p>
            <a:pPr marL="171450" indent="-171450" fontAlgn="b">
              <a:buFont typeface="+mj-lt"/>
              <a:buAutoNum type="arabicPeriod"/>
            </a:pPr>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On their website only provides certain cars and is was same like e-brochure catalogue</a:t>
            </a:r>
          </a:p>
          <a:p>
            <a:pPr marL="171450" indent="-171450" fontAlgn="b">
              <a:buFont typeface="+mj-lt"/>
              <a:buAutoNum type="arabicPeriod"/>
            </a:pPr>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The information displayed on their parts catalogue are:</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name of the spare part, </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price </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part number</a:t>
            </a:r>
          </a:p>
        </p:txBody>
      </p:sp>
      <p:pic>
        <p:nvPicPr>
          <p:cNvPr id="8" name="Picture 7">
            <a:extLst>
              <a:ext uri="{FF2B5EF4-FFF2-40B4-BE49-F238E27FC236}">
                <a16:creationId xmlns:a16="http://schemas.microsoft.com/office/drawing/2014/main" id="{BAB98F7D-B322-350F-1BF7-5A79670034B5}"/>
              </a:ext>
            </a:extLst>
          </p:cNvPr>
          <p:cNvPicPr>
            <a:picLocks noChangeAspect="1"/>
          </p:cNvPicPr>
          <p:nvPr/>
        </p:nvPicPr>
        <p:blipFill rotWithShape="1">
          <a:blip r:embed="rId3"/>
          <a:srcRect t="19846" r="16626" b="25796"/>
          <a:stretch/>
        </p:blipFill>
        <p:spPr>
          <a:xfrm>
            <a:off x="-459840" y="930478"/>
            <a:ext cx="3733982" cy="1825868"/>
          </a:xfrm>
          <a:prstGeom prst="rect">
            <a:avLst/>
          </a:prstGeom>
        </p:spPr>
      </p:pic>
      <p:pic>
        <p:nvPicPr>
          <p:cNvPr id="9" name="Picture 8">
            <a:extLst>
              <a:ext uri="{FF2B5EF4-FFF2-40B4-BE49-F238E27FC236}">
                <a16:creationId xmlns:a16="http://schemas.microsoft.com/office/drawing/2014/main" id="{02CA9DEF-C3C9-7D7E-CCB3-EAFEE175C6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07693" y="930478"/>
            <a:ext cx="2128614" cy="1838750"/>
          </a:xfrm>
          <a:prstGeom prst="rect">
            <a:avLst/>
          </a:prstGeom>
        </p:spPr>
      </p:pic>
      <p:sp>
        <p:nvSpPr>
          <p:cNvPr id="5" name="Text Placeholder 2">
            <a:extLst>
              <a:ext uri="{FF2B5EF4-FFF2-40B4-BE49-F238E27FC236}">
                <a16:creationId xmlns:a16="http://schemas.microsoft.com/office/drawing/2014/main" id="{7F126685-AF91-3595-340A-69A9925F7920}"/>
              </a:ext>
            </a:extLst>
          </p:cNvPr>
          <p:cNvSpPr txBox="1">
            <a:spLocks/>
          </p:cNvSpPr>
          <p:nvPr/>
        </p:nvSpPr>
        <p:spPr>
          <a:xfrm>
            <a:off x="229320" y="127887"/>
            <a:ext cx="6862960" cy="364901"/>
          </a:xfrm>
          <a:prstGeom prst="rect">
            <a:avLst/>
          </a:prstGeom>
        </p:spPr>
        <p:txBody>
          <a:bodyPr anchor="ctr"/>
          <a:lstStyle>
            <a:lvl1pPr marL="0" indent="0" algn="l" defTabSz="914400" rtl="0" eaLnBrk="1" latinLnBrk="0" hangingPunct="1">
              <a:spcBef>
                <a:spcPct val="20000"/>
              </a:spcBef>
              <a:buFont typeface="Arial" panose="020B0604020202020204" pitchFamily="34" charset="0"/>
              <a:buNone/>
              <a:defRPr kumimoji="1" sz="2400" kern="1200">
                <a:solidFill>
                  <a:schemeClr val="tx1"/>
                </a:solidFill>
                <a:latin typeface="ヒラギノ角ゴ Std W6" pitchFamily="34" charset="-128"/>
                <a:ea typeface="ヒラギノ角ゴ Std W6" pitchFamily="34" charset="-128"/>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en-US" sz="1800" b="1" dirty="0"/>
              <a:t>Competitor Comparison – Hyundai Digital Spare Parts </a:t>
            </a:r>
          </a:p>
        </p:txBody>
      </p:sp>
      <p:pic>
        <p:nvPicPr>
          <p:cNvPr id="6" name="Picture 5" descr="A picture containing graphics, graphic design, design&#10;&#10;Description automatically generated">
            <a:extLst>
              <a:ext uri="{FF2B5EF4-FFF2-40B4-BE49-F238E27FC236}">
                <a16:creationId xmlns:a16="http://schemas.microsoft.com/office/drawing/2014/main" id="{0DEF298F-EA0E-9716-C0C0-DF5AAB9F948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7" name="スライド番号プレースホルダー 3">
            <a:extLst>
              <a:ext uri="{FF2B5EF4-FFF2-40B4-BE49-F238E27FC236}">
                <a16:creationId xmlns:a16="http://schemas.microsoft.com/office/drawing/2014/main" id="{07863F5D-53CD-2141-561B-2BDDF4121E68}"/>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13</a:t>
            </a:fld>
            <a:endParaRPr lang="ja-JP" altLang="en-US"/>
          </a:p>
        </p:txBody>
      </p:sp>
      <p:sp>
        <p:nvSpPr>
          <p:cNvPr id="10" name="サブタイトル 7">
            <a:extLst>
              <a:ext uri="{FF2B5EF4-FFF2-40B4-BE49-F238E27FC236}">
                <a16:creationId xmlns:a16="http://schemas.microsoft.com/office/drawing/2014/main" id="{17ED9D49-D118-D620-F7D4-AC2FB625DAC7}"/>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31BE65F4-A121-11C8-349C-61E5ACA5F8EE}"/>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
        <p:nvSpPr>
          <p:cNvPr id="12" name="object 105">
            <a:extLst>
              <a:ext uri="{FF2B5EF4-FFF2-40B4-BE49-F238E27FC236}">
                <a16:creationId xmlns:a16="http://schemas.microsoft.com/office/drawing/2014/main" id="{FA8C10C0-2C55-98A8-C0F5-89AC1BF275E0}"/>
              </a:ext>
            </a:extLst>
          </p:cNvPr>
          <p:cNvSpPr txBox="1">
            <a:spLocks/>
          </p:cNvSpPr>
          <p:nvPr/>
        </p:nvSpPr>
        <p:spPr>
          <a:xfrm>
            <a:off x="349315" y="563660"/>
            <a:ext cx="6519863" cy="288060"/>
          </a:xfrm>
          <a:prstGeom prst="rect">
            <a:avLst/>
          </a:prstGeom>
        </p:spPr>
        <p:txBody>
          <a:bodyPr vert="horz" wrap="square" lIns="0" tIns="10954" rIns="0" bIns="0" rtlCol="0">
            <a:spAutoFit/>
          </a:bodyPr>
          <a:lstStyle>
            <a:lvl1pPr>
              <a:defRPr sz="2400" b="1" i="0">
                <a:solidFill>
                  <a:schemeClr val="tx1"/>
                </a:solidFill>
                <a:latin typeface="Calibri"/>
                <a:ea typeface="+mj-ea"/>
                <a:cs typeface="Calibri"/>
              </a:defRPr>
            </a:lvl1pPr>
          </a:lstStyle>
          <a:p>
            <a:pPr marL="9525" defTabSz="685800">
              <a:spcBef>
                <a:spcPts val="86"/>
              </a:spcBef>
              <a:defRPr/>
            </a:pPr>
            <a:r>
              <a:rPr kumimoji="0" lang="en-US" sz="1800" kern="0" spc="-4" dirty="0">
                <a:solidFill>
                  <a:prstClr val="black"/>
                </a:solidFill>
              </a:rPr>
              <a:t>Competitor - </a:t>
            </a:r>
            <a:r>
              <a:rPr lang="en-US" sz="1800" kern="0" spc="-4" dirty="0">
                <a:solidFill>
                  <a:prstClr val="black"/>
                </a:solidFill>
              </a:rPr>
              <a:t>Hyundai</a:t>
            </a:r>
            <a:endParaRPr kumimoji="0" lang="en-US" sz="1800" kern="0" spc="-23" dirty="0">
              <a:solidFill>
                <a:prstClr val="black"/>
              </a:solidFill>
            </a:endParaRPr>
          </a:p>
        </p:txBody>
      </p:sp>
    </p:spTree>
    <p:extLst>
      <p:ext uri="{BB962C8B-B14F-4D97-AF65-F5344CB8AC3E}">
        <p14:creationId xmlns:p14="http://schemas.microsoft.com/office/powerpoint/2010/main" val="1395246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8E65504-9438-5712-A49D-B7DD90D01A7C}"/>
              </a:ext>
            </a:extLst>
          </p:cNvPr>
          <p:cNvPicPr>
            <a:picLocks noChangeAspect="1"/>
          </p:cNvPicPr>
          <p:nvPr/>
        </p:nvPicPr>
        <p:blipFill rotWithShape="1">
          <a:blip r:embed="rId2"/>
          <a:srcRect l="17255" t="17149" r="15309" b="26143"/>
          <a:stretch/>
        </p:blipFill>
        <p:spPr>
          <a:xfrm>
            <a:off x="352285" y="775520"/>
            <a:ext cx="2986901" cy="1883833"/>
          </a:xfrm>
          <a:prstGeom prst="rect">
            <a:avLst/>
          </a:prstGeom>
        </p:spPr>
      </p:pic>
      <p:sp>
        <p:nvSpPr>
          <p:cNvPr id="4" name="Google Shape;138;p16">
            <a:extLst>
              <a:ext uri="{FF2B5EF4-FFF2-40B4-BE49-F238E27FC236}">
                <a16:creationId xmlns:a16="http://schemas.microsoft.com/office/drawing/2014/main" id="{7084904A-71B5-5AB0-4688-4445CF21189A}"/>
              </a:ext>
            </a:extLst>
          </p:cNvPr>
          <p:cNvSpPr txBox="1"/>
          <p:nvPr/>
        </p:nvSpPr>
        <p:spPr>
          <a:xfrm>
            <a:off x="593342" y="487388"/>
            <a:ext cx="2810700" cy="461635"/>
          </a:xfrm>
          <a:prstGeom prst="rect">
            <a:avLst/>
          </a:prstGeom>
          <a:noFill/>
          <a:ln>
            <a:noFill/>
          </a:ln>
        </p:spPr>
        <p:txBody>
          <a:bodyPr spcFirstLastPara="1" wrap="square" lIns="91425" tIns="91425" rIns="91425" bIns="91425" anchor="t" anchorCtr="0">
            <a:spAutoFit/>
          </a:bodyPr>
          <a:lstStyle/>
          <a:p>
            <a:pPr defTabSz="685800">
              <a:defRPr/>
            </a:pPr>
            <a:endParaRPr kumimoji="0">
              <a:solidFill>
                <a:prstClr val="black"/>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78651CE1-B85A-CEDF-B27E-50E6607FF4A9}"/>
              </a:ext>
            </a:extLst>
          </p:cNvPr>
          <p:cNvPicPr>
            <a:picLocks noChangeAspect="1"/>
          </p:cNvPicPr>
          <p:nvPr/>
        </p:nvPicPr>
        <p:blipFill rotWithShape="1">
          <a:blip r:embed="rId3"/>
          <a:srcRect t="18694" r="17084" b="24802"/>
          <a:stretch/>
        </p:blipFill>
        <p:spPr>
          <a:xfrm>
            <a:off x="-436442" y="2772279"/>
            <a:ext cx="3685829" cy="1883833"/>
          </a:xfrm>
          <a:prstGeom prst="rect">
            <a:avLst/>
          </a:prstGeom>
        </p:spPr>
      </p:pic>
      <p:sp>
        <p:nvSpPr>
          <p:cNvPr id="8" name="object 105">
            <a:extLst>
              <a:ext uri="{FF2B5EF4-FFF2-40B4-BE49-F238E27FC236}">
                <a16:creationId xmlns:a16="http://schemas.microsoft.com/office/drawing/2014/main" id="{787BEEAD-B978-DDE7-795F-8DB31995877F}"/>
              </a:ext>
            </a:extLst>
          </p:cNvPr>
          <p:cNvSpPr txBox="1">
            <a:spLocks/>
          </p:cNvSpPr>
          <p:nvPr/>
        </p:nvSpPr>
        <p:spPr>
          <a:xfrm>
            <a:off x="349315" y="563660"/>
            <a:ext cx="6519863" cy="288060"/>
          </a:xfrm>
          <a:prstGeom prst="rect">
            <a:avLst/>
          </a:prstGeom>
        </p:spPr>
        <p:txBody>
          <a:bodyPr vert="horz" wrap="square" lIns="0" tIns="10954" rIns="0" bIns="0" rtlCol="0">
            <a:spAutoFit/>
          </a:bodyPr>
          <a:lstStyle>
            <a:lvl1pPr>
              <a:defRPr sz="2400" b="1" i="0">
                <a:solidFill>
                  <a:schemeClr val="tx1"/>
                </a:solidFill>
                <a:latin typeface="Calibri"/>
                <a:ea typeface="+mj-ea"/>
                <a:cs typeface="Calibri"/>
              </a:defRPr>
            </a:lvl1pPr>
          </a:lstStyle>
          <a:p>
            <a:pPr marL="9525" defTabSz="685800">
              <a:spcBef>
                <a:spcPts val="86"/>
              </a:spcBef>
              <a:defRPr/>
            </a:pPr>
            <a:r>
              <a:rPr kumimoji="0" lang="en-US" sz="1800" kern="0" spc="-4" dirty="0">
                <a:solidFill>
                  <a:prstClr val="black"/>
                </a:solidFill>
              </a:rPr>
              <a:t>Competitor - </a:t>
            </a:r>
            <a:r>
              <a:rPr lang="en-US" sz="1800" kern="0" spc="-4" dirty="0">
                <a:solidFill>
                  <a:prstClr val="black"/>
                </a:solidFill>
              </a:rPr>
              <a:t>Suzuki</a:t>
            </a:r>
            <a:endParaRPr kumimoji="0" lang="en-US" sz="1800" kern="0" spc="-23" dirty="0">
              <a:solidFill>
                <a:prstClr val="black"/>
              </a:solidFill>
            </a:endParaRPr>
          </a:p>
        </p:txBody>
      </p:sp>
      <p:sp>
        <p:nvSpPr>
          <p:cNvPr id="10" name="Rectangle: Rounded Corners 133">
            <a:extLst>
              <a:ext uri="{FF2B5EF4-FFF2-40B4-BE49-F238E27FC236}">
                <a16:creationId xmlns:a16="http://schemas.microsoft.com/office/drawing/2014/main" id="{429BEA0A-4976-8A06-1E2A-E366B60E8279}"/>
              </a:ext>
            </a:extLst>
          </p:cNvPr>
          <p:cNvSpPr/>
          <p:nvPr/>
        </p:nvSpPr>
        <p:spPr>
          <a:xfrm>
            <a:off x="5995219" y="752168"/>
            <a:ext cx="2706330" cy="3539612"/>
          </a:xfrm>
          <a:prstGeom prst="roundRect">
            <a:avLst>
              <a:gd name="adj" fmla="val 4772"/>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fontAlgn="b"/>
            <a:r>
              <a:rPr lang="en-ID" sz="900" b="1" u="sng" dirty="0">
                <a:solidFill>
                  <a:srgbClr val="000000"/>
                </a:solidFill>
                <a:latin typeface="Effra" panose="02000506080000020004" pitchFamily="2" charset="77"/>
              </a:rPr>
              <a:t>Suzuki Spare part</a:t>
            </a:r>
          </a:p>
          <a:p>
            <a:pPr algn="l" fontAlgn="b"/>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Suzuki has a comprehensive e-catalogue list which is provided on their main website at the URL </a:t>
            </a:r>
            <a:r>
              <a:rPr lang="en-ID" sz="900" i="1" dirty="0" err="1">
                <a:solidFill>
                  <a:srgbClr val="000000"/>
                </a:solidFill>
                <a:latin typeface="Effra" panose="02000506080000020004" pitchFamily="2" charset="77"/>
              </a:rPr>
              <a:t>suzuki.co.id</a:t>
            </a:r>
            <a:r>
              <a:rPr lang="en-ID" sz="900" i="1" dirty="0">
                <a:solidFill>
                  <a:srgbClr val="000000"/>
                </a:solidFill>
                <a:latin typeface="Effra" panose="02000506080000020004" pitchFamily="2" charset="77"/>
              </a:rPr>
              <a:t>/</a:t>
            </a:r>
            <a:r>
              <a:rPr lang="en-ID" sz="900" i="1" dirty="0" err="1">
                <a:solidFill>
                  <a:srgbClr val="000000"/>
                </a:solidFill>
                <a:latin typeface="Effra" panose="02000506080000020004" pitchFamily="2" charset="77"/>
              </a:rPr>
              <a:t>eparts</a:t>
            </a:r>
            <a:r>
              <a:rPr lang="en-ID" sz="900" dirty="0">
                <a:solidFill>
                  <a:srgbClr val="000000"/>
                </a:solidFill>
                <a:latin typeface="Effra" panose="02000506080000020004" pitchFamily="2" charset="77"/>
              </a:rPr>
              <a:t> </a:t>
            </a:r>
          </a:p>
          <a:p>
            <a:pPr marL="171450" indent="-171450" fontAlgn="b">
              <a:buFont typeface="+mj-lt"/>
              <a:buAutoNum type="arabicPeriod"/>
            </a:pPr>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No need to log in for accessing the system and it was available to the public</a:t>
            </a:r>
          </a:p>
          <a:p>
            <a:pPr marL="171450" indent="-171450" fontAlgn="b">
              <a:buFont typeface="+mj-lt"/>
              <a:buAutoNum type="arabicPeriod"/>
            </a:pPr>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The features provided are part catalogue for motors, cars and marine</a:t>
            </a:r>
          </a:p>
          <a:p>
            <a:pPr marL="171450" indent="-171450" fontAlgn="b">
              <a:buFont typeface="+mj-lt"/>
              <a:buAutoNum type="arabicPeriod"/>
            </a:pPr>
            <a:endParaRPr lang="en-ID" sz="900" dirty="0">
              <a:solidFill>
                <a:srgbClr val="000000"/>
              </a:solidFill>
              <a:latin typeface="Effra" panose="02000506080000020004" pitchFamily="2" charset="77"/>
            </a:endParaRPr>
          </a:p>
          <a:p>
            <a:pPr marL="171450" indent="-171450" fontAlgn="b">
              <a:buFont typeface="+mj-lt"/>
              <a:buAutoNum type="arabicPeriod"/>
            </a:pPr>
            <a:r>
              <a:rPr lang="en-ID" sz="900" dirty="0">
                <a:solidFill>
                  <a:srgbClr val="000000"/>
                </a:solidFill>
                <a:latin typeface="Effra" panose="02000506080000020004" pitchFamily="2" charset="77"/>
              </a:rPr>
              <a:t>Access journey:</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Users can select the vehicle category and vehicle model or enter the chassis number</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The system will display parts related to the selected vehicle</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The user selects the information part according to the image</a:t>
            </a:r>
          </a:p>
          <a:p>
            <a:pPr marL="514350" lvl="1" indent="-171450" fontAlgn="b">
              <a:buFont typeface="Arial" panose="020B0604020202020204" pitchFamily="34" charset="0"/>
              <a:buChar char="•"/>
            </a:pPr>
            <a:r>
              <a:rPr lang="en-ID" sz="900" dirty="0">
                <a:solidFill>
                  <a:srgbClr val="000000"/>
                </a:solidFill>
                <a:latin typeface="Effra" panose="02000506080000020004" pitchFamily="2" charset="77"/>
              </a:rPr>
              <a:t>There is an interactive tooltip to display part information</a:t>
            </a:r>
          </a:p>
        </p:txBody>
      </p:sp>
      <p:pic>
        <p:nvPicPr>
          <p:cNvPr id="12" name="Picture 11">
            <a:extLst>
              <a:ext uri="{FF2B5EF4-FFF2-40B4-BE49-F238E27FC236}">
                <a16:creationId xmlns:a16="http://schemas.microsoft.com/office/drawing/2014/main" id="{A06B1431-4F36-D42D-1EDA-C7A5895DBF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50942" y="1582556"/>
            <a:ext cx="3213839" cy="2379446"/>
          </a:xfrm>
          <a:prstGeom prst="rect">
            <a:avLst/>
          </a:prstGeom>
        </p:spPr>
      </p:pic>
      <p:sp>
        <p:nvSpPr>
          <p:cNvPr id="2" name="Text Placeholder 2">
            <a:extLst>
              <a:ext uri="{FF2B5EF4-FFF2-40B4-BE49-F238E27FC236}">
                <a16:creationId xmlns:a16="http://schemas.microsoft.com/office/drawing/2014/main" id="{B69786FE-13A8-92B7-3CE2-A54C6E8080FD}"/>
              </a:ext>
            </a:extLst>
          </p:cNvPr>
          <p:cNvSpPr txBox="1">
            <a:spLocks/>
          </p:cNvSpPr>
          <p:nvPr/>
        </p:nvSpPr>
        <p:spPr>
          <a:xfrm>
            <a:off x="229320" y="127887"/>
            <a:ext cx="6639858" cy="364901"/>
          </a:xfrm>
          <a:prstGeom prst="rect">
            <a:avLst/>
          </a:prstGeom>
        </p:spPr>
        <p:txBody>
          <a:bodyPr anchor="ctr"/>
          <a:lstStyle>
            <a:lvl1pPr marL="0" indent="0" algn="l" defTabSz="914400" rtl="0" eaLnBrk="1" latinLnBrk="0" hangingPunct="1">
              <a:spcBef>
                <a:spcPct val="20000"/>
              </a:spcBef>
              <a:buFont typeface="Arial" panose="020B0604020202020204" pitchFamily="34" charset="0"/>
              <a:buNone/>
              <a:defRPr kumimoji="1" sz="2400" kern="1200">
                <a:solidFill>
                  <a:schemeClr val="tx1"/>
                </a:solidFill>
                <a:latin typeface="ヒラギノ角ゴ Std W6" pitchFamily="34" charset="-128"/>
                <a:ea typeface="ヒラギノ角ゴ Std W6" pitchFamily="34" charset="-128"/>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en-US" sz="2000" b="1" dirty="0"/>
              <a:t>Competitor Comparison – Suzuki Spare Parts Digital</a:t>
            </a:r>
          </a:p>
        </p:txBody>
      </p:sp>
      <p:pic>
        <p:nvPicPr>
          <p:cNvPr id="3" name="Picture 2" descr="A picture containing graphics, graphic design, design&#10;&#10;Description automatically generated">
            <a:extLst>
              <a:ext uri="{FF2B5EF4-FFF2-40B4-BE49-F238E27FC236}">
                <a16:creationId xmlns:a16="http://schemas.microsoft.com/office/drawing/2014/main" id="{3E7C8F41-981D-35CF-3EE9-FACE49BB49D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5" name="スライド番号プレースホルダー 3">
            <a:extLst>
              <a:ext uri="{FF2B5EF4-FFF2-40B4-BE49-F238E27FC236}">
                <a16:creationId xmlns:a16="http://schemas.microsoft.com/office/drawing/2014/main" id="{573C63F2-6BBC-6AEC-16D3-21F7F2C3306F}"/>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14</a:t>
            </a:fld>
            <a:endParaRPr lang="ja-JP" altLang="en-US"/>
          </a:p>
        </p:txBody>
      </p:sp>
      <p:sp>
        <p:nvSpPr>
          <p:cNvPr id="6" name="サブタイトル 7">
            <a:extLst>
              <a:ext uri="{FF2B5EF4-FFF2-40B4-BE49-F238E27FC236}">
                <a16:creationId xmlns:a16="http://schemas.microsoft.com/office/drawing/2014/main" id="{22F00EA7-0863-7762-408B-684140B20F25}"/>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A3DF9239-C8A5-8B5B-D0E7-3174B5EC5DAF}"/>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Tree>
    <p:extLst>
      <p:ext uri="{BB962C8B-B14F-4D97-AF65-F5344CB8AC3E}">
        <p14:creationId xmlns:p14="http://schemas.microsoft.com/office/powerpoint/2010/main" val="74270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393130" cy="364901"/>
          </a:xfrm>
        </p:spPr>
        <p:txBody>
          <a:bodyPr anchor="ctr"/>
          <a:lstStyle/>
          <a:p>
            <a:r>
              <a:rPr lang="en-US" sz="2000" dirty="0">
                <a:ea typeface="ヒラギノ角ゴ Std W6" pitchFamily="34" charset="-128"/>
              </a:rPr>
              <a:t>Features – Microsite Spare Parts Catalogues – Features Responsive Website </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15</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grpSp>
        <p:nvGrpSpPr>
          <p:cNvPr id="36" name="Group 35">
            <a:extLst>
              <a:ext uri="{FF2B5EF4-FFF2-40B4-BE49-F238E27FC236}">
                <a16:creationId xmlns:a16="http://schemas.microsoft.com/office/drawing/2014/main" id="{084AE4F5-A6C2-7D2C-36D7-8679014A5F93}"/>
              </a:ext>
            </a:extLst>
          </p:cNvPr>
          <p:cNvGrpSpPr/>
          <p:nvPr/>
        </p:nvGrpSpPr>
        <p:grpSpPr>
          <a:xfrm>
            <a:off x="152227" y="638273"/>
            <a:ext cx="8774417" cy="3802067"/>
            <a:chOff x="152227" y="638273"/>
            <a:chExt cx="8774417" cy="3802067"/>
          </a:xfrm>
        </p:grpSpPr>
        <p:pic>
          <p:nvPicPr>
            <p:cNvPr id="8" name="Picture 7">
              <a:extLst>
                <a:ext uri="{FF2B5EF4-FFF2-40B4-BE49-F238E27FC236}">
                  <a16:creationId xmlns:a16="http://schemas.microsoft.com/office/drawing/2014/main" id="{A3D4069E-F667-821C-227C-7A39D54121E6}"/>
                </a:ext>
              </a:extLst>
            </p:cNvPr>
            <p:cNvPicPr>
              <a:picLocks noChangeAspect="1"/>
            </p:cNvPicPr>
            <p:nvPr/>
          </p:nvPicPr>
          <p:blipFill>
            <a:blip r:embed="rId4"/>
            <a:stretch>
              <a:fillRect/>
            </a:stretch>
          </p:blipFill>
          <p:spPr>
            <a:xfrm>
              <a:off x="4280821" y="638273"/>
              <a:ext cx="1047308" cy="1111957"/>
            </a:xfrm>
            <a:prstGeom prst="rect">
              <a:avLst/>
            </a:prstGeom>
          </p:spPr>
        </p:pic>
        <p:grpSp>
          <p:nvGrpSpPr>
            <p:cNvPr id="35" name="Group 34">
              <a:extLst>
                <a:ext uri="{FF2B5EF4-FFF2-40B4-BE49-F238E27FC236}">
                  <a16:creationId xmlns:a16="http://schemas.microsoft.com/office/drawing/2014/main" id="{0F172AA3-5AFB-7E91-A4B3-943F789F9C70}"/>
                </a:ext>
              </a:extLst>
            </p:cNvPr>
            <p:cNvGrpSpPr/>
            <p:nvPr/>
          </p:nvGrpSpPr>
          <p:grpSpPr>
            <a:xfrm>
              <a:off x="152227" y="721046"/>
              <a:ext cx="8774417" cy="3719294"/>
              <a:chOff x="152227" y="721046"/>
              <a:chExt cx="8774417" cy="3719294"/>
            </a:xfrm>
          </p:grpSpPr>
          <p:pic>
            <p:nvPicPr>
              <p:cNvPr id="31" name="Picture 30">
                <a:extLst>
                  <a:ext uri="{FF2B5EF4-FFF2-40B4-BE49-F238E27FC236}">
                    <a16:creationId xmlns:a16="http://schemas.microsoft.com/office/drawing/2014/main" id="{FD5B7613-513B-7643-5494-4F13D3C74B74}"/>
                  </a:ext>
                </a:extLst>
              </p:cNvPr>
              <p:cNvPicPr>
                <a:picLocks noChangeAspect="1"/>
              </p:cNvPicPr>
              <p:nvPr/>
            </p:nvPicPr>
            <p:blipFill>
              <a:blip r:embed="rId5"/>
              <a:stretch>
                <a:fillRect/>
              </a:stretch>
            </p:blipFill>
            <p:spPr>
              <a:xfrm>
                <a:off x="315486" y="755585"/>
                <a:ext cx="3956380" cy="2570089"/>
              </a:xfrm>
              <a:prstGeom prst="rect">
                <a:avLst/>
              </a:prstGeom>
            </p:spPr>
          </p:pic>
          <p:sp>
            <p:nvSpPr>
              <p:cNvPr id="21" name="TextBox 20">
                <a:extLst>
                  <a:ext uri="{FF2B5EF4-FFF2-40B4-BE49-F238E27FC236}">
                    <a16:creationId xmlns:a16="http://schemas.microsoft.com/office/drawing/2014/main" id="{C73564A4-C733-295B-EDBA-6A0335AF3769}"/>
                  </a:ext>
                </a:extLst>
              </p:cNvPr>
              <p:cNvSpPr txBox="1"/>
              <p:nvPr/>
            </p:nvSpPr>
            <p:spPr>
              <a:xfrm>
                <a:off x="1079648" y="3370816"/>
                <a:ext cx="2997297" cy="106952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❶ </a:t>
                </a:r>
                <a:r>
                  <a:rPr lang="en-US" sz="1050" b="1" i="0" dirty="0">
                    <a:solidFill>
                      <a:srgbClr val="272727"/>
                    </a:solidFill>
                    <a:effectLst/>
                    <a:latin typeface="Raleway" pitchFamily="2" charset="0"/>
                  </a:rPr>
                  <a:t>Import Parts </a:t>
                </a:r>
                <a:r>
                  <a:rPr lang="en-US" sz="1050" b="1" dirty="0">
                    <a:solidFill>
                      <a:srgbClr val="272727"/>
                    </a:solidFill>
                    <a:latin typeface="Raleway" pitchFamily="2" charset="0"/>
                  </a:rPr>
                  <a:t>C</a:t>
                </a:r>
                <a:r>
                  <a:rPr lang="en-US" sz="1050" b="1" i="0" dirty="0">
                    <a:solidFill>
                      <a:srgbClr val="272727"/>
                    </a:solidFill>
                    <a:effectLst/>
                    <a:latin typeface="Raleway" pitchFamily="2" charset="0"/>
                  </a:rPr>
                  <a:t>atalogues</a:t>
                </a: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Technical drawings, code lists and price lists</a:t>
                </a:r>
              </a:p>
              <a:p>
                <a:pPr algn="l" fontAlgn="base"/>
                <a:r>
                  <a:rPr lang="en-US" sz="800" b="0" i="0" dirty="0">
                    <a:solidFill>
                      <a:srgbClr val="2E2E2E"/>
                    </a:solidFill>
                    <a:effectLst/>
                    <a:latin typeface="Raleway" pitchFamily="2" charset="0"/>
                  </a:rPr>
                  <a:t>Export drawings and codes from CAPS and import them with a click in </a:t>
                </a:r>
                <a:r>
                  <a:rPr lang="en-US" sz="800" dirty="0">
                    <a:solidFill>
                      <a:srgbClr val="2E2E2E"/>
                    </a:solidFill>
                    <a:latin typeface="Raleway" pitchFamily="2" charset="0"/>
                  </a:rPr>
                  <a:t>CMS (Content Management System) Digital Spare Parts Catalog. </a:t>
                </a:r>
                <a:r>
                  <a:rPr lang="en-US" sz="800" b="0" i="0" dirty="0">
                    <a:solidFill>
                      <a:srgbClr val="2E2E2E"/>
                    </a:solidFill>
                    <a:effectLst/>
                    <a:latin typeface="Raleway" pitchFamily="2" charset="0"/>
                  </a:rPr>
                  <a:t>System will automatically convert your file drawings and make them interactive, </a:t>
                </a:r>
              </a:p>
            </p:txBody>
          </p:sp>
          <p:pic>
            <p:nvPicPr>
              <p:cNvPr id="23" name="Picture 22">
                <a:extLst>
                  <a:ext uri="{FF2B5EF4-FFF2-40B4-BE49-F238E27FC236}">
                    <a16:creationId xmlns:a16="http://schemas.microsoft.com/office/drawing/2014/main" id="{DE790434-0072-C170-D6E3-223C6A338D54}"/>
                  </a:ext>
                </a:extLst>
              </p:cNvPr>
              <p:cNvPicPr>
                <a:picLocks noChangeAspect="1"/>
              </p:cNvPicPr>
              <p:nvPr/>
            </p:nvPicPr>
            <p:blipFill>
              <a:blip r:embed="rId6"/>
              <a:stretch>
                <a:fillRect/>
              </a:stretch>
            </p:blipFill>
            <p:spPr>
              <a:xfrm>
                <a:off x="4304885" y="1861063"/>
                <a:ext cx="965312" cy="1021335"/>
              </a:xfrm>
              <a:prstGeom prst="rect">
                <a:avLst/>
              </a:prstGeom>
            </p:spPr>
          </p:pic>
          <p:sp>
            <p:nvSpPr>
              <p:cNvPr id="24" name="TextBox 23">
                <a:extLst>
                  <a:ext uri="{FF2B5EF4-FFF2-40B4-BE49-F238E27FC236}">
                    <a16:creationId xmlns:a16="http://schemas.microsoft.com/office/drawing/2014/main" id="{3C4A70CE-7A47-E896-5CB8-AEEC69D978C1}"/>
                  </a:ext>
                </a:extLst>
              </p:cNvPr>
              <p:cNvSpPr txBox="1"/>
              <p:nvPr/>
            </p:nvSpPr>
            <p:spPr>
              <a:xfrm>
                <a:off x="5285883" y="1843942"/>
                <a:ext cx="3585787" cy="119263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❷</a:t>
                </a:r>
                <a:r>
                  <a:rPr lang="en-US" sz="1050" b="1" i="0" dirty="0">
                    <a:solidFill>
                      <a:srgbClr val="272727"/>
                    </a:solidFill>
                    <a:effectLst/>
                    <a:latin typeface="Raleway" pitchFamily="2" charset="0"/>
                  </a:rPr>
                  <a:t>Microsite Spare Parts Catalogues</a:t>
                </a: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CMS Portal for User Management</a:t>
                </a:r>
              </a:p>
              <a:p>
                <a:pPr algn="l" fontAlgn="base"/>
                <a:r>
                  <a:rPr lang="en-US" sz="800" b="0" i="0" dirty="0">
                    <a:solidFill>
                      <a:srgbClr val="2E2E2E"/>
                    </a:solidFill>
                    <a:effectLst/>
                    <a:latin typeface="Raleway" pitchFamily="2" charset="0"/>
                  </a:rPr>
                  <a:t>Transform Spare Parts Catalogues into Business Opportunities.</a:t>
                </a:r>
              </a:p>
              <a:p>
                <a:pPr algn="l" fontAlgn="base"/>
                <a:r>
                  <a:rPr lang="en-US" sz="800" dirty="0">
                    <a:solidFill>
                      <a:srgbClr val="2E2E2E"/>
                    </a:solidFill>
                    <a:latin typeface="Raleway" pitchFamily="2" charset="0"/>
                  </a:rPr>
                  <a:t>With Omni Channel Integration, system can track user behavior</a:t>
                </a:r>
              </a:p>
              <a:p>
                <a:pPr algn="l" fontAlgn="base"/>
                <a:r>
                  <a:rPr lang="en-US" sz="800" b="0" i="0" dirty="0">
                    <a:solidFill>
                      <a:srgbClr val="2E2E2E"/>
                    </a:solidFill>
                    <a:effectLst/>
                    <a:latin typeface="Raleway" pitchFamily="2" charset="0"/>
                  </a:rPr>
                  <a:t>And notify to user campaign and information.  </a:t>
                </a:r>
                <a:r>
                  <a:rPr lang="en-US" sz="800" dirty="0">
                    <a:solidFill>
                      <a:srgbClr val="2E2E2E"/>
                    </a:solidFill>
                    <a:latin typeface="Raleway" pitchFamily="2" charset="0"/>
                  </a:rPr>
                  <a:t>CMS system also integrated with MMKSI Backend (BE) systems such as SAP R3, D-NET , BRIGHT DMS.</a:t>
                </a:r>
                <a:endParaRPr lang="en-US" sz="800" b="0" i="0" dirty="0">
                  <a:solidFill>
                    <a:srgbClr val="2E2E2E"/>
                  </a:solidFill>
                  <a:effectLst/>
                  <a:latin typeface="Raleway" pitchFamily="2" charset="0"/>
                </a:endParaRPr>
              </a:p>
            </p:txBody>
          </p:sp>
          <p:pic>
            <p:nvPicPr>
              <p:cNvPr id="28" name="Picture 27">
                <a:extLst>
                  <a:ext uri="{FF2B5EF4-FFF2-40B4-BE49-F238E27FC236}">
                    <a16:creationId xmlns:a16="http://schemas.microsoft.com/office/drawing/2014/main" id="{3085AF52-894E-DEB2-58D2-B6F5808C0960}"/>
                  </a:ext>
                </a:extLst>
              </p:cNvPr>
              <p:cNvPicPr>
                <a:picLocks noChangeAspect="1"/>
              </p:cNvPicPr>
              <p:nvPr/>
            </p:nvPicPr>
            <p:blipFill>
              <a:blip r:embed="rId7"/>
              <a:stretch>
                <a:fillRect/>
              </a:stretch>
            </p:blipFill>
            <p:spPr>
              <a:xfrm>
                <a:off x="4298413" y="3106794"/>
                <a:ext cx="965312" cy="1002599"/>
              </a:xfrm>
              <a:prstGeom prst="rect">
                <a:avLst/>
              </a:prstGeom>
            </p:spPr>
          </p:pic>
          <p:sp>
            <p:nvSpPr>
              <p:cNvPr id="29" name="TextBox 28">
                <a:extLst>
                  <a:ext uri="{FF2B5EF4-FFF2-40B4-BE49-F238E27FC236}">
                    <a16:creationId xmlns:a16="http://schemas.microsoft.com/office/drawing/2014/main" id="{078CCACF-EBFA-CBE0-9047-68917CE3429F}"/>
                  </a:ext>
                </a:extLst>
              </p:cNvPr>
              <p:cNvSpPr txBox="1"/>
              <p:nvPr/>
            </p:nvSpPr>
            <p:spPr>
              <a:xfrm>
                <a:off x="5255521" y="3137989"/>
                <a:ext cx="3671123" cy="119263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❸</a:t>
                </a:r>
                <a:r>
                  <a:rPr lang="en-US" sz="1050" b="1" dirty="0">
                    <a:solidFill>
                      <a:srgbClr val="272727"/>
                    </a:solidFill>
                    <a:latin typeface="Raleway" pitchFamily="2" charset="0"/>
                    <a:cs typeface="Calibri" panose="020F0502020204030204" pitchFamily="34" charset="0"/>
                  </a:rPr>
                  <a:t>Lead to Opportunity Integration</a:t>
                </a:r>
                <a:endParaRPr lang="en-US" sz="1050" b="0" i="0" dirty="0">
                  <a:solidFill>
                    <a:srgbClr val="A8A8A8"/>
                  </a:solidFill>
                  <a:effectLst/>
                  <a:latin typeface="Raleway" pitchFamily="2" charset="0"/>
                </a:endParaRP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After Sales Portal. </a:t>
                </a:r>
              </a:p>
              <a:p>
                <a:pPr algn="l" fontAlgn="base"/>
                <a:r>
                  <a:rPr lang="en-US" sz="800" b="0" i="0" dirty="0">
                    <a:solidFill>
                      <a:srgbClr val="2E2E2E"/>
                    </a:solidFill>
                    <a:effectLst/>
                    <a:latin typeface="Raleway" pitchFamily="2" charset="0"/>
                  </a:rPr>
                  <a:t>Transform Spare Parts Catalogues into Business Opportunities.</a:t>
                </a:r>
              </a:p>
              <a:p>
                <a:pPr algn="l" fontAlgn="base"/>
                <a:r>
                  <a:rPr lang="en-US" sz="800" dirty="0">
                    <a:solidFill>
                      <a:srgbClr val="2E2E2E"/>
                    </a:solidFill>
                    <a:latin typeface="Raleway" pitchFamily="2" charset="0"/>
                  </a:rPr>
                  <a:t>There is features Wishlist, user can choose parts and register in MY Wishlist.</a:t>
                </a:r>
              </a:p>
              <a:p>
                <a:pPr algn="l" fontAlgn="base"/>
                <a:r>
                  <a:rPr lang="en-US" sz="800" b="0" i="0" dirty="0">
                    <a:solidFill>
                      <a:srgbClr val="2E2E2E"/>
                    </a:solidFill>
                    <a:effectLst/>
                    <a:latin typeface="Raleway" pitchFamily="2" charset="0"/>
                  </a:rPr>
                  <a:t>The data can be download and can be utilized for ordering process to Authorized Mitsubishi Dealer </a:t>
                </a:r>
              </a:p>
            </p:txBody>
          </p:sp>
          <p:sp>
            <p:nvSpPr>
              <p:cNvPr id="32" name="TextBox 31">
                <a:extLst>
                  <a:ext uri="{FF2B5EF4-FFF2-40B4-BE49-F238E27FC236}">
                    <a16:creationId xmlns:a16="http://schemas.microsoft.com/office/drawing/2014/main" id="{745852DE-5A26-6A7C-B2C9-0E2D7ED879AA}"/>
                  </a:ext>
                </a:extLst>
              </p:cNvPr>
              <p:cNvSpPr txBox="1"/>
              <p:nvPr/>
            </p:nvSpPr>
            <p:spPr>
              <a:xfrm>
                <a:off x="5337085" y="721046"/>
                <a:ext cx="3504223" cy="946413"/>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❶ </a:t>
                </a:r>
                <a:r>
                  <a:rPr lang="en-US" sz="1050" b="1" dirty="0">
                    <a:solidFill>
                      <a:srgbClr val="272727"/>
                    </a:solidFill>
                    <a:latin typeface="Raleway" pitchFamily="2" charset="0"/>
                    <a:cs typeface="Calibri" panose="020F0502020204030204" pitchFamily="34" charset="0"/>
                  </a:rPr>
                  <a:t>UI Design &amp; Platform</a:t>
                </a:r>
                <a:endParaRPr lang="en-US" sz="1050" b="0" i="0" dirty="0">
                  <a:solidFill>
                    <a:srgbClr val="A8A8A8"/>
                  </a:solidFill>
                  <a:effectLst/>
                  <a:latin typeface="Raleway" pitchFamily="2" charset="0"/>
                </a:endParaRP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Responsive Website</a:t>
                </a:r>
              </a:p>
              <a:p>
                <a:pPr algn="l" fontAlgn="base"/>
                <a:r>
                  <a:rPr lang="en-US" sz="800" b="0" i="0" dirty="0">
                    <a:solidFill>
                      <a:srgbClr val="2E2E2E"/>
                    </a:solidFill>
                    <a:effectLst/>
                    <a:latin typeface="Raleway" pitchFamily="2" charset="0"/>
                  </a:rPr>
                  <a:t>A mobile responsive website is a website that is capable of adapting its content based on the device it is being viewed on. The layout and design of a website are generally created for desktop users.</a:t>
                </a:r>
              </a:p>
            </p:txBody>
          </p:sp>
          <p:pic>
            <p:nvPicPr>
              <p:cNvPr id="33" name="Picture 32">
                <a:extLst>
                  <a:ext uri="{FF2B5EF4-FFF2-40B4-BE49-F238E27FC236}">
                    <a16:creationId xmlns:a16="http://schemas.microsoft.com/office/drawing/2014/main" id="{B3CD3E81-7968-D1F9-4409-2F2BFE3B0164}"/>
                  </a:ext>
                </a:extLst>
              </p:cNvPr>
              <p:cNvPicPr>
                <a:picLocks noChangeAspect="1"/>
              </p:cNvPicPr>
              <p:nvPr/>
            </p:nvPicPr>
            <p:blipFill>
              <a:blip r:embed="rId4"/>
              <a:stretch>
                <a:fillRect/>
              </a:stretch>
            </p:blipFill>
            <p:spPr>
              <a:xfrm>
                <a:off x="152227" y="3299900"/>
                <a:ext cx="970797" cy="1030723"/>
              </a:xfrm>
              <a:prstGeom prst="rect">
                <a:avLst/>
              </a:prstGeom>
            </p:spPr>
          </p:pic>
        </p:grpSp>
      </p:grpSp>
      <p:sp>
        <p:nvSpPr>
          <p:cNvPr id="6" name="Rectangle: Rounded Corners 5">
            <a:extLst>
              <a:ext uri="{FF2B5EF4-FFF2-40B4-BE49-F238E27FC236}">
                <a16:creationId xmlns:a16="http://schemas.microsoft.com/office/drawing/2014/main" id="{70CA2A4E-A354-1B71-B08C-EB2DF66BD813}"/>
              </a:ext>
            </a:extLst>
          </p:cNvPr>
          <p:cNvSpPr/>
          <p:nvPr/>
        </p:nvSpPr>
        <p:spPr>
          <a:xfrm>
            <a:off x="3202475" y="3318415"/>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ITD01</a:t>
            </a:r>
          </a:p>
        </p:txBody>
      </p:sp>
      <p:sp>
        <p:nvSpPr>
          <p:cNvPr id="7" name="Rectangle: Rounded Corners 6">
            <a:extLst>
              <a:ext uri="{FF2B5EF4-FFF2-40B4-BE49-F238E27FC236}">
                <a16:creationId xmlns:a16="http://schemas.microsoft.com/office/drawing/2014/main" id="{ECED6956-7FBD-789C-9CCA-FFFC55F3DF06}"/>
              </a:ext>
            </a:extLst>
          </p:cNvPr>
          <p:cNvSpPr/>
          <p:nvPr/>
        </p:nvSpPr>
        <p:spPr>
          <a:xfrm>
            <a:off x="8273510" y="690362"/>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ITD02</a:t>
            </a:r>
          </a:p>
        </p:txBody>
      </p:sp>
      <p:sp>
        <p:nvSpPr>
          <p:cNvPr id="12" name="Rectangle: Rounded Corners 11">
            <a:extLst>
              <a:ext uri="{FF2B5EF4-FFF2-40B4-BE49-F238E27FC236}">
                <a16:creationId xmlns:a16="http://schemas.microsoft.com/office/drawing/2014/main" id="{D910E381-A1A0-3C8E-4AD6-08A6D400E6F0}"/>
              </a:ext>
            </a:extLst>
          </p:cNvPr>
          <p:cNvSpPr/>
          <p:nvPr/>
        </p:nvSpPr>
        <p:spPr>
          <a:xfrm>
            <a:off x="8241700" y="1855184"/>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ITD03</a:t>
            </a:r>
          </a:p>
        </p:txBody>
      </p:sp>
      <p:sp>
        <p:nvSpPr>
          <p:cNvPr id="13" name="Rectangle: Rounded Corners 12">
            <a:extLst>
              <a:ext uri="{FF2B5EF4-FFF2-40B4-BE49-F238E27FC236}">
                <a16:creationId xmlns:a16="http://schemas.microsoft.com/office/drawing/2014/main" id="{D0D0E7B6-B51D-1319-4974-58713CC0385D}"/>
              </a:ext>
            </a:extLst>
          </p:cNvPr>
          <p:cNvSpPr/>
          <p:nvPr/>
        </p:nvSpPr>
        <p:spPr>
          <a:xfrm>
            <a:off x="8241700" y="3106794"/>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ITD04</a:t>
            </a:r>
          </a:p>
        </p:txBody>
      </p:sp>
    </p:spTree>
    <p:extLst>
      <p:ext uri="{BB962C8B-B14F-4D97-AF65-F5344CB8AC3E}">
        <p14:creationId xmlns:p14="http://schemas.microsoft.com/office/powerpoint/2010/main" val="571086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205606" cy="364901"/>
          </a:xfrm>
        </p:spPr>
        <p:txBody>
          <a:bodyPr anchor="ctr"/>
          <a:lstStyle/>
          <a:p>
            <a:r>
              <a:rPr lang="en-US" sz="2000" dirty="0">
                <a:ea typeface="ヒラギノ角ゴ Std W6" pitchFamily="34" charset="-128"/>
              </a:rPr>
              <a:t>Features – Microsite Spare Parts Catalogues – Barcode Scanner Features </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16</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pic>
        <p:nvPicPr>
          <p:cNvPr id="2" name="Picture 1">
            <a:extLst>
              <a:ext uri="{FF2B5EF4-FFF2-40B4-BE49-F238E27FC236}">
                <a16:creationId xmlns:a16="http://schemas.microsoft.com/office/drawing/2014/main" id="{FABD656A-B726-4073-F8BB-8389BCD2CAD1}"/>
              </a:ext>
            </a:extLst>
          </p:cNvPr>
          <p:cNvPicPr>
            <a:picLocks noChangeAspect="1"/>
          </p:cNvPicPr>
          <p:nvPr/>
        </p:nvPicPr>
        <p:blipFill>
          <a:blip r:embed="rId4"/>
          <a:stretch>
            <a:fillRect/>
          </a:stretch>
        </p:blipFill>
        <p:spPr>
          <a:xfrm>
            <a:off x="296525" y="816555"/>
            <a:ext cx="4154243" cy="2385266"/>
          </a:xfrm>
          <a:prstGeom prst="rect">
            <a:avLst/>
          </a:prstGeom>
        </p:spPr>
      </p:pic>
      <p:pic>
        <p:nvPicPr>
          <p:cNvPr id="5" name="Picture 4">
            <a:extLst>
              <a:ext uri="{FF2B5EF4-FFF2-40B4-BE49-F238E27FC236}">
                <a16:creationId xmlns:a16="http://schemas.microsoft.com/office/drawing/2014/main" id="{D45FFD3E-15F4-9410-FBD4-E92BF1F649EA}"/>
              </a:ext>
            </a:extLst>
          </p:cNvPr>
          <p:cNvPicPr>
            <a:picLocks noChangeAspect="1"/>
          </p:cNvPicPr>
          <p:nvPr/>
        </p:nvPicPr>
        <p:blipFill>
          <a:blip r:embed="rId5"/>
          <a:stretch>
            <a:fillRect/>
          </a:stretch>
        </p:blipFill>
        <p:spPr>
          <a:xfrm>
            <a:off x="4837984" y="2360049"/>
            <a:ext cx="3848262" cy="1949120"/>
          </a:xfrm>
          <a:prstGeom prst="rect">
            <a:avLst/>
          </a:prstGeom>
        </p:spPr>
      </p:pic>
      <p:pic>
        <p:nvPicPr>
          <p:cNvPr id="6" name="Picture 5">
            <a:extLst>
              <a:ext uri="{FF2B5EF4-FFF2-40B4-BE49-F238E27FC236}">
                <a16:creationId xmlns:a16="http://schemas.microsoft.com/office/drawing/2014/main" id="{8D77ABC4-7227-45BF-0E55-96DB05E6DD7F}"/>
              </a:ext>
            </a:extLst>
          </p:cNvPr>
          <p:cNvPicPr>
            <a:picLocks noChangeAspect="1"/>
          </p:cNvPicPr>
          <p:nvPr/>
        </p:nvPicPr>
        <p:blipFill>
          <a:blip r:embed="rId6"/>
          <a:stretch>
            <a:fillRect/>
          </a:stretch>
        </p:blipFill>
        <p:spPr>
          <a:xfrm>
            <a:off x="4495418" y="1089553"/>
            <a:ext cx="965312" cy="1002599"/>
          </a:xfrm>
          <a:prstGeom prst="rect">
            <a:avLst/>
          </a:prstGeom>
        </p:spPr>
      </p:pic>
      <p:sp>
        <p:nvSpPr>
          <p:cNvPr id="7" name="TextBox 6">
            <a:extLst>
              <a:ext uri="{FF2B5EF4-FFF2-40B4-BE49-F238E27FC236}">
                <a16:creationId xmlns:a16="http://schemas.microsoft.com/office/drawing/2014/main" id="{2876CD90-C9DE-CC19-8641-D29D5B54FD6B}"/>
              </a:ext>
            </a:extLst>
          </p:cNvPr>
          <p:cNvSpPr txBox="1"/>
          <p:nvPr/>
        </p:nvSpPr>
        <p:spPr>
          <a:xfrm>
            <a:off x="5460730" y="1150783"/>
            <a:ext cx="3079914" cy="946413"/>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❹</a:t>
            </a:r>
            <a:r>
              <a:rPr lang="en-US" sz="1050" b="1" dirty="0">
                <a:solidFill>
                  <a:srgbClr val="272727"/>
                </a:solidFill>
                <a:latin typeface="Raleway" pitchFamily="2" charset="0"/>
                <a:cs typeface="Calibri" panose="020F0502020204030204" pitchFamily="34" charset="0"/>
              </a:rPr>
              <a:t>Barcode Scanner Features</a:t>
            </a:r>
            <a:endParaRPr lang="en-US" sz="1050" b="0" i="0" dirty="0">
              <a:solidFill>
                <a:srgbClr val="A8A8A8"/>
              </a:solidFill>
              <a:effectLst/>
              <a:latin typeface="Raleway" pitchFamily="2" charset="0"/>
            </a:endParaRP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Barcode Scanner Features</a:t>
            </a:r>
          </a:p>
          <a:p>
            <a:pPr fontAlgn="base"/>
            <a:r>
              <a:rPr lang="en-US" sz="800" b="0" i="0" dirty="0">
                <a:solidFill>
                  <a:srgbClr val="2E2E2E"/>
                </a:solidFill>
                <a:effectLst/>
                <a:latin typeface="Raleway" pitchFamily="2" charset="0"/>
              </a:rPr>
              <a:t>User can find digital spare bar catalog based on spare parts number which is the parts filled with barcode scan from </a:t>
            </a:r>
            <a:r>
              <a:rPr lang="en-US" sz="800" b="0" i="0" dirty="0" err="1">
                <a:solidFill>
                  <a:srgbClr val="2E2E2E"/>
                </a:solidFill>
                <a:effectLst/>
                <a:latin typeface="Raleway" pitchFamily="2" charset="0"/>
              </a:rPr>
              <a:t>Appls</a:t>
            </a:r>
            <a:endParaRPr lang="en-US" sz="800" b="0" i="0" dirty="0">
              <a:solidFill>
                <a:srgbClr val="2E2E2E"/>
              </a:solidFill>
              <a:effectLst/>
              <a:latin typeface="Raleway" pitchFamily="2" charset="0"/>
            </a:endParaRPr>
          </a:p>
          <a:p>
            <a:pPr algn="l" fontAlgn="base"/>
            <a:endParaRPr lang="en-US" sz="800" b="0" i="0" dirty="0">
              <a:solidFill>
                <a:srgbClr val="2E2E2E"/>
              </a:solidFill>
              <a:effectLst/>
              <a:latin typeface="Raleway" pitchFamily="2" charset="0"/>
            </a:endParaRPr>
          </a:p>
        </p:txBody>
      </p:sp>
      <p:sp>
        <p:nvSpPr>
          <p:cNvPr id="12" name="Arrow: Left-Up 11">
            <a:extLst>
              <a:ext uri="{FF2B5EF4-FFF2-40B4-BE49-F238E27FC236}">
                <a16:creationId xmlns:a16="http://schemas.microsoft.com/office/drawing/2014/main" id="{8A16AF6C-64B9-2A0D-82C6-2D3CB91755CC}"/>
              </a:ext>
            </a:extLst>
          </p:cNvPr>
          <p:cNvSpPr/>
          <p:nvPr/>
        </p:nvSpPr>
        <p:spPr>
          <a:xfrm rot="10800000" flipV="1">
            <a:off x="3491880" y="3325730"/>
            <a:ext cx="1215135" cy="629796"/>
          </a:xfrm>
          <a:prstGeom prst="leftUpArrow">
            <a:avLst/>
          </a:prstGeom>
          <a:solidFill>
            <a:schemeClr val="accent5">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69E31AB-0746-D8DD-AECD-F5097A55BA8B}"/>
              </a:ext>
            </a:extLst>
          </p:cNvPr>
          <p:cNvSpPr/>
          <p:nvPr/>
        </p:nvSpPr>
        <p:spPr>
          <a:xfrm>
            <a:off x="8068223" y="1125572"/>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ITD05</a:t>
            </a:r>
          </a:p>
        </p:txBody>
      </p:sp>
    </p:spTree>
    <p:extLst>
      <p:ext uri="{BB962C8B-B14F-4D97-AF65-F5344CB8AC3E}">
        <p14:creationId xmlns:p14="http://schemas.microsoft.com/office/powerpoint/2010/main" val="315467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393130" cy="364901"/>
          </a:xfrm>
        </p:spPr>
        <p:txBody>
          <a:bodyPr anchor="ctr"/>
          <a:lstStyle/>
          <a:p>
            <a:r>
              <a:rPr lang="en-US" sz="2000" dirty="0">
                <a:ea typeface="ヒラギノ角ゴ Std W6" pitchFamily="34" charset="-128"/>
              </a:rPr>
              <a:t>Features – Microsite Spare Parts Catalogues – AI Capture based Photo Image </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17</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pic>
        <p:nvPicPr>
          <p:cNvPr id="6" name="Picture 5">
            <a:extLst>
              <a:ext uri="{FF2B5EF4-FFF2-40B4-BE49-F238E27FC236}">
                <a16:creationId xmlns:a16="http://schemas.microsoft.com/office/drawing/2014/main" id="{8D77ABC4-7227-45BF-0E55-96DB05E6DD7F}"/>
              </a:ext>
            </a:extLst>
          </p:cNvPr>
          <p:cNvPicPr>
            <a:picLocks noChangeAspect="1"/>
          </p:cNvPicPr>
          <p:nvPr/>
        </p:nvPicPr>
        <p:blipFill>
          <a:blip r:embed="rId4"/>
          <a:stretch>
            <a:fillRect/>
          </a:stretch>
        </p:blipFill>
        <p:spPr>
          <a:xfrm>
            <a:off x="229320" y="685399"/>
            <a:ext cx="965312" cy="1002599"/>
          </a:xfrm>
          <a:prstGeom prst="rect">
            <a:avLst/>
          </a:prstGeom>
        </p:spPr>
      </p:pic>
      <p:sp>
        <p:nvSpPr>
          <p:cNvPr id="7" name="TextBox 6">
            <a:extLst>
              <a:ext uri="{FF2B5EF4-FFF2-40B4-BE49-F238E27FC236}">
                <a16:creationId xmlns:a16="http://schemas.microsoft.com/office/drawing/2014/main" id="{2876CD90-C9DE-CC19-8641-D29D5B54FD6B}"/>
              </a:ext>
            </a:extLst>
          </p:cNvPr>
          <p:cNvSpPr txBox="1"/>
          <p:nvPr/>
        </p:nvSpPr>
        <p:spPr>
          <a:xfrm>
            <a:off x="1297701" y="698588"/>
            <a:ext cx="6514659" cy="415498"/>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❺</a:t>
            </a:r>
            <a:r>
              <a:rPr lang="en-US" sz="1050" dirty="0">
                <a:ea typeface="ヒラギノ角ゴ Std W6" pitchFamily="34" charset="-128"/>
              </a:rPr>
              <a:t> </a:t>
            </a:r>
            <a:r>
              <a:rPr lang="en-US" sz="1050" b="1" dirty="0">
                <a:ea typeface="ヒラギノ角ゴ Std W6" pitchFamily="34" charset="-128"/>
              </a:rPr>
              <a:t>Microsite Spare Parts Catalogues – AI Capture based Photo Image </a:t>
            </a:r>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AI Machine Learning for find the spare parts catalog refer to image capture with device</a:t>
            </a:r>
          </a:p>
        </p:txBody>
      </p:sp>
      <p:pic>
        <p:nvPicPr>
          <p:cNvPr id="8" name="Picture 7">
            <a:extLst>
              <a:ext uri="{FF2B5EF4-FFF2-40B4-BE49-F238E27FC236}">
                <a16:creationId xmlns:a16="http://schemas.microsoft.com/office/drawing/2014/main" id="{EB7C697B-E87B-FEF8-F50E-B569C2C6D0E8}"/>
              </a:ext>
            </a:extLst>
          </p:cNvPr>
          <p:cNvPicPr>
            <a:picLocks noChangeAspect="1"/>
          </p:cNvPicPr>
          <p:nvPr/>
        </p:nvPicPr>
        <p:blipFill>
          <a:blip r:embed="rId5"/>
          <a:stretch>
            <a:fillRect/>
          </a:stretch>
        </p:blipFill>
        <p:spPr>
          <a:xfrm>
            <a:off x="386537" y="2374284"/>
            <a:ext cx="3780420" cy="2285000"/>
          </a:xfrm>
          <a:prstGeom prst="rect">
            <a:avLst/>
          </a:prstGeom>
        </p:spPr>
      </p:pic>
      <p:pic>
        <p:nvPicPr>
          <p:cNvPr id="12" name="Picture 11">
            <a:extLst>
              <a:ext uri="{FF2B5EF4-FFF2-40B4-BE49-F238E27FC236}">
                <a16:creationId xmlns:a16="http://schemas.microsoft.com/office/drawing/2014/main" id="{76A4C38A-024C-3893-4B88-8479BCBC25E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69462" y="2367743"/>
            <a:ext cx="3768099" cy="2285000"/>
          </a:xfrm>
          <a:prstGeom prst="rect">
            <a:avLst/>
          </a:prstGeom>
        </p:spPr>
      </p:pic>
      <p:pic>
        <p:nvPicPr>
          <p:cNvPr id="13" name="Picture 12">
            <a:extLst>
              <a:ext uri="{FF2B5EF4-FFF2-40B4-BE49-F238E27FC236}">
                <a16:creationId xmlns:a16="http://schemas.microsoft.com/office/drawing/2014/main" id="{2EDB7947-7E4E-E315-3407-31F483B05D4B}"/>
              </a:ext>
            </a:extLst>
          </p:cNvPr>
          <p:cNvPicPr>
            <a:picLocks noChangeAspect="1"/>
          </p:cNvPicPr>
          <p:nvPr/>
        </p:nvPicPr>
        <p:blipFill>
          <a:blip r:embed="rId7"/>
          <a:stretch>
            <a:fillRect/>
          </a:stretch>
        </p:blipFill>
        <p:spPr>
          <a:xfrm>
            <a:off x="3086835" y="1087233"/>
            <a:ext cx="1917855" cy="897955"/>
          </a:xfrm>
          <a:prstGeom prst="rect">
            <a:avLst/>
          </a:prstGeom>
        </p:spPr>
      </p:pic>
      <p:sp>
        <p:nvSpPr>
          <p:cNvPr id="14" name="Arrow: Left-Up 13">
            <a:extLst>
              <a:ext uri="{FF2B5EF4-FFF2-40B4-BE49-F238E27FC236}">
                <a16:creationId xmlns:a16="http://schemas.microsoft.com/office/drawing/2014/main" id="{A6CC143F-AB5A-8716-8236-A644916B6BA4}"/>
              </a:ext>
            </a:extLst>
          </p:cNvPr>
          <p:cNvSpPr/>
          <p:nvPr/>
        </p:nvSpPr>
        <p:spPr>
          <a:xfrm rot="10800000">
            <a:off x="1749985" y="1386619"/>
            <a:ext cx="1215135" cy="735355"/>
          </a:xfrm>
          <a:prstGeom prst="leftUpArrow">
            <a:avLst/>
          </a:prstGeom>
          <a:solidFill>
            <a:schemeClr val="accent5">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Left-Up 14">
            <a:extLst>
              <a:ext uri="{FF2B5EF4-FFF2-40B4-BE49-F238E27FC236}">
                <a16:creationId xmlns:a16="http://schemas.microsoft.com/office/drawing/2014/main" id="{7C38DA16-2ADF-04DF-8F26-2A77AC985D3C}"/>
              </a:ext>
            </a:extLst>
          </p:cNvPr>
          <p:cNvSpPr/>
          <p:nvPr/>
        </p:nvSpPr>
        <p:spPr>
          <a:xfrm rot="10800000" flipH="1">
            <a:off x="5202070" y="1373237"/>
            <a:ext cx="1322505" cy="735355"/>
          </a:xfrm>
          <a:prstGeom prst="leftUpArrow">
            <a:avLst/>
          </a:prstGeom>
          <a:solidFill>
            <a:schemeClr val="accent5">
              <a:lumMod val="20000"/>
              <a:lumOff val="8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6D00497-60C2-4E7A-B093-65B5B95DEFB2}"/>
              </a:ext>
            </a:extLst>
          </p:cNvPr>
          <p:cNvSpPr/>
          <p:nvPr/>
        </p:nvSpPr>
        <p:spPr>
          <a:xfrm>
            <a:off x="8217405" y="685399"/>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ITD06</a:t>
            </a:r>
          </a:p>
        </p:txBody>
      </p:sp>
    </p:spTree>
    <p:extLst>
      <p:ext uri="{BB962C8B-B14F-4D97-AF65-F5344CB8AC3E}">
        <p14:creationId xmlns:p14="http://schemas.microsoft.com/office/powerpoint/2010/main" val="3467748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0"/>
            <a:ext cx="5017755" cy="450050"/>
          </a:xfrm>
        </p:spPr>
        <p:txBody>
          <a:bodyPr/>
          <a:lstStyle/>
          <a:p>
            <a:r>
              <a:rPr lang="en-US" sz="1800" dirty="0">
                <a:ea typeface="ヒラギノ角ゴ Std W6" pitchFamily="34" charset="-128"/>
              </a:rPr>
              <a:t>High Level System Architecture</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18</a:t>
            </a:fld>
            <a:endParaRPr lang="ja-JP" altLang="en-US"/>
          </a:p>
        </p:txBody>
      </p:sp>
      <p:pic>
        <p:nvPicPr>
          <p:cNvPr id="2" name="Picture 1" descr="A picture containing graphics, graphic design, design&#10;&#10;Description automatically generated">
            <a:extLst>
              <a:ext uri="{FF2B5EF4-FFF2-40B4-BE49-F238E27FC236}">
                <a16:creationId xmlns:a16="http://schemas.microsoft.com/office/drawing/2014/main" id="{A9A14D60-B7C6-ACFA-46D1-65DB8261ABA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49933" y="20987"/>
            <a:ext cx="491718" cy="458167"/>
          </a:xfrm>
          <a:prstGeom prst="rect">
            <a:avLst/>
          </a:prstGeom>
        </p:spPr>
      </p:pic>
      <p:grpSp>
        <p:nvGrpSpPr>
          <p:cNvPr id="103" name="Group 102">
            <a:extLst>
              <a:ext uri="{FF2B5EF4-FFF2-40B4-BE49-F238E27FC236}">
                <a16:creationId xmlns:a16="http://schemas.microsoft.com/office/drawing/2014/main" id="{4A343404-C269-0CE5-783F-F9DE6A31C2C0}"/>
              </a:ext>
            </a:extLst>
          </p:cNvPr>
          <p:cNvGrpSpPr/>
          <p:nvPr/>
        </p:nvGrpSpPr>
        <p:grpSpPr>
          <a:xfrm>
            <a:off x="240912" y="597924"/>
            <a:ext cx="8920343" cy="4539112"/>
            <a:chOff x="169244" y="604389"/>
            <a:chExt cx="8920343" cy="4539112"/>
          </a:xfrm>
        </p:grpSpPr>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
          <p:nvSpPr>
            <p:cNvPr id="64" name="TextBox 63">
              <a:extLst>
                <a:ext uri="{FF2B5EF4-FFF2-40B4-BE49-F238E27FC236}">
                  <a16:creationId xmlns:a16="http://schemas.microsoft.com/office/drawing/2014/main" id="{990EFEC0-8941-DAAA-74A6-289CAB2A2214}"/>
                </a:ext>
              </a:extLst>
            </p:cNvPr>
            <p:cNvSpPr txBox="1"/>
            <p:nvPr/>
          </p:nvSpPr>
          <p:spPr>
            <a:xfrm>
              <a:off x="6893582" y="604389"/>
              <a:ext cx="945105" cy="338554"/>
            </a:xfrm>
            <a:prstGeom prst="rect">
              <a:avLst/>
            </a:prstGeom>
            <a:noFill/>
          </p:spPr>
          <p:txBody>
            <a:bodyPr wrap="square">
              <a:spAutoFit/>
            </a:bodyPr>
            <a:lstStyle/>
            <a:p>
              <a:pPr algn="ctr" fontAlgn="base"/>
              <a:r>
                <a:rPr lang="en-US" sz="1600" b="1" i="0" dirty="0">
                  <a:solidFill>
                    <a:schemeClr val="accent1">
                      <a:lumMod val="75000"/>
                    </a:schemeClr>
                  </a:solidFill>
                  <a:effectLst/>
                  <a:latin typeface="Raleway" pitchFamily="2" charset="0"/>
                </a:rPr>
                <a:t>Users</a:t>
              </a:r>
            </a:p>
          </p:txBody>
        </p:sp>
        <p:grpSp>
          <p:nvGrpSpPr>
            <p:cNvPr id="84" name="Group 83">
              <a:extLst>
                <a:ext uri="{FF2B5EF4-FFF2-40B4-BE49-F238E27FC236}">
                  <a16:creationId xmlns:a16="http://schemas.microsoft.com/office/drawing/2014/main" id="{53B5F69C-1D12-FE57-71FD-D2EC9B83412D}"/>
                </a:ext>
              </a:extLst>
            </p:cNvPr>
            <p:cNvGrpSpPr/>
            <p:nvPr/>
          </p:nvGrpSpPr>
          <p:grpSpPr>
            <a:xfrm>
              <a:off x="169244" y="685257"/>
              <a:ext cx="8265682" cy="4370457"/>
              <a:chOff x="923500" y="629657"/>
              <a:chExt cx="8265682" cy="4370457"/>
            </a:xfrm>
          </p:grpSpPr>
          <p:grpSp>
            <p:nvGrpSpPr>
              <p:cNvPr id="34" name="Group 33">
                <a:extLst>
                  <a:ext uri="{FF2B5EF4-FFF2-40B4-BE49-F238E27FC236}">
                    <a16:creationId xmlns:a16="http://schemas.microsoft.com/office/drawing/2014/main" id="{542C3D25-32D1-C8AA-5EA4-D69E388A3CB9}"/>
                  </a:ext>
                </a:extLst>
              </p:cNvPr>
              <p:cNvGrpSpPr/>
              <p:nvPr/>
            </p:nvGrpSpPr>
            <p:grpSpPr>
              <a:xfrm>
                <a:off x="4283410" y="629657"/>
                <a:ext cx="2926354" cy="4370457"/>
                <a:chOff x="4903281" y="629657"/>
                <a:chExt cx="2926354" cy="4370457"/>
              </a:xfrm>
            </p:grpSpPr>
            <p:grpSp>
              <p:nvGrpSpPr>
                <p:cNvPr id="26" name="Group 25">
                  <a:extLst>
                    <a:ext uri="{FF2B5EF4-FFF2-40B4-BE49-F238E27FC236}">
                      <a16:creationId xmlns:a16="http://schemas.microsoft.com/office/drawing/2014/main" id="{1489DCD1-94BE-AB00-9FD0-C2CE867E567F}"/>
                    </a:ext>
                  </a:extLst>
                </p:cNvPr>
                <p:cNvGrpSpPr/>
                <p:nvPr/>
              </p:nvGrpSpPr>
              <p:grpSpPr>
                <a:xfrm>
                  <a:off x="5001824" y="1766390"/>
                  <a:ext cx="2827811" cy="3233724"/>
                  <a:chOff x="4970418" y="1624191"/>
                  <a:chExt cx="2827811" cy="3233724"/>
                </a:xfrm>
              </p:grpSpPr>
              <p:pic>
                <p:nvPicPr>
                  <p:cNvPr id="4" name="Picture 3">
                    <a:extLst>
                      <a:ext uri="{FF2B5EF4-FFF2-40B4-BE49-F238E27FC236}">
                        <a16:creationId xmlns:a16="http://schemas.microsoft.com/office/drawing/2014/main" id="{56B0EED8-22E8-9BCA-5161-C98A6FAE7BCF}"/>
                      </a:ext>
                    </a:extLst>
                  </p:cNvPr>
                  <p:cNvPicPr>
                    <a:picLocks noChangeAspect="1"/>
                  </p:cNvPicPr>
                  <p:nvPr/>
                </p:nvPicPr>
                <p:blipFill>
                  <a:blip r:embed="rId4"/>
                  <a:stretch>
                    <a:fillRect/>
                  </a:stretch>
                </p:blipFill>
                <p:spPr>
                  <a:xfrm>
                    <a:off x="5064381" y="1624191"/>
                    <a:ext cx="2733848" cy="1775924"/>
                  </a:xfrm>
                  <a:prstGeom prst="rect">
                    <a:avLst/>
                  </a:prstGeom>
                </p:spPr>
              </p:pic>
              <p:sp>
                <p:nvSpPr>
                  <p:cNvPr id="5" name="TextBox 4">
                    <a:extLst>
                      <a:ext uri="{FF2B5EF4-FFF2-40B4-BE49-F238E27FC236}">
                        <a16:creationId xmlns:a16="http://schemas.microsoft.com/office/drawing/2014/main" id="{7CEA96FA-3FEC-E270-29CA-E0196F222B38}"/>
                      </a:ext>
                    </a:extLst>
                  </p:cNvPr>
                  <p:cNvSpPr txBox="1"/>
                  <p:nvPr/>
                </p:nvSpPr>
                <p:spPr>
                  <a:xfrm>
                    <a:off x="4970418" y="3393055"/>
                    <a:ext cx="2733848" cy="253916"/>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MMKSI - Microsite Spare Part Catalog</a:t>
                    </a:r>
                  </a:p>
                </p:txBody>
              </p:sp>
              <p:sp>
                <p:nvSpPr>
                  <p:cNvPr id="6" name="Flowchart: Magnetic Disk 5">
                    <a:extLst>
                      <a:ext uri="{FF2B5EF4-FFF2-40B4-BE49-F238E27FC236}">
                        <a16:creationId xmlns:a16="http://schemas.microsoft.com/office/drawing/2014/main" id="{811CAFC9-1F15-EBD3-E33C-E924D085B49E}"/>
                      </a:ext>
                    </a:extLst>
                  </p:cNvPr>
                  <p:cNvSpPr/>
                  <p:nvPr/>
                </p:nvSpPr>
                <p:spPr>
                  <a:xfrm>
                    <a:off x="4990660" y="4279432"/>
                    <a:ext cx="2591854" cy="578483"/>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E58B606-6C8E-9FA0-F007-E88ED66867E4}"/>
                      </a:ext>
                    </a:extLst>
                  </p:cNvPr>
                  <p:cNvSpPr txBox="1"/>
                  <p:nvPr/>
                </p:nvSpPr>
                <p:spPr>
                  <a:xfrm>
                    <a:off x="5851013" y="4442417"/>
                    <a:ext cx="945105" cy="415498"/>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CMS Microsite</a:t>
                    </a:r>
                  </a:p>
                </p:txBody>
              </p:sp>
              <p:sp>
                <p:nvSpPr>
                  <p:cNvPr id="18" name="Arrow: Up-Down 17">
                    <a:extLst>
                      <a:ext uri="{FF2B5EF4-FFF2-40B4-BE49-F238E27FC236}">
                        <a16:creationId xmlns:a16="http://schemas.microsoft.com/office/drawing/2014/main" id="{6603823F-4A58-83B5-7498-4F4D9F6D6E3D}"/>
                      </a:ext>
                    </a:extLst>
                  </p:cNvPr>
                  <p:cNvSpPr/>
                  <p:nvPr/>
                </p:nvSpPr>
                <p:spPr>
                  <a:xfrm>
                    <a:off x="5663487" y="3639962"/>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9" name="Arrow: Up-Down 18">
                    <a:extLst>
                      <a:ext uri="{FF2B5EF4-FFF2-40B4-BE49-F238E27FC236}">
                        <a16:creationId xmlns:a16="http://schemas.microsoft.com/office/drawing/2014/main" id="{B5D75776-5492-9B63-0E7A-5BC200EA962D}"/>
                      </a:ext>
                    </a:extLst>
                  </p:cNvPr>
                  <p:cNvSpPr/>
                  <p:nvPr/>
                </p:nvSpPr>
                <p:spPr>
                  <a:xfrm>
                    <a:off x="6141155" y="3646971"/>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20" name="Arrow: Up-Down 19">
                    <a:extLst>
                      <a:ext uri="{FF2B5EF4-FFF2-40B4-BE49-F238E27FC236}">
                        <a16:creationId xmlns:a16="http://schemas.microsoft.com/office/drawing/2014/main" id="{E8981C2B-E095-C0B5-0080-36271804A253}"/>
                      </a:ext>
                    </a:extLst>
                  </p:cNvPr>
                  <p:cNvSpPr/>
                  <p:nvPr/>
                </p:nvSpPr>
                <p:spPr>
                  <a:xfrm>
                    <a:off x="6625850" y="3646971"/>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grpSp>
            <p:pic>
              <p:nvPicPr>
                <p:cNvPr id="25" name="Picture 24">
                  <a:extLst>
                    <a:ext uri="{FF2B5EF4-FFF2-40B4-BE49-F238E27FC236}">
                      <a16:creationId xmlns:a16="http://schemas.microsoft.com/office/drawing/2014/main" id="{03420D03-9E7D-CFD8-8546-D0BBE29987EA}"/>
                    </a:ext>
                  </a:extLst>
                </p:cNvPr>
                <p:cNvPicPr>
                  <a:picLocks noChangeAspect="1"/>
                </p:cNvPicPr>
                <p:nvPr/>
              </p:nvPicPr>
              <p:blipFill>
                <a:blip r:embed="rId5"/>
                <a:stretch>
                  <a:fillRect/>
                </a:stretch>
              </p:blipFill>
              <p:spPr>
                <a:xfrm>
                  <a:off x="4903281" y="636764"/>
                  <a:ext cx="1307108" cy="648852"/>
                </a:xfrm>
                <a:prstGeom prst="rect">
                  <a:avLst/>
                </a:prstGeom>
              </p:spPr>
            </p:pic>
            <p:pic>
              <p:nvPicPr>
                <p:cNvPr id="30" name="Picture 29">
                  <a:extLst>
                    <a:ext uri="{FF2B5EF4-FFF2-40B4-BE49-F238E27FC236}">
                      <a16:creationId xmlns:a16="http://schemas.microsoft.com/office/drawing/2014/main" id="{E14F4767-590D-B9C0-051F-6B98D7A16B1C}"/>
                    </a:ext>
                  </a:extLst>
                </p:cNvPr>
                <p:cNvPicPr>
                  <a:picLocks noChangeAspect="1"/>
                </p:cNvPicPr>
                <p:nvPr/>
              </p:nvPicPr>
              <p:blipFill>
                <a:blip r:embed="rId6"/>
                <a:stretch>
                  <a:fillRect/>
                </a:stretch>
              </p:blipFill>
              <p:spPr>
                <a:xfrm>
                  <a:off x="6378053" y="629657"/>
                  <a:ext cx="1404333" cy="648852"/>
                </a:xfrm>
                <a:prstGeom prst="rect">
                  <a:avLst/>
                </a:prstGeom>
                <a:ln w="3175">
                  <a:solidFill>
                    <a:schemeClr val="accent1">
                      <a:shade val="50000"/>
                    </a:schemeClr>
                  </a:solidFill>
                </a:ln>
              </p:spPr>
            </p:pic>
            <p:sp>
              <p:nvSpPr>
                <p:cNvPr id="31" name="Arrow: Up-Down 30">
                  <a:extLst>
                    <a:ext uri="{FF2B5EF4-FFF2-40B4-BE49-F238E27FC236}">
                      <a16:creationId xmlns:a16="http://schemas.microsoft.com/office/drawing/2014/main" id="{82C3F683-EACC-B93E-0F12-30FDF536CBF5}"/>
                    </a:ext>
                  </a:extLst>
                </p:cNvPr>
                <p:cNvSpPr/>
                <p:nvPr/>
              </p:nvSpPr>
              <p:spPr>
                <a:xfrm>
                  <a:off x="6147725" y="1322472"/>
                  <a:ext cx="340535" cy="470166"/>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32" name="Arrow: Up-Down 31">
                  <a:extLst>
                    <a:ext uri="{FF2B5EF4-FFF2-40B4-BE49-F238E27FC236}">
                      <a16:creationId xmlns:a16="http://schemas.microsoft.com/office/drawing/2014/main" id="{2259DD6E-1EC9-E223-950D-26FA19CDDFA4}"/>
                    </a:ext>
                  </a:extLst>
                </p:cNvPr>
                <p:cNvSpPr/>
                <p:nvPr/>
              </p:nvSpPr>
              <p:spPr>
                <a:xfrm>
                  <a:off x="6618512" y="1326447"/>
                  <a:ext cx="340535" cy="470166"/>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33" name="Arrow: Up-Down 32">
                  <a:extLst>
                    <a:ext uri="{FF2B5EF4-FFF2-40B4-BE49-F238E27FC236}">
                      <a16:creationId xmlns:a16="http://schemas.microsoft.com/office/drawing/2014/main" id="{C2BDDD90-F893-62E8-1E26-2AEC6FAA4973}"/>
                    </a:ext>
                  </a:extLst>
                </p:cNvPr>
                <p:cNvSpPr/>
                <p:nvPr/>
              </p:nvSpPr>
              <p:spPr>
                <a:xfrm>
                  <a:off x="5712151" y="1314096"/>
                  <a:ext cx="340535" cy="470166"/>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grpSp>
          <p:grpSp>
            <p:nvGrpSpPr>
              <p:cNvPr id="47" name="Group 46">
                <a:extLst>
                  <a:ext uri="{FF2B5EF4-FFF2-40B4-BE49-F238E27FC236}">
                    <a16:creationId xmlns:a16="http://schemas.microsoft.com/office/drawing/2014/main" id="{970F1A0F-1B73-9365-511A-E668CA53EA96}"/>
                  </a:ext>
                </a:extLst>
              </p:cNvPr>
              <p:cNvGrpSpPr/>
              <p:nvPr/>
            </p:nvGrpSpPr>
            <p:grpSpPr>
              <a:xfrm>
                <a:off x="7674623" y="1041580"/>
                <a:ext cx="1514559" cy="3725840"/>
                <a:chOff x="7779310" y="676069"/>
                <a:chExt cx="1425360" cy="3725840"/>
              </a:xfrm>
            </p:grpSpPr>
            <p:pic>
              <p:nvPicPr>
                <p:cNvPr id="36" name="Picture 35">
                  <a:extLst>
                    <a:ext uri="{FF2B5EF4-FFF2-40B4-BE49-F238E27FC236}">
                      <a16:creationId xmlns:a16="http://schemas.microsoft.com/office/drawing/2014/main" id="{C0DCBCFB-271C-5DFD-8994-E0F84C84D99D}"/>
                    </a:ext>
                  </a:extLst>
                </p:cNvPr>
                <p:cNvPicPr>
                  <a:picLocks noChangeAspect="1"/>
                </p:cNvPicPr>
                <p:nvPr/>
              </p:nvPicPr>
              <p:blipFill>
                <a:blip r:embed="rId7"/>
                <a:stretch>
                  <a:fillRect/>
                </a:stretch>
              </p:blipFill>
              <p:spPr>
                <a:xfrm>
                  <a:off x="7955850" y="676069"/>
                  <a:ext cx="521996" cy="524153"/>
                </a:xfrm>
                <a:prstGeom prst="rect">
                  <a:avLst/>
                </a:prstGeom>
              </p:spPr>
            </p:pic>
            <p:sp>
              <p:nvSpPr>
                <p:cNvPr id="39" name="TextBox 38">
                  <a:extLst>
                    <a:ext uri="{FF2B5EF4-FFF2-40B4-BE49-F238E27FC236}">
                      <a16:creationId xmlns:a16="http://schemas.microsoft.com/office/drawing/2014/main" id="{752F75B6-9239-742F-2E5C-1EB8E316BD2F}"/>
                    </a:ext>
                  </a:extLst>
                </p:cNvPr>
                <p:cNvSpPr txBox="1"/>
                <p:nvPr/>
              </p:nvSpPr>
              <p:spPr>
                <a:xfrm>
                  <a:off x="7779310" y="1278509"/>
                  <a:ext cx="982818" cy="215444"/>
                </a:xfrm>
                <a:prstGeom prst="rect">
                  <a:avLst/>
                </a:prstGeom>
                <a:noFill/>
              </p:spPr>
              <p:txBody>
                <a:bodyPr wrap="square">
                  <a:spAutoFit/>
                </a:bodyPr>
                <a:lstStyle/>
                <a:p>
                  <a:pPr fontAlgn="base"/>
                  <a:r>
                    <a:rPr lang="en-US" sz="800" b="1" i="0" dirty="0">
                      <a:solidFill>
                        <a:schemeClr val="accent1">
                          <a:lumMod val="75000"/>
                        </a:schemeClr>
                      </a:solidFill>
                      <a:effectLst/>
                      <a:latin typeface="Calibri" panose="020F0502020204030204" pitchFamily="34" charset="0"/>
                      <a:cs typeface="Calibri" panose="020F0502020204030204" pitchFamily="34" charset="0"/>
                    </a:rPr>
                    <a:t>❶ </a:t>
                  </a:r>
                  <a:r>
                    <a:rPr lang="en-US" sz="800" b="1" i="0" dirty="0">
                      <a:solidFill>
                        <a:schemeClr val="accent1">
                          <a:lumMod val="75000"/>
                        </a:schemeClr>
                      </a:solidFill>
                      <a:effectLst/>
                      <a:latin typeface="Raleway" pitchFamily="2" charset="0"/>
                    </a:rPr>
                    <a:t>Parts Shop</a:t>
                  </a:r>
                </a:p>
              </p:txBody>
            </p:sp>
            <p:sp>
              <p:nvSpPr>
                <p:cNvPr id="40" name="TextBox 39">
                  <a:extLst>
                    <a:ext uri="{FF2B5EF4-FFF2-40B4-BE49-F238E27FC236}">
                      <a16:creationId xmlns:a16="http://schemas.microsoft.com/office/drawing/2014/main" id="{5BE94EB0-D034-121A-4F00-250BDBE44B7E}"/>
                    </a:ext>
                  </a:extLst>
                </p:cNvPr>
                <p:cNvSpPr txBox="1"/>
                <p:nvPr/>
              </p:nvSpPr>
              <p:spPr>
                <a:xfrm>
                  <a:off x="7841593" y="2187819"/>
                  <a:ext cx="1345906" cy="215444"/>
                </a:xfrm>
                <a:prstGeom prst="rect">
                  <a:avLst/>
                </a:prstGeom>
                <a:noFill/>
              </p:spPr>
              <p:txBody>
                <a:bodyPr wrap="square">
                  <a:spAutoFit/>
                </a:bodyPr>
                <a:lstStyle>
                  <a:defPPr>
                    <a:defRPr lang="ja-JP"/>
                  </a:defPPr>
                  <a:lvl1pPr fontAlgn="base">
                    <a:defRPr sz="800" b="1" i="0">
                      <a:solidFill>
                        <a:schemeClr val="accent1">
                          <a:lumMod val="75000"/>
                        </a:schemeClr>
                      </a:solidFill>
                      <a:effectLst/>
                      <a:latin typeface="Calibri" panose="020F0502020204030204" pitchFamily="34" charset="0"/>
                      <a:cs typeface="Calibri" panose="020F0502020204030204" pitchFamily="34" charset="0"/>
                    </a:defRPr>
                  </a:lvl1pPr>
                </a:lstStyle>
                <a:p>
                  <a:r>
                    <a:rPr lang="en-US" dirty="0"/>
                    <a:t>❷ Dealers</a:t>
                  </a:r>
                </a:p>
              </p:txBody>
            </p:sp>
            <p:sp>
              <p:nvSpPr>
                <p:cNvPr id="41" name="TextBox 40">
                  <a:extLst>
                    <a:ext uri="{FF2B5EF4-FFF2-40B4-BE49-F238E27FC236}">
                      <a16:creationId xmlns:a16="http://schemas.microsoft.com/office/drawing/2014/main" id="{0B783416-699B-5754-A6A5-CDF3D8695D6B}"/>
                    </a:ext>
                  </a:extLst>
                </p:cNvPr>
                <p:cNvSpPr txBox="1"/>
                <p:nvPr/>
              </p:nvSpPr>
              <p:spPr>
                <a:xfrm>
                  <a:off x="7841593" y="3186863"/>
                  <a:ext cx="1345906" cy="215444"/>
                </a:xfrm>
                <a:prstGeom prst="rect">
                  <a:avLst/>
                </a:prstGeom>
                <a:noFill/>
              </p:spPr>
              <p:txBody>
                <a:bodyPr wrap="square">
                  <a:spAutoFit/>
                </a:bodyPr>
                <a:lstStyle>
                  <a:defPPr>
                    <a:defRPr lang="ja-JP"/>
                  </a:defPPr>
                  <a:lvl1pPr fontAlgn="base">
                    <a:defRPr sz="800" b="1" i="0">
                      <a:solidFill>
                        <a:schemeClr val="accent1">
                          <a:lumMod val="75000"/>
                        </a:schemeClr>
                      </a:solidFill>
                      <a:effectLst/>
                      <a:latin typeface="Calibri" panose="020F0502020204030204" pitchFamily="34" charset="0"/>
                      <a:cs typeface="Calibri" panose="020F0502020204030204" pitchFamily="34" charset="0"/>
                    </a:defRPr>
                  </a:lvl1pPr>
                </a:lstStyle>
                <a:p>
                  <a:r>
                    <a:rPr lang="en-US" dirty="0"/>
                    <a:t>❸ Fleet Master</a:t>
                  </a:r>
                </a:p>
              </p:txBody>
            </p:sp>
            <p:sp>
              <p:nvSpPr>
                <p:cNvPr id="43" name="TextBox 42">
                  <a:extLst>
                    <a:ext uri="{FF2B5EF4-FFF2-40B4-BE49-F238E27FC236}">
                      <a16:creationId xmlns:a16="http://schemas.microsoft.com/office/drawing/2014/main" id="{4CCBC1EE-BAE3-17FE-F9CE-CE4B549AFEB5}"/>
                    </a:ext>
                  </a:extLst>
                </p:cNvPr>
                <p:cNvSpPr txBox="1"/>
                <p:nvPr/>
              </p:nvSpPr>
              <p:spPr>
                <a:xfrm>
                  <a:off x="7858764" y="4186465"/>
                  <a:ext cx="1345906" cy="215444"/>
                </a:xfrm>
                <a:prstGeom prst="rect">
                  <a:avLst/>
                </a:prstGeom>
                <a:noFill/>
              </p:spPr>
              <p:txBody>
                <a:bodyPr wrap="square">
                  <a:spAutoFit/>
                </a:bodyPr>
                <a:lstStyle>
                  <a:defPPr>
                    <a:defRPr lang="ja-JP"/>
                  </a:defPPr>
                  <a:lvl1pPr fontAlgn="base">
                    <a:defRPr sz="800" b="1" i="0">
                      <a:solidFill>
                        <a:schemeClr val="accent1">
                          <a:lumMod val="75000"/>
                        </a:schemeClr>
                      </a:solidFill>
                      <a:effectLst/>
                      <a:latin typeface="Calibri" panose="020F0502020204030204" pitchFamily="34" charset="0"/>
                      <a:cs typeface="Calibri" panose="020F0502020204030204" pitchFamily="34" charset="0"/>
                    </a:defRPr>
                  </a:lvl1pPr>
                </a:lstStyle>
                <a:p>
                  <a:r>
                    <a:rPr lang="en-US" dirty="0"/>
                    <a:t>❹ MMKSI</a:t>
                  </a:r>
                </a:p>
              </p:txBody>
            </p:sp>
            <p:pic>
              <p:nvPicPr>
                <p:cNvPr id="44" name="Picture 43">
                  <a:extLst>
                    <a:ext uri="{FF2B5EF4-FFF2-40B4-BE49-F238E27FC236}">
                      <a16:creationId xmlns:a16="http://schemas.microsoft.com/office/drawing/2014/main" id="{7483EADA-5A34-C65F-51D8-4DB1D8E9F40F}"/>
                    </a:ext>
                  </a:extLst>
                </p:cNvPr>
                <p:cNvPicPr>
                  <a:picLocks noChangeAspect="1"/>
                </p:cNvPicPr>
                <p:nvPr/>
              </p:nvPicPr>
              <p:blipFill>
                <a:blip r:embed="rId7"/>
                <a:stretch>
                  <a:fillRect/>
                </a:stretch>
              </p:blipFill>
              <p:spPr>
                <a:xfrm>
                  <a:off x="7992550" y="1648190"/>
                  <a:ext cx="521996" cy="524153"/>
                </a:xfrm>
                <a:prstGeom prst="rect">
                  <a:avLst/>
                </a:prstGeom>
              </p:spPr>
            </p:pic>
            <p:pic>
              <p:nvPicPr>
                <p:cNvPr id="45" name="Picture 44">
                  <a:extLst>
                    <a:ext uri="{FF2B5EF4-FFF2-40B4-BE49-F238E27FC236}">
                      <a16:creationId xmlns:a16="http://schemas.microsoft.com/office/drawing/2014/main" id="{2211FBC5-0455-22F5-3B74-09D7C2BA0CD3}"/>
                    </a:ext>
                  </a:extLst>
                </p:cNvPr>
                <p:cNvPicPr>
                  <a:picLocks noChangeAspect="1"/>
                </p:cNvPicPr>
                <p:nvPr/>
              </p:nvPicPr>
              <p:blipFill>
                <a:blip r:embed="rId7"/>
                <a:stretch>
                  <a:fillRect/>
                </a:stretch>
              </p:blipFill>
              <p:spPr>
                <a:xfrm>
                  <a:off x="7992550" y="2639398"/>
                  <a:ext cx="521996" cy="524153"/>
                </a:xfrm>
                <a:prstGeom prst="rect">
                  <a:avLst/>
                </a:prstGeom>
              </p:spPr>
            </p:pic>
            <p:pic>
              <p:nvPicPr>
                <p:cNvPr id="46" name="Picture 45">
                  <a:extLst>
                    <a:ext uri="{FF2B5EF4-FFF2-40B4-BE49-F238E27FC236}">
                      <a16:creationId xmlns:a16="http://schemas.microsoft.com/office/drawing/2014/main" id="{C3D40A00-80D1-AF0A-7A31-CB311E29715B}"/>
                    </a:ext>
                  </a:extLst>
                </p:cNvPr>
                <p:cNvPicPr>
                  <a:picLocks noChangeAspect="1"/>
                </p:cNvPicPr>
                <p:nvPr/>
              </p:nvPicPr>
              <p:blipFill>
                <a:blip r:embed="rId7"/>
                <a:stretch>
                  <a:fillRect/>
                </a:stretch>
              </p:blipFill>
              <p:spPr>
                <a:xfrm>
                  <a:off x="8009721" y="3631917"/>
                  <a:ext cx="521996" cy="524153"/>
                </a:xfrm>
                <a:prstGeom prst="rect">
                  <a:avLst/>
                </a:prstGeom>
              </p:spPr>
            </p:pic>
          </p:grpSp>
          <p:cxnSp>
            <p:nvCxnSpPr>
              <p:cNvPr id="49" name="Connector: Elbow 48">
                <a:extLst>
                  <a:ext uri="{FF2B5EF4-FFF2-40B4-BE49-F238E27FC236}">
                    <a16:creationId xmlns:a16="http://schemas.microsoft.com/office/drawing/2014/main" id="{27553A3F-EF3D-78A0-032B-DF56F94ADAC4}"/>
                  </a:ext>
                </a:extLst>
              </p:cNvPr>
              <p:cNvCxnSpPr>
                <a:cxnSpLocks/>
                <a:stCxn id="39" idx="1"/>
                <a:endCxn id="4" idx="3"/>
              </p:cNvCxnSpPr>
              <p:nvPr/>
            </p:nvCxnSpPr>
            <p:spPr>
              <a:xfrm rot="10800000" flipV="1">
                <a:off x="7209765" y="1751742"/>
                <a:ext cx="464859" cy="902610"/>
              </a:xfrm>
              <a:prstGeom prst="bentConnector3">
                <a:avLst>
                  <a:gd name="adj1" fmla="val 50000"/>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6D418BAF-62B2-CC42-B7F3-BF3B37A74AC4}"/>
                  </a:ext>
                </a:extLst>
              </p:cNvPr>
              <p:cNvCxnSpPr>
                <a:cxnSpLocks/>
                <a:stCxn id="40" idx="1"/>
                <a:endCxn id="4" idx="3"/>
              </p:cNvCxnSpPr>
              <p:nvPr/>
            </p:nvCxnSpPr>
            <p:spPr>
              <a:xfrm rot="10800000">
                <a:off x="7209764" y="2654352"/>
                <a:ext cx="531040" cy="6700"/>
              </a:xfrm>
              <a:prstGeom prst="bentConnector3">
                <a:avLst>
                  <a:gd name="adj1" fmla="val 50000"/>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10936260-54F7-995C-3D62-68E88C881C29}"/>
                  </a:ext>
                </a:extLst>
              </p:cNvPr>
              <p:cNvCxnSpPr>
                <a:cxnSpLocks/>
                <a:stCxn id="41" idx="1"/>
                <a:endCxn id="4" idx="3"/>
              </p:cNvCxnSpPr>
              <p:nvPr/>
            </p:nvCxnSpPr>
            <p:spPr>
              <a:xfrm rot="10800000">
                <a:off x="7209764" y="2654352"/>
                <a:ext cx="531040" cy="1005744"/>
              </a:xfrm>
              <a:prstGeom prst="bentConnector3">
                <a:avLst>
                  <a:gd name="adj1" fmla="val 55381"/>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31328B17-C0A2-86B0-AD25-0C65527E10AF}"/>
                  </a:ext>
                </a:extLst>
              </p:cNvPr>
              <p:cNvCxnSpPr>
                <a:cxnSpLocks/>
                <a:stCxn id="43" idx="1"/>
                <a:endCxn id="4" idx="3"/>
              </p:cNvCxnSpPr>
              <p:nvPr/>
            </p:nvCxnSpPr>
            <p:spPr>
              <a:xfrm rot="10800000">
                <a:off x="7209765" y="2654352"/>
                <a:ext cx="549285" cy="2005346"/>
              </a:xfrm>
              <a:prstGeom prst="bentConnector3">
                <a:avLst>
                  <a:gd name="adj1" fmla="val 56936"/>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6" name="Picture 65">
                <a:extLst>
                  <a:ext uri="{FF2B5EF4-FFF2-40B4-BE49-F238E27FC236}">
                    <a16:creationId xmlns:a16="http://schemas.microsoft.com/office/drawing/2014/main" id="{ECF4953D-E311-2117-E60D-90A0FC7883CF}"/>
                  </a:ext>
                </a:extLst>
              </p:cNvPr>
              <p:cNvPicPr>
                <a:picLocks noChangeAspect="1"/>
              </p:cNvPicPr>
              <p:nvPr/>
            </p:nvPicPr>
            <p:blipFill>
              <a:blip r:embed="rId8"/>
              <a:stretch>
                <a:fillRect/>
              </a:stretch>
            </p:blipFill>
            <p:spPr>
              <a:xfrm>
                <a:off x="2365555" y="2607441"/>
                <a:ext cx="1917855" cy="897955"/>
              </a:xfrm>
              <a:prstGeom prst="rect">
                <a:avLst/>
              </a:prstGeom>
            </p:spPr>
          </p:pic>
          <p:cxnSp>
            <p:nvCxnSpPr>
              <p:cNvPr id="67" name="Connector: Elbow 66">
                <a:extLst>
                  <a:ext uri="{FF2B5EF4-FFF2-40B4-BE49-F238E27FC236}">
                    <a16:creationId xmlns:a16="http://schemas.microsoft.com/office/drawing/2014/main" id="{5309CED0-8584-2D07-458F-183E8981BA71}"/>
                  </a:ext>
                </a:extLst>
              </p:cNvPr>
              <p:cNvCxnSpPr>
                <a:cxnSpLocks/>
              </p:cNvCxnSpPr>
              <p:nvPr/>
            </p:nvCxnSpPr>
            <p:spPr>
              <a:xfrm rot="16200000" flipV="1">
                <a:off x="3741281" y="3447231"/>
                <a:ext cx="1158688" cy="1091225"/>
              </a:xfrm>
              <a:prstGeom prst="bentConnector3">
                <a:avLst>
                  <a:gd name="adj1" fmla="val 50000"/>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1654C570-ABB7-97C3-5E45-A920D15E81C1}"/>
                  </a:ext>
                </a:extLst>
              </p:cNvPr>
              <p:cNvSpPr txBox="1"/>
              <p:nvPr/>
            </p:nvSpPr>
            <p:spPr>
              <a:xfrm>
                <a:off x="2493716" y="3603301"/>
                <a:ext cx="2113537" cy="738664"/>
              </a:xfrm>
              <a:prstGeom prst="rect">
                <a:avLst/>
              </a:prstGeom>
              <a:noFill/>
            </p:spPr>
            <p:txBody>
              <a:bodyPr wrap="square">
                <a:spAutoFit/>
              </a:bodyPr>
              <a:lstStyle/>
              <a:p>
                <a:pPr fontAlgn="base"/>
                <a:r>
                  <a:rPr lang="en-US" sz="1050" b="1" i="0" dirty="0">
                    <a:solidFill>
                      <a:schemeClr val="accent1">
                        <a:lumMod val="75000"/>
                      </a:schemeClr>
                    </a:solidFill>
                    <a:effectLst/>
                    <a:latin typeface="Raleway" pitchFamily="2" charset="0"/>
                  </a:rPr>
                  <a:t>Azure Vision </a:t>
                </a:r>
              </a:p>
              <a:p>
                <a:pPr fontAlgn="base"/>
                <a:r>
                  <a:rPr lang="en-US" sz="1050" b="1" i="0" dirty="0">
                    <a:solidFill>
                      <a:schemeClr val="accent1">
                        <a:lumMod val="75000"/>
                      </a:schemeClr>
                    </a:solidFill>
                    <a:effectLst/>
                    <a:latin typeface="Raleway" pitchFamily="2" charset="0"/>
                  </a:rPr>
                  <a:t>Generate Parts and</a:t>
                </a:r>
                <a:r>
                  <a:rPr lang="en-US" sz="1050" b="1" dirty="0">
                    <a:solidFill>
                      <a:schemeClr val="accent1">
                        <a:lumMod val="75000"/>
                      </a:schemeClr>
                    </a:solidFill>
                    <a:latin typeface="Raleway" pitchFamily="2" charset="0"/>
                  </a:rPr>
                  <a:t> Mapping Parts with Image uploaded in CMS Digital Part Catalog</a:t>
                </a:r>
                <a:endParaRPr lang="en-US" sz="1050" b="1" i="0" dirty="0">
                  <a:solidFill>
                    <a:schemeClr val="accent1">
                      <a:lumMod val="75000"/>
                    </a:schemeClr>
                  </a:solidFill>
                  <a:effectLst/>
                  <a:latin typeface="Raleway" pitchFamily="2" charset="0"/>
                </a:endParaRPr>
              </a:p>
            </p:txBody>
          </p:sp>
          <p:grpSp>
            <p:nvGrpSpPr>
              <p:cNvPr id="77" name="Group 76">
                <a:extLst>
                  <a:ext uri="{FF2B5EF4-FFF2-40B4-BE49-F238E27FC236}">
                    <a16:creationId xmlns:a16="http://schemas.microsoft.com/office/drawing/2014/main" id="{3E5DD19E-5538-442A-22DA-758E721D83CC}"/>
                  </a:ext>
                </a:extLst>
              </p:cNvPr>
              <p:cNvGrpSpPr/>
              <p:nvPr/>
            </p:nvGrpSpPr>
            <p:grpSpPr>
              <a:xfrm>
                <a:off x="923500" y="2945117"/>
                <a:ext cx="961347" cy="1786873"/>
                <a:chOff x="923500" y="846659"/>
                <a:chExt cx="961347" cy="1786873"/>
              </a:xfrm>
            </p:grpSpPr>
            <p:sp>
              <p:nvSpPr>
                <p:cNvPr id="14" name="Flowchart: Magnetic Disk 13">
                  <a:extLst>
                    <a:ext uri="{FF2B5EF4-FFF2-40B4-BE49-F238E27FC236}">
                      <a16:creationId xmlns:a16="http://schemas.microsoft.com/office/drawing/2014/main" id="{06B68D95-24D2-2D54-0F9B-2E8EF70F8430}"/>
                    </a:ext>
                  </a:extLst>
                </p:cNvPr>
                <p:cNvSpPr/>
                <p:nvPr/>
              </p:nvSpPr>
              <p:spPr>
                <a:xfrm>
                  <a:off x="984748" y="846659"/>
                  <a:ext cx="855095" cy="696222"/>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4DF8449-45BE-F40E-5DF1-EA3789CE7171}"/>
                    </a:ext>
                  </a:extLst>
                </p:cNvPr>
                <p:cNvSpPr txBox="1"/>
                <p:nvPr/>
              </p:nvSpPr>
              <p:spPr>
                <a:xfrm>
                  <a:off x="939742" y="1160596"/>
                  <a:ext cx="945105" cy="253916"/>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SAP R3</a:t>
                  </a:r>
                </a:p>
              </p:txBody>
            </p:sp>
            <p:sp>
              <p:nvSpPr>
                <p:cNvPr id="73" name="Flowchart: Magnetic Disk 72">
                  <a:extLst>
                    <a:ext uri="{FF2B5EF4-FFF2-40B4-BE49-F238E27FC236}">
                      <a16:creationId xmlns:a16="http://schemas.microsoft.com/office/drawing/2014/main" id="{58C153EA-AEEB-6CDE-A5F6-7F575BA1EED8}"/>
                    </a:ext>
                  </a:extLst>
                </p:cNvPr>
                <p:cNvSpPr/>
                <p:nvPr/>
              </p:nvSpPr>
              <p:spPr>
                <a:xfrm>
                  <a:off x="979420" y="1403631"/>
                  <a:ext cx="855095" cy="696222"/>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759E9FFE-777E-010D-F7FC-000149210555}"/>
                    </a:ext>
                  </a:extLst>
                </p:cNvPr>
                <p:cNvSpPr txBox="1"/>
                <p:nvPr/>
              </p:nvSpPr>
              <p:spPr>
                <a:xfrm>
                  <a:off x="934414" y="1717568"/>
                  <a:ext cx="945105" cy="253916"/>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D-NET</a:t>
                  </a:r>
                </a:p>
              </p:txBody>
            </p:sp>
            <p:sp>
              <p:nvSpPr>
                <p:cNvPr id="75" name="Flowchart: Magnetic Disk 74">
                  <a:extLst>
                    <a:ext uri="{FF2B5EF4-FFF2-40B4-BE49-F238E27FC236}">
                      <a16:creationId xmlns:a16="http://schemas.microsoft.com/office/drawing/2014/main" id="{4D4EF4B8-D4B4-71B4-63CF-97F8D628CFE4}"/>
                    </a:ext>
                  </a:extLst>
                </p:cNvPr>
                <p:cNvSpPr/>
                <p:nvPr/>
              </p:nvSpPr>
              <p:spPr>
                <a:xfrm>
                  <a:off x="968506" y="1937310"/>
                  <a:ext cx="855095" cy="696222"/>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99DD4B31-6CBE-2A32-5050-0E5DDF5FAB35}"/>
                    </a:ext>
                  </a:extLst>
                </p:cNvPr>
                <p:cNvSpPr txBox="1"/>
                <p:nvPr/>
              </p:nvSpPr>
              <p:spPr>
                <a:xfrm>
                  <a:off x="923500" y="2251247"/>
                  <a:ext cx="945105" cy="253916"/>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DMS</a:t>
                  </a:r>
                </a:p>
              </p:txBody>
            </p:sp>
          </p:grpSp>
          <p:cxnSp>
            <p:nvCxnSpPr>
              <p:cNvPr id="78" name="Connector: Elbow 77">
                <a:extLst>
                  <a:ext uri="{FF2B5EF4-FFF2-40B4-BE49-F238E27FC236}">
                    <a16:creationId xmlns:a16="http://schemas.microsoft.com/office/drawing/2014/main" id="{73992643-EB3C-0303-81D1-CF0872A0E3DB}"/>
                  </a:ext>
                </a:extLst>
              </p:cNvPr>
              <p:cNvCxnSpPr>
                <a:cxnSpLocks/>
                <a:stCxn id="6" idx="2"/>
                <a:endCxn id="74" idx="3"/>
              </p:cNvCxnSpPr>
              <p:nvPr/>
            </p:nvCxnSpPr>
            <p:spPr>
              <a:xfrm rot="10800000">
                <a:off x="1879519" y="3942985"/>
                <a:ext cx="2522676" cy="767889"/>
              </a:xfrm>
              <a:prstGeom prst="bentConnector3">
                <a:avLst>
                  <a:gd name="adj1" fmla="val 78318"/>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85" name="TextBox 84">
              <a:extLst>
                <a:ext uri="{FF2B5EF4-FFF2-40B4-BE49-F238E27FC236}">
                  <a16:creationId xmlns:a16="http://schemas.microsoft.com/office/drawing/2014/main" id="{0122EC97-F59D-AA77-7576-EE3EE84D02EF}"/>
                </a:ext>
              </a:extLst>
            </p:cNvPr>
            <p:cNvSpPr txBox="1"/>
            <p:nvPr/>
          </p:nvSpPr>
          <p:spPr>
            <a:xfrm>
              <a:off x="180157" y="2439653"/>
              <a:ext cx="945105" cy="584775"/>
            </a:xfrm>
            <a:prstGeom prst="rect">
              <a:avLst/>
            </a:prstGeom>
            <a:noFill/>
          </p:spPr>
          <p:txBody>
            <a:bodyPr wrap="square">
              <a:spAutoFit/>
            </a:bodyPr>
            <a:lstStyle/>
            <a:p>
              <a:pPr algn="ctr" fontAlgn="base"/>
              <a:r>
                <a:rPr lang="en-US" sz="1600" b="1" i="0" dirty="0">
                  <a:solidFill>
                    <a:schemeClr val="accent1">
                      <a:lumMod val="75000"/>
                    </a:schemeClr>
                  </a:solidFill>
                  <a:effectLst/>
                  <a:latin typeface="Raleway" pitchFamily="2" charset="0"/>
                </a:rPr>
                <a:t>Input</a:t>
              </a:r>
            </a:p>
            <a:p>
              <a:pPr algn="ctr" fontAlgn="base"/>
              <a:r>
                <a:rPr lang="en-US" sz="1600" b="1" dirty="0">
                  <a:solidFill>
                    <a:schemeClr val="accent1">
                      <a:lumMod val="75000"/>
                    </a:schemeClr>
                  </a:solidFill>
                  <a:latin typeface="Raleway" pitchFamily="2" charset="0"/>
                </a:rPr>
                <a:t>Data</a:t>
              </a:r>
              <a:endParaRPr lang="en-US" sz="1600" b="1" i="0" dirty="0">
                <a:solidFill>
                  <a:schemeClr val="accent1">
                    <a:lumMod val="75000"/>
                  </a:schemeClr>
                </a:solidFill>
                <a:effectLst/>
                <a:latin typeface="Raleway" pitchFamily="2" charset="0"/>
              </a:endParaRPr>
            </a:p>
          </p:txBody>
        </p:sp>
        <p:grpSp>
          <p:nvGrpSpPr>
            <p:cNvPr id="91" name="Group 90">
              <a:extLst>
                <a:ext uri="{FF2B5EF4-FFF2-40B4-BE49-F238E27FC236}">
                  <a16:creationId xmlns:a16="http://schemas.microsoft.com/office/drawing/2014/main" id="{2AF29BF1-C85B-DBCA-35BB-2DA1F2B73EAD}"/>
                </a:ext>
              </a:extLst>
            </p:cNvPr>
            <p:cNvGrpSpPr/>
            <p:nvPr/>
          </p:nvGrpSpPr>
          <p:grpSpPr>
            <a:xfrm>
              <a:off x="8127227" y="3395146"/>
              <a:ext cx="962360" cy="1031911"/>
              <a:chOff x="8586354" y="3511068"/>
              <a:chExt cx="962360" cy="1031911"/>
            </a:xfrm>
          </p:grpSpPr>
          <p:sp>
            <p:nvSpPr>
              <p:cNvPr id="87" name="TextBox 86">
                <a:extLst>
                  <a:ext uri="{FF2B5EF4-FFF2-40B4-BE49-F238E27FC236}">
                    <a16:creationId xmlns:a16="http://schemas.microsoft.com/office/drawing/2014/main" id="{C0FD204B-7D72-ED91-F485-213D9833CE3B}"/>
                  </a:ext>
                </a:extLst>
              </p:cNvPr>
              <p:cNvSpPr txBox="1"/>
              <p:nvPr/>
            </p:nvSpPr>
            <p:spPr>
              <a:xfrm>
                <a:off x="8603609" y="4289063"/>
                <a:ext cx="945105" cy="253916"/>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MMID</a:t>
                </a:r>
              </a:p>
            </p:txBody>
          </p:sp>
          <p:sp>
            <p:nvSpPr>
              <p:cNvPr id="88" name="Flowchart: Magnetic Disk 87">
                <a:extLst>
                  <a:ext uri="{FF2B5EF4-FFF2-40B4-BE49-F238E27FC236}">
                    <a16:creationId xmlns:a16="http://schemas.microsoft.com/office/drawing/2014/main" id="{AB2BD6AF-40ED-7EBE-C2B9-2FBE7B176DEC}"/>
                  </a:ext>
                </a:extLst>
              </p:cNvPr>
              <p:cNvSpPr/>
              <p:nvPr/>
            </p:nvSpPr>
            <p:spPr>
              <a:xfrm>
                <a:off x="8677179" y="3511068"/>
                <a:ext cx="722951" cy="476480"/>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32E64056-C33C-7552-39F6-A86349696000}"/>
                  </a:ext>
                </a:extLst>
              </p:cNvPr>
              <p:cNvSpPr txBox="1"/>
              <p:nvPr/>
            </p:nvSpPr>
            <p:spPr>
              <a:xfrm>
                <a:off x="8586354" y="3702167"/>
                <a:ext cx="945105" cy="253916"/>
              </a:xfrm>
              <a:prstGeom prst="rect">
                <a:avLst/>
              </a:prstGeom>
              <a:noFill/>
            </p:spPr>
            <p:txBody>
              <a:bodyPr wrap="square">
                <a:spAutoFit/>
              </a:bodyPr>
              <a:lstStyle/>
              <a:p>
                <a:pPr algn="ctr" fontAlgn="base"/>
                <a:r>
                  <a:rPr lang="en-US" sz="1050" b="1" i="0" dirty="0">
                    <a:solidFill>
                      <a:schemeClr val="accent1">
                        <a:lumMod val="75000"/>
                      </a:schemeClr>
                    </a:solidFill>
                    <a:effectLst/>
                    <a:latin typeface="Raleway" pitchFamily="2" charset="0"/>
                  </a:rPr>
                  <a:t>Website</a:t>
                </a:r>
              </a:p>
            </p:txBody>
          </p:sp>
        </p:grpSp>
        <p:sp>
          <p:nvSpPr>
            <p:cNvPr id="101" name="TextBox 100">
              <a:extLst>
                <a:ext uri="{FF2B5EF4-FFF2-40B4-BE49-F238E27FC236}">
                  <a16:creationId xmlns:a16="http://schemas.microsoft.com/office/drawing/2014/main" id="{BC7D2EF9-F43C-9F2B-EC06-A75897C1F861}"/>
                </a:ext>
              </a:extLst>
            </p:cNvPr>
            <p:cNvSpPr txBox="1"/>
            <p:nvPr/>
          </p:nvSpPr>
          <p:spPr>
            <a:xfrm>
              <a:off x="3019099" y="1885659"/>
              <a:ext cx="809771" cy="577081"/>
            </a:xfrm>
            <a:prstGeom prst="rect">
              <a:avLst/>
            </a:prstGeom>
            <a:noFill/>
          </p:spPr>
          <p:txBody>
            <a:bodyPr wrap="square">
              <a:spAutoFit/>
            </a:bodyPr>
            <a:lstStyle/>
            <a:p>
              <a:pPr fontAlgn="base"/>
              <a:r>
                <a:rPr lang="en-US" sz="1050" b="1" i="0" dirty="0">
                  <a:solidFill>
                    <a:schemeClr val="accent1">
                      <a:lumMod val="75000"/>
                    </a:schemeClr>
                  </a:solidFill>
                  <a:effectLst/>
                  <a:latin typeface="Raleway" pitchFamily="2" charset="0"/>
                </a:rPr>
                <a:t>MMKSI – </a:t>
              </a:r>
            </a:p>
            <a:p>
              <a:pPr fontAlgn="base"/>
              <a:r>
                <a:rPr lang="en-US" sz="1050" b="1" i="0" dirty="0">
                  <a:solidFill>
                    <a:schemeClr val="accent1">
                      <a:lumMod val="75000"/>
                    </a:schemeClr>
                  </a:solidFill>
                  <a:effectLst/>
                  <a:latin typeface="Raleway" pitchFamily="2" charset="0"/>
                </a:rPr>
                <a:t>SOA API</a:t>
              </a:r>
            </a:p>
            <a:p>
              <a:pPr fontAlgn="base"/>
              <a:r>
                <a:rPr lang="en-US" sz="1050" b="1" dirty="0">
                  <a:solidFill>
                    <a:schemeClr val="accent1">
                      <a:lumMod val="75000"/>
                    </a:schemeClr>
                  </a:solidFill>
                  <a:latin typeface="Raleway" pitchFamily="2" charset="0"/>
                </a:rPr>
                <a:t>AWS</a:t>
              </a:r>
              <a:endParaRPr lang="en-US" sz="1050" b="1" i="0" dirty="0">
                <a:solidFill>
                  <a:schemeClr val="accent1">
                    <a:lumMod val="75000"/>
                  </a:schemeClr>
                </a:solidFill>
                <a:effectLst/>
                <a:latin typeface="Raleway" pitchFamily="2" charset="0"/>
              </a:endParaRPr>
            </a:p>
          </p:txBody>
        </p:sp>
      </p:grpSp>
      <p:pic>
        <p:nvPicPr>
          <p:cNvPr id="105" name="Picture 104">
            <a:extLst>
              <a:ext uri="{FF2B5EF4-FFF2-40B4-BE49-F238E27FC236}">
                <a16:creationId xmlns:a16="http://schemas.microsoft.com/office/drawing/2014/main" id="{AD057396-6428-9909-0895-D8920A90AE9D}"/>
              </a:ext>
            </a:extLst>
          </p:cNvPr>
          <p:cNvPicPr>
            <a:picLocks noChangeAspect="1"/>
          </p:cNvPicPr>
          <p:nvPr/>
        </p:nvPicPr>
        <p:blipFill>
          <a:blip r:embed="rId9"/>
          <a:stretch>
            <a:fillRect/>
          </a:stretch>
        </p:blipFill>
        <p:spPr>
          <a:xfrm>
            <a:off x="8217022" y="1032404"/>
            <a:ext cx="722950" cy="721398"/>
          </a:xfrm>
          <a:prstGeom prst="rect">
            <a:avLst/>
          </a:prstGeom>
        </p:spPr>
      </p:pic>
      <p:pic>
        <p:nvPicPr>
          <p:cNvPr id="107" name="Picture 106">
            <a:extLst>
              <a:ext uri="{FF2B5EF4-FFF2-40B4-BE49-F238E27FC236}">
                <a16:creationId xmlns:a16="http://schemas.microsoft.com/office/drawing/2014/main" id="{B7DD8473-2511-0E43-69CA-36BF2A5542BE}"/>
              </a:ext>
            </a:extLst>
          </p:cNvPr>
          <p:cNvPicPr>
            <a:picLocks noChangeAspect="1"/>
          </p:cNvPicPr>
          <p:nvPr/>
        </p:nvPicPr>
        <p:blipFill>
          <a:blip r:embed="rId10"/>
          <a:stretch>
            <a:fillRect/>
          </a:stretch>
        </p:blipFill>
        <p:spPr>
          <a:xfrm>
            <a:off x="8256588" y="1844069"/>
            <a:ext cx="722950" cy="719634"/>
          </a:xfrm>
          <a:prstGeom prst="rect">
            <a:avLst/>
          </a:prstGeom>
        </p:spPr>
      </p:pic>
      <p:pic>
        <p:nvPicPr>
          <p:cNvPr id="109" name="Picture 108">
            <a:extLst>
              <a:ext uri="{FF2B5EF4-FFF2-40B4-BE49-F238E27FC236}">
                <a16:creationId xmlns:a16="http://schemas.microsoft.com/office/drawing/2014/main" id="{EE4E5651-9F69-B5D7-F228-51B15FC8E519}"/>
              </a:ext>
            </a:extLst>
          </p:cNvPr>
          <p:cNvPicPr>
            <a:picLocks noChangeAspect="1"/>
          </p:cNvPicPr>
          <p:nvPr/>
        </p:nvPicPr>
        <p:blipFill>
          <a:blip r:embed="rId11"/>
          <a:stretch>
            <a:fillRect/>
          </a:stretch>
        </p:blipFill>
        <p:spPr>
          <a:xfrm>
            <a:off x="8289720" y="2598137"/>
            <a:ext cx="669640" cy="648663"/>
          </a:xfrm>
          <a:prstGeom prst="rect">
            <a:avLst/>
          </a:prstGeom>
        </p:spPr>
      </p:pic>
      <p:sp>
        <p:nvSpPr>
          <p:cNvPr id="110" name="TextBox 109">
            <a:extLst>
              <a:ext uri="{FF2B5EF4-FFF2-40B4-BE49-F238E27FC236}">
                <a16:creationId xmlns:a16="http://schemas.microsoft.com/office/drawing/2014/main" id="{FAEBF533-AB55-E082-C5BA-6CC28FA057AF}"/>
              </a:ext>
            </a:extLst>
          </p:cNvPr>
          <p:cNvSpPr txBox="1"/>
          <p:nvPr/>
        </p:nvSpPr>
        <p:spPr>
          <a:xfrm>
            <a:off x="7991463" y="597782"/>
            <a:ext cx="1044323" cy="338554"/>
          </a:xfrm>
          <a:prstGeom prst="rect">
            <a:avLst/>
          </a:prstGeom>
          <a:noFill/>
        </p:spPr>
        <p:txBody>
          <a:bodyPr wrap="square">
            <a:spAutoFit/>
          </a:bodyPr>
          <a:lstStyle/>
          <a:p>
            <a:pPr algn="ctr" fontAlgn="base"/>
            <a:r>
              <a:rPr lang="en-US" sz="1600" b="1" i="0" dirty="0">
                <a:solidFill>
                  <a:schemeClr val="accent1">
                    <a:lumMod val="75000"/>
                  </a:schemeClr>
                </a:solidFill>
                <a:effectLst/>
                <a:latin typeface="Raleway" pitchFamily="2" charset="0"/>
              </a:rPr>
              <a:t>Channel</a:t>
            </a:r>
          </a:p>
        </p:txBody>
      </p:sp>
      <p:cxnSp>
        <p:nvCxnSpPr>
          <p:cNvPr id="111" name="Connector: Elbow 110">
            <a:extLst>
              <a:ext uri="{FF2B5EF4-FFF2-40B4-BE49-F238E27FC236}">
                <a16:creationId xmlns:a16="http://schemas.microsoft.com/office/drawing/2014/main" id="{58578E3F-D1CE-8461-7C8B-D17AC443BDB2}"/>
              </a:ext>
            </a:extLst>
          </p:cNvPr>
          <p:cNvCxnSpPr>
            <a:cxnSpLocks/>
            <a:stCxn id="43" idx="2"/>
            <a:endCxn id="6" idx="4"/>
          </p:cNvCxnSpPr>
          <p:nvPr/>
        </p:nvCxnSpPr>
        <p:spPr>
          <a:xfrm rot="5400000" flipH="1">
            <a:off x="7023221" y="4048249"/>
            <a:ext cx="56547" cy="1480067"/>
          </a:xfrm>
          <a:prstGeom prst="bentConnector4">
            <a:avLst>
              <a:gd name="adj1" fmla="val -404265"/>
              <a:gd name="adj2" fmla="val 81880"/>
            </a:avLst>
          </a:prstGeom>
          <a:ln w="34925">
            <a:headEnd type="triangle"/>
            <a:tailEnd type="triangle"/>
          </a:ln>
        </p:spPr>
        <p:style>
          <a:lnRef idx="1">
            <a:schemeClr val="accent1"/>
          </a:lnRef>
          <a:fillRef idx="0">
            <a:schemeClr val="accent1"/>
          </a:fillRef>
          <a:effectRef idx="0">
            <a:schemeClr val="accent1"/>
          </a:effectRef>
          <a:fontRef idx="minor">
            <a:schemeClr val="tx1"/>
          </a:fontRef>
        </p:style>
      </p:cxnSp>
      <p:sp>
        <p:nvSpPr>
          <p:cNvPr id="120" name="Arrow: Up-Down 119">
            <a:extLst>
              <a:ext uri="{FF2B5EF4-FFF2-40B4-BE49-F238E27FC236}">
                <a16:creationId xmlns:a16="http://schemas.microsoft.com/office/drawing/2014/main" id="{86DD7728-E908-4F0E-7DB0-489DD23A8B11}"/>
              </a:ext>
            </a:extLst>
          </p:cNvPr>
          <p:cNvSpPr/>
          <p:nvPr/>
        </p:nvSpPr>
        <p:spPr>
          <a:xfrm rot="5400000">
            <a:off x="7780186" y="1254722"/>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8" name="Flowchart: Magnetic Disk 7">
            <a:extLst>
              <a:ext uri="{FF2B5EF4-FFF2-40B4-BE49-F238E27FC236}">
                <a16:creationId xmlns:a16="http://schemas.microsoft.com/office/drawing/2014/main" id="{7C2CFB77-B3FC-E6BF-4D35-A85E670496C9}"/>
              </a:ext>
            </a:extLst>
          </p:cNvPr>
          <p:cNvSpPr/>
          <p:nvPr/>
        </p:nvSpPr>
        <p:spPr>
          <a:xfrm>
            <a:off x="8312054" y="3970792"/>
            <a:ext cx="722951" cy="476480"/>
          </a:xfrm>
          <a:prstGeom prst="flowChartMagneticDisk">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Up-Down 11">
            <a:extLst>
              <a:ext uri="{FF2B5EF4-FFF2-40B4-BE49-F238E27FC236}">
                <a16:creationId xmlns:a16="http://schemas.microsoft.com/office/drawing/2014/main" id="{D118CD92-E1BC-F5E8-0048-AEB6CE087CA3}"/>
              </a:ext>
            </a:extLst>
          </p:cNvPr>
          <p:cNvSpPr/>
          <p:nvPr/>
        </p:nvSpPr>
        <p:spPr>
          <a:xfrm rot="5400000">
            <a:off x="7821195" y="1981096"/>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6" name="Arrow: Up-Down 15">
            <a:extLst>
              <a:ext uri="{FF2B5EF4-FFF2-40B4-BE49-F238E27FC236}">
                <a16:creationId xmlns:a16="http://schemas.microsoft.com/office/drawing/2014/main" id="{9C6C9A5A-FAD5-C2D3-9FC7-3702787829D7}"/>
              </a:ext>
            </a:extLst>
          </p:cNvPr>
          <p:cNvSpPr/>
          <p:nvPr/>
        </p:nvSpPr>
        <p:spPr>
          <a:xfrm rot="5400000">
            <a:off x="7830211" y="2701862"/>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17" name="Arrow: Up-Down 16">
            <a:extLst>
              <a:ext uri="{FF2B5EF4-FFF2-40B4-BE49-F238E27FC236}">
                <a16:creationId xmlns:a16="http://schemas.microsoft.com/office/drawing/2014/main" id="{7BED1110-9DDE-6AFC-4E97-19ABB5E2FD93}"/>
              </a:ext>
            </a:extLst>
          </p:cNvPr>
          <p:cNvSpPr/>
          <p:nvPr/>
        </p:nvSpPr>
        <p:spPr>
          <a:xfrm rot="5400000">
            <a:off x="7833341" y="3331068"/>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21" name="Arrow: Up-Down 20">
            <a:extLst>
              <a:ext uri="{FF2B5EF4-FFF2-40B4-BE49-F238E27FC236}">
                <a16:creationId xmlns:a16="http://schemas.microsoft.com/office/drawing/2014/main" id="{9787D94D-2943-2D33-BA87-E60D19E6FAE7}"/>
              </a:ext>
            </a:extLst>
          </p:cNvPr>
          <p:cNvSpPr/>
          <p:nvPr/>
        </p:nvSpPr>
        <p:spPr>
          <a:xfrm rot="5400000">
            <a:off x="7881523" y="3940433"/>
            <a:ext cx="340535" cy="578483"/>
          </a:xfrm>
          <a:prstGeom prst="upDownArrow">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Tree>
    <p:extLst>
      <p:ext uri="{BB962C8B-B14F-4D97-AF65-F5344CB8AC3E}">
        <p14:creationId xmlns:p14="http://schemas.microsoft.com/office/powerpoint/2010/main" val="636022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ounded Rectangle 50">
            <a:extLst>
              <a:ext uri="{FF2B5EF4-FFF2-40B4-BE49-F238E27FC236}">
                <a16:creationId xmlns:a16="http://schemas.microsoft.com/office/drawing/2014/main" id="{4AF10F55-8085-7C98-E882-AFE53314956F}"/>
              </a:ext>
            </a:extLst>
          </p:cNvPr>
          <p:cNvSpPr/>
          <p:nvPr/>
        </p:nvSpPr>
        <p:spPr>
          <a:xfrm>
            <a:off x="317183" y="884723"/>
            <a:ext cx="5834330" cy="3343330"/>
          </a:xfrm>
          <a:prstGeom prst="roundRect">
            <a:avLst>
              <a:gd name="adj" fmla="val 4564"/>
            </a:avLst>
          </a:prstGeom>
          <a:solidFill>
            <a:schemeClr val="bg1"/>
          </a:solid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050">
              <a:solidFill>
                <a:prstClr val="white"/>
              </a:solidFill>
              <a:latin typeface="Calibri"/>
            </a:endParaRPr>
          </a:p>
        </p:txBody>
      </p:sp>
      <p:sp>
        <p:nvSpPr>
          <p:cNvPr id="2" name="Rounded Rectangle 1">
            <a:extLst>
              <a:ext uri="{FF2B5EF4-FFF2-40B4-BE49-F238E27FC236}">
                <a16:creationId xmlns:a16="http://schemas.microsoft.com/office/drawing/2014/main" id="{1CE21357-A946-77D8-57A0-998AC757105C}"/>
              </a:ext>
            </a:extLst>
          </p:cNvPr>
          <p:cNvSpPr/>
          <p:nvPr/>
        </p:nvSpPr>
        <p:spPr>
          <a:xfrm>
            <a:off x="430160" y="1433512"/>
            <a:ext cx="960326" cy="9963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sp>
        <p:nvSpPr>
          <p:cNvPr id="3" name="Rounded Rectangle 2">
            <a:extLst>
              <a:ext uri="{FF2B5EF4-FFF2-40B4-BE49-F238E27FC236}">
                <a16:creationId xmlns:a16="http://schemas.microsoft.com/office/drawing/2014/main" id="{1EA71ED7-90B3-A244-488E-8E527E7F743E}"/>
              </a:ext>
            </a:extLst>
          </p:cNvPr>
          <p:cNvSpPr/>
          <p:nvPr/>
        </p:nvSpPr>
        <p:spPr>
          <a:xfrm>
            <a:off x="429056" y="2567862"/>
            <a:ext cx="976107" cy="9541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sp>
        <p:nvSpPr>
          <p:cNvPr id="4" name="Rounded Rectangle 3">
            <a:extLst>
              <a:ext uri="{FF2B5EF4-FFF2-40B4-BE49-F238E27FC236}">
                <a16:creationId xmlns:a16="http://schemas.microsoft.com/office/drawing/2014/main" id="{8ABC33C7-9DDE-D67D-D045-1A232D062284}"/>
              </a:ext>
            </a:extLst>
          </p:cNvPr>
          <p:cNvSpPr/>
          <p:nvPr/>
        </p:nvSpPr>
        <p:spPr>
          <a:xfrm>
            <a:off x="6243013" y="896358"/>
            <a:ext cx="741117" cy="3306778"/>
          </a:xfrm>
          <a:prstGeom prst="round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050">
              <a:solidFill>
                <a:prstClr val="white"/>
              </a:solidFill>
              <a:latin typeface="Calibri"/>
            </a:endParaRPr>
          </a:p>
        </p:txBody>
      </p:sp>
      <p:sp>
        <p:nvSpPr>
          <p:cNvPr id="5" name="Rectangle: Top Corners Rounded 21">
            <a:extLst>
              <a:ext uri="{FF2B5EF4-FFF2-40B4-BE49-F238E27FC236}">
                <a16:creationId xmlns:a16="http://schemas.microsoft.com/office/drawing/2014/main" id="{BF1AE509-C618-6059-685A-90D3C782340C}"/>
              </a:ext>
            </a:extLst>
          </p:cNvPr>
          <p:cNvSpPr/>
          <p:nvPr/>
        </p:nvSpPr>
        <p:spPr>
          <a:xfrm>
            <a:off x="479756" y="2040750"/>
            <a:ext cx="846744" cy="223913"/>
          </a:xfrm>
          <a:prstGeom prst="round2SameRect">
            <a:avLst/>
          </a:prstGeom>
          <a:noFill/>
          <a:ln w="28575">
            <a:noFill/>
          </a:ln>
        </p:spPr>
        <p:txBody>
          <a:bodyPr wrap="none" rtlCol="0" anchor="ctr">
            <a:spAutoFit/>
          </a:bodyPr>
          <a:lstStyle/>
          <a:p>
            <a:pPr algn="ctr" defTabSz="685800">
              <a:defRPr/>
            </a:pPr>
            <a:r>
              <a:rPr kumimoji="0" lang="en-US" sz="788">
                <a:solidFill>
                  <a:prstClr val="white"/>
                </a:solidFill>
                <a:latin typeface="Calibri"/>
              </a:rPr>
              <a:t>ASA Application</a:t>
            </a:r>
          </a:p>
        </p:txBody>
      </p:sp>
      <p:sp>
        <p:nvSpPr>
          <p:cNvPr id="6" name="Rectangle: Top Corners Rounded 27">
            <a:extLst>
              <a:ext uri="{FF2B5EF4-FFF2-40B4-BE49-F238E27FC236}">
                <a16:creationId xmlns:a16="http://schemas.microsoft.com/office/drawing/2014/main" id="{3D3C81B9-8A21-6AF8-2FE6-62FAFA6E173F}"/>
              </a:ext>
            </a:extLst>
          </p:cNvPr>
          <p:cNvSpPr/>
          <p:nvPr/>
        </p:nvSpPr>
        <p:spPr>
          <a:xfrm>
            <a:off x="440299" y="3160028"/>
            <a:ext cx="976106" cy="217795"/>
          </a:xfrm>
          <a:prstGeom prst="round2SameRect">
            <a:avLst/>
          </a:prstGeom>
          <a:noFill/>
          <a:ln w="28575">
            <a:noFill/>
          </a:ln>
        </p:spPr>
        <p:txBody>
          <a:bodyPr wrap="square" rtlCol="0" anchor="ctr">
            <a:spAutoFit/>
          </a:bodyPr>
          <a:lstStyle/>
          <a:p>
            <a:pPr algn="ctr" defTabSz="685800">
              <a:defRPr/>
            </a:pPr>
            <a:r>
              <a:rPr kumimoji="0" lang="en-US" sz="750">
                <a:solidFill>
                  <a:prstClr val="white"/>
                </a:solidFill>
                <a:latin typeface="Calibri"/>
              </a:rPr>
              <a:t>DNET Application</a:t>
            </a:r>
          </a:p>
        </p:txBody>
      </p:sp>
      <p:sp>
        <p:nvSpPr>
          <p:cNvPr id="7" name="Rectangle: Top Corners Rounded 52">
            <a:extLst>
              <a:ext uri="{FF2B5EF4-FFF2-40B4-BE49-F238E27FC236}">
                <a16:creationId xmlns:a16="http://schemas.microsoft.com/office/drawing/2014/main" id="{AA6E1FF0-8870-C4D9-9C2D-2CC859AD8E12}"/>
              </a:ext>
            </a:extLst>
          </p:cNvPr>
          <p:cNvSpPr/>
          <p:nvPr/>
        </p:nvSpPr>
        <p:spPr>
          <a:xfrm>
            <a:off x="4158720" y="3005503"/>
            <a:ext cx="660382" cy="351027"/>
          </a:xfrm>
          <a:prstGeom prst="round2SameRect">
            <a:avLst/>
          </a:prstGeom>
          <a:noFill/>
          <a:ln w="28575">
            <a:noFill/>
          </a:ln>
        </p:spPr>
        <p:txBody>
          <a:bodyPr wrap="square" rtlCol="0" anchor="ctr">
            <a:spAutoFit/>
          </a:bodyPr>
          <a:lstStyle/>
          <a:p>
            <a:pPr algn="ctr" defTabSz="685800">
              <a:defRPr/>
            </a:pPr>
            <a:r>
              <a:rPr kumimoji="0" lang="en-US" sz="788">
                <a:solidFill>
                  <a:prstClr val="black"/>
                </a:solidFill>
                <a:latin typeface="Calibri"/>
              </a:rPr>
              <a:t>CMS Part catalogue</a:t>
            </a:r>
          </a:p>
        </p:txBody>
      </p:sp>
      <p:grpSp>
        <p:nvGrpSpPr>
          <p:cNvPr id="8" name="Group 7">
            <a:extLst>
              <a:ext uri="{FF2B5EF4-FFF2-40B4-BE49-F238E27FC236}">
                <a16:creationId xmlns:a16="http://schemas.microsoft.com/office/drawing/2014/main" id="{536DF038-8331-0765-2F4E-EFCDC2FFD3CB}"/>
              </a:ext>
            </a:extLst>
          </p:cNvPr>
          <p:cNvGrpSpPr/>
          <p:nvPr/>
        </p:nvGrpSpPr>
        <p:grpSpPr>
          <a:xfrm>
            <a:off x="1707695" y="1550385"/>
            <a:ext cx="312050" cy="288730"/>
            <a:chOff x="4284453" y="1985922"/>
            <a:chExt cx="416066" cy="384973"/>
          </a:xfrm>
        </p:grpSpPr>
        <p:sp>
          <p:nvSpPr>
            <p:cNvPr id="9" name="Oval 8">
              <a:extLst>
                <a:ext uri="{FF2B5EF4-FFF2-40B4-BE49-F238E27FC236}">
                  <a16:creationId xmlns:a16="http://schemas.microsoft.com/office/drawing/2014/main" id="{FAA8C2FB-7DC8-364F-8B9C-0618320F87B6}"/>
                </a:ext>
              </a:extLst>
            </p:cNvPr>
            <p:cNvSpPr/>
            <p:nvPr/>
          </p:nvSpPr>
          <p:spPr>
            <a:xfrm>
              <a:off x="4284453" y="2145102"/>
              <a:ext cx="85911" cy="9201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pic>
          <p:nvPicPr>
            <p:cNvPr id="10" name="Picture 9" descr="A picture containing screenshot, graphics, font, symbol&#10;&#10;Description automatically generated">
              <a:extLst>
                <a:ext uri="{FF2B5EF4-FFF2-40B4-BE49-F238E27FC236}">
                  <a16:creationId xmlns:a16="http://schemas.microsoft.com/office/drawing/2014/main" id="{B5275B04-CE52-D784-F3E7-A52CA1DFBB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15546" y="1985922"/>
              <a:ext cx="384973" cy="384973"/>
            </a:xfrm>
            <a:prstGeom prst="rect">
              <a:avLst/>
            </a:prstGeom>
          </p:spPr>
        </p:pic>
      </p:grpSp>
      <p:cxnSp>
        <p:nvCxnSpPr>
          <p:cNvPr id="11" name="Elbow Connector 10">
            <a:extLst>
              <a:ext uri="{FF2B5EF4-FFF2-40B4-BE49-F238E27FC236}">
                <a16:creationId xmlns:a16="http://schemas.microsoft.com/office/drawing/2014/main" id="{32D39FD5-CDA7-4459-8321-BC9A406E1CF3}"/>
              </a:ext>
            </a:extLst>
          </p:cNvPr>
          <p:cNvCxnSpPr>
            <a:cxnSpLocks/>
            <a:stCxn id="15" idx="6"/>
            <a:endCxn id="9" idx="2"/>
          </p:cNvCxnSpPr>
          <p:nvPr/>
        </p:nvCxnSpPr>
        <p:spPr>
          <a:xfrm flipV="1">
            <a:off x="1494470" y="1704276"/>
            <a:ext cx="213226" cy="317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DA30D9E7-566D-50FD-A1D8-882BDF747324}"/>
              </a:ext>
            </a:extLst>
          </p:cNvPr>
          <p:cNvGrpSpPr/>
          <p:nvPr/>
        </p:nvGrpSpPr>
        <p:grpSpPr>
          <a:xfrm>
            <a:off x="1707695" y="2141096"/>
            <a:ext cx="342285" cy="288730"/>
            <a:chOff x="2166011" y="3250854"/>
            <a:chExt cx="456380" cy="384973"/>
          </a:xfrm>
        </p:grpSpPr>
        <p:pic>
          <p:nvPicPr>
            <p:cNvPr id="13" name="Graphic 12" descr="Images with solid fill">
              <a:extLst>
                <a:ext uri="{FF2B5EF4-FFF2-40B4-BE49-F238E27FC236}">
                  <a16:creationId xmlns:a16="http://schemas.microsoft.com/office/drawing/2014/main" id="{02862775-B131-428B-005A-8C5853F93A5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37418" y="3250854"/>
              <a:ext cx="384973" cy="384973"/>
            </a:xfrm>
            <a:prstGeom prst="rect">
              <a:avLst/>
            </a:prstGeom>
          </p:spPr>
        </p:pic>
        <p:sp>
          <p:nvSpPr>
            <p:cNvPr id="14" name="Oval 13">
              <a:extLst>
                <a:ext uri="{FF2B5EF4-FFF2-40B4-BE49-F238E27FC236}">
                  <a16:creationId xmlns:a16="http://schemas.microsoft.com/office/drawing/2014/main" id="{CFCFD651-F0B1-C2B2-6B20-B2F402B35B61}"/>
                </a:ext>
              </a:extLst>
            </p:cNvPr>
            <p:cNvSpPr/>
            <p:nvPr/>
          </p:nvSpPr>
          <p:spPr>
            <a:xfrm>
              <a:off x="2166011" y="3415054"/>
              <a:ext cx="85911" cy="9201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grpSp>
      <p:sp>
        <p:nvSpPr>
          <p:cNvPr id="15" name="Oval 14">
            <a:extLst>
              <a:ext uri="{FF2B5EF4-FFF2-40B4-BE49-F238E27FC236}">
                <a16:creationId xmlns:a16="http://schemas.microsoft.com/office/drawing/2014/main" id="{E7735273-C279-07DE-5F18-B0637FF26D33}"/>
              </a:ext>
            </a:extLst>
          </p:cNvPr>
          <p:cNvSpPr/>
          <p:nvPr/>
        </p:nvSpPr>
        <p:spPr>
          <a:xfrm>
            <a:off x="1430037" y="1987295"/>
            <a:ext cx="64433" cy="6901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cxnSp>
        <p:nvCxnSpPr>
          <p:cNvPr id="16" name="Elbow Connector 15">
            <a:extLst>
              <a:ext uri="{FF2B5EF4-FFF2-40B4-BE49-F238E27FC236}">
                <a16:creationId xmlns:a16="http://schemas.microsoft.com/office/drawing/2014/main" id="{4256B88B-3177-02C3-9F31-BD0C43F641FC}"/>
              </a:ext>
            </a:extLst>
          </p:cNvPr>
          <p:cNvCxnSpPr>
            <a:cxnSpLocks/>
            <a:stCxn id="15" idx="6"/>
            <a:endCxn id="14" idx="2"/>
          </p:cNvCxnSpPr>
          <p:nvPr/>
        </p:nvCxnSpPr>
        <p:spPr>
          <a:xfrm>
            <a:off x="1494470" y="2021801"/>
            <a:ext cx="213226" cy="2769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s with solid fill">
            <a:extLst>
              <a:ext uri="{FF2B5EF4-FFF2-40B4-BE49-F238E27FC236}">
                <a16:creationId xmlns:a16="http://schemas.microsoft.com/office/drawing/2014/main" id="{7EEEB1B5-3EDB-D602-387F-5AF46A37E6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1907" y="1346282"/>
            <a:ext cx="529299" cy="529299"/>
          </a:xfrm>
          <a:prstGeom prst="rect">
            <a:avLst/>
          </a:prstGeom>
        </p:spPr>
      </p:pic>
      <p:pic>
        <p:nvPicPr>
          <p:cNvPr id="18" name="Graphic 17" descr="Users with solid fill">
            <a:extLst>
              <a:ext uri="{FF2B5EF4-FFF2-40B4-BE49-F238E27FC236}">
                <a16:creationId xmlns:a16="http://schemas.microsoft.com/office/drawing/2014/main" id="{7DEE7E0F-5854-D376-D9F6-A56B988C1B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44625" y="1956354"/>
            <a:ext cx="529299" cy="529299"/>
          </a:xfrm>
          <a:prstGeom prst="rect">
            <a:avLst/>
          </a:prstGeom>
        </p:spPr>
      </p:pic>
      <p:sp>
        <p:nvSpPr>
          <p:cNvPr id="19" name="Rectangle: Top Corners Rounded 33">
            <a:extLst>
              <a:ext uri="{FF2B5EF4-FFF2-40B4-BE49-F238E27FC236}">
                <a16:creationId xmlns:a16="http://schemas.microsoft.com/office/drawing/2014/main" id="{761D9C3D-876F-4DCE-619C-D9D5AD68D41C}"/>
              </a:ext>
            </a:extLst>
          </p:cNvPr>
          <p:cNvSpPr/>
          <p:nvPr/>
        </p:nvSpPr>
        <p:spPr>
          <a:xfrm>
            <a:off x="6333767" y="1720111"/>
            <a:ext cx="553118" cy="223913"/>
          </a:xfrm>
          <a:prstGeom prst="round2SameRect">
            <a:avLst/>
          </a:prstGeom>
          <a:noFill/>
          <a:ln w="28575">
            <a:noFill/>
          </a:ln>
        </p:spPr>
        <p:txBody>
          <a:bodyPr wrap="none" rtlCol="0" anchor="ctr">
            <a:spAutoFit/>
          </a:bodyPr>
          <a:lstStyle/>
          <a:p>
            <a:pPr algn="ctr" defTabSz="685800">
              <a:defRPr/>
            </a:pPr>
            <a:r>
              <a:rPr kumimoji="0" lang="en-US" sz="788">
                <a:solidFill>
                  <a:prstClr val="black"/>
                </a:solidFill>
                <a:latin typeface="Calibri"/>
              </a:rPr>
              <a:t>Dealer A</a:t>
            </a:r>
          </a:p>
        </p:txBody>
      </p:sp>
      <p:sp>
        <p:nvSpPr>
          <p:cNvPr id="20" name="Rectangle: Top Corners Rounded 34">
            <a:extLst>
              <a:ext uri="{FF2B5EF4-FFF2-40B4-BE49-F238E27FC236}">
                <a16:creationId xmlns:a16="http://schemas.microsoft.com/office/drawing/2014/main" id="{114B268C-1009-5FF8-60E5-2247A84F33C2}"/>
              </a:ext>
            </a:extLst>
          </p:cNvPr>
          <p:cNvSpPr/>
          <p:nvPr/>
        </p:nvSpPr>
        <p:spPr>
          <a:xfrm>
            <a:off x="6348149" y="2349484"/>
            <a:ext cx="549788" cy="223913"/>
          </a:xfrm>
          <a:prstGeom prst="round2SameRect">
            <a:avLst/>
          </a:prstGeom>
          <a:noFill/>
          <a:ln w="28575">
            <a:noFill/>
          </a:ln>
        </p:spPr>
        <p:txBody>
          <a:bodyPr wrap="none" rtlCol="0" anchor="ctr">
            <a:spAutoFit/>
          </a:bodyPr>
          <a:lstStyle/>
          <a:p>
            <a:pPr algn="ctr" defTabSz="685800">
              <a:defRPr/>
            </a:pPr>
            <a:r>
              <a:rPr kumimoji="0" lang="en-US" sz="788">
                <a:solidFill>
                  <a:prstClr val="black"/>
                </a:solidFill>
                <a:latin typeface="Calibri"/>
              </a:rPr>
              <a:t>Dealer B</a:t>
            </a:r>
          </a:p>
        </p:txBody>
      </p:sp>
      <p:sp>
        <p:nvSpPr>
          <p:cNvPr id="21" name="Rectangle: Top Corners Rounded 36">
            <a:extLst>
              <a:ext uri="{FF2B5EF4-FFF2-40B4-BE49-F238E27FC236}">
                <a16:creationId xmlns:a16="http://schemas.microsoft.com/office/drawing/2014/main" id="{6A8A76A6-6530-720C-56F8-481A70DA7748}"/>
              </a:ext>
            </a:extLst>
          </p:cNvPr>
          <p:cNvSpPr/>
          <p:nvPr/>
        </p:nvSpPr>
        <p:spPr>
          <a:xfrm>
            <a:off x="6245140" y="2998022"/>
            <a:ext cx="755807" cy="223913"/>
          </a:xfrm>
          <a:prstGeom prst="round2SameRect">
            <a:avLst/>
          </a:prstGeom>
          <a:noFill/>
          <a:ln w="28575">
            <a:noFill/>
          </a:ln>
        </p:spPr>
        <p:txBody>
          <a:bodyPr wrap="none" rtlCol="0" anchor="ctr">
            <a:spAutoFit/>
          </a:bodyPr>
          <a:lstStyle/>
          <a:p>
            <a:pPr algn="ctr" defTabSz="685800">
              <a:defRPr/>
            </a:pPr>
            <a:r>
              <a:rPr kumimoji="0" lang="en-US" sz="788" dirty="0">
                <a:solidFill>
                  <a:prstClr val="black"/>
                </a:solidFill>
                <a:latin typeface="Calibri"/>
              </a:rPr>
              <a:t>Non-Dealer A</a:t>
            </a:r>
          </a:p>
        </p:txBody>
      </p:sp>
      <p:pic>
        <p:nvPicPr>
          <p:cNvPr id="22" name="Graphic 21" descr="Users with solid fill">
            <a:extLst>
              <a:ext uri="{FF2B5EF4-FFF2-40B4-BE49-F238E27FC236}">
                <a16:creationId xmlns:a16="http://schemas.microsoft.com/office/drawing/2014/main" id="{4FAB711C-D329-604C-D297-2205DB633F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44625" y="2605935"/>
            <a:ext cx="529299" cy="529299"/>
          </a:xfrm>
          <a:prstGeom prst="rect">
            <a:avLst/>
          </a:prstGeom>
        </p:spPr>
      </p:pic>
      <p:sp>
        <p:nvSpPr>
          <p:cNvPr id="23" name="Rectangle: Top Corners Rounded 57">
            <a:extLst>
              <a:ext uri="{FF2B5EF4-FFF2-40B4-BE49-F238E27FC236}">
                <a16:creationId xmlns:a16="http://schemas.microsoft.com/office/drawing/2014/main" id="{B93D24B8-E754-D6C9-AA95-0DC1083EF491}"/>
              </a:ext>
            </a:extLst>
          </p:cNvPr>
          <p:cNvSpPr/>
          <p:nvPr/>
        </p:nvSpPr>
        <p:spPr>
          <a:xfrm>
            <a:off x="6262906" y="3599517"/>
            <a:ext cx="752508" cy="223913"/>
          </a:xfrm>
          <a:prstGeom prst="round2SameRect">
            <a:avLst/>
          </a:prstGeom>
          <a:noFill/>
          <a:ln w="28575">
            <a:noFill/>
          </a:ln>
        </p:spPr>
        <p:txBody>
          <a:bodyPr wrap="none" rtlCol="0" anchor="ctr">
            <a:spAutoFit/>
          </a:bodyPr>
          <a:lstStyle/>
          <a:p>
            <a:pPr algn="ctr" defTabSz="685800">
              <a:defRPr/>
            </a:pPr>
            <a:r>
              <a:rPr kumimoji="0" lang="en-US" sz="788">
                <a:solidFill>
                  <a:prstClr val="black"/>
                </a:solidFill>
                <a:latin typeface="Calibri"/>
              </a:rPr>
              <a:t>Non-Dealer B</a:t>
            </a:r>
          </a:p>
        </p:txBody>
      </p:sp>
      <p:pic>
        <p:nvPicPr>
          <p:cNvPr id="24" name="Graphic 23" descr="Users with solid fill">
            <a:extLst>
              <a:ext uri="{FF2B5EF4-FFF2-40B4-BE49-F238E27FC236}">
                <a16:creationId xmlns:a16="http://schemas.microsoft.com/office/drawing/2014/main" id="{5F06079C-3F0B-922E-D35C-8E023EA583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60742" y="3207430"/>
            <a:ext cx="529299" cy="529299"/>
          </a:xfrm>
          <a:prstGeom prst="rect">
            <a:avLst/>
          </a:prstGeom>
        </p:spPr>
      </p:pic>
      <p:pic>
        <p:nvPicPr>
          <p:cNvPr id="25" name="Graphic 24">
            <a:extLst>
              <a:ext uri="{FF2B5EF4-FFF2-40B4-BE49-F238E27FC236}">
                <a16:creationId xmlns:a16="http://schemas.microsoft.com/office/drawing/2014/main" id="{61F880AD-7897-3ADD-AADD-033A8C0C8B3A}"/>
              </a:ext>
            </a:extLst>
          </p:cNvPr>
          <p:cNvPicPr>
            <a:picLocks noChangeAspect="1"/>
          </p:cNvPicPr>
          <p:nvPr/>
        </p:nvPicPr>
        <p:blipFill rotWithShape="1">
          <a:blip>
            <a:extLst>
              <a:ext uri="{96DAC541-7B7A-43D3-8B79-37D633B846F1}">
                <asvg:svgBlip xmlns:asvg="http://schemas.microsoft.com/office/drawing/2016/SVG/main" r:embed="rId5"/>
              </a:ext>
            </a:extLst>
          </a:blip>
          <a:srcRect b="16155"/>
          <a:stretch/>
        </p:blipFill>
        <p:spPr>
          <a:xfrm>
            <a:off x="650781" y="2692350"/>
            <a:ext cx="533400" cy="431255"/>
          </a:xfrm>
          <a:prstGeom prst="rect">
            <a:avLst/>
          </a:prstGeom>
        </p:spPr>
      </p:pic>
      <p:sp>
        <p:nvSpPr>
          <p:cNvPr id="26" name="Rounded Rectangle 25">
            <a:extLst>
              <a:ext uri="{FF2B5EF4-FFF2-40B4-BE49-F238E27FC236}">
                <a16:creationId xmlns:a16="http://schemas.microsoft.com/office/drawing/2014/main" id="{A23FBDE1-AE59-35D8-8CAB-5CCB0BDE9891}"/>
              </a:ext>
            </a:extLst>
          </p:cNvPr>
          <p:cNvSpPr/>
          <p:nvPr/>
        </p:nvSpPr>
        <p:spPr>
          <a:xfrm>
            <a:off x="2479327" y="1563236"/>
            <a:ext cx="1440893" cy="1833580"/>
          </a:xfrm>
          <a:prstGeom prst="roundRect">
            <a:avLst>
              <a:gd name="adj" fmla="val 5846"/>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050">
              <a:solidFill>
                <a:prstClr val="white"/>
              </a:solidFill>
              <a:latin typeface="Calibri"/>
            </a:endParaRPr>
          </a:p>
        </p:txBody>
      </p:sp>
      <p:sp>
        <p:nvSpPr>
          <p:cNvPr id="27" name="Rounded Rectangle 26">
            <a:extLst>
              <a:ext uri="{FF2B5EF4-FFF2-40B4-BE49-F238E27FC236}">
                <a16:creationId xmlns:a16="http://schemas.microsoft.com/office/drawing/2014/main" id="{D5F889BA-59DC-E639-4E9C-37834BF129E9}"/>
              </a:ext>
            </a:extLst>
          </p:cNvPr>
          <p:cNvSpPr/>
          <p:nvPr/>
        </p:nvSpPr>
        <p:spPr>
          <a:xfrm>
            <a:off x="2576203" y="2645984"/>
            <a:ext cx="1260824" cy="621575"/>
          </a:xfrm>
          <a:prstGeom prst="roundRect">
            <a:avLst>
              <a:gd name="adj" fmla="val 545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sp>
        <p:nvSpPr>
          <p:cNvPr id="28" name="Rectangle: Top Corners Rounded 21">
            <a:extLst>
              <a:ext uri="{FF2B5EF4-FFF2-40B4-BE49-F238E27FC236}">
                <a16:creationId xmlns:a16="http://schemas.microsoft.com/office/drawing/2014/main" id="{6482FECF-783D-4185-A457-37117475329D}"/>
              </a:ext>
            </a:extLst>
          </p:cNvPr>
          <p:cNvSpPr/>
          <p:nvPr/>
        </p:nvSpPr>
        <p:spPr>
          <a:xfrm>
            <a:off x="2484500" y="1563818"/>
            <a:ext cx="801427" cy="351027"/>
          </a:xfrm>
          <a:prstGeom prst="round2SameRect">
            <a:avLst/>
          </a:prstGeom>
          <a:noFill/>
          <a:ln w="28575">
            <a:noFill/>
          </a:ln>
        </p:spPr>
        <p:txBody>
          <a:bodyPr wrap="square" rtlCol="0" anchor="ctr">
            <a:spAutoFit/>
          </a:bodyPr>
          <a:lstStyle/>
          <a:p>
            <a:pPr algn="ctr" defTabSz="685800">
              <a:defRPr/>
            </a:pPr>
            <a:r>
              <a:rPr kumimoji="0" lang="en-US" sz="788" b="1">
                <a:solidFill>
                  <a:prstClr val="black"/>
                </a:solidFill>
                <a:latin typeface="Calibri"/>
              </a:rPr>
              <a:t>SOA Metadata</a:t>
            </a:r>
          </a:p>
        </p:txBody>
      </p:sp>
      <p:grpSp>
        <p:nvGrpSpPr>
          <p:cNvPr id="29" name="Group 28">
            <a:extLst>
              <a:ext uri="{FF2B5EF4-FFF2-40B4-BE49-F238E27FC236}">
                <a16:creationId xmlns:a16="http://schemas.microsoft.com/office/drawing/2014/main" id="{58EA0E7E-B481-9D66-C573-FA12D4E85FBA}"/>
              </a:ext>
            </a:extLst>
          </p:cNvPr>
          <p:cNvGrpSpPr/>
          <p:nvPr/>
        </p:nvGrpSpPr>
        <p:grpSpPr>
          <a:xfrm>
            <a:off x="2561672" y="1926835"/>
            <a:ext cx="1260824" cy="631469"/>
            <a:chOff x="3201750" y="3512768"/>
            <a:chExt cx="1681099" cy="841959"/>
          </a:xfrm>
        </p:grpSpPr>
        <p:sp>
          <p:nvSpPr>
            <p:cNvPr id="30" name="Rounded Rectangle 29">
              <a:extLst>
                <a:ext uri="{FF2B5EF4-FFF2-40B4-BE49-F238E27FC236}">
                  <a16:creationId xmlns:a16="http://schemas.microsoft.com/office/drawing/2014/main" id="{002A9F97-6CED-4980-DA28-BAF8D0E20757}"/>
                </a:ext>
              </a:extLst>
            </p:cNvPr>
            <p:cNvSpPr/>
            <p:nvPr/>
          </p:nvSpPr>
          <p:spPr>
            <a:xfrm>
              <a:off x="3201750" y="3512768"/>
              <a:ext cx="1681099" cy="841959"/>
            </a:xfrm>
            <a:prstGeom prst="roundRect">
              <a:avLst>
                <a:gd name="adj" fmla="val 545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sp>
          <p:nvSpPr>
            <p:cNvPr id="31" name="Rectangle: Top Corners Rounded 21">
              <a:extLst>
                <a:ext uri="{FF2B5EF4-FFF2-40B4-BE49-F238E27FC236}">
                  <a16:creationId xmlns:a16="http://schemas.microsoft.com/office/drawing/2014/main" id="{6E64C79D-6EFC-1871-0709-ED98ED4512BD}"/>
                </a:ext>
              </a:extLst>
            </p:cNvPr>
            <p:cNvSpPr/>
            <p:nvPr/>
          </p:nvSpPr>
          <p:spPr>
            <a:xfrm>
              <a:off x="3221123" y="3805953"/>
              <a:ext cx="1581804" cy="298551"/>
            </a:xfrm>
            <a:prstGeom prst="round2SameRect">
              <a:avLst/>
            </a:prstGeom>
            <a:noFill/>
            <a:ln w="28575">
              <a:noFill/>
            </a:ln>
          </p:spPr>
          <p:txBody>
            <a:bodyPr wrap="square" rtlCol="0" anchor="ctr">
              <a:spAutoFit/>
            </a:bodyPr>
            <a:lstStyle/>
            <a:p>
              <a:pPr algn="ctr" defTabSz="685800">
                <a:defRPr/>
              </a:pPr>
              <a:r>
                <a:rPr kumimoji="0" lang="en-US" sz="788" b="1">
                  <a:solidFill>
                    <a:prstClr val="white"/>
                  </a:solidFill>
                  <a:latin typeface="Calibri"/>
                </a:rPr>
                <a:t>OCR Part Catalogue</a:t>
              </a:r>
            </a:p>
          </p:txBody>
        </p:sp>
      </p:grpSp>
      <p:sp>
        <p:nvSpPr>
          <p:cNvPr id="32" name="Rectangle: Top Corners Rounded 21">
            <a:extLst>
              <a:ext uri="{FF2B5EF4-FFF2-40B4-BE49-F238E27FC236}">
                <a16:creationId xmlns:a16="http://schemas.microsoft.com/office/drawing/2014/main" id="{52B22FAC-9C3F-ACC0-3738-513956B3EB3E}"/>
              </a:ext>
            </a:extLst>
          </p:cNvPr>
          <p:cNvSpPr/>
          <p:nvPr/>
        </p:nvSpPr>
        <p:spPr>
          <a:xfrm>
            <a:off x="2561671" y="2849069"/>
            <a:ext cx="1173833" cy="223913"/>
          </a:xfrm>
          <a:prstGeom prst="round2SameRect">
            <a:avLst/>
          </a:prstGeom>
          <a:noFill/>
          <a:ln w="28575">
            <a:noFill/>
          </a:ln>
        </p:spPr>
        <p:txBody>
          <a:bodyPr wrap="square" rtlCol="0" anchor="ctr">
            <a:spAutoFit/>
          </a:bodyPr>
          <a:lstStyle/>
          <a:p>
            <a:pPr algn="ctr" defTabSz="685800">
              <a:defRPr/>
            </a:pPr>
            <a:r>
              <a:rPr kumimoji="0" lang="en-US" sz="788" b="1">
                <a:solidFill>
                  <a:prstClr val="white"/>
                </a:solidFill>
                <a:latin typeface="Calibri"/>
              </a:rPr>
              <a:t>API Part Catalogue</a:t>
            </a:r>
          </a:p>
        </p:txBody>
      </p:sp>
      <p:pic>
        <p:nvPicPr>
          <p:cNvPr id="33" name="Graphic 32" descr="Users with solid fill">
            <a:extLst>
              <a:ext uri="{FF2B5EF4-FFF2-40B4-BE49-F238E27FC236}">
                <a16:creationId xmlns:a16="http://schemas.microsoft.com/office/drawing/2014/main" id="{D5E65109-2E7D-4F71-644E-777108CCCA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2968" y="3540299"/>
            <a:ext cx="471884" cy="471884"/>
          </a:xfrm>
          <a:prstGeom prst="rect">
            <a:avLst/>
          </a:prstGeom>
        </p:spPr>
      </p:pic>
      <p:sp>
        <p:nvSpPr>
          <p:cNvPr id="34" name="Rectangle: Top Corners Rounded 36">
            <a:extLst>
              <a:ext uri="{FF2B5EF4-FFF2-40B4-BE49-F238E27FC236}">
                <a16:creationId xmlns:a16="http://schemas.microsoft.com/office/drawing/2014/main" id="{A27712C5-F0C3-4F07-9831-779ABD086779}"/>
              </a:ext>
            </a:extLst>
          </p:cNvPr>
          <p:cNvSpPr/>
          <p:nvPr/>
        </p:nvSpPr>
        <p:spPr>
          <a:xfrm>
            <a:off x="4126982" y="3883532"/>
            <a:ext cx="703022" cy="223913"/>
          </a:xfrm>
          <a:prstGeom prst="round2SameRect">
            <a:avLst/>
          </a:prstGeom>
          <a:noFill/>
          <a:ln w="28575">
            <a:noFill/>
          </a:ln>
        </p:spPr>
        <p:txBody>
          <a:bodyPr wrap="none" rtlCol="0" anchor="ctr">
            <a:spAutoFit/>
          </a:bodyPr>
          <a:lstStyle/>
          <a:p>
            <a:pPr algn="ctr" defTabSz="685800">
              <a:defRPr/>
            </a:pPr>
            <a:r>
              <a:rPr kumimoji="0" lang="en-US" sz="788" dirty="0">
                <a:solidFill>
                  <a:prstClr val="black"/>
                </a:solidFill>
                <a:latin typeface="Calibri"/>
              </a:rPr>
              <a:t>Admin CMS </a:t>
            </a:r>
          </a:p>
        </p:txBody>
      </p:sp>
      <p:sp>
        <p:nvSpPr>
          <p:cNvPr id="35" name="AutoShape 6" descr="Mitsubishi Motors Indonesia">
            <a:extLst>
              <a:ext uri="{FF2B5EF4-FFF2-40B4-BE49-F238E27FC236}">
                <a16:creationId xmlns:a16="http://schemas.microsoft.com/office/drawing/2014/main" id="{16707407-CB25-191D-373D-C8D2CEF80984}"/>
              </a:ext>
            </a:extLst>
          </p:cNvPr>
          <p:cNvSpPr>
            <a:spLocks noChangeAspect="1" noChangeArrowheads="1"/>
          </p:cNvSpPr>
          <p:nvPr/>
        </p:nvSpPr>
        <p:spPr bwMode="auto">
          <a:xfrm>
            <a:off x="4714198" y="2013203"/>
            <a:ext cx="955494" cy="9554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a:defRPr/>
            </a:pPr>
            <a:endParaRPr kumimoji="0" lang="en-US" sz="1350">
              <a:solidFill>
                <a:prstClr val="black"/>
              </a:solidFill>
              <a:latin typeface="Calibri"/>
            </a:endParaRPr>
          </a:p>
        </p:txBody>
      </p:sp>
      <p:sp>
        <p:nvSpPr>
          <p:cNvPr id="36" name="Oval 35">
            <a:extLst>
              <a:ext uri="{FF2B5EF4-FFF2-40B4-BE49-F238E27FC236}">
                <a16:creationId xmlns:a16="http://schemas.microsoft.com/office/drawing/2014/main" id="{5922D427-5D72-D10C-072A-B06684EC2165}"/>
              </a:ext>
            </a:extLst>
          </p:cNvPr>
          <p:cNvSpPr/>
          <p:nvPr/>
        </p:nvSpPr>
        <p:spPr>
          <a:xfrm>
            <a:off x="1418583" y="3073139"/>
            <a:ext cx="64433" cy="69011"/>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pic>
        <p:nvPicPr>
          <p:cNvPr id="37" name="Graphic 36">
            <a:extLst>
              <a:ext uri="{FF2B5EF4-FFF2-40B4-BE49-F238E27FC236}">
                <a16:creationId xmlns:a16="http://schemas.microsoft.com/office/drawing/2014/main" id="{D0B1F3BC-3E5B-FE7E-34A4-44F4B1D490CC}"/>
              </a:ext>
            </a:extLst>
          </p:cNvPr>
          <p:cNvPicPr>
            <a:picLocks noChangeAspect="1"/>
          </p:cNvPicPr>
          <p:nvPr/>
        </p:nvPicPr>
        <p:blipFill rotWithShape="1">
          <a:blip>
            <a:extLst>
              <a:ext uri="{96DAC541-7B7A-43D3-8B79-37D633B846F1}">
                <asvg:svgBlip xmlns:asvg="http://schemas.microsoft.com/office/drawing/2016/SVG/main" r:embed="rId5"/>
              </a:ext>
            </a:extLst>
          </a:blip>
          <a:srcRect b="16155"/>
          <a:stretch/>
        </p:blipFill>
        <p:spPr>
          <a:xfrm>
            <a:off x="638384" y="1563235"/>
            <a:ext cx="533400" cy="431255"/>
          </a:xfrm>
          <a:prstGeom prst="rect">
            <a:avLst/>
          </a:prstGeom>
        </p:spPr>
      </p:pic>
      <p:cxnSp>
        <p:nvCxnSpPr>
          <p:cNvPr id="38" name="Elbow Connector 37">
            <a:extLst>
              <a:ext uri="{FF2B5EF4-FFF2-40B4-BE49-F238E27FC236}">
                <a16:creationId xmlns:a16="http://schemas.microsoft.com/office/drawing/2014/main" id="{3918CCCC-2CA9-2433-F8FB-F63FCEF12AE0}"/>
              </a:ext>
            </a:extLst>
          </p:cNvPr>
          <p:cNvCxnSpPr>
            <a:cxnSpLocks/>
            <a:stCxn id="36" idx="6"/>
            <a:endCxn id="27" idx="1"/>
          </p:cNvCxnSpPr>
          <p:nvPr/>
        </p:nvCxnSpPr>
        <p:spPr>
          <a:xfrm flipV="1">
            <a:off x="1483015" y="2956772"/>
            <a:ext cx="1093187" cy="1508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CE1D1FDF-520C-F12D-B5BF-1073225C17E4}"/>
              </a:ext>
            </a:extLst>
          </p:cNvPr>
          <p:cNvSpPr/>
          <p:nvPr/>
        </p:nvSpPr>
        <p:spPr>
          <a:xfrm>
            <a:off x="2243319" y="1953724"/>
            <a:ext cx="34289" cy="3428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cxnSp>
        <p:nvCxnSpPr>
          <p:cNvPr id="40" name="Elbow Connector 39">
            <a:extLst>
              <a:ext uri="{FF2B5EF4-FFF2-40B4-BE49-F238E27FC236}">
                <a16:creationId xmlns:a16="http://schemas.microsoft.com/office/drawing/2014/main" id="{E758EB8D-B507-648D-620A-318E6EC43BB9}"/>
              </a:ext>
            </a:extLst>
          </p:cNvPr>
          <p:cNvCxnSpPr>
            <a:cxnSpLocks/>
            <a:stCxn id="39" idx="6"/>
            <a:endCxn id="30" idx="1"/>
          </p:cNvCxnSpPr>
          <p:nvPr/>
        </p:nvCxnSpPr>
        <p:spPr>
          <a:xfrm>
            <a:off x="2277608" y="1970869"/>
            <a:ext cx="284064" cy="271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6D933880-70FF-DB41-918B-067AF75E5D56}"/>
              </a:ext>
            </a:extLst>
          </p:cNvPr>
          <p:cNvCxnSpPr>
            <a:cxnSpLocks/>
            <a:stCxn id="10" idx="3"/>
            <a:endCxn id="39" idx="2"/>
          </p:cNvCxnSpPr>
          <p:nvPr/>
        </p:nvCxnSpPr>
        <p:spPr>
          <a:xfrm>
            <a:off x="2019745" y="1694750"/>
            <a:ext cx="223574" cy="276119"/>
          </a:xfrm>
          <a:prstGeom prst="bentConnector3">
            <a:avLst>
              <a:gd name="adj1" fmla="val 57456"/>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A9AEFDE6-CDF1-FBDC-E64C-05906691D629}"/>
              </a:ext>
            </a:extLst>
          </p:cNvPr>
          <p:cNvCxnSpPr>
            <a:cxnSpLocks/>
            <a:stCxn id="13" idx="3"/>
            <a:endCxn id="39" idx="2"/>
          </p:cNvCxnSpPr>
          <p:nvPr/>
        </p:nvCxnSpPr>
        <p:spPr>
          <a:xfrm flipV="1">
            <a:off x="2049980" y="1970869"/>
            <a:ext cx="193338" cy="314592"/>
          </a:xfrm>
          <a:prstGeom prst="bentConnector3">
            <a:avLst>
              <a:gd name="adj1" fmla="val 50000"/>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C6407EF7-7E26-0621-6D0F-1E5D8B9A1A43}"/>
              </a:ext>
            </a:extLst>
          </p:cNvPr>
          <p:cNvPicPr>
            <a:picLocks noChangeAspect="1"/>
          </p:cNvPicPr>
          <p:nvPr/>
        </p:nvPicPr>
        <p:blipFill>
          <a:blip r:embed="rId6"/>
          <a:stretch>
            <a:fillRect/>
          </a:stretch>
        </p:blipFill>
        <p:spPr>
          <a:xfrm>
            <a:off x="4242980" y="2589332"/>
            <a:ext cx="471884" cy="471884"/>
          </a:xfrm>
          <a:prstGeom prst="rect">
            <a:avLst/>
          </a:prstGeom>
        </p:spPr>
      </p:pic>
      <p:sp>
        <p:nvSpPr>
          <p:cNvPr id="44" name="Rectangle: Top Corners Rounded 52">
            <a:extLst>
              <a:ext uri="{FF2B5EF4-FFF2-40B4-BE49-F238E27FC236}">
                <a16:creationId xmlns:a16="http://schemas.microsoft.com/office/drawing/2014/main" id="{6516658C-6BD5-8052-CB20-1059DE2ADF42}"/>
              </a:ext>
            </a:extLst>
          </p:cNvPr>
          <p:cNvSpPr/>
          <p:nvPr/>
        </p:nvSpPr>
        <p:spPr>
          <a:xfrm>
            <a:off x="4990434" y="2986439"/>
            <a:ext cx="1046237" cy="387191"/>
          </a:xfrm>
          <a:prstGeom prst="round2SameRect">
            <a:avLst/>
          </a:prstGeom>
          <a:noFill/>
          <a:ln w="28575">
            <a:noFill/>
          </a:ln>
        </p:spPr>
        <p:txBody>
          <a:bodyPr wrap="square" rtlCol="0" anchor="ctr">
            <a:spAutoFit/>
          </a:bodyPr>
          <a:lstStyle/>
          <a:p>
            <a:pPr algn="ctr" defTabSz="685800">
              <a:defRPr/>
            </a:pPr>
            <a:r>
              <a:rPr kumimoji="0" lang="en-US" sz="900">
                <a:solidFill>
                  <a:prstClr val="black"/>
                </a:solidFill>
                <a:latin typeface="Calibri"/>
              </a:rPr>
              <a:t>Microsite part catalogue</a:t>
            </a:r>
          </a:p>
        </p:txBody>
      </p:sp>
      <p:grpSp>
        <p:nvGrpSpPr>
          <p:cNvPr id="45" name="Group 44">
            <a:extLst>
              <a:ext uri="{FF2B5EF4-FFF2-40B4-BE49-F238E27FC236}">
                <a16:creationId xmlns:a16="http://schemas.microsoft.com/office/drawing/2014/main" id="{BE95C89E-2A9A-F083-70E9-52594F96A746}"/>
              </a:ext>
            </a:extLst>
          </p:cNvPr>
          <p:cNvGrpSpPr/>
          <p:nvPr/>
        </p:nvGrpSpPr>
        <p:grpSpPr>
          <a:xfrm>
            <a:off x="5180150" y="1759587"/>
            <a:ext cx="658403" cy="563477"/>
            <a:chOff x="7303406" y="2463240"/>
            <a:chExt cx="877870" cy="751302"/>
          </a:xfrm>
        </p:grpSpPr>
        <p:pic>
          <p:nvPicPr>
            <p:cNvPr id="46" name="Picture 45">
              <a:extLst>
                <a:ext uri="{FF2B5EF4-FFF2-40B4-BE49-F238E27FC236}">
                  <a16:creationId xmlns:a16="http://schemas.microsoft.com/office/drawing/2014/main" id="{3CB9C43C-C15E-FE60-3A31-5125DCE31CD4}"/>
                </a:ext>
              </a:extLst>
            </p:cNvPr>
            <p:cNvPicPr>
              <a:picLocks noChangeAspect="1"/>
            </p:cNvPicPr>
            <p:nvPr/>
          </p:nvPicPr>
          <p:blipFill>
            <a:blip r:embed="rId6"/>
            <a:stretch>
              <a:fillRect/>
            </a:stretch>
          </p:blipFill>
          <p:spPr>
            <a:xfrm>
              <a:off x="7303406" y="2463240"/>
              <a:ext cx="877870" cy="751302"/>
            </a:xfrm>
            <a:prstGeom prst="rect">
              <a:avLst/>
            </a:prstGeom>
          </p:spPr>
        </p:pic>
        <p:pic>
          <p:nvPicPr>
            <p:cNvPr id="47" name="Picture 46">
              <a:extLst>
                <a:ext uri="{FF2B5EF4-FFF2-40B4-BE49-F238E27FC236}">
                  <a16:creationId xmlns:a16="http://schemas.microsoft.com/office/drawing/2014/main" id="{1691A5B4-8BFB-87AC-E595-F7FE3F3EE292}"/>
                </a:ext>
              </a:extLst>
            </p:cNvPr>
            <p:cNvPicPr>
              <a:picLocks noChangeAspect="1"/>
            </p:cNvPicPr>
            <p:nvPr/>
          </p:nvPicPr>
          <p:blipFill>
            <a:blip r:embed="rId7"/>
            <a:stretch>
              <a:fillRect/>
            </a:stretch>
          </p:blipFill>
          <p:spPr>
            <a:xfrm>
              <a:off x="7429689" y="2662379"/>
              <a:ext cx="602635" cy="309772"/>
            </a:xfrm>
            <a:prstGeom prst="rect">
              <a:avLst/>
            </a:prstGeom>
          </p:spPr>
        </p:pic>
      </p:grpSp>
      <p:sp>
        <p:nvSpPr>
          <p:cNvPr id="48" name="Rectangle: Top Corners Rounded 52">
            <a:extLst>
              <a:ext uri="{FF2B5EF4-FFF2-40B4-BE49-F238E27FC236}">
                <a16:creationId xmlns:a16="http://schemas.microsoft.com/office/drawing/2014/main" id="{40E275AC-E88E-B54A-B621-6E936C77726B}"/>
              </a:ext>
            </a:extLst>
          </p:cNvPr>
          <p:cNvSpPr/>
          <p:nvPr/>
        </p:nvSpPr>
        <p:spPr>
          <a:xfrm>
            <a:off x="4990664" y="2195377"/>
            <a:ext cx="1046237" cy="241995"/>
          </a:xfrm>
          <a:prstGeom prst="round2SameRect">
            <a:avLst/>
          </a:prstGeom>
          <a:noFill/>
          <a:ln w="28575">
            <a:noFill/>
          </a:ln>
        </p:spPr>
        <p:txBody>
          <a:bodyPr wrap="square" rtlCol="0" anchor="ctr">
            <a:spAutoFit/>
          </a:bodyPr>
          <a:lstStyle/>
          <a:p>
            <a:pPr algn="ctr" defTabSz="685800">
              <a:defRPr/>
            </a:pPr>
            <a:r>
              <a:rPr kumimoji="0" lang="en-US" sz="900">
                <a:solidFill>
                  <a:prstClr val="black"/>
                </a:solidFill>
                <a:latin typeface="Calibri"/>
              </a:rPr>
              <a:t>Website MMKSI</a:t>
            </a:r>
          </a:p>
        </p:txBody>
      </p:sp>
      <p:pic>
        <p:nvPicPr>
          <p:cNvPr id="49" name="Picture 48">
            <a:extLst>
              <a:ext uri="{FF2B5EF4-FFF2-40B4-BE49-F238E27FC236}">
                <a16:creationId xmlns:a16="http://schemas.microsoft.com/office/drawing/2014/main" id="{DF07922E-2115-1373-DED8-B8CBAC3893AF}"/>
              </a:ext>
            </a:extLst>
          </p:cNvPr>
          <p:cNvPicPr>
            <a:picLocks noChangeAspect="1"/>
          </p:cNvPicPr>
          <p:nvPr/>
        </p:nvPicPr>
        <p:blipFill>
          <a:blip r:embed="rId6"/>
          <a:stretch>
            <a:fillRect/>
          </a:stretch>
        </p:blipFill>
        <p:spPr>
          <a:xfrm>
            <a:off x="5212069" y="2550523"/>
            <a:ext cx="579291" cy="522536"/>
          </a:xfrm>
          <a:prstGeom prst="rect">
            <a:avLst/>
          </a:prstGeom>
        </p:spPr>
      </p:pic>
      <p:sp>
        <p:nvSpPr>
          <p:cNvPr id="50" name="Rounded Rectangle 49">
            <a:extLst>
              <a:ext uri="{FF2B5EF4-FFF2-40B4-BE49-F238E27FC236}">
                <a16:creationId xmlns:a16="http://schemas.microsoft.com/office/drawing/2014/main" id="{6505B58F-BD1E-5B19-DF21-520A4BB92F48}"/>
              </a:ext>
            </a:extLst>
          </p:cNvPr>
          <p:cNvSpPr/>
          <p:nvPr/>
        </p:nvSpPr>
        <p:spPr>
          <a:xfrm>
            <a:off x="5025603" y="1554444"/>
            <a:ext cx="949247" cy="1787175"/>
          </a:xfrm>
          <a:prstGeom prst="roundRect">
            <a:avLst>
              <a:gd name="adj" fmla="val 5846"/>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050">
              <a:solidFill>
                <a:prstClr val="white"/>
              </a:solidFill>
              <a:latin typeface="Calibri"/>
            </a:endParaRPr>
          </a:p>
        </p:txBody>
      </p:sp>
      <p:sp>
        <p:nvSpPr>
          <p:cNvPr id="52" name="Rectangle: Top Corners Rounded 52">
            <a:extLst>
              <a:ext uri="{FF2B5EF4-FFF2-40B4-BE49-F238E27FC236}">
                <a16:creationId xmlns:a16="http://schemas.microsoft.com/office/drawing/2014/main" id="{8F28FCE1-7D0E-25CA-093F-D44A2BCDA59D}"/>
              </a:ext>
            </a:extLst>
          </p:cNvPr>
          <p:cNvSpPr/>
          <p:nvPr/>
        </p:nvSpPr>
        <p:spPr>
          <a:xfrm>
            <a:off x="6078647" y="924337"/>
            <a:ext cx="1046237" cy="241995"/>
          </a:xfrm>
          <a:prstGeom prst="round2SameRect">
            <a:avLst/>
          </a:prstGeom>
          <a:noFill/>
          <a:ln w="28575">
            <a:noFill/>
          </a:ln>
        </p:spPr>
        <p:txBody>
          <a:bodyPr wrap="square" rtlCol="0" anchor="ctr">
            <a:spAutoFit/>
          </a:bodyPr>
          <a:lstStyle/>
          <a:p>
            <a:pPr algn="ctr" defTabSz="685800">
              <a:defRPr/>
            </a:pPr>
            <a:r>
              <a:rPr kumimoji="0" lang="en-US" sz="900" b="1" dirty="0">
                <a:solidFill>
                  <a:prstClr val="black"/>
                </a:solidFill>
                <a:latin typeface="Calibri"/>
              </a:rPr>
              <a:t>User Group</a:t>
            </a:r>
          </a:p>
        </p:txBody>
      </p:sp>
      <p:sp>
        <p:nvSpPr>
          <p:cNvPr id="53" name="Oval 52">
            <a:extLst>
              <a:ext uri="{FF2B5EF4-FFF2-40B4-BE49-F238E27FC236}">
                <a16:creationId xmlns:a16="http://schemas.microsoft.com/office/drawing/2014/main" id="{F4CBF199-06FD-3689-EBE8-B28BD593F5C5}"/>
              </a:ext>
            </a:extLst>
          </p:cNvPr>
          <p:cNvSpPr/>
          <p:nvPr/>
        </p:nvSpPr>
        <p:spPr>
          <a:xfrm>
            <a:off x="4099669" y="2975910"/>
            <a:ext cx="64433" cy="6901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sp>
        <p:nvSpPr>
          <p:cNvPr id="54" name="Rectangle: Top Corners Rounded 52">
            <a:extLst>
              <a:ext uri="{FF2B5EF4-FFF2-40B4-BE49-F238E27FC236}">
                <a16:creationId xmlns:a16="http://schemas.microsoft.com/office/drawing/2014/main" id="{756A80A4-19FF-07A9-A2BE-9C7EC79CBAEB}"/>
              </a:ext>
            </a:extLst>
          </p:cNvPr>
          <p:cNvSpPr/>
          <p:nvPr/>
        </p:nvSpPr>
        <p:spPr>
          <a:xfrm>
            <a:off x="5048966" y="1526729"/>
            <a:ext cx="1046237" cy="241995"/>
          </a:xfrm>
          <a:prstGeom prst="round2SameRect">
            <a:avLst/>
          </a:prstGeom>
          <a:noFill/>
          <a:ln w="28575">
            <a:noFill/>
          </a:ln>
        </p:spPr>
        <p:txBody>
          <a:bodyPr wrap="square" rtlCol="0" anchor="ctr">
            <a:spAutoFit/>
          </a:bodyPr>
          <a:lstStyle/>
          <a:p>
            <a:pPr defTabSz="685800">
              <a:defRPr/>
            </a:pPr>
            <a:r>
              <a:rPr kumimoji="0" lang="en-US" sz="900" b="1">
                <a:solidFill>
                  <a:prstClr val="black"/>
                </a:solidFill>
                <a:latin typeface="Calibri"/>
              </a:rPr>
              <a:t>Website</a:t>
            </a:r>
          </a:p>
        </p:txBody>
      </p:sp>
      <p:sp>
        <p:nvSpPr>
          <p:cNvPr id="55" name="Rounded Rectangle 54">
            <a:extLst>
              <a:ext uri="{FF2B5EF4-FFF2-40B4-BE49-F238E27FC236}">
                <a16:creationId xmlns:a16="http://schemas.microsoft.com/office/drawing/2014/main" id="{CE7A162C-B111-DB02-1595-BD274F3D635B}"/>
              </a:ext>
            </a:extLst>
          </p:cNvPr>
          <p:cNvSpPr/>
          <p:nvPr/>
        </p:nvSpPr>
        <p:spPr>
          <a:xfrm>
            <a:off x="4090410" y="2558303"/>
            <a:ext cx="1946261" cy="838513"/>
          </a:xfrm>
          <a:prstGeom prst="roundRect">
            <a:avLst>
              <a:gd name="adj" fmla="val 5846"/>
            </a:avLst>
          </a:prstGeom>
          <a:no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050">
              <a:solidFill>
                <a:prstClr val="white"/>
              </a:solidFill>
              <a:latin typeface="Calibri"/>
            </a:endParaRPr>
          </a:p>
        </p:txBody>
      </p:sp>
      <p:cxnSp>
        <p:nvCxnSpPr>
          <p:cNvPr id="56" name="Elbow Connector 55">
            <a:extLst>
              <a:ext uri="{FF2B5EF4-FFF2-40B4-BE49-F238E27FC236}">
                <a16:creationId xmlns:a16="http://schemas.microsoft.com/office/drawing/2014/main" id="{2214A613-E65F-D115-30A4-58F459A665A0}"/>
              </a:ext>
            </a:extLst>
          </p:cNvPr>
          <p:cNvCxnSpPr>
            <a:cxnSpLocks/>
            <a:stCxn id="30" idx="3"/>
            <a:endCxn id="53" idx="2"/>
          </p:cNvCxnSpPr>
          <p:nvPr/>
        </p:nvCxnSpPr>
        <p:spPr>
          <a:xfrm>
            <a:off x="3822496" y="2242570"/>
            <a:ext cx="277173" cy="76784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986BF184-DC4C-3C3B-D76F-99124DEFDE0F}"/>
              </a:ext>
            </a:extLst>
          </p:cNvPr>
          <p:cNvSpPr/>
          <p:nvPr/>
        </p:nvSpPr>
        <p:spPr>
          <a:xfrm>
            <a:off x="4815140" y="2982774"/>
            <a:ext cx="64433" cy="6901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cxnSp>
        <p:nvCxnSpPr>
          <p:cNvPr id="58" name="Elbow Connector 57">
            <a:extLst>
              <a:ext uri="{FF2B5EF4-FFF2-40B4-BE49-F238E27FC236}">
                <a16:creationId xmlns:a16="http://schemas.microsoft.com/office/drawing/2014/main" id="{9321A106-0E7B-E4C7-2E2B-C9E31F09087C}"/>
              </a:ext>
            </a:extLst>
          </p:cNvPr>
          <p:cNvCxnSpPr>
            <a:cxnSpLocks/>
          </p:cNvCxnSpPr>
          <p:nvPr/>
        </p:nvCxnSpPr>
        <p:spPr>
          <a:xfrm flipV="1">
            <a:off x="4799125" y="2855827"/>
            <a:ext cx="367389" cy="1571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5E298A71-986F-393F-AFA3-953137B7D243}"/>
              </a:ext>
            </a:extLst>
          </p:cNvPr>
          <p:cNvSpPr/>
          <p:nvPr/>
        </p:nvSpPr>
        <p:spPr>
          <a:xfrm>
            <a:off x="5166514" y="2733399"/>
            <a:ext cx="64433" cy="6901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sp>
        <p:nvSpPr>
          <p:cNvPr id="60" name="Oval 59">
            <a:extLst>
              <a:ext uri="{FF2B5EF4-FFF2-40B4-BE49-F238E27FC236}">
                <a16:creationId xmlns:a16="http://schemas.microsoft.com/office/drawing/2014/main" id="{E5D540C9-AAE6-04EC-9218-60D37380948C}"/>
              </a:ext>
            </a:extLst>
          </p:cNvPr>
          <p:cNvSpPr/>
          <p:nvPr/>
        </p:nvSpPr>
        <p:spPr>
          <a:xfrm>
            <a:off x="4446835" y="3611735"/>
            <a:ext cx="64433" cy="6901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prstClr val="white"/>
              </a:solidFill>
              <a:latin typeface="Calibri"/>
            </a:endParaRPr>
          </a:p>
        </p:txBody>
      </p:sp>
      <p:cxnSp>
        <p:nvCxnSpPr>
          <p:cNvPr id="61" name="Elbow Connector 60">
            <a:extLst>
              <a:ext uri="{FF2B5EF4-FFF2-40B4-BE49-F238E27FC236}">
                <a16:creationId xmlns:a16="http://schemas.microsoft.com/office/drawing/2014/main" id="{105B692C-05B8-FEDD-1F2F-6CEF50402D4D}"/>
              </a:ext>
            </a:extLst>
          </p:cNvPr>
          <p:cNvCxnSpPr>
            <a:cxnSpLocks/>
            <a:stCxn id="60" idx="0"/>
          </p:cNvCxnSpPr>
          <p:nvPr/>
        </p:nvCxnSpPr>
        <p:spPr>
          <a:xfrm rot="5400000" flipH="1" flipV="1">
            <a:off x="4364439" y="3497121"/>
            <a:ext cx="229227" cy="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62" name="Graphic 61" descr="Cloud">
            <a:extLst>
              <a:ext uri="{FF2B5EF4-FFF2-40B4-BE49-F238E27FC236}">
                <a16:creationId xmlns:a16="http://schemas.microsoft.com/office/drawing/2014/main" id="{BF361D23-9716-71A7-93A0-715C74DA47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0612" y="1260876"/>
            <a:ext cx="373029" cy="373029"/>
          </a:xfrm>
          <a:prstGeom prst="rect">
            <a:avLst/>
          </a:prstGeom>
        </p:spPr>
      </p:pic>
      <p:cxnSp>
        <p:nvCxnSpPr>
          <p:cNvPr id="63" name="Elbow Connector 62">
            <a:extLst>
              <a:ext uri="{FF2B5EF4-FFF2-40B4-BE49-F238E27FC236}">
                <a16:creationId xmlns:a16="http://schemas.microsoft.com/office/drawing/2014/main" id="{188099D9-82EE-47CD-198A-630D675434E8}"/>
              </a:ext>
            </a:extLst>
          </p:cNvPr>
          <p:cNvCxnSpPr>
            <a:cxnSpLocks/>
            <a:stCxn id="55" idx="3"/>
          </p:cNvCxnSpPr>
          <p:nvPr/>
        </p:nvCxnSpPr>
        <p:spPr>
          <a:xfrm flipV="1">
            <a:off x="6036670" y="2738002"/>
            <a:ext cx="192896" cy="23955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64" name="Graphic 63" descr="Cloud">
            <a:extLst>
              <a:ext uri="{FF2B5EF4-FFF2-40B4-BE49-F238E27FC236}">
                <a16:creationId xmlns:a16="http://schemas.microsoft.com/office/drawing/2014/main" id="{6F4FC3D8-9BA4-9300-1BAA-0435397F733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08158" y="2436818"/>
            <a:ext cx="373029" cy="373029"/>
          </a:xfrm>
          <a:prstGeom prst="rect">
            <a:avLst/>
          </a:prstGeom>
        </p:spPr>
      </p:pic>
      <p:pic>
        <p:nvPicPr>
          <p:cNvPr id="65" name="Graphic 64" descr="Cloud">
            <a:extLst>
              <a:ext uri="{FF2B5EF4-FFF2-40B4-BE49-F238E27FC236}">
                <a16:creationId xmlns:a16="http://schemas.microsoft.com/office/drawing/2014/main" id="{3F93C2EB-311C-F223-4C6F-70229D661CF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3766" y="1517761"/>
            <a:ext cx="373029" cy="373029"/>
          </a:xfrm>
          <a:prstGeom prst="rect">
            <a:avLst/>
          </a:prstGeom>
        </p:spPr>
      </p:pic>
      <p:pic>
        <p:nvPicPr>
          <p:cNvPr id="66" name="Graphic 65" descr="Cloud">
            <a:extLst>
              <a:ext uri="{FF2B5EF4-FFF2-40B4-BE49-F238E27FC236}">
                <a16:creationId xmlns:a16="http://schemas.microsoft.com/office/drawing/2014/main" id="{99E60F4D-57EC-A071-8F26-E440632905C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92512" y="1485225"/>
            <a:ext cx="373029" cy="373029"/>
          </a:xfrm>
          <a:prstGeom prst="rect">
            <a:avLst/>
          </a:prstGeom>
        </p:spPr>
      </p:pic>
      <p:pic>
        <p:nvPicPr>
          <p:cNvPr id="67" name="Graphic 66" descr="Cloud">
            <a:extLst>
              <a:ext uri="{FF2B5EF4-FFF2-40B4-BE49-F238E27FC236}">
                <a16:creationId xmlns:a16="http://schemas.microsoft.com/office/drawing/2014/main" id="{42418311-9150-010F-B158-607237D86ED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36338" y="2444586"/>
            <a:ext cx="373029" cy="373029"/>
          </a:xfrm>
          <a:prstGeom prst="rect">
            <a:avLst/>
          </a:prstGeom>
        </p:spPr>
      </p:pic>
      <p:sp>
        <p:nvSpPr>
          <p:cNvPr id="68" name="Title 1">
            <a:extLst>
              <a:ext uri="{FF2B5EF4-FFF2-40B4-BE49-F238E27FC236}">
                <a16:creationId xmlns:a16="http://schemas.microsoft.com/office/drawing/2014/main" id="{D506251B-B08F-1DBE-ED41-2C52FFE53EDD}"/>
              </a:ext>
            </a:extLst>
          </p:cNvPr>
          <p:cNvSpPr txBox="1">
            <a:spLocks/>
          </p:cNvSpPr>
          <p:nvPr/>
        </p:nvSpPr>
        <p:spPr>
          <a:xfrm>
            <a:off x="380616" y="190982"/>
            <a:ext cx="7828240" cy="360040"/>
          </a:xfrm>
          <a:solidFill>
            <a:schemeClr val="tx1"/>
          </a:solidFill>
        </p:spPr>
        <p:txBody>
          <a:bodyPr wrap="square" rtlCol="0">
            <a:spAutoFit/>
          </a:bodyPr>
          <a:lstStyle>
            <a:defPPr>
              <a:defRPr lang="ja-JP"/>
            </a:defPPr>
            <a:lvl1pPr>
              <a:defRPr sz="1400">
                <a:solidFill>
                  <a:schemeClr val="bg1"/>
                </a:solidFill>
              </a:defRPr>
            </a:lvl1pPr>
          </a:lstStyle>
          <a:p>
            <a:pPr defTabSz="685800">
              <a:defRPr/>
            </a:pPr>
            <a:r>
              <a:rPr kumimoji="0" lang="en-US" sz="1600" b="1" dirty="0">
                <a:solidFill>
                  <a:prstClr val="black"/>
                </a:solidFill>
                <a:latin typeface="Calibri"/>
                <a:ea typeface="Meiryo UI" panose="020B0604030504040204"/>
              </a:rPr>
              <a:t>System Architecture Design</a:t>
            </a:r>
          </a:p>
        </p:txBody>
      </p:sp>
      <p:sp>
        <p:nvSpPr>
          <p:cNvPr id="69" name="TextBox 68">
            <a:extLst>
              <a:ext uri="{FF2B5EF4-FFF2-40B4-BE49-F238E27FC236}">
                <a16:creationId xmlns:a16="http://schemas.microsoft.com/office/drawing/2014/main" id="{B915A8CB-17F4-E864-358D-D45F9BDCF282}"/>
              </a:ext>
            </a:extLst>
          </p:cNvPr>
          <p:cNvSpPr txBox="1"/>
          <p:nvPr/>
        </p:nvSpPr>
        <p:spPr bwMode="auto">
          <a:xfrm>
            <a:off x="7101859" y="936857"/>
            <a:ext cx="1837291" cy="3321422"/>
          </a:xfrm>
          <a:prstGeom prst="rect">
            <a:avLst/>
          </a:prstGeom>
          <a:noFill/>
          <a:ln w="9525">
            <a:noFill/>
            <a:miter lim="800000"/>
            <a:headEnd/>
            <a:tailEnd/>
          </a:ln>
        </p:spPr>
        <p:txBody>
          <a:bodyPr wrap="square" rtlCol="0">
            <a:spAutoFit/>
          </a:bodyPr>
          <a:lstStyle/>
          <a:p>
            <a:pPr marL="40481" defTabSz="685800">
              <a:spcBef>
                <a:spcPts val="450"/>
              </a:spcBef>
              <a:tabLst>
                <a:tab pos="255985" algn="l"/>
              </a:tabLst>
              <a:defRPr/>
            </a:pPr>
            <a:r>
              <a:rPr kumimoji="0" lang="en-US" sz="900" dirty="0">
                <a:solidFill>
                  <a:prstClr val="black"/>
                </a:solidFill>
                <a:latin typeface="Helvetica Neue" panose="02000503000000020004"/>
              </a:rPr>
              <a:t>System explanation :</a:t>
            </a:r>
          </a:p>
          <a:p>
            <a:pPr marL="211931" indent="-171450" defTabSz="685800">
              <a:spcBef>
                <a:spcPts val="450"/>
              </a:spcBef>
              <a:buFontTx/>
              <a:buAutoNum type="arabicPeriod"/>
              <a:tabLst>
                <a:tab pos="255985" algn="l"/>
              </a:tabLst>
              <a:defRPr/>
            </a:pPr>
            <a:r>
              <a:rPr kumimoji="0" lang="en-US" sz="900" dirty="0">
                <a:solidFill>
                  <a:prstClr val="black"/>
                </a:solidFill>
                <a:latin typeface="Helvetica Neue" panose="02000503000000020004"/>
              </a:rPr>
              <a:t>Azure OCR: online Artificial Intelligent OCR tools use to scan text and text location from Image. We use as tools to get PNC text and location from </a:t>
            </a:r>
            <a:r>
              <a:rPr kumimoji="0" lang="en-US" sz="900" dirty="0" err="1">
                <a:solidFill>
                  <a:prstClr val="black"/>
                </a:solidFill>
                <a:latin typeface="Helvetica Neue" panose="02000503000000020004"/>
              </a:rPr>
              <a:t>sparepart</a:t>
            </a:r>
            <a:r>
              <a:rPr kumimoji="0" lang="en-US" sz="900" dirty="0">
                <a:solidFill>
                  <a:prstClr val="black"/>
                </a:solidFill>
                <a:latin typeface="Helvetica Neue" panose="02000503000000020004"/>
              </a:rPr>
              <a:t> image as image hotspot in Part Catalogue web.</a:t>
            </a:r>
          </a:p>
          <a:p>
            <a:pPr marL="211931" indent="-171450" defTabSz="685800">
              <a:spcBef>
                <a:spcPts val="450"/>
              </a:spcBef>
              <a:buFontTx/>
              <a:buAutoNum type="arabicPeriod"/>
              <a:tabLst>
                <a:tab pos="255985" algn="l"/>
              </a:tabLst>
              <a:defRPr/>
            </a:pPr>
            <a:r>
              <a:rPr kumimoji="0" lang="en-US" sz="900" dirty="0">
                <a:solidFill>
                  <a:prstClr val="black"/>
                </a:solidFill>
                <a:latin typeface="Helvetica Neue" panose="02000503000000020004"/>
              </a:rPr>
              <a:t>SOA Middleware : API system that supplies </a:t>
            </a:r>
            <a:r>
              <a:rPr kumimoji="0" lang="en-US" sz="900" dirty="0" err="1">
                <a:solidFill>
                  <a:prstClr val="black"/>
                </a:solidFill>
                <a:latin typeface="Helvetica Neue" panose="02000503000000020004"/>
              </a:rPr>
              <a:t>sparepart</a:t>
            </a:r>
            <a:r>
              <a:rPr kumimoji="0" lang="en-US" sz="900" dirty="0">
                <a:solidFill>
                  <a:prstClr val="black"/>
                </a:solidFill>
                <a:latin typeface="Helvetica Neue" panose="02000503000000020004"/>
              </a:rPr>
              <a:t> master and price list from D-Net system.</a:t>
            </a:r>
          </a:p>
          <a:p>
            <a:pPr marL="211931" indent="-171450" defTabSz="685800">
              <a:spcBef>
                <a:spcPts val="450"/>
              </a:spcBef>
              <a:buFontTx/>
              <a:buAutoNum type="arabicPeriod"/>
              <a:tabLst>
                <a:tab pos="255985" algn="l"/>
              </a:tabLst>
              <a:defRPr/>
            </a:pPr>
            <a:r>
              <a:rPr kumimoji="0" lang="en-US" sz="900" dirty="0">
                <a:solidFill>
                  <a:prstClr val="black"/>
                </a:solidFill>
                <a:latin typeface="Helvetica Neue" panose="02000503000000020004"/>
              </a:rPr>
              <a:t>Backend CMS : Part Catalogue Content Management System</a:t>
            </a:r>
          </a:p>
          <a:p>
            <a:pPr marL="211931" indent="-171450" defTabSz="685800">
              <a:spcBef>
                <a:spcPts val="450"/>
              </a:spcBef>
              <a:buFontTx/>
              <a:buAutoNum type="arabicPeriod"/>
              <a:tabLst>
                <a:tab pos="255985" algn="l"/>
              </a:tabLst>
              <a:defRPr/>
            </a:pPr>
            <a:r>
              <a:rPr kumimoji="0" lang="en-US" sz="900" dirty="0">
                <a:solidFill>
                  <a:prstClr val="black"/>
                </a:solidFill>
                <a:latin typeface="Helvetica Neue" panose="02000503000000020004"/>
              </a:rPr>
              <a:t>Part Catalogue : System that build to serve as data to front end system (web, mobile, other system)</a:t>
            </a:r>
          </a:p>
          <a:p>
            <a:pPr marL="211931" indent="-171450" defTabSz="685800">
              <a:spcBef>
                <a:spcPts val="450"/>
              </a:spcBef>
              <a:buFontTx/>
              <a:buAutoNum type="arabicPeriod"/>
              <a:tabLst>
                <a:tab pos="255985" algn="l"/>
              </a:tabLst>
              <a:defRPr/>
            </a:pPr>
            <a:endParaRPr kumimoji="0" lang="en-US" sz="900" dirty="0">
              <a:solidFill>
                <a:prstClr val="black"/>
              </a:solidFill>
              <a:latin typeface="Helvetica Neue" panose="02000503000000020004"/>
            </a:endParaRPr>
          </a:p>
        </p:txBody>
      </p:sp>
      <p:sp>
        <p:nvSpPr>
          <p:cNvPr id="76" name="Oval 75">
            <a:extLst>
              <a:ext uri="{FF2B5EF4-FFF2-40B4-BE49-F238E27FC236}">
                <a16:creationId xmlns:a16="http://schemas.microsoft.com/office/drawing/2014/main" id="{11F24A7A-3093-BC24-23DD-BF8E53A6673E}"/>
              </a:ext>
            </a:extLst>
          </p:cNvPr>
          <p:cNvSpPr/>
          <p:nvPr/>
        </p:nvSpPr>
        <p:spPr>
          <a:xfrm>
            <a:off x="2503862" y="1881751"/>
            <a:ext cx="147677" cy="159575"/>
          </a:xfrm>
          <a:prstGeom prst="ellipse">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kumimoji="0" lang="en-US" sz="825" dirty="0">
                <a:solidFill>
                  <a:prstClr val="white"/>
                </a:solidFill>
                <a:latin typeface="Calibri"/>
              </a:rPr>
              <a:t>1</a:t>
            </a:r>
          </a:p>
        </p:txBody>
      </p:sp>
      <p:sp>
        <p:nvSpPr>
          <p:cNvPr id="77" name="Oval 76">
            <a:extLst>
              <a:ext uri="{FF2B5EF4-FFF2-40B4-BE49-F238E27FC236}">
                <a16:creationId xmlns:a16="http://schemas.microsoft.com/office/drawing/2014/main" id="{EFF67A19-8523-F943-9FE1-49713E4962A9}"/>
              </a:ext>
            </a:extLst>
          </p:cNvPr>
          <p:cNvSpPr/>
          <p:nvPr/>
        </p:nvSpPr>
        <p:spPr>
          <a:xfrm>
            <a:off x="2503862" y="2610231"/>
            <a:ext cx="147677" cy="159575"/>
          </a:xfrm>
          <a:prstGeom prst="ellipse">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kumimoji="0" lang="en-US" sz="825" dirty="0">
                <a:solidFill>
                  <a:prstClr val="white"/>
                </a:solidFill>
                <a:latin typeface="Calibri"/>
              </a:rPr>
              <a:t>2</a:t>
            </a:r>
          </a:p>
        </p:txBody>
      </p:sp>
      <p:sp>
        <p:nvSpPr>
          <p:cNvPr id="78" name="Oval 77">
            <a:extLst>
              <a:ext uri="{FF2B5EF4-FFF2-40B4-BE49-F238E27FC236}">
                <a16:creationId xmlns:a16="http://schemas.microsoft.com/office/drawing/2014/main" id="{9C656BF1-7CA9-DCFA-637B-789258273248}"/>
              </a:ext>
            </a:extLst>
          </p:cNvPr>
          <p:cNvSpPr/>
          <p:nvPr/>
        </p:nvSpPr>
        <p:spPr>
          <a:xfrm>
            <a:off x="4196020" y="2625386"/>
            <a:ext cx="147677" cy="159575"/>
          </a:xfrm>
          <a:prstGeom prst="ellipse">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kumimoji="0" lang="en-US" sz="825" dirty="0">
                <a:solidFill>
                  <a:prstClr val="white"/>
                </a:solidFill>
                <a:latin typeface="Calibri"/>
              </a:rPr>
              <a:t>3</a:t>
            </a:r>
          </a:p>
        </p:txBody>
      </p:sp>
      <p:sp>
        <p:nvSpPr>
          <p:cNvPr id="80" name="Oval 79">
            <a:extLst>
              <a:ext uri="{FF2B5EF4-FFF2-40B4-BE49-F238E27FC236}">
                <a16:creationId xmlns:a16="http://schemas.microsoft.com/office/drawing/2014/main" id="{2B831812-AC58-7128-D271-8922DE3F81E3}"/>
              </a:ext>
            </a:extLst>
          </p:cNvPr>
          <p:cNvSpPr/>
          <p:nvPr/>
        </p:nvSpPr>
        <p:spPr>
          <a:xfrm>
            <a:off x="5179410" y="2601643"/>
            <a:ext cx="147677" cy="159575"/>
          </a:xfrm>
          <a:prstGeom prst="ellipse">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kumimoji="0" lang="en-US" sz="825" dirty="0">
                <a:solidFill>
                  <a:prstClr val="white"/>
                </a:solidFill>
                <a:latin typeface="Calibri"/>
              </a:rPr>
              <a:t>4</a:t>
            </a:r>
          </a:p>
        </p:txBody>
      </p:sp>
      <p:sp>
        <p:nvSpPr>
          <p:cNvPr id="70" name="スライド番号プレースホルダー 3">
            <a:extLst>
              <a:ext uri="{FF2B5EF4-FFF2-40B4-BE49-F238E27FC236}">
                <a16:creationId xmlns:a16="http://schemas.microsoft.com/office/drawing/2014/main" id="{54846A27-2291-3C43-A125-E0DA9EA77FF6}"/>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19</a:t>
            </a:fld>
            <a:endParaRPr lang="ja-JP" altLang="en-US"/>
          </a:p>
        </p:txBody>
      </p:sp>
      <p:sp>
        <p:nvSpPr>
          <p:cNvPr id="71" name="サブタイトル 7">
            <a:extLst>
              <a:ext uri="{FF2B5EF4-FFF2-40B4-BE49-F238E27FC236}">
                <a16:creationId xmlns:a16="http://schemas.microsoft.com/office/drawing/2014/main" id="{0B9847F4-C3F4-16E9-4280-4C23F9002B29}"/>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a:solidFill>
                  <a:schemeClr val="tx1">
                    <a:lumMod val="65000"/>
                    <a:lumOff val="35000"/>
                  </a:schemeClr>
                </a:solidFill>
              </a:rPr>
              <a:t>PT Berlian Sistem Informasi (BSI)</a:t>
            </a:r>
          </a:p>
        </p:txBody>
      </p:sp>
      <p:sp>
        <p:nvSpPr>
          <p:cNvPr id="72" name="サブタイトル 7">
            <a:extLst>
              <a:ext uri="{FF2B5EF4-FFF2-40B4-BE49-F238E27FC236}">
                <a16:creationId xmlns:a16="http://schemas.microsoft.com/office/drawing/2014/main" id="{67669261-8645-20FE-5ECE-BD53D9166A0A}"/>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a:solidFill>
                  <a:schemeClr val="tx1">
                    <a:lumMod val="65000"/>
                    <a:lumOff val="35000"/>
                  </a:schemeClr>
                </a:solidFill>
              </a:rPr>
              <a:t>Confidential – Internal Used</a:t>
            </a:r>
          </a:p>
        </p:txBody>
      </p:sp>
      <p:pic>
        <p:nvPicPr>
          <p:cNvPr id="73" name="Picture 72" descr="A picture containing graphics, graphic design, design&#10;&#10;Description automatically generated">
            <a:extLst>
              <a:ext uri="{FF2B5EF4-FFF2-40B4-BE49-F238E27FC236}">
                <a16:creationId xmlns:a16="http://schemas.microsoft.com/office/drawing/2014/main" id="{1FD7FA2B-1748-428F-7A36-98B13C6C23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r="63047"/>
          <a:stretch/>
        </p:blipFill>
        <p:spPr>
          <a:xfrm>
            <a:off x="8449933" y="20987"/>
            <a:ext cx="491718" cy="458167"/>
          </a:xfrm>
          <a:prstGeom prst="rect">
            <a:avLst/>
          </a:prstGeom>
        </p:spPr>
      </p:pic>
      <p:sp>
        <p:nvSpPr>
          <p:cNvPr id="74" name="Title 73">
            <a:extLst>
              <a:ext uri="{FF2B5EF4-FFF2-40B4-BE49-F238E27FC236}">
                <a16:creationId xmlns:a16="http://schemas.microsoft.com/office/drawing/2014/main" id="{84579C3E-9D3B-D7C9-B6FC-74E7200F7B18}"/>
              </a:ext>
            </a:extLst>
          </p:cNvPr>
          <p:cNvSpPr>
            <a:spLocks noGrp="1"/>
          </p:cNvSpPr>
          <p:nvPr>
            <p:ph type="title"/>
          </p:nvPr>
        </p:nvSpPr>
        <p:spPr/>
        <p:txBody>
          <a:bodyPr/>
          <a:lstStyle/>
          <a:p>
            <a:endParaRPr lang="en-US" sz="100" dirty="0"/>
          </a:p>
        </p:txBody>
      </p:sp>
      <p:sp>
        <p:nvSpPr>
          <p:cNvPr id="75" name="Content Placeholder 74">
            <a:extLst>
              <a:ext uri="{FF2B5EF4-FFF2-40B4-BE49-F238E27FC236}">
                <a16:creationId xmlns:a16="http://schemas.microsoft.com/office/drawing/2014/main" id="{082FCEFD-1124-EB4D-2917-CC5BCEF55CFA}"/>
              </a:ext>
            </a:extLst>
          </p:cNvPr>
          <p:cNvSpPr>
            <a:spLocks noGrp="1"/>
          </p:cNvSpPr>
          <p:nvPr>
            <p:ph idx="1"/>
          </p:nvPr>
        </p:nvSpPr>
        <p:spPr/>
        <p:txBody>
          <a:bodyPr/>
          <a:lstStyle/>
          <a:p>
            <a:endParaRPr lang="en-US" sz="100" dirty="0"/>
          </a:p>
        </p:txBody>
      </p:sp>
    </p:spTree>
    <p:extLst>
      <p:ext uri="{BB962C8B-B14F-4D97-AF65-F5344CB8AC3E}">
        <p14:creationId xmlns:p14="http://schemas.microsoft.com/office/powerpoint/2010/main" val="2600356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5332790" cy="364901"/>
          </a:xfrm>
        </p:spPr>
        <p:txBody>
          <a:bodyPr anchor="ctr"/>
          <a:lstStyle/>
          <a:p>
            <a:r>
              <a:rPr lang="en-US" sz="2000" dirty="0">
                <a:ea typeface="ヒラギノ角ゴ Std W6" pitchFamily="34" charset="-128"/>
              </a:rPr>
              <a:t>High Level User Flow – Frond End</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20</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pic>
        <p:nvPicPr>
          <p:cNvPr id="4" name="Picture 3">
            <a:extLst>
              <a:ext uri="{FF2B5EF4-FFF2-40B4-BE49-F238E27FC236}">
                <a16:creationId xmlns:a16="http://schemas.microsoft.com/office/drawing/2014/main" id="{1A45D0A3-FD96-0DF8-7573-72888FC74028}"/>
              </a:ext>
            </a:extLst>
          </p:cNvPr>
          <p:cNvPicPr>
            <a:picLocks noChangeAspect="1"/>
          </p:cNvPicPr>
          <p:nvPr/>
        </p:nvPicPr>
        <p:blipFill>
          <a:blip r:embed="rId4"/>
          <a:stretch>
            <a:fillRect/>
          </a:stretch>
        </p:blipFill>
        <p:spPr>
          <a:xfrm>
            <a:off x="242611" y="929413"/>
            <a:ext cx="6669649" cy="3905461"/>
          </a:xfrm>
          <a:prstGeom prst="rect">
            <a:avLst/>
          </a:prstGeom>
        </p:spPr>
      </p:pic>
    </p:spTree>
    <p:extLst>
      <p:ext uri="{BB962C8B-B14F-4D97-AF65-F5344CB8AC3E}">
        <p14:creationId xmlns:p14="http://schemas.microsoft.com/office/powerpoint/2010/main" val="3561432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5332790" cy="364901"/>
          </a:xfrm>
        </p:spPr>
        <p:txBody>
          <a:bodyPr anchor="ctr"/>
          <a:lstStyle/>
          <a:p>
            <a:r>
              <a:rPr lang="en-US" sz="2000" dirty="0">
                <a:ea typeface="ヒラギノ角ゴ Std W6" pitchFamily="34" charset="-128"/>
              </a:rPr>
              <a:t>High Level User Flow – CMS Microsite</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21</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pic>
        <p:nvPicPr>
          <p:cNvPr id="4" name="Picture 3">
            <a:extLst>
              <a:ext uri="{FF2B5EF4-FFF2-40B4-BE49-F238E27FC236}">
                <a16:creationId xmlns:a16="http://schemas.microsoft.com/office/drawing/2014/main" id="{BA414108-668D-7213-B7B4-40A9390A1E53}"/>
              </a:ext>
            </a:extLst>
          </p:cNvPr>
          <p:cNvPicPr>
            <a:picLocks noChangeAspect="1"/>
          </p:cNvPicPr>
          <p:nvPr/>
        </p:nvPicPr>
        <p:blipFill>
          <a:blip r:embed="rId4"/>
          <a:stretch>
            <a:fillRect/>
          </a:stretch>
        </p:blipFill>
        <p:spPr>
          <a:xfrm>
            <a:off x="250260" y="726545"/>
            <a:ext cx="6982919" cy="4024148"/>
          </a:xfrm>
          <a:prstGeom prst="rect">
            <a:avLst/>
          </a:prstGeom>
        </p:spPr>
      </p:pic>
    </p:spTree>
    <p:extLst>
      <p:ext uri="{BB962C8B-B14F-4D97-AF65-F5344CB8AC3E}">
        <p14:creationId xmlns:p14="http://schemas.microsoft.com/office/powerpoint/2010/main" val="3277456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393130" cy="364901"/>
          </a:xfrm>
        </p:spPr>
        <p:txBody>
          <a:bodyPr anchor="ctr"/>
          <a:lstStyle/>
          <a:p>
            <a:r>
              <a:rPr lang="en-US" sz="2000" dirty="0">
                <a:ea typeface="ヒラギノ角ゴ Std W6" pitchFamily="34" charset="-128"/>
              </a:rPr>
              <a:t>Operation Model</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22</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2" name="Rounded Rectangle 15">
            <a:extLst>
              <a:ext uri="{FF2B5EF4-FFF2-40B4-BE49-F238E27FC236}">
                <a16:creationId xmlns:a16="http://schemas.microsoft.com/office/drawing/2014/main" id="{72D5B23B-0A4A-5A7A-5865-A9248A5FD519}"/>
              </a:ext>
            </a:extLst>
          </p:cNvPr>
          <p:cNvSpPr/>
          <p:nvPr/>
        </p:nvSpPr>
        <p:spPr>
          <a:xfrm>
            <a:off x="341530" y="615216"/>
            <a:ext cx="5569703" cy="4055158"/>
          </a:xfrm>
          <a:prstGeom prst="roundRect">
            <a:avLst>
              <a:gd name="adj" fmla="val 335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kumimoji="0" lang="en-US" sz="1350">
              <a:solidFill>
                <a:schemeClr val="accent5">
                  <a:lumMod val="75000"/>
                </a:schemeClr>
              </a:solidFill>
              <a:latin typeface="Calibri"/>
            </a:endParaRPr>
          </a:p>
        </p:txBody>
      </p:sp>
      <p:sp>
        <p:nvSpPr>
          <p:cNvPr id="5" name="Slide Number Placeholder 4">
            <a:extLst>
              <a:ext uri="{FF2B5EF4-FFF2-40B4-BE49-F238E27FC236}">
                <a16:creationId xmlns:a16="http://schemas.microsoft.com/office/drawing/2014/main" id="{136F0555-71D4-AD7E-C4C7-3B6262EC64F6}"/>
              </a:ext>
            </a:extLst>
          </p:cNvPr>
          <p:cNvSpPr txBox="1">
            <a:spLocks/>
          </p:cNvSpPr>
          <p:nvPr/>
        </p:nvSpPr>
        <p:spPr>
          <a:xfrm>
            <a:off x="8834277" y="4690389"/>
            <a:ext cx="209550" cy="171450"/>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rgbClr val="686D71"/>
                </a:solidFill>
                <a:latin typeface="MMC OFFICE" panose="00000500000000000000" pitchFamily="2" charset="0"/>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28575" algn="l" defTabSz="685800">
              <a:lnSpc>
                <a:spcPts val="915"/>
              </a:lnSpc>
              <a:defRPr/>
            </a:pPr>
            <a:fld id="{81D60167-4931-47E6-BA6A-407CBD079E47}" type="slidenum">
              <a:rPr kumimoji="0" lang="en-US" sz="863" spc="11" smtClean="0">
                <a:solidFill>
                  <a:schemeClr val="accent5">
                    <a:lumMod val="75000"/>
                  </a:schemeClr>
                </a:solidFill>
                <a:latin typeface="Calibri"/>
                <a:cs typeface="Calibri"/>
              </a:rPr>
              <a:pPr marL="28575" algn="l" defTabSz="685800">
                <a:lnSpc>
                  <a:spcPts val="915"/>
                </a:lnSpc>
                <a:defRPr/>
              </a:pPr>
              <a:t>22</a:t>
            </a:fld>
            <a:endParaRPr kumimoji="0" lang="en-US" sz="863" spc="11">
              <a:solidFill>
                <a:schemeClr val="accent5">
                  <a:lumMod val="75000"/>
                </a:schemeClr>
              </a:solidFill>
              <a:latin typeface="Calibri"/>
              <a:cs typeface="Calibri"/>
            </a:endParaRPr>
          </a:p>
        </p:txBody>
      </p:sp>
      <p:sp>
        <p:nvSpPr>
          <p:cNvPr id="13" name="object 3">
            <a:extLst>
              <a:ext uri="{FF2B5EF4-FFF2-40B4-BE49-F238E27FC236}">
                <a16:creationId xmlns:a16="http://schemas.microsoft.com/office/drawing/2014/main" id="{70D41AA8-7453-3D0A-DC6A-28AD1A5EB635}"/>
              </a:ext>
            </a:extLst>
          </p:cNvPr>
          <p:cNvSpPr txBox="1"/>
          <p:nvPr/>
        </p:nvSpPr>
        <p:spPr>
          <a:xfrm>
            <a:off x="6000774" y="615217"/>
            <a:ext cx="2519994" cy="1353960"/>
          </a:xfrm>
          <a:prstGeom prst="rect">
            <a:avLst/>
          </a:prstGeom>
        </p:spPr>
        <p:txBody>
          <a:bodyPr vert="horz" wrap="square" lIns="0" tIns="9525" rIns="0" bIns="0" rtlCol="0">
            <a:spAutoFit/>
          </a:bodyPr>
          <a:lstStyle/>
          <a:p>
            <a:pPr marL="127397" lvl="1" defTabSz="685800">
              <a:lnSpc>
                <a:spcPct val="114000"/>
              </a:lnSpc>
              <a:tabLst>
                <a:tab pos="177641" algn="l"/>
              </a:tabLst>
              <a:defRPr/>
            </a:pPr>
            <a:r>
              <a:rPr kumimoji="0" lang="en-US" sz="1200" b="1" u="sng" dirty="0">
                <a:solidFill>
                  <a:schemeClr val="accent5">
                    <a:lumMod val="75000"/>
                  </a:schemeClr>
                </a:solidFill>
                <a:latin typeface="Calibri"/>
              </a:rPr>
              <a:t>Description:</a:t>
            </a:r>
            <a:br>
              <a:rPr kumimoji="0" lang="en-US" sz="1200" b="1" u="sng" dirty="0">
                <a:solidFill>
                  <a:schemeClr val="accent5">
                    <a:lumMod val="75000"/>
                  </a:schemeClr>
                </a:solidFill>
                <a:latin typeface="Calibri"/>
              </a:rPr>
            </a:br>
            <a:endParaRPr kumimoji="0" lang="en-US" sz="1200" b="1" u="sng" dirty="0">
              <a:solidFill>
                <a:schemeClr val="accent5">
                  <a:lumMod val="75000"/>
                </a:schemeClr>
              </a:solidFill>
              <a:latin typeface="Calibri"/>
            </a:endParaRPr>
          </a:p>
          <a:p>
            <a:pPr marL="264080" lvl="1" indent="-136684" defTabSz="685800">
              <a:buFont typeface="Arial"/>
              <a:buChar char="•"/>
              <a:tabLst>
                <a:tab pos="177641" algn="l"/>
              </a:tabLst>
              <a:defRPr/>
            </a:pPr>
            <a:r>
              <a:rPr kumimoji="0" lang="en-US" sz="1200" dirty="0">
                <a:solidFill>
                  <a:schemeClr val="accent5">
                    <a:lumMod val="75000"/>
                  </a:schemeClr>
                </a:solidFill>
                <a:latin typeface="Calibri"/>
              </a:rPr>
              <a:t>System can import Catalogue using export file from CAPS application</a:t>
            </a:r>
          </a:p>
          <a:p>
            <a:pPr marL="264080" lvl="1" indent="-136684" defTabSz="685800">
              <a:buFont typeface="Arial"/>
              <a:buChar char="•"/>
              <a:tabLst>
                <a:tab pos="177641" algn="l"/>
              </a:tabLst>
              <a:defRPr/>
            </a:pPr>
            <a:r>
              <a:rPr kumimoji="0" lang="en-US" sz="1200" dirty="0">
                <a:solidFill>
                  <a:schemeClr val="accent5">
                    <a:lumMod val="75000"/>
                  </a:schemeClr>
                </a:solidFill>
                <a:latin typeface="Calibri"/>
              </a:rPr>
              <a:t>System can import image part catalogue and automatic create hotspot data (use OCR technology)</a:t>
            </a:r>
          </a:p>
        </p:txBody>
      </p:sp>
      <p:pic>
        <p:nvPicPr>
          <p:cNvPr id="14" name="Picture 13">
            <a:extLst>
              <a:ext uri="{FF2B5EF4-FFF2-40B4-BE49-F238E27FC236}">
                <a16:creationId xmlns:a16="http://schemas.microsoft.com/office/drawing/2014/main" id="{730FA0BA-9D58-E25D-014D-25EDAA955C24}"/>
              </a:ext>
            </a:extLst>
          </p:cNvPr>
          <p:cNvPicPr>
            <a:picLocks noChangeAspect="1"/>
          </p:cNvPicPr>
          <p:nvPr/>
        </p:nvPicPr>
        <p:blipFill>
          <a:blip r:embed="rId4"/>
          <a:stretch>
            <a:fillRect/>
          </a:stretch>
        </p:blipFill>
        <p:spPr>
          <a:xfrm>
            <a:off x="476488" y="868433"/>
            <a:ext cx="1894217" cy="1087623"/>
          </a:xfrm>
          <a:prstGeom prst="rect">
            <a:avLst/>
          </a:prstGeom>
          <a:ln>
            <a:solidFill>
              <a:srgbClr val="FF0000"/>
            </a:solidFill>
          </a:ln>
        </p:spPr>
      </p:pic>
      <p:sp>
        <p:nvSpPr>
          <p:cNvPr id="15" name="TextBox 14">
            <a:extLst>
              <a:ext uri="{FF2B5EF4-FFF2-40B4-BE49-F238E27FC236}">
                <a16:creationId xmlns:a16="http://schemas.microsoft.com/office/drawing/2014/main" id="{68538A3D-1FB3-FABB-99DF-1DBD8D821240}"/>
              </a:ext>
            </a:extLst>
          </p:cNvPr>
          <p:cNvSpPr txBox="1"/>
          <p:nvPr/>
        </p:nvSpPr>
        <p:spPr>
          <a:xfrm>
            <a:off x="485152" y="2013390"/>
            <a:ext cx="1770511" cy="230832"/>
          </a:xfrm>
          <a:prstGeom prst="rect">
            <a:avLst/>
          </a:prstGeom>
          <a:noFill/>
        </p:spPr>
        <p:txBody>
          <a:bodyPr wrap="square" rtlCol="0">
            <a:spAutoFit/>
          </a:bodyPr>
          <a:lstStyle/>
          <a:p>
            <a:pPr defTabSz="685800">
              <a:defRPr/>
            </a:pPr>
            <a:r>
              <a:rPr kumimoji="0" lang="en-US" sz="900">
                <a:solidFill>
                  <a:schemeClr val="accent5">
                    <a:lumMod val="75000"/>
                  </a:schemeClr>
                </a:solidFill>
                <a:latin typeface="Calibri"/>
              </a:rPr>
              <a:t>Sample export file from CAPS</a:t>
            </a:r>
          </a:p>
        </p:txBody>
      </p:sp>
      <p:sp>
        <p:nvSpPr>
          <p:cNvPr id="16" name="TextBox 15">
            <a:extLst>
              <a:ext uri="{FF2B5EF4-FFF2-40B4-BE49-F238E27FC236}">
                <a16:creationId xmlns:a16="http://schemas.microsoft.com/office/drawing/2014/main" id="{BF1459D1-EA74-92B4-7822-BD3F0401E876}"/>
              </a:ext>
            </a:extLst>
          </p:cNvPr>
          <p:cNvSpPr txBox="1"/>
          <p:nvPr/>
        </p:nvSpPr>
        <p:spPr>
          <a:xfrm>
            <a:off x="392125" y="4334401"/>
            <a:ext cx="1894217" cy="230832"/>
          </a:xfrm>
          <a:prstGeom prst="rect">
            <a:avLst/>
          </a:prstGeom>
          <a:noFill/>
        </p:spPr>
        <p:txBody>
          <a:bodyPr wrap="square" rtlCol="0">
            <a:spAutoFit/>
          </a:bodyPr>
          <a:lstStyle/>
          <a:p>
            <a:pPr algn="ctr" defTabSz="685800">
              <a:defRPr/>
            </a:pPr>
            <a:r>
              <a:rPr kumimoji="0" lang="en-US" sz="900">
                <a:solidFill>
                  <a:schemeClr val="accent5">
                    <a:lumMod val="75000"/>
                  </a:schemeClr>
                </a:solidFill>
                <a:latin typeface="Calibri"/>
              </a:rPr>
              <a:t>Sample image captured from CAPS</a:t>
            </a:r>
          </a:p>
        </p:txBody>
      </p:sp>
      <p:pic>
        <p:nvPicPr>
          <p:cNvPr id="17" name="Picture 16">
            <a:extLst>
              <a:ext uri="{FF2B5EF4-FFF2-40B4-BE49-F238E27FC236}">
                <a16:creationId xmlns:a16="http://schemas.microsoft.com/office/drawing/2014/main" id="{2EDE2A54-02E8-B01E-CE5C-8F90B02F320F}"/>
              </a:ext>
            </a:extLst>
          </p:cNvPr>
          <p:cNvPicPr>
            <a:picLocks noChangeAspect="1"/>
          </p:cNvPicPr>
          <p:nvPr/>
        </p:nvPicPr>
        <p:blipFill>
          <a:blip r:embed="rId5"/>
          <a:stretch>
            <a:fillRect/>
          </a:stretch>
        </p:blipFill>
        <p:spPr>
          <a:xfrm>
            <a:off x="3763857" y="1435684"/>
            <a:ext cx="1655998" cy="2099873"/>
          </a:xfrm>
          <a:prstGeom prst="rect">
            <a:avLst/>
          </a:prstGeom>
        </p:spPr>
      </p:pic>
      <p:sp>
        <p:nvSpPr>
          <p:cNvPr id="18" name="TextBox 17">
            <a:extLst>
              <a:ext uri="{FF2B5EF4-FFF2-40B4-BE49-F238E27FC236}">
                <a16:creationId xmlns:a16="http://schemas.microsoft.com/office/drawing/2014/main" id="{0D345309-6166-392F-9BEF-48C7E13063CB}"/>
              </a:ext>
            </a:extLst>
          </p:cNvPr>
          <p:cNvSpPr txBox="1"/>
          <p:nvPr/>
        </p:nvSpPr>
        <p:spPr>
          <a:xfrm>
            <a:off x="3763857" y="3608110"/>
            <a:ext cx="1655998" cy="346249"/>
          </a:xfrm>
          <a:prstGeom prst="rect">
            <a:avLst/>
          </a:prstGeom>
          <a:noFill/>
        </p:spPr>
        <p:txBody>
          <a:bodyPr wrap="square" rtlCol="0">
            <a:spAutoFit/>
          </a:bodyPr>
          <a:lstStyle/>
          <a:p>
            <a:pPr algn="ctr" defTabSz="685800">
              <a:defRPr/>
            </a:pPr>
            <a:r>
              <a:rPr kumimoji="0" lang="en-US" sz="825">
                <a:solidFill>
                  <a:schemeClr val="accent5">
                    <a:lumMod val="75000"/>
                  </a:schemeClr>
                </a:solidFill>
                <a:latin typeface="Calibri"/>
              </a:rPr>
              <a:t>Output Sample OCR result for hotspot data</a:t>
            </a:r>
          </a:p>
        </p:txBody>
      </p:sp>
      <p:pic>
        <p:nvPicPr>
          <p:cNvPr id="19" name="Picture 18">
            <a:extLst>
              <a:ext uri="{FF2B5EF4-FFF2-40B4-BE49-F238E27FC236}">
                <a16:creationId xmlns:a16="http://schemas.microsoft.com/office/drawing/2014/main" id="{305D995C-202D-0274-B85B-87E30DA64015}"/>
              </a:ext>
            </a:extLst>
          </p:cNvPr>
          <p:cNvPicPr>
            <a:picLocks noChangeAspect="1"/>
          </p:cNvPicPr>
          <p:nvPr/>
        </p:nvPicPr>
        <p:blipFill>
          <a:blip r:embed="rId6"/>
          <a:stretch>
            <a:fillRect/>
          </a:stretch>
        </p:blipFill>
        <p:spPr>
          <a:xfrm>
            <a:off x="763773" y="2663283"/>
            <a:ext cx="1284050" cy="1613784"/>
          </a:xfrm>
          <a:prstGeom prst="rect">
            <a:avLst/>
          </a:prstGeom>
          <a:ln>
            <a:solidFill>
              <a:srgbClr val="FF0000"/>
            </a:solidFill>
          </a:ln>
        </p:spPr>
      </p:pic>
      <p:sp>
        <p:nvSpPr>
          <p:cNvPr id="20" name="Right Brace 19">
            <a:extLst>
              <a:ext uri="{FF2B5EF4-FFF2-40B4-BE49-F238E27FC236}">
                <a16:creationId xmlns:a16="http://schemas.microsoft.com/office/drawing/2014/main" id="{3052B7E3-2ADF-D331-F7A7-A768D91F5D68}"/>
              </a:ext>
            </a:extLst>
          </p:cNvPr>
          <p:cNvSpPr/>
          <p:nvPr/>
        </p:nvSpPr>
        <p:spPr>
          <a:xfrm>
            <a:off x="2418339" y="1308363"/>
            <a:ext cx="764599" cy="2813371"/>
          </a:xfrm>
          <a:prstGeom prst="rightBrace">
            <a:avLst>
              <a:gd name="adj1" fmla="val 4114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kumimoji="0" lang="en-US" sz="1350">
              <a:solidFill>
                <a:schemeClr val="accent5">
                  <a:lumMod val="75000"/>
                </a:schemeClr>
              </a:solidFill>
              <a:latin typeface="Calibri"/>
            </a:endParaRPr>
          </a:p>
        </p:txBody>
      </p:sp>
      <p:sp>
        <p:nvSpPr>
          <p:cNvPr id="22" name="TextBox 21">
            <a:extLst>
              <a:ext uri="{FF2B5EF4-FFF2-40B4-BE49-F238E27FC236}">
                <a16:creationId xmlns:a16="http://schemas.microsoft.com/office/drawing/2014/main" id="{F689057F-5AE8-05E8-7161-22ABD5271E6C}"/>
              </a:ext>
            </a:extLst>
          </p:cNvPr>
          <p:cNvSpPr txBox="1"/>
          <p:nvPr/>
        </p:nvSpPr>
        <p:spPr>
          <a:xfrm>
            <a:off x="2811546" y="2243211"/>
            <a:ext cx="974383" cy="346249"/>
          </a:xfrm>
          <a:prstGeom prst="rect">
            <a:avLst/>
          </a:prstGeom>
          <a:noFill/>
        </p:spPr>
        <p:txBody>
          <a:bodyPr wrap="square" rtlCol="0">
            <a:spAutoFit/>
          </a:bodyPr>
          <a:lstStyle/>
          <a:p>
            <a:pPr defTabSz="685800">
              <a:defRPr/>
            </a:pPr>
            <a:r>
              <a:rPr kumimoji="0" lang="en-US" sz="825">
                <a:solidFill>
                  <a:schemeClr val="accent5">
                    <a:lumMod val="75000"/>
                  </a:schemeClr>
                </a:solidFill>
                <a:latin typeface="Calibri"/>
              </a:rPr>
              <a:t>Matching Data image + text</a:t>
            </a:r>
          </a:p>
        </p:txBody>
      </p:sp>
    </p:spTree>
    <p:extLst>
      <p:ext uri="{BB962C8B-B14F-4D97-AF65-F5344CB8AC3E}">
        <p14:creationId xmlns:p14="http://schemas.microsoft.com/office/powerpoint/2010/main" val="592083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FFA62EF7-207F-BE6E-AB1E-1236C6A21056}"/>
              </a:ext>
            </a:extLst>
          </p:cNvPr>
          <p:cNvSpPr/>
          <p:nvPr/>
        </p:nvSpPr>
        <p:spPr>
          <a:xfrm>
            <a:off x="3665290" y="2456334"/>
            <a:ext cx="768714"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33" name="Rectangle 32">
            <a:extLst>
              <a:ext uri="{FF2B5EF4-FFF2-40B4-BE49-F238E27FC236}">
                <a16:creationId xmlns:a16="http://schemas.microsoft.com/office/drawing/2014/main" id="{2A524886-70C0-609C-5FB2-43B0C7D4146E}"/>
              </a:ext>
            </a:extLst>
          </p:cNvPr>
          <p:cNvSpPr/>
          <p:nvPr/>
        </p:nvSpPr>
        <p:spPr>
          <a:xfrm>
            <a:off x="1665396" y="2456334"/>
            <a:ext cx="14401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0" name="Rectangle 39">
            <a:extLst>
              <a:ext uri="{FF2B5EF4-FFF2-40B4-BE49-F238E27FC236}">
                <a16:creationId xmlns:a16="http://schemas.microsoft.com/office/drawing/2014/main" id="{C0334B50-A0EC-C7F7-7A27-0B5FF3AF3B3F}"/>
              </a:ext>
            </a:extLst>
          </p:cNvPr>
          <p:cNvSpPr/>
          <p:nvPr/>
        </p:nvSpPr>
        <p:spPr>
          <a:xfrm>
            <a:off x="1665398" y="1531751"/>
            <a:ext cx="14401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 name="Title 1">
            <a:extLst>
              <a:ext uri="{FF2B5EF4-FFF2-40B4-BE49-F238E27FC236}">
                <a16:creationId xmlns:a16="http://schemas.microsoft.com/office/drawing/2014/main" id="{134200FE-FE72-104A-9CC9-F4D669BE92D0}"/>
              </a:ext>
            </a:extLst>
          </p:cNvPr>
          <p:cNvSpPr>
            <a:spLocks noGrp="1"/>
          </p:cNvSpPr>
          <p:nvPr>
            <p:ph type="title"/>
          </p:nvPr>
        </p:nvSpPr>
        <p:spPr/>
        <p:txBody>
          <a:bodyPr/>
          <a:lstStyle/>
          <a:p>
            <a:pPr algn="l"/>
            <a:endParaRPr lang="en-US" sz="100" dirty="0"/>
          </a:p>
        </p:txBody>
      </p:sp>
      <p:sp>
        <p:nvSpPr>
          <p:cNvPr id="3" name="Content Placeholder 2">
            <a:extLst>
              <a:ext uri="{FF2B5EF4-FFF2-40B4-BE49-F238E27FC236}">
                <a16:creationId xmlns:a16="http://schemas.microsoft.com/office/drawing/2014/main" id="{2BE1E82A-BCE1-5FAF-252D-DD386D7368AB}"/>
              </a:ext>
            </a:extLst>
          </p:cNvPr>
          <p:cNvSpPr>
            <a:spLocks noGrp="1"/>
          </p:cNvSpPr>
          <p:nvPr>
            <p:ph idx="1"/>
          </p:nvPr>
        </p:nvSpPr>
        <p:spPr/>
        <p:txBody>
          <a:bodyPr/>
          <a:lstStyle/>
          <a:p>
            <a:r>
              <a:rPr lang="en-US" sz="100" dirty="0"/>
              <a:t>1</a:t>
            </a:r>
          </a:p>
        </p:txBody>
      </p:sp>
      <p:pic>
        <p:nvPicPr>
          <p:cNvPr id="7" name="Picture 6">
            <a:extLst>
              <a:ext uri="{FF2B5EF4-FFF2-40B4-BE49-F238E27FC236}">
                <a16:creationId xmlns:a16="http://schemas.microsoft.com/office/drawing/2014/main" id="{C782392F-6200-C8AA-2B19-815CC5B02497}"/>
              </a:ext>
            </a:extLst>
          </p:cNvPr>
          <p:cNvPicPr>
            <a:picLocks noChangeAspect="1"/>
          </p:cNvPicPr>
          <p:nvPr/>
        </p:nvPicPr>
        <p:blipFill>
          <a:blip r:embed="rId4"/>
          <a:stretch>
            <a:fillRect/>
          </a:stretch>
        </p:blipFill>
        <p:spPr>
          <a:xfrm>
            <a:off x="867784" y="2270285"/>
            <a:ext cx="360356" cy="500754"/>
          </a:xfrm>
          <a:prstGeom prst="rect">
            <a:avLst/>
          </a:prstGeom>
        </p:spPr>
      </p:pic>
      <p:sp>
        <p:nvSpPr>
          <p:cNvPr id="12" name="Rectangle: Top Corners Rounded 11">
            <a:extLst>
              <a:ext uri="{FF2B5EF4-FFF2-40B4-BE49-F238E27FC236}">
                <a16:creationId xmlns:a16="http://schemas.microsoft.com/office/drawing/2014/main" id="{6BE0980D-5C76-4099-8E9F-31FE3D894B26}"/>
              </a:ext>
            </a:extLst>
          </p:cNvPr>
          <p:cNvSpPr/>
          <p:nvPr/>
        </p:nvSpPr>
        <p:spPr>
          <a:xfrm>
            <a:off x="2111472" y="1368287"/>
            <a:ext cx="887358"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ASA (CAPS)</a:t>
            </a:r>
            <a:br>
              <a:rPr lang="en-US" sz="900">
                <a:latin typeface="Helvetica Neue" panose="02000503000000020004"/>
              </a:rPr>
            </a:br>
            <a:r>
              <a:rPr lang="en-US" sz="900">
                <a:latin typeface="Helvetica Neue" panose="02000503000000020004"/>
              </a:rPr>
              <a:t>Application</a:t>
            </a:r>
          </a:p>
        </p:txBody>
      </p:sp>
      <p:sp>
        <p:nvSpPr>
          <p:cNvPr id="13" name="Arrow: Right 12">
            <a:extLst>
              <a:ext uri="{FF2B5EF4-FFF2-40B4-BE49-F238E27FC236}">
                <a16:creationId xmlns:a16="http://schemas.microsoft.com/office/drawing/2014/main" id="{38F77801-1B1C-3FBD-C570-B4BD663DF43B}"/>
              </a:ext>
            </a:extLst>
          </p:cNvPr>
          <p:cNvSpPr/>
          <p:nvPr/>
        </p:nvSpPr>
        <p:spPr>
          <a:xfrm>
            <a:off x="1325824" y="2346275"/>
            <a:ext cx="245474" cy="458539"/>
          </a:xfrm>
          <a:prstGeom prst="rightArrow">
            <a:avLst/>
          </a:prstGeom>
          <a:solidFill>
            <a:schemeClr val="accent1"/>
          </a:solidFill>
        </p:spPr>
        <p:txBody>
          <a:bodyPr wrap="none" rtlCol="0" anchor="ctr">
            <a:spAutoFit/>
          </a:bodyPr>
          <a:lstStyle/>
          <a:p>
            <a:pPr algn="ctr"/>
            <a:endParaRPr lang="en-US" sz="900"/>
          </a:p>
        </p:txBody>
      </p:sp>
      <p:pic>
        <p:nvPicPr>
          <p:cNvPr id="32" name="Graphic 31" descr="Users with solid fill">
            <a:extLst>
              <a:ext uri="{FF2B5EF4-FFF2-40B4-BE49-F238E27FC236}">
                <a16:creationId xmlns:a16="http://schemas.microsoft.com/office/drawing/2014/main" id="{3364C5ED-0904-1D8C-915A-818A51CAD8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2317" y="1386370"/>
            <a:ext cx="590291" cy="590291"/>
          </a:xfrm>
          <a:prstGeom prst="rect">
            <a:avLst/>
          </a:prstGeom>
        </p:spPr>
      </p:pic>
      <p:pic>
        <p:nvPicPr>
          <p:cNvPr id="34" name="Graphic 33" descr="Users with solid fill">
            <a:extLst>
              <a:ext uri="{FF2B5EF4-FFF2-40B4-BE49-F238E27FC236}">
                <a16:creationId xmlns:a16="http://schemas.microsoft.com/office/drawing/2014/main" id="{F0C9F4FF-FF81-DD2A-16FB-1FFAD08AEA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50158" y="2016802"/>
            <a:ext cx="590291" cy="590291"/>
          </a:xfrm>
          <a:prstGeom prst="rect">
            <a:avLst/>
          </a:prstGeom>
        </p:spPr>
      </p:pic>
      <p:sp>
        <p:nvSpPr>
          <p:cNvPr id="36" name="Rectangle: Top Corners Rounded 35">
            <a:extLst>
              <a:ext uri="{FF2B5EF4-FFF2-40B4-BE49-F238E27FC236}">
                <a16:creationId xmlns:a16="http://schemas.microsoft.com/office/drawing/2014/main" id="{B68339C5-281B-B97B-C1BF-4CDF1A59FB7B}"/>
              </a:ext>
            </a:extLst>
          </p:cNvPr>
          <p:cNvSpPr/>
          <p:nvPr/>
        </p:nvSpPr>
        <p:spPr>
          <a:xfrm>
            <a:off x="3721519" y="1820408"/>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A</a:t>
            </a:r>
          </a:p>
        </p:txBody>
      </p:sp>
      <p:sp>
        <p:nvSpPr>
          <p:cNvPr id="37" name="Rectangle: Top Corners Rounded 36">
            <a:extLst>
              <a:ext uri="{FF2B5EF4-FFF2-40B4-BE49-F238E27FC236}">
                <a16:creationId xmlns:a16="http://schemas.microsoft.com/office/drawing/2014/main" id="{9201756E-B002-5213-1531-E8DBA27D790E}"/>
              </a:ext>
            </a:extLst>
          </p:cNvPr>
          <p:cNvSpPr/>
          <p:nvPr/>
        </p:nvSpPr>
        <p:spPr>
          <a:xfrm>
            <a:off x="3719359" y="2442709"/>
            <a:ext cx="651888" cy="241995"/>
          </a:xfrm>
          <a:prstGeom prst="round2SameRect">
            <a:avLst/>
          </a:prstGeom>
          <a:noFill/>
          <a:ln w="28575">
            <a:noFill/>
          </a:ln>
        </p:spPr>
        <p:txBody>
          <a:bodyPr wrap="none" rtlCol="0" anchor="ctr">
            <a:spAutoFit/>
          </a:bodyPr>
          <a:lstStyle/>
          <a:p>
            <a:pPr algn="ctr"/>
            <a:r>
              <a:rPr lang="en-US" sz="900">
                <a:latin typeface="Helvetica Neue" panose="02000503000000020004"/>
              </a:rPr>
              <a:t>Dealer B</a:t>
            </a:r>
          </a:p>
        </p:txBody>
      </p:sp>
      <p:sp>
        <p:nvSpPr>
          <p:cNvPr id="48" name="Oval 47">
            <a:extLst>
              <a:ext uri="{FF2B5EF4-FFF2-40B4-BE49-F238E27FC236}">
                <a16:creationId xmlns:a16="http://schemas.microsoft.com/office/drawing/2014/main" id="{3B059071-D539-EE07-6495-919FAEFD3A79}"/>
              </a:ext>
            </a:extLst>
          </p:cNvPr>
          <p:cNvSpPr/>
          <p:nvPr/>
        </p:nvSpPr>
        <p:spPr>
          <a:xfrm>
            <a:off x="1551935" y="1156430"/>
            <a:ext cx="228656" cy="324594"/>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49" name="TextBox 48">
            <a:extLst>
              <a:ext uri="{FF2B5EF4-FFF2-40B4-BE49-F238E27FC236}">
                <a16:creationId xmlns:a16="http://schemas.microsoft.com/office/drawing/2014/main" id="{7DC302B7-E266-F9AE-B3F4-B61544121141}"/>
              </a:ext>
            </a:extLst>
          </p:cNvPr>
          <p:cNvSpPr txBox="1"/>
          <p:nvPr/>
        </p:nvSpPr>
        <p:spPr bwMode="auto">
          <a:xfrm>
            <a:off x="1542692" y="1220644"/>
            <a:ext cx="213116" cy="230832"/>
          </a:xfrm>
          <a:prstGeom prst="rect">
            <a:avLst/>
          </a:prstGeom>
          <a:noFill/>
          <a:ln w="9525">
            <a:noFill/>
            <a:miter lim="800000"/>
            <a:headEnd/>
            <a:tailEnd/>
          </a:ln>
        </p:spPr>
        <p:txBody>
          <a:bodyPr wrap="square" rtlCol="0">
            <a:spAutoFit/>
          </a:bodyPr>
          <a:lstStyle/>
          <a:p>
            <a:pPr marL="40481" algn="ctr">
              <a:tabLst>
                <a:tab pos="255985" algn="l"/>
              </a:tabLst>
            </a:pPr>
            <a:r>
              <a:rPr lang="en-US" sz="900"/>
              <a:t>1</a:t>
            </a:r>
            <a:endParaRPr lang="en-US" sz="900">
              <a:cs typeface="Arial" charset="0"/>
            </a:endParaRPr>
          </a:p>
        </p:txBody>
      </p:sp>
      <p:sp>
        <p:nvSpPr>
          <p:cNvPr id="44" name="Rectangle 43">
            <a:extLst>
              <a:ext uri="{FF2B5EF4-FFF2-40B4-BE49-F238E27FC236}">
                <a16:creationId xmlns:a16="http://schemas.microsoft.com/office/drawing/2014/main" id="{2E467514-3B70-9F2C-C218-9E0AA527E3AA}"/>
              </a:ext>
            </a:extLst>
          </p:cNvPr>
          <p:cNvSpPr/>
          <p:nvPr/>
        </p:nvSpPr>
        <p:spPr>
          <a:xfrm>
            <a:off x="1674639" y="3331139"/>
            <a:ext cx="1440180" cy="230832"/>
          </a:xfrm>
          <a:prstGeom prst="rect">
            <a:avLst/>
          </a:prstGeom>
          <a:solidFill>
            <a:schemeClr val="accent2">
              <a:lumMod val="40000"/>
              <a:lumOff val="60000"/>
            </a:schemeClr>
          </a:solidFill>
        </p:spPr>
        <p:txBody>
          <a:bodyPr wrap="square" rtlCol="0" anchor="ctr">
            <a:spAutoFit/>
          </a:bodyPr>
          <a:lstStyle/>
          <a:p>
            <a:pPr algn="ctr"/>
            <a:endParaRPr lang="en-US" sz="900"/>
          </a:p>
        </p:txBody>
      </p:sp>
      <p:sp>
        <p:nvSpPr>
          <p:cNvPr id="47" name="Arrow: Right 46">
            <a:extLst>
              <a:ext uri="{FF2B5EF4-FFF2-40B4-BE49-F238E27FC236}">
                <a16:creationId xmlns:a16="http://schemas.microsoft.com/office/drawing/2014/main" id="{4939AB76-A396-5EBC-2A78-9CCEA8AB368C}"/>
              </a:ext>
            </a:extLst>
          </p:cNvPr>
          <p:cNvSpPr/>
          <p:nvPr/>
        </p:nvSpPr>
        <p:spPr>
          <a:xfrm rot="5400000">
            <a:off x="2349586" y="1882546"/>
            <a:ext cx="137160" cy="458539"/>
          </a:xfrm>
          <a:prstGeom prst="rightArrow">
            <a:avLst/>
          </a:prstGeom>
          <a:solidFill>
            <a:schemeClr val="accent1"/>
          </a:solidFill>
        </p:spPr>
        <p:txBody>
          <a:bodyPr wrap="square" rtlCol="0" anchor="ctr">
            <a:spAutoFit/>
          </a:bodyPr>
          <a:lstStyle/>
          <a:p>
            <a:pPr algn="ctr"/>
            <a:endParaRPr lang="en-US" sz="900"/>
          </a:p>
        </p:txBody>
      </p:sp>
      <p:sp>
        <p:nvSpPr>
          <p:cNvPr id="51" name="Rectangle: Top Corners Rounded 50">
            <a:extLst>
              <a:ext uri="{FF2B5EF4-FFF2-40B4-BE49-F238E27FC236}">
                <a16:creationId xmlns:a16="http://schemas.microsoft.com/office/drawing/2014/main" id="{7BA2A2B1-AA8A-D2DF-72C5-D0F1503254DC}"/>
              </a:ext>
            </a:extLst>
          </p:cNvPr>
          <p:cNvSpPr/>
          <p:nvPr/>
        </p:nvSpPr>
        <p:spPr>
          <a:xfrm>
            <a:off x="2127413" y="3168991"/>
            <a:ext cx="799625"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SAP </a:t>
            </a:r>
            <a:br>
              <a:rPr lang="en-US" sz="900">
                <a:latin typeface="Helvetica Neue" panose="02000503000000020004"/>
              </a:rPr>
            </a:br>
            <a:r>
              <a:rPr lang="en-US" sz="900">
                <a:latin typeface="Helvetica Neue" panose="02000503000000020004"/>
              </a:rPr>
              <a:t>Application</a:t>
            </a:r>
          </a:p>
        </p:txBody>
      </p:sp>
      <p:grpSp>
        <p:nvGrpSpPr>
          <p:cNvPr id="55" name="Group 54">
            <a:extLst>
              <a:ext uri="{FF2B5EF4-FFF2-40B4-BE49-F238E27FC236}">
                <a16:creationId xmlns:a16="http://schemas.microsoft.com/office/drawing/2014/main" id="{307E72C9-E7A7-27BB-86CD-A7D295C47AC5}"/>
              </a:ext>
            </a:extLst>
          </p:cNvPr>
          <p:cNvGrpSpPr/>
          <p:nvPr/>
        </p:nvGrpSpPr>
        <p:grpSpPr>
          <a:xfrm>
            <a:off x="1562666" y="2933238"/>
            <a:ext cx="237899" cy="324594"/>
            <a:chOff x="2361384" y="1749060"/>
            <a:chExt cx="317198" cy="432791"/>
          </a:xfrm>
        </p:grpSpPr>
        <p:sp>
          <p:nvSpPr>
            <p:cNvPr id="56" name="Oval 55">
              <a:extLst>
                <a:ext uri="{FF2B5EF4-FFF2-40B4-BE49-F238E27FC236}">
                  <a16:creationId xmlns:a16="http://schemas.microsoft.com/office/drawing/2014/main" id="{A01147EF-B362-6DEE-3133-E2778C796F2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57" name="TextBox 56">
              <a:extLst>
                <a:ext uri="{FF2B5EF4-FFF2-40B4-BE49-F238E27FC236}">
                  <a16:creationId xmlns:a16="http://schemas.microsoft.com/office/drawing/2014/main" id="{8ACA2461-1E0E-489C-135B-CB06EAF97647}"/>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t>2</a:t>
              </a:r>
              <a:endParaRPr lang="en-US" sz="900">
                <a:cs typeface="Arial" charset="0"/>
              </a:endParaRPr>
            </a:p>
          </p:txBody>
        </p:sp>
      </p:grpSp>
      <p:sp>
        <p:nvSpPr>
          <p:cNvPr id="58" name="Arrow: Right 57">
            <a:extLst>
              <a:ext uri="{FF2B5EF4-FFF2-40B4-BE49-F238E27FC236}">
                <a16:creationId xmlns:a16="http://schemas.microsoft.com/office/drawing/2014/main" id="{E3D41338-37AD-FA80-A99F-43F4A4BC972A}"/>
              </a:ext>
            </a:extLst>
          </p:cNvPr>
          <p:cNvSpPr/>
          <p:nvPr/>
        </p:nvSpPr>
        <p:spPr>
          <a:xfrm>
            <a:off x="3269090" y="2359217"/>
            <a:ext cx="245474" cy="458539"/>
          </a:xfrm>
          <a:prstGeom prst="rightArrow">
            <a:avLst/>
          </a:prstGeom>
          <a:solidFill>
            <a:schemeClr val="accent1"/>
          </a:solidFill>
        </p:spPr>
        <p:txBody>
          <a:bodyPr wrap="none" rtlCol="0" anchor="ctr">
            <a:spAutoFit/>
          </a:bodyPr>
          <a:lstStyle/>
          <a:p>
            <a:pPr algn="ctr"/>
            <a:endParaRPr lang="en-US" sz="900"/>
          </a:p>
        </p:txBody>
      </p:sp>
      <p:pic>
        <p:nvPicPr>
          <p:cNvPr id="69" name="Graphic 68" descr="Users with solid fill">
            <a:extLst>
              <a:ext uri="{FF2B5EF4-FFF2-40B4-BE49-F238E27FC236}">
                <a16:creationId xmlns:a16="http://schemas.microsoft.com/office/drawing/2014/main" id="{7A0E525F-712E-FDB0-BC6D-AA97DBC6DD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66041" y="2607092"/>
            <a:ext cx="590291" cy="590291"/>
          </a:xfrm>
          <a:prstGeom prst="rect">
            <a:avLst/>
          </a:prstGeom>
        </p:spPr>
      </p:pic>
      <p:sp>
        <p:nvSpPr>
          <p:cNvPr id="70" name="Rectangle: Top Corners Rounded 69">
            <a:extLst>
              <a:ext uri="{FF2B5EF4-FFF2-40B4-BE49-F238E27FC236}">
                <a16:creationId xmlns:a16="http://schemas.microsoft.com/office/drawing/2014/main" id="{15ECAAF4-1AF2-F27F-BA40-2C9742685F7E}"/>
              </a:ext>
            </a:extLst>
          </p:cNvPr>
          <p:cNvSpPr/>
          <p:nvPr/>
        </p:nvSpPr>
        <p:spPr>
          <a:xfrm>
            <a:off x="3673785" y="2988262"/>
            <a:ext cx="777250" cy="241995"/>
          </a:xfrm>
          <a:prstGeom prst="round2SameRect">
            <a:avLst/>
          </a:prstGeom>
          <a:noFill/>
          <a:ln w="28575">
            <a:noFill/>
          </a:ln>
        </p:spPr>
        <p:txBody>
          <a:bodyPr wrap="none" rtlCol="0" anchor="ctr">
            <a:spAutoFit/>
          </a:bodyPr>
          <a:lstStyle/>
          <a:p>
            <a:pPr algn="ctr"/>
            <a:r>
              <a:rPr lang="en-US" sz="900" err="1">
                <a:latin typeface="Helvetica Neue" panose="02000503000000020004"/>
              </a:rPr>
              <a:t>Partshop</a:t>
            </a:r>
            <a:r>
              <a:rPr lang="en-US" sz="900">
                <a:latin typeface="Helvetica Neue" panose="02000503000000020004"/>
              </a:rPr>
              <a:t> A</a:t>
            </a:r>
          </a:p>
        </p:txBody>
      </p:sp>
      <p:pic>
        <p:nvPicPr>
          <p:cNvPr id="71" name="Graphic 70" descr="Users with solid fill">
            <a:extLst>
              <a:ext uri="{FF2B5EF4-FFF2-40B4-BE49-F238E27FC236}">
                <a16:creationId xmlns:a16="http://schemas.microsoft.com/office/drawing/2014/main" id="{E6D0F0FA-40B2-84AD-9D8C-BF8A12A34C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66041" y="3191827"/>
            <a:ext cx="590291" cy="590291"/>
          </a:xfrm>
          <a:prstGeom prst="rect">
            <a:avLst/>
          </a:prstGeom>
        </p:spPr>
      </p:pic>
      <p:sp>
        <p:nvSpPr>
          <p:cNvPr id="72" name="Rectangle: Top Corners Rounded 71">
            <a:extLst>
              <a:ext uri="{FF2B5EF4-FFF2-40B4-BE49-F238E27FC236}">
                <a16:creationId xmlns:a16="http://schemas.microsoft.com/office/drawing/2014/main" id="{C596ED42-7833-C291-FEDD-25189EB35C6E}"/>
              </a:ext>
            </a:extLst>
          </p:cNvPr>
          <p:cNvSpPr/>
          <p:nvPr/>
        </p:nvSpPr>
        <p:spPr>
          <a:xfrm>
            <a:off x="3673785" y="3572997"/>
            <a:ext cx="777250" cy="241995"/>
          </a:xfrm>
          <a:prstGeom prst="round2SameRect">
            <a:avLst/>
          </a:prstGeom>
          <a:noFill/>
          <a:ln w="28575">
            <a:noFill/>
          </a:ln>
        </p:spPr>
        <p:txBody>
          <a:bodyPr wrap="none" rtlCol="0" anchor="ctr">
            <a:spAutoFit/>
          </a:bodyPr>
          <a:lstStyle/>
          <a:p>
            <a:pPr algn="ctr"/>
            <a:r>
              <a:rPr lang="en-US" sz="900" err="1">
                <a:latin typeface="Helvetica Neue" panose="02000503000000020004"/>
              </a:rPr>
              <a:t>Partshop</a:t>
            </a:r>
            <a:r>
              <a:rPr lang="en-US" sz="900">
                <a:latin typeface="Helvetica Neue" panose="02000503000000020004"/>
              </a:rPr>
              <a:t> B</a:t>
            </a:r>
          </a:p>
        </p:txBody>
      </p:sp>
      <p:grpSp>
        <p:nvGrpSpPr>
          <p:cNvPr id="78" name="Group 77">
            <a:extLst>
              <a:ext uri="{FF2B5EF4-FFF2-40B4-BE49-F238E27FC236}">
                <a16:creationId xmlns:a16="http://schemas.microsoft.com/office/drawing/2014/main" id="{D1820269-CC37-BDF3-5FB1-7E276C701C95}"/>
              </a:ext>
            </a:extLst>
          </p:cNvPr>
          <p:cNvGrpSpPr/>
          <p:nvPr/>
        </p:nvGrpSpPr>
        <p:grpSpPr>
          <a:xfrm>
            <a:off x="3567773" y="1199543"/>
            <a:ext cx="237899" cy="324594"/>
            <a:chOff x="2361384" y="1749060"/>
            <a:chExt cx="317198" cy="432791"/>
          </a:xfrm>
        </p:grpSpPr>
        <p:sp>
          <p:nvSpPr>
            <p:cNvPr id="79" name="Oval 78">
              <a:extLst>
                <a:ext uri="{FF2B5EF4-FFF2-40B4-BE49-F238E27FC236}">
                  <a16:creationId xmlns:a16="http://schemas.microsoft.com/office/drawing/2014/main" id="{EE74B787-AFEA-C1A1-8570-68454EAB1163}"/>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80" name="TextBox 79">
              <a:extLst>
                <a:ext uri="{FF2B5EF4-FFF2-40B4-BE49-F238E27FC236}">
                  <a16:creationId xmlns:a16="http://schemas.microsoft.com/office/drawing/2014/main" id="{0566BFCE-04E0-82CF-3BA0-411DB1F07BCC}"/>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cs typeface="Arial" charset="0"/>
                </a:rPr>
                <a:t>4</a:t>
              </a:r>
            </a:p>
          </p:txBody>
        </p:sp>
      </p:grpSp>
      <p:sp>
        <p:nvSpPr>
          <p:cNvPr id="11" name="Rectangle: Top Corners Rounded 10">
            <a:extLst>
              <a:ext uri="{FF2B5EF4-FFF2-40B4-BE49-F238E27FC236}">
                <a16:creationId xmlns:a16="http://schemas.microsoft.com/office/drawing/2014/main" id="{28FD2314-4EBF-13A0-BC83-C67583ECCE05}"/>
              </a:ext>
            </a:extLst>
          </p:cNvPr>
          <p:cNvSpPr/>
          <p:nvPr/>
        </p:nvSpPr>
        <p:spPr>
          <a:xfrm>
            <a:off x="2077288" y="2318228"/>
            <a:ext cx="1000244" cy="532388"/>
          </a:xfrm>
          <a:prstGeom prst="round2SameRect">
            <a:avLst/>
          </a:prstGeom>
          <a:noFill/>
          <a:ln w="28575">
            <a:noFill/>
          </a:ln>
        </p:spPr>
        <p:txBody>
          <a:bodyPr wrap="none" rtlCol="0" anchor="ctr">
            <a:spAutoFit/>
          </a:bodyPr>
          <a:lstStyle/>
          <a:p>
            <a:pPr algn="ctr"/>
            <a:r>
              <a:rPr lang="en-US" sz="900">
                <a:solidFill>
                  <a:srgbClr val="E60012"/>
                </a:solidFill>
                <a:latin typeface="Helvetica Neue" panose="02000503000000020004"/>
              </a:rPr>
              <a:t>Mitsubishi</a:t>
            </a:r>
            <a:r>
              <a:rPr lang="en-US" sz="900">
                <a:latin typeface="Helvetica Neue" panose="02000503000000020004"/>
              </a:rPr>
              <a:t> </a:t>
            </a:r>
          </a:p>
          <a:p>
            <a:pPr algn="ctr"/>
            <a:r>
              <a:rPr lang="en-US" sz="900">
                <a:latin typeface="Helvetica Neue" panose="02000503000000020004"/>
              </a:rPr>
              <a:t>Part Catalogue</a:t>
            </a:r>
          </a:p>
          <a:p>
            <a:pPr algn="ctr"/>
            <a:r>
              <a:rPr lang="en-US" sz="900">
                <a:latin typeface="Helvetica Neue" panose="02000503000000020004"/>
              </a:rPr>
              <a:t>Application</a:t>
            </a:r>
          </a:p>
        </p:txBody>
      </p:sp>
      <p:sp>
        <p:nvSpPr>
          <p:cNvPr id="14" name="Arrow: Right 13">
            <a:extLst>
              <a:ext uri="{FF2B5EF4-FFF2-40B4-BE49-F238E27FC236}">
                <a16:creationId xmlns:a16="http://schemas.microsoft.com/office/drawing/2014/main" id="{FD835175-4FB7-C90D-6E0A-D0EE58B4F35B}"/>
              </a:ext>
            </a:extLst>
          </p:cNvPr>
          <p:cNvSpPr/>
          <p:nvPr/>
        </p:nvSpPr>
        <p:spPr>
          <a:xfrm rot="16200000">
            <a:off x="2346139" y="2792183"/>
            <a:ext cx="137160" cy="458539"/>
          </a:xfrm>
          <a:prstGeom prst="rightArrow">
            <a:avLst/>
          </a:prstGeom>
          <a:solidFill>
            <a:schemeClr val="accent1"/>
          </a:solidFill>
        </p:spPr>
        <p:txBody>
          <a:bodyPr wrap="square" rtlCol="0" anchor="ctr">
            <a:spAutoFit/>
          </a:bodyPr>
          <a:lstStyle/>
          <a:p>
            <a:pPr algn="ctr"/>
            <a:endParaRPr lang="en-US" sz="900"/>
          </a:p>
        </p:txBody>
      </p:sp>
      <p:pic>
        <p:nvPicPr>
          <p:cNvPr id="16" name="Graphic 15" descr="Computer with solid fill">
            <a:extLst>
              <a:ext uri="{FF2B5EF4-FFF2-40B4-BE49-F238E27FC236}">
                <a16:creationId xmlns:a16="http://schemas.microsoft.com/office/drawing/2014/main" id="{55054F14-BB7E-7F18-3A3A-5D3C8B45FC6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6558" y="1486294"/>
            <a:ext cx="356972" cy="356972"/>
          </a:xfrm>
          <a:prstGeom prst="rect">
            <a:avLst/>
          </a:prstGeom>
        </p:spPr>
      </p:pic>
      <p:pic>
        <p:nvPicPr>
          <p:cNvPr id="18" name="Graphic 17" descr="Web design with solid fill">
            <a:extLst>
              <a:ext uri="{FF2B5EF4-FFF2-40B4-BE49-F238E27FC236}">
                <a16:creationId xmlns:a16="http://schemas.microsoft.com/office/drawing/2014/main" id="{B9E2CB5D-FB5B-1797-E957-4379FF79E7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45114" y="3226387"/>
            <a:ext cx="440337" cy="440337"/>
          </a:xfrm>
          <a:prstGeom prst="rect">
            <a:avLst/>
          </a:prstGeom>
        </p:spPr>
      </p:pic>
      <p:pic>
        <p:nvPicPr>
          <p:cNvPr id="19" name="Graphic 18" descr="Web design with solid fill">
            <a:extLst>
              <a:ext uri="{FF2B5EF4-FFF2-40B4-BE49-F238E27FC236}">
                <a16:creationId xmlns:a16="http://schemas.microsoft.com/office/drawing/2014/main" id="{4A5DE261-50D0-EC7F-B103-83FF10D2A7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34842" y="2343536"/>
            <a:ext cx="440337" cy="440337"/>
          </a:xfrm>
          <a:prstGeom prst="rect">
            <a:avLst/>
          </a:prstGeom>
        </p:spPr>
      </p:pic>
      <p:sp>
        <p:nvSpPr>
          <p:cNvPr id="20" name="Text Placeholder 2">
            <a:extLst>
              <a:ext uri="{FF2B5EF4-FFF2-40B4-BE49-F238E27FC236}">
                <a16:creationId xmlns:a16="http://schemas.microsoft.com/office/drawing/2014/main" id="{03829599-78EC-4AD2-75D7-204B211C0A1F}"/>
              </a:ext>
            </a:extLst>
          </p:cNvPr>
          <p:cNvSpPr txBox="1">
            <a:spLocks/>
          </p:cNvSpPr>
          <p:nvPr/>
        </p:nvSpPr>
        <p:spPr bwMode="auto">
          <a:xfrm>
            <a:off x="202590" y="711064"/>
            <a:ext cx="6713019" cy="505441"/>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lvl1pPr marL="182563" indent="-182563" algn="l" rtl="0" eaLnBrk="0" fontAlgn="base" hangingPunct="0">
              <a:spcBef>
                <a:spcPts val="0"/>
              </a:spcBef>
              <a:spcAft>
                <a:spcPct val="0"/>
              </a:spcAft>
              <a:buFont typeface="Arial" charset="0"/>
              <a:buChar char="•"/>
              <a:defRPr sz="1600" kern="1200">
                <a:solidFill>
                  <a:schemeClr val="tx1"/>
                </a:solidFill>
                <a:latin typeface="+mn-lt"/>
                <a:ea typeface="ＭＳ Ｐゴシック" panose="020B0600070205080204" pitchFamily="34" charset="-128"/>
                <a:cs typeface="ＭＳ Ｐゴシック" charset="0"/>
              </a:defRPr>
            </a:lvl1pPr>
            <a:lvl2pPr marL="352425" indent="-169863" algn="l" rtl="0" eaLnBrk="0" fontAlgn="base" hangingPunct="0">
              <a:spcBef>
                <a:spcPts val="0"/>
              </a:spcBef>
              <a:spcAft>
                <a:spcPct val="0"/>
              </a:spcAft>
              <a:buFont typeface="Arial" charset="0"/>
              <a:buChar char="–"/>
              <a:defRPr sz="1400" kern="1200">
                <a:solidFill>
                  <a:schemeClr val="tx1"/>
                </a:solidFill>
                <a:latin typeface="+mn-lt"/>
                <a:ea typeface="ＭＳ Ｐゴシック" panose="020B0600070205080204" pitchFamily="34" charset="-128"/>
                <a:cs typeface="+mn-cs"/>
              </a:defRPr>
            </a:lvl2pPr>
            <a:lvl3pPr marL="534988"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3pPr>
            <a:lvl4pPr marL="719138" indent="-184150"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4pPr>
            <a:lvl5pPr marL="901700" indent="-182563" algn="l" rtl="0" eaLnBrk="0" fontAlgn="base" hangingPunct="0">
              <a:spcBef>
                <a:spcPts val="0"/>
              </a:spcBef>
              <a:spcAft>
                <a:spcPct val="0"/>
              </a:spcAft>
              <a:buFont typeface="Arial" charset="0"/>
              <a:buChar char="»"/>
              <a:defRPr sz="1200" kern="1200">
                <a:solidFill>
                  <a:schemeClr val="tx1"/>
                </a:solidFill>
                <a:latin typeface="+mn-lt"/>
                <a:ea typeface="ＭＳ Ｐゴシック" panose="020B0600070205080204" pitchFamily="34"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pPr marL="204788" indent="-204788">
              <a:buNone/>
            </a:pPr>
            <a:r>
              <a:rPr lang="en-US" sz="1050" b="1" dirty="0">
                <a:latin typeface="Helvetica Neue" panose="02000503000000020004"/>
                <a:ea typeface="ＭＳ Ｐゴシック"/>
              </a:rPr>
              <a:t>Process of Spare Part Catalogue information distribution in MMKSI:</a:t>
            </a:r>
          </a:p>
          <a:p>
            <a:pPr marL="0" indent="0">
              <a:spcBef>
                <a:spcPts val="450"/>
              </a:spcBef>
              <a:buNone/>
            </a:pPr>
            <a:endParaRPr lang="en-US" sz="1050" b="1" dirty="0">
              <a:latin typeface="Helvetica Neue" panose="02000503000000020004"/>
              <a:ea typeface="ＭＳ Ｐゴシック"/>
            </a:endParaRPr>
          </a:p>
        </p:txBody>
      </p:sp>
      <p:sp>
        <p:nvSpPr>
          <p:cNvPr id="21" name="TextBox 20">
            <a:extLst>
              <a:ext uri="{FF2B5EF4-FFF2-40B4-BE49-F238E27FC236}">
                <a16:creationId xmlns:a16="http://schemas.microsoft.com/office/drawing/2014/main" id="{0F966016-9738-3C80-A8F3-1547BA8E9048}"/>
              </a:ext>
            </a:extLst>
          </p:cNvPr>
          <p:cNvSpPr txBox="1"/>
          <p:nvPr/>
        </p:nvSpPr>
        <p:spPr bwMode="auto">
          <a:xfrm>
            <a:off x="4860695" y="1210720"/>
            <a:ext cx="3762807" cy="1166986"/>
          </a:xfrm>
          <a:prstGeom prst="rect">
            <a:avLst/>
          </a:prstGeom>
          <a:noFill/>
          <a:ln w="9525">
            <a:noFill/>
            <a:miter lim="800000"/>
            <a:headEnd/>
            <a:tailEnd/>
          </a:ln>
        </p:spPr>
        <p:txBody>
          <a:bodyPr wrap="square" lIns="68580" tIns="34290" rIns="68580" bIns="34290" rtlCol="0" anchor="t">
            <a:spAutoFit/>
          </a:bodyPr>
          <a:lstStyle/>
          <a:p>
            <a:pPr marL="40481">
              <a:spcBef>
                <a:spcPts val="450"/>
              </a:spcBef>
              <a:tabLst>
                <a:tab pos="255985" algn="l"/>
              </a:tabLst>
            </a:pPr>
            <a:r>
              <a:rPr lang="en-US" sz="900" dirty="0">
                <a:latin typeface="Helvetica Neue" panose="02000503000000020004"/>
              </a:rPr>
              <a:t>Process Flow Detail :</a:t>
            </a:r>
          </a:p>
          <a:p>
            <a:pPr marL="211931" indent="-171450">
              <a:spcBef>
                <a:spcPts val="450"/>
              </a:spcBef>
              <a:buFont typeface="+mj-lt"/>
              <a:buAutoNum type="arabicPeriod"/>
              <a:tabLst>
                <a:tab pos="255985" algn="l"/>
              </a:tabLst>
            </a:pPr>
            <a:r>
              <a:rPr lang="en-US" sz="900" dirty="0">
                <a:latin typeface="Helvetica Neue" panose="02000503000000020004"/>
                <a:ea typeface="ＭＳ Ｐゴシック"/>
                <a:cs typeface="Arial"/>
              </a:rPr>
              <a:t>BSI will assist MMKSI for extracting information’s from ASA Application of </a:t>
            </a:r>
          </a:p>
          <a:p>
            <a:pPr marL="388144" lvl="1" indent="-171450">
              <a:buFont typeface="+mj-lt"/>
              <a:buAutoNum type="alphaLcPeriod"/>
              <a:tabLst>
                <a:tab pos="255985" algn="l"/>
              </a:tabLst>
            </a:pPr>
            <a:r>
              <a:rPr lang="en-US" sz="900" dirty="0">
                <a:latin typeface="Helvetica Neue" panose="02000503000000020004"/>
              </a:rPr>
              <a:t>Parts data and Parts image.</a:t>
            </a:r>
          </a:p>
          <a:p>
            <a:pPr marL="388144" lvl="1" indent="-171450">
              <a:buFont typeface="+mj-lt"/>
              <a:buAutoNum type="alphaLcPeriod"/>
              <a:tabLst>
                <a:tab pos="255985" algn="l"/>
              </a:tabLst>
            </a:pPr>
            <a:r>
              <a:rPr lang="en-US" sz="900" dirty="0">
                <a:latin typeface="Helvetica Neue" panose="02000503000000020004"/>
                <a:ea typeface="ＭＳ Ｐゴシック"/>
                <a:cs typeface="Arial"/>
              </a:rPr>
              <a:t>Upload data to Parts Catalogue Application</a:t>
            </a:r>
          </a:p>
          <a:p>
            <a:pPr marL="214313" indent="-171450">
              <a:spcBef>
                <a:spcPts val="450"/>
              </a:spcBef>
              <a:buFont typeface="+mj-lt"/>
              <a:buAutoNum type="arabicPeriod"/>
              <a:tabLst>
                <a:tab pos="255985" algn="l"/>
              </a:tabLst>
            </a:pPr>
            <a:r>
              <a:rPr lang="en-US" sz="900" dirty="0">
                <a:latin typeface="Helvetica Neue" panose="02000503000000020004"/>
              </a:rPr>
              <a:t>SAP application integrated with Mitsubishi Part catalogue for spare parts price information integration.</a:t>
            </a:r>
          </a:p>
        </p:txBody>
      </p:sp>
      <p:grpSp>
        <p:nvGrpSpPr>
          <p:cNvPr id="23" name="Group 22">
            <a:extLst>
              <a:ext uri="{FF2B5EF4-FFF2-40B4-BE49-F238E27FC236}">
                <a16:creationId xmlns:a16="http://schemas.microsoft.com/office/drawing/2014/main" id="{8D1F2455-59E6-3D64-4DE5-23936E5235F4}"/>
              </a:ext>
            </a:extLst>
          </p:cNvPr>
          <p:cNvGrpSpPr/>
          <p:nvPr/>
        </p:nvGrpSpPr>
        <p:grpSpPr>
          <a:xfrm>
            <a:off x="1551935" y="2073503"/>
            <a:ext cx="237899" cy="324594"/>
            <a:chOff x="2361384" y="1749060"/>
            <a:chExt cx="317198" cy="432791"/>
          </a:xfrm>
        </p:grpSpPr>
        <p:sp>
          <p:nvSpPr>
            <p:cNvPr id="24" name="Oval 23">
              <a:extLst>
                <a:ext uri="{FF2B5EF4-FFF2-40B4-BE49-F238E27FC236}">
                  <a16:creationId xmlns:a16="http://schemas.microsoft.com/office/drawing/2014/main" id="{221D1D1B-FC76-49CC-E1FD-85A7445E5A2C}"/>
                </a:ext>
              </a:extLst>
            </p:cNvPr>
            <p:cNvSpPr/>
            <p:nvPr/>
          </p:nvSpPr>
          <p:spPr>
            <a:xfrm>
              <a:off x="2373708" y="1749060"/>
              <a:ext cx="304874" cy="432791"/>
            </a:xfrm>
            <a:prstGeom prst="ellipse">
              <a:avLst/>
            </a:prstGeom>
            <a:solidFill>
              <a:schemeClr val="bg1">
                <a:lumMod val="95000"/>
              </a:schemeClr>
            </a:solidFill>
            <a:ln w="28575">
              <a:solidFill>
                <a:schemeClr val="tx2"/>
              </a:solidFill>
            </a:ln>
          </p:spPr>
          <p:txBody>
            <a:bodyPr wrap="square" rtlCol="0" anchor="ctr">
              <a:spAutoFit/>
            </a:bodyPr>
            <a:lstStyle/>
            <a:p>
              <a:pPr algn="ctr"/>
              <a:endParaRPr lang="en-US" sz="900"/>
            </a:p>
          </p:txBody>
        </p:sp>
        <p:sp>
          <p:nvSpPr>
            <p:cNvPr id="25" name="TextBox 24">
              <a:extLst>
                <a:ext uri="{FF2B5EF4-FFF2-40B4-BE49-F238E27FC236}">
                  <a16:creationId xmlns:a16="http://schemas.microsoft.com/office/drawing/2014/main" id="{28468C77-D2BD-E99D-8B38-BBBCE2E43CAC}"/>
                </a:ext>
              </a:extLst>
            </p:cNvPr>
            <p:cNvSpPr txBox="1"/>
            <p:nvPr/>
          </p:nvSpPr>
          <p:spPr bwMode="auto">
            <a:xfrm>
              <a:off x="2361384" y="1834678"/>
              <a:ext cx="284154" cy="307775"/>
            </a:xfrm>
            <a:prstGeom prst="rect">
              <a:avLst/>
            </a:prstGeom>
            <a:noFill/>
            <a:ln w="9525">
              <a:noFill/>
              <a:miter lim="800000"/>
              <a:headEnd/>
              <a:tailEnd/>
            </a:ln>
          </p:spPr>
          <p:txBody>
            <a:bodyPr wrap="square" rtlCol="0">
              <a:spAutoFit/>
            </a:bodyPr>
            <a:lstStyle/>
            <a:p>
              <a:pPr marL="40481" algn="ctr">
                <a:tabLst>
                  <a:tab pos="255985" algn="l"/>
                </a:tabLst>
              </a:pPr>
              <a:r>
                <a:rPr lang="en-US" sz="900">
                  <a:cs typeface="Arial" charset="0"/>
                </a:rPr>
                <a:t>3</a:t>
              </a:r>
            </a:p>
          </p:txBody>
        </p:sp>
      </p:grpSp>
      <p:sp>
        <p:nvSpPr>
          <p:cNvPr id="29" name="TextBox 28">
            <a:extLst>
              <a:ext uri="{FF2B5EF4-FFF2-40B4-BE49-F238E27FC236}">
                <a16:creationId xmlns:a16="http://schemas.microsoft.com/office/drawing/2014/main" id="{2DD5C56D-E3F4-B355-9614-D13D22B25753}"/>
              </a:ext>
            </a:extLst>
          </p:cNvPr>
          <p:cNvSpPr txBox="1"/>
          <p:nvPr/>
        </p:nvSpPr>
        <p:spPr bwMode="auto">
          <a:xfrm>
            <a:off x="4838959" y="2428647"/>
            <a:ext cx="3762807" cy="710451"/>
          </a:xfrm>
          <a:prstGeom prst="rect">
            <a:avLst/>
          </a:prstGeom>
          <a:noFill/>
          <a:ln w="9525">
            <a:noFill/>
            <a:miter lim="800000"/>
            <a:headEnd/>
            <a:tailEnd/>
          </a:ln>
        </p:spPr>
        <p:txBody>
          <a:bodyPr wrap="square" rtlCol="0">
            <a:spAutoFit/>
          </a:bodyPr>
          <a:lstStyle/>
          <a:p>
            <a:pPr marL="214313" indent="-171450">
              <a:spcBef>
                <a:spcPts val="450"/>
              </a:spcBef>
              <a:buFont typeface="+mj-lt"/>
              <a:buAutoNum type="arabicPeriod" startAt="3"/>
              <a:tabLst>
                <a:tab pos="255985" algn="l"/>
              </a:tabLst>
            </a:pPr>
            <a:r>
              <a:rPr lang="en-US" sz="900" dirty="0">
                <a:latin typeface="Helvetica Neue" panose="02000503000000020004"/>
              </a:rPr>
              <a:t>Information of parts detail and price will be displayed in Mitsubishi Part Catalogue. </a:t>
            </a:r>
          </a:p>
          <a:p>
            <a:pPr marL="214313" indent="-171450">
              <a:spcBef>
                <a:spcPts val="450"/>
              </a:spcBef>
              <a:buFont typeface="+mj-lt"/>
              <a:buAutoNum type="arabicPeriod" startAt="3"/>
              <a:tabLst>
                <a:tab pos="255985" algn="l"/>
              </a:tabLst>
            </a:pPr>
            <a:r>
              <a:rPr lang="en-US" sz="900" dirty="0">
                <a:latin typeface="Helvetica Neue" panose="02000503000000020004"/>
              </a:rPr>
              <a:t>Dealer user and Part shops user will open Mitsubishi Parts catalogue to access Spare parts information.</a:t>
            </a:r>
          </a:p>
        </p:txBody>
      </p:sp>
      <p:sp>
        <p:nvSpPr>
          <p:cNvPr id="2" name="Rectangle: Top Corners Rounded 1">
            <a:extLst>
              <a:ext uri="{FF2B5EF4-FFF2-40B4-BE49-F238E27FC236}">
                <a16:creationId xmlns:a16="http://schemas.microsoft.com/office/drawing/2014/main" id="{2A3DF3DE-A79C-991E-95D4-44B5F9BA4D19}"/>
              </a:ext>
            </a:extLst>
          </p:cNvPr>
          <p:cNvSpPr/>
          <p:nvPr/>
        </p:nvSpPr>
        <p:spPr>
          <a:xfrm>
            <a:off x="688858" y="2746988"/>
            <a:ext cx="807855" cy="217795"/>
          </a:xfrm>
          <a:prstGeom prst="round2SameRect">
            <a:avLst/>
          </a:prstGeom>
          <a:noFill/>
          <a:ln w="28575">
            <a:noFill/>
          </a:ln>
        </p:spPr>
        <p:txBody>
          <a:bodyPr wrap="none" lIns="68580" tIns="34290" rIns="68580" bIns="34290" rtlCol="0" anchor="ctr">
            <a:spAutoFit/>
          </a:bodyPr>
          <a:lstStyle/>
          <a:p>
            <a:pPr algn="ctr"/>
            <a:r>
              <a:rPr lang="en-US" sz="900">
                <a:latin typeface="Helvetica Neue" panose="02000503000000020004"/>
                <a:ea typeface="ＭＳ Ｐゴシック"/>
                <a:cs typeface="Arial"/>
              </a:rPr>
              <a:t>MMKSI User</a:t>
            </a:r>
            <a:endParaRPr lang="en-US" sz="900">
              <a:latin typeface="Helvetica Neue" panose="02000503000000020004"/>
            </a:endParaRPr>
          </a:p>
        </p:txBody>
      </p:sp>
      <p:sp>
        <p:nvSpPr>
          <p:cNvPr id="5" name="Text Placeholder 2">
            <a:extLst>
              <a:ext uri="{FF2B5EF4-FFF2-40B4-BE49-F238E27FC236}">
                <a16:creationId xmlns:a16="http://schemas.microsoft.com/office/drawing/2014/main" id="{880A3D3E-2162-E26A-D623-09913A28FE7B}"/>
              </a:ext>
            </a:extLst>
          </p:cNvPr>
          <p:cNvSpPr txBox="1">
            <a:spLocks/>
          </p:cNvSpPr>
          <p:nvPr/>
        </p:nvSpPr>
        <p:spPr>
          <a:xfrm>
            <a:off x="229320" y="127887"/>
            <a:ext cx="8393130" cy="364901"/>
          </a:xfrm>
          <a:prstGeom prst="rect">
            <a:avLst/>
          </a:prstGeom>
        </p:spPr>
        <p:txBody>
          <a:bodyPr anchor="ctr"/>
          <a:lstStyle>
            <a:lvl1pPr marL="0" indent="0" algn="l" defTabSz="914400" rtl="0" eaLnBrk="1" latinLnBrk="0" hangingPunct="1">
              <a:spcBef>
                <a:spcPct val="20000"/>
              </a:spcBef>
              <a:buFont typeface="Arial" panose="020B0604020202020204" pitchFamily="34" charset="0"/>
              <a:buNone/>
              <a:defRPr kumimoji="1" sz="2400" kern="1200">
                <a:solidFill>
                  <a:schemeClr val="tx1"/>
                </a:solidFill>
                <a:latin typeface="ヒラギノ角ゴ Std W6" pitchFamily="34" charset="-128"/>
                <a:ea typeface="ヒラギノ角ゴ Std W6" pitchFamily="34" charset="-128"/>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en-US" sz="2000" b="1" dirty="0"/>
              <a:t>Operation Model</a:t>
            </a:r>
          </a:p>
        </p:txBody>
      </p:sp>
      <p:pic>
        <p:nvPicPr>
          <p:cNvPr id="6" name="Picture 5" descr="A picture containing graphics, graphic design, design&#10;&#10;Description automatically generated">
            <a:extLst>
              <a:ext uri="{FF2B5EF4-FFF2-40B4-BE49-F238E27FC236}">
                <a16:creationId xmlns:a16="http://schemas.microsoft.com/office/drawing/2014/main" id="{88B0EDE5-D8E5-D22E-D454-8379BDB804F2}"/>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8" name="スライド番号プレースホルダー 3">
            <a:extLst>
              <a:ext uri="{FF2B5EF4-FFF2-40B4-BE49-F238E27FC236}">
                <a16:creationId xmlns:a16="http://schemas.microsoft.com/office/drawing/2014/main" id="{0C766C6F-6C7F-6557-944E-B50A84F2D37F}"/>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23</a:t>
            </a:fld>
            <a:endParaRPr lang="ja-JP" altLang="en-US"/>
          </a:p>
        </p:txBody>
      </p:sp>
      <p:sp>
        <p:nvSpPr>
          <p:cNvPr id="9" name="サブタイトル 7">
            <a:extLst>
              <a:ext uri="{FF2B5EF4-FFF2-40B4-BE49-F238E27FC236}">
                <a16:creationId xmlns:a16="http://schemas.microsoft.com/office/drawing/2014/main" id="{2278D307-7F9D-3415-9F77-8AEFBC3CCFF5}"/>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0" name="サブタイトル 7">
            <a:extLst>
              <a:ext uri="{FF2B5EF4-FFF2-40B4-BE49-F238E27FC236}">
                <a16:creationId xmlns:a16="http://schemas.microsoft.com/office/drawing/2014/main" id="{4B3C9EDF-2239-F1A0-2D5D-B5AF00EF2A76}"/>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
        <p:nvSpPr>
          <p:cNvPr id="15" name="Slide Number Placeholder 4">
            <a:extLst>
              <a:ext uri="{FF2B5EF4-FFF2-40B4-BE49-F238E27FC236}">
                <a16:creationId xmlns:a16="http://schemas.microsoft.com/office/drawing/2014/main" id="{8D93A890-6E0B-FCEF-FD87-D3AAD16D23D2}"/>
              </a:ext>
            </a:extLst>
          </p:cNvPr>
          <p:cNvSpPr txBox="1">
            <a:spLocks/>
          </p:cNvSpPr>
          <p:nvPr/>
        </p:nvSpPr>
        <p:spPr>
          <a:xfrm>
            <a:off x="8834277" y="4690389"/>
            <a:ext cx="209550" cy="171450"/>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rgbClr val="686D71"/>
                </a:solidFill>
                <a:latin typeface="MMC OFFICE" panose="00000500000000000000" pitchFamily="2" charset="0"/>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28575" algn="l" defTabSz="685800">
              <a:lnSpc>
                <a:spcPts val="915"/>
              </a:lnSpc>
              <a:defRPr/>
            </a:pPr>
            <a:fld id="{81D60167-4931-47E6-BA6A-407CBD079E47}" type="slidenum">
              <a:rPr kumimoji="0" lang="en-US" sz="863" spc="11" smtClean="0">
                <a:solidFill>
                  <a:schemeClr val="accent5">
                    <a:lumMod val="75000"/>
                  </a:schemeClr>
                </a:solidFill>
                <a:latin typeface="Calibri"/>
                <a:cs typeface="Calibri"/>
              </a:rPr>
              <a:pPr marL="28575" algn="l" defTabSz="685800">
                <a:lnSpc>
                  <a:spcPts val="915"/>
                </a:lnSpc>
                <a:defRPr/>
              </a:pPr>
              <a:t>23</a:t>
            </a:fld>
            <a:endParaRPr kumimoji="0" lang="en-US" sz="863" spc="11">
              <a:solidFill>
                <a:schemeClr val="accent5">
                  <a:lumMod val="75000"/>
                </a:schemeClr>
              </a:solidFill>
              <a:latin typeface="Calibri"/>
              <a:cs typeface="Calibri"/>
            </a:endParaRPr>
          </a:p>
        </p:txBody>
      </p:sp>
    </p:spTree>
    <p:extLst>
      <p:ext uri="{BB962C8B-B14F-4D97-AF65-F5344CB8AC3E}">
        <p14:creationId xmlns:p14="http://schemas.microsoft.com/office/powerpoint/2010/main" val="344999300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3">
            <a:extLst>
              <a:ext uri="{FF2B5EF4-FFF2-40B4-BE49-F238E27FC236}">
                <a16:creationId xmlns:a16="http://schemas.microsoft.com/office/drawing/2014/main" id="{C57FDE20-E907-671B-1E0C-EA91682659F9}"/>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24</a:t>
            </a:fld>
            <a:endParaRPr lang="ja-JP" altLang="en-US"/>
          </a:p>
        </p:txBody>
      </p:sp>
      <p:sp>
        <p:nvSpPr>
          <p:cNvPr id="6" name="サブタイトル 7">
            <a:extLst>
              <a:ext uri="{FF2B5EF4-FFF2-40B4-BE49-F238E27FC236}">
                <a16:creationId xmlns:a16="http://schemas.microsoft.com/office/drawing/2014/main" id="{206AB1D5-3D89-A220-7568-D3E0E37D479A}"/>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a:solidFill>
                  <a:schemeClr val="tx1">
                    <a:lumMod val="65000"/>
                    <a:lumOff val="35000"/>
                  </a:schemeClr>
                </a:solidFill>
              </a:rPr>
              <a:t>PT Berlian Sistem Informasi (BSI)</a:t>
            </a:r>
          </a:p>
        </p:txBody>
      </p:sp>
      <p:sp>
        <p:nvSpPr>
          <p:cNvPr id="7" name="サブタイトル 7">
            <a:extLst>
              <a:ext uri="{FF2B5EF4-FFF2-40B4-BE49-F238E27FC236}">
                <a16:creationId xmlns:a16="http://schemas.microsoft.com/office/drawing/2014/main" id="{F1D3E2C6-1910-0FF1-52CB-3429A12625EB}"/>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a:solidFill>
                  <a:schemeClr val="tx1">
                    <a:lumMod val="65000"/>
                    <a:lumOff val="35000"/>
                  </a:schemeClr>
                </a:solidFill>
              </a:rPr>
              <a:t>Confidential – Internal Used</a:t>
            </a:r>
          </a:p>
        </p:txBody>
      </p:sp>
      <p:sp>
        <p:nvSpPr>
          <p:cNvPr id="14" name="Title 1">
            <a:extLst>
              <a:ext uri="{FF2B5EF4-FFF2-40B4-BE49-F238E27FC236}">
                <a16:creationId xmlns:a16="http://schemas.microsoft.com/office/drawing/2014/main" id="{DE439FAE-AF8A-03BB-8A22-86BAD9CFB330}"/>
              </a:ext>
            </a:extLst>
          </p:cNvPr>
          <p:cNvSpPr txBox="1">
            <a:spLocks/>
          </p:cNvSpPr>
          <p:nvPr/>
        </p:nvSpPr>
        <p:spPr>
          <a:xfrm>
            <a:off x="239699" y="152401"/>
            <a:ext cx="8310589" cy="360040"/>
          </a:xfrm>
          <a:prstGeom prst="rect">
            <a:avLst/>
          </a:prstGeom>
        </p:spPr>
        <p:txBody>
          <a:bodyPr/>
          <a:lstStyle>
            <a:lvl1pPr algn="l" defTabSz="914400" rtl="0" eaLnBrk="1" latinLnBrk="0" hangingPunct="1">
              <a:spcBef>
                <a:spcPct val="0"/>
              </a:spcBef>
              <a:buNone/>
              <a:defRPr kumimoji="1" sz="4000" kern="1200">
                <a:solidFill>
                  <a:schemeClr val="tx1"/>
                </a:solidFill>
                <a:latin typeface="ヒラギノ角ゴ Std W8" pitchFamily="34" charset="-128"/>
                <a:ea typeface="ヒラギノ角ゴ Std W8" pitchFamily="34" charset="-128"/>
                <a:cs typeface="+mj-cs"/>
              </a:defRPr>
            </a:lvl1pPr>
          </a:lstStyle>
          <a:p>
            <a:r>
              <a:rPr lang="en-US" sz="1500" b="1" dirty="0"/>
              <a:t>Microsite – High Fidelity</a:t>
            </a:r>
          </a:p>
          <a:p>
            <a:endParaRPr lang="en-ID" b="1" u="sng" dirty="0">
              <a:solidFill>
                <a:srgbClr val="FF0000"/>
              </a:solidFill>
            </a:endParaRPr>
          </a:p>
        </p:txBody>
      </p:sp>
      <p:pic>
        <p:nvPicPr>
          <p:cNvPr id="4" name="Picture 3">
            <a:extLst>
              <a:ext uri="{FF2B5EF4-FFF2-40B4-BE49-F238E27FC236}">
                <a16:creationId xmlns:a16="http://schemas.microsoft.com/office/drawing/2014/main" id="{F098737B-B87D-DBC7-A340-F57341267A6E}"/>
              </a:ext>
            </a:extLst>
          </p:cNvPr>
          <p:cNvPicPr>
            <a:picLocks noChangeAspect="1"/>
          </p:cNvPicPr>
          <p:nvPr/>
        </p:nvPicPr>
        <p:blipFill>
          <a:blip r:embed="rId3"/>
          <a:stretch>
            <a:fillRect/>
          </a:stretch>
        </p:blipFill>
        <p:spPr>
          <a:xfrm>
            <a:off x="262013" y="1096857"/>
            <a:ext cx="3589907" cy="2061238"/>
          </a:xfrm>
          <a:prstGeom prst="rect">
            <a:avLst/>
          </a:prstGeom>
        </p:spPr>
      </p:pic>
      <p:pic>
        <p:nvPicPr>
          <p:cNvPr id="9" name="Picture 8">
            <a:extLst>
              <a:ext uri="{FF2B5EF4-FFF2-40B4-BE49-F238E27FC236}">
                <a16:creationId xmlns:a16="http://schemas.microsoft.com/office/drawing/2014/main" id="{077AC4A8-4F4F-140E-6741-79175AD6B007}"/>
              </a:ext>
            </a:extLst>
          </p:cNvPr>
          <p:cNvPicPr>
            <a:picLocks noChangeAspect="1"/>
          </p:cNvPicPr>
          <p:nvPr/>
        </p:nvPicPr>
        <p:blipFill>
          <a:blip r:embed="rId4"/>
          <a:stretch>
            <a:fillRect/>
          </a:stretch>
        </p:blipFill>
        <p:spPr>
          <a:xfrm>
            <a:off x="3925520" y="1096857"/>
            <a:ext cx="3258860" cy="2130673"/>
          </a:xfrm>
          <a:prstGeom prst="rect">
            <a:avLst/>
          </a:prstGeom>
        </p:spPr>
      </p:pic>
      <p:pic>
        <p:nvPicPr>
          <p:cNvPr id="11" name="Picture 10">
            <a:extLst>
              <a:ext uri="{FF2B5EF4-FFF2-40B4-BE49-F238E27FC236}">
                <a16:creationId xmlns:a16="http://schemas.microsoft.com/office/drawing/2014/main" id="{0C1008B9-8816-602B-3CD5-47FDDD812824}"/>
              </a:ext>
            </a:extLst>
          </p:cNvPr>
          <p:cNvPicPr>
            <a:picLocks noChangeAspect="1"/>
          </p:cNvPicPr>
          <p:nvPr/>
        </p:nvPicPr>
        <p:blipFill>
          <a:blip r:embed="rId5"/>
          <a:stretch>
            <a:fillRect/>
          </a:stretch>
        </p:blipFill>
        <p:spPr>
          <a:xfrm>
            <a:off x="4576509" y="2361199"/>
            <a:ext cx="3550885" cy="2448782"/>
          </a:xfrm>
          <a:prstGeom prst="rect">
            <a:avLst/>
          </a:prstGeom>
        </p:spPr>
      </p:pic>
      <p:sp>
        <p:nvSpPr>
          <p:cNvPr id="5" name="TextBox 4">
            <a:extLst>
              <a:ext uri="{FF2B5EF4-FFF2-40B4-BE49-F238E27FC236}">
                <a16:creationId xmlns:a16="http://schemas.microsoft.com/office/drawing/2014/main" id="{E1A78CFA-839D-CBA1-EBDB-CE2361613006}"/>
              </a:ext>
            </a:extLst>
          </p:cNvPr>
          <p:cNvSpPr txBox="1"/>
          <p:nvPr/>
        </p:nvSpPr>
        <p:spPr>
          <a:xfrm>
            <a:off x="271073" y="589205"/>
            <a:ext cx="8643397" cy="430887"/>
          </a:xfrm>
          <a:prstGeom prst="rect">
            <a:avLst/>
          </a:prstGeom>
          <a:noFill/>
        </p:spPr>
        <p:txBody>
          <a:bodyPr wrap="square">
            <a:spAutoFit/>
          </a:bodyPr>
          <a:lstStyle/>
          <a:p>
            <a:r>
              <a:rPr lang="en-US" sz="1100" dirty="0">
                <a:solidFill>
                  <a:schemeClr val="accent5">
                    <a:lumMod val="75000"/>
                  </a:schemeClr>
                </a:solidFill>
              </a:rPr>
              <a:t>https://www.figma.com/proto/JEOSl5qNO3EiBt8Iitxlsh/MMID---Spare-Part-Catalogue?page-id=0%3A1&amp;type=design&amp;node-id=31-6095&amp;viewport=-1032%2C-7%2C0.17&amp;t=PNOtiP6dDRnknBHI-1&amp;scaling=scale-down&amp;starting-point-node-id=31%3A6095&amp;mode=design</a:t>
            </a:r>
          </a:p>
        </p:txBody>
      </p:sp>
      <p:pic>
        <p:nvPicPr>
          <p:cNvPr id="8" name="Picture 7" descr="A picture containing graphics, graphic design, design&#10;&#10;Description automatically generated">
            <a:extLst>
              <a:ext uri="{FF2B5EF4-FFF2-40B4-BE49-F238E27FC236}">
                <a16:creationId xmlns:a16="http://schemas.microsoft.com/office/drawing/2014/main" id="{FF414C76-38BF-94B1-E07B-CDAF20B923E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63047"/>
          <a:stretch/>
        </p:blipFill>
        <p:spPr>
          <a:xfrm>
            <a:off x="8449933" y="20987"/>
            <a:ext cx="491718" cy="458167"/>
          </a:xfrm>
          <a:prstGeom prst="rect">
            <a:avLst/>
          </a:prstGeom>
        </p:spPr>
      </p:pic>
    </p:spTree>
    <p:extLst>
      <p:ext uri="{BB962C8B-B14F-4D97-AF65-F5344CB8AC3E}">
        <p14:creationId xmlns:p14="http://schemas.microsoft.com/office/powerpoint/2010/main" val="59596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title"/>
          </p:nvPr>
        </p:nvSpPr>
        <p:spPr>
          <a:xfrm>
            <a:off x="0" y="0"/>
            <a:ext cx="7596336" cy="483518"/>
          </a:xfrm>
        </p:spPr>
        <p:txBody>
          <a:bodyPr lIns="180000">
            <a:noAutofit/>
          </a:bodyPr>
          <a:lstStyle/>
          <a:p>
            <a:pPr algn="l"/>
            <a:r>
              <a:rPr lang="en-US" altLang="ja-JP" sz="2400" b="1" dirty="0">
                <a:solidFill>
                  <a:schemeClr val="bg1"/>
                </a:solidFill>
                <a:latin typeface="Arial" pitchFamily="34" charset="0"/>
                <a:cs typeface="Arial" pitchFamily="34" charset="0"/>
              </a:rPr>
              <a:t>Prioritization Matrix Approach and Methodology </a:t>
            </a:r>
            <a:endParaRPr lang="ru-RU" altLang="ja-JP" sz="2400" b="1" dirty="0">
              <a:solidFill>
                <a:schemeClr val="bg1"/>
              </a:solidFill>
              <a:latin typeface="Arial" pitchFamily="34" charset="0"/>
              <a:cs typeface="Arial" pitchFamily="34" charset="0"/>
            </a:endParaRPr>
          </a:p>
        </p:txBody>
      </p:sp>
      <p:sp>
        <p:nvSpPr>
          <p:cNvPr id="13" name="TextBox 12">
            <a:extLst>
              <a:ext uri="{FF2B5EF4-FFF2-40B4-BE49-F238E27FC236}">
                <a16:creationId xmlns:a16="http://schemas.microsoft.com/office/drawing/2014/main" id="{8ED8630D-0737-4420-81A7-38D40CDE2D02}"/>
              </a:ext>
            </a:extLst>
          </p:cNvPr>
          <p:cNvSpPr txBox="1"/>
          <p:nvPr/>
        </p:nvSpPr>
        <p:spPr bwMode="auto">
          <a:xfrm>
            <a:off x="7078772" y="596544"/>
            <a:ext cx="2065228" cy="219291"/>
          </a:xfrm>
          <a:prstGeom prst="rect">
            <a:avLst/>
          </a:prstGeom>
          <a:noFill/>
          <a:ln w="9525">
            <a:noFill/>
            <a:miter lim="800000"/>
            <a:headEnd/>
            <a:tailEnd/>
          </a:ln>
        </p:spPr>
        <p:txBody>
          <a:bodyPr wrap="square" rtlCol="0">
            <a:spAutoFit/>
          </a:bodyPr>
          <a:lstStyle/>
          <a:p>
            <a:pPr marL="40481" algn="ctr">
              <a:tabLst>
                <a:tab pos="255985" algn="l"/>
              </a:tabLst>
            </a:pPr>
            <a:r>
              <a:rPr lang="en-US" sz="825" b="1" dirty="0">
                <a:solidFill>
                  <a:schemeClr val="bg1"/>
                </a:solidFill>
                <a:latin typeface="Times New Roman" panose="02020603050405020304" pitchFamily="18" charset="0"/>
                <a:cs typeface="Times New Roman" panose="02020603050405020304" pitchFamily="18" charset="0"/>
              </a:rPr>
              <a:t>Financial Department</a:t>
            </a:r>
          </a:p>
        </p:txBody>
      </p:sp>
      <p:sp>
        <p:nvSpPr>
          <p:cNvPr id="14" name="Content Placeholder 2">
            <a:extLst>
              <a:ext uri="{FF2B5EF4-FFF2-40B4-BE49-F238E27FC236}">
                <a16:creationId xmlns:a16="http://schemas.microsoft.com/office/drawing/2014/main" id="{B6290A76-295F-44D1-AC04-E1C2CED70FB3}"/>
              </a:ext>
            </a:extLst>
          </p:cNvPr>
          <p:cNvSpPr>
            <a:spLocks noGrp="1"/>
          </p:cNvSpPr>
          <p:nvPr>
            <p:ph idx="1"/>
          </p:nvPr>
        </p:nvSpPr>
        <p:spPr>
          <a:xfrm>
            <a:off x="161510" y="173748"/>
            <a:ext cx="8352928" cy="378995"/>
          </a:xfrm>
          <a:noFill/>
          <a:ln>
            <a:noFill/>
          </a:ln>
        </p:spPr>
        <p:style>
          <a:lnRef idx="0">
            <a:scrgbClr r="0" g="0" b="0"/>
          </a:lnRef>
          <a:fillRef idx="0">
            <a:scrgbClr r="0" g="0" b="0"/>
          </a:fillRef>
          <a:effectRef idx="0">
            <a:scrgbClr r="0" g="0" b="0"/>
          </a:effectRef>
          <a:fontRef idx="minor">
            <a:schemeClr val="accent2"/>
          </a:fontRef>
        </p:style>
        <p:txBody>
          <a:bodyPr vert="horz" lIns="91440" tIns="45720" rIns="91440" bIns="45720" rtlCol="0">
            <a:noAutofit/>
          </a:bodyPr>
          <a:lstStyle/>
          <a:p>
            <a:pPr marL="0" indent="0">
              <a:buNone/>
            </a:pPr>
            <a:r>
              <a:rPr lang="en-US" altLang="ja-JP" sz="1800" b="1" dirty="0">
                <a:solidFill>
                  <a:schemeClr val="tx1"/>
                </a:solidFill>
                <a:latin typeface="Arial" pitchFamily="34" charset="0"/>
                <a:cs typeface="Arial" pitchFamily="34" charset="0"/>
              </a:rPr>
              <a:t>Prioritization Matrix Approach</a:t>
            </a:r>
            <a:endParaRPr lang="en-US" sz="1600" b="1" dirty="0">
              <a:solidFill>
                <a:schemeClr val="tx1"/>
              </a:solidFill>
              <a:latin typeface="Arial" pitchFamily="34" charset="0"/>
              <a:cs typeface="Arial" pitchFamily="34" charset="0"/>
            </a:endParaRPr>
          </a:p>
        </p:txBody>
      </p:sp>
      <p:grpSp>
        <p:nvGrpSpPr>
          <p:cNvPr id="2" name="Group 1">
            <a:extLst>
              <a:ext uri="{FF2B5EF4-FFF2-40B4-BE49-F238E27FC236}">
                <a16:creationId xmlns:a16="http://schemas.microsoft.com/office/drawing/2014/main" id="{9A5D6740-B3FE-4AA3-AB05-A9690D63864D}"/>
              </a:ext>
            </a:extLst>
          </p:cNvPr>
          <p:cNvGrpSpPr/>
          <p:nvPr/>
        </p:nvGrpSpPr>
        <p:grpSpPr>
          <a:xfrm>
            <a:off x="207810" y="815835"/>
            <a:ext cx="3660214" cy="3504051"/>
            <a:chOff x="326721" y="1707654"/>
            <a:chExt cx="3108117" cy="2927987"/>
          </a:xfrm>
        </p:grpSpPr>
        <p:sp>
          <p:nvSpPr>
            <p:cNvPr id="4" name="Rectangle 3">
              <a:extLst>
                <a:ext uri="{FF2B5EF4-FFF2-40B4-BE49-F238E27FC236}">
                  <a16:creationId xmlns:a16="http://schemas.microsoft.com/office/drawing/2014/main" id="{8546B6F8-061B-4BE4-A952-25DD6DB9EA0F}"/>
                </a:ext>
              </a:extLst>
            </p:cNvPr>
            <p:cNvSpPr/>
            <p:nvPr/>
          </p:nvSpPr>
          <p:spPr>
            <a:xfrm>
              <a:off x="899591" y="1712743"/>
              <a:ext cx="1224136" cy="1152128"/>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100" b="1" dirty="0">
                  <a:solidFill>
                    <a:schemeClr val="tx1"/>
                  </a:solidFill>
                </a:rPr>
                <a:t>Quick Wins</a:t>
              </a:r>
            </a:p>
          </p:txBody>
        </p:sp>
        <p:sp>
          <p:nvSpPr>
            <p:cNvPr id="18" name="Rectangle 17">
              <a:extLst>
                <a:ext uri="{FF2B5EF4-FFF2-40B4-BE49-F238E27FC236}">
                  <a16:creationId xmlns:a16="http://schemas.microsoft.com/office/drawing/2014/main" id="{B984BD1B-CE2A-4741-896C-EA66228F7F83}"/>
                </a:ext>
              </a:extLst>
            </p:cNvPr>
            <p:cNvSpPr/>
            <p:nvPr/>
          </p:nvSpPr>
          <p:spPr>
            <a:xfrm>
              <a:off x="2123727" y="1707654"/>
              <a:ext cx="1224136" cy="115212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b="1" dirty="0">
                  <a:solidFill>
                    <a:schemeClr val="tx1"/>
                  </a:solidFill>
                </a:rPr>
                <a:t>Transformational Projects</a:t>
              </a:r>
            </a:p>
          </p:txBody>
        </p:sp>
        <p:sp>
          <p:nvSpPr>
            <p:cNvPr id="19" name="Rectangle 18">
              <a:extLst>
                <a:ext uri="{FF2B5EF4-FFF2-40B4-BE49-F238E27FC236}">
                  <a16:creationId xmlns:a16="http://schemas.microsoft.com/office/drawing/2014/main" id="{30A9D134-DDA4-41C6-A7EC-8881774EA2ED}"/>
                </a:ext>
              </a:extLst>
            </p:cNvPr>
            <p:cNvSpPr/>
            <p:nvPr/>
          </p:nvSpPr>
          <p:spPr>
            <a:xfrm>
              <a:off x="899591" y="2872108"/>
              <a:ext cx="1224136" cy="11521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tx1"/>
                  </a:solidFill>
                </a:rPr>
                <a:t>“Fill Ins”</a:t>
              </a:r>
            </a:p>
          </p:txBody>
        </p:sp>
        <p:sp>
          <p:nvSpPr>
            <p:cNvPr id="20" name="Rectangle 19">
              <a:extLst>
                <a:ext uri="{FF2B5EF4-FFF2-40B4-BE49-F238E27FC236}">
                  <a16:creationId xmlns:a16="http://schemas.microsoft.com/office/drawing/2014/main" id="{DF52FE77-13AF-4BF6-ABD4-D7028A4798CA}"/>
                </a:ext>
              </a:extLst>
            </p:cNvPr>
            <p:cNvSpPr/>
            <p:nvPr/>
          </p:nvSpPr>
          <p:spPr>
            <a:xfrm>
              <a:off x="2123727" y="2872108"/>
              <a:ext cx="1224136" cy="115212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b="1" dirty="0">
                  <a:solidFill>
                    <a:schemeClr val="tx1"/>
                  </a:solidFill>
                </a:rPr>
                <a:t>“Money Pits”</a:t>
              </a:r>
              <a:endParaRPr lang="en-US" sz="1100" dirty="0"/>
            </a:p>
          </p:txBody>
        </p:sp>
        <p:sp>
          <p:nvSpPr>
            <p:cNvPr id="5" name="Arrow: Right 4">
              <a:extLst>
                <a:ext uri="{FF2B5EF4-FFF2-40B4-BE49-F238E27FC236}">
                  <a16:creationId xmlns:a16="http://schemas.microsoft.com/office/drawing/2014/main" id="{CFF25563-097D-4991-82BA-F99BD125CA14}"/>
                </a:ext>
              </a:extLst>
            </p:cNvPr>
            <p:cNvSpPr/>
            <p:nvPr/>
          </p:nvSpPr>
          <p:spPr>
            <a:xfrm>
              <a:off x="899592" y="4090937"/>
              <a:ext cx="2520280" cy="28101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t>Implementation Efforts</a:t>
              </a:r>
            </a:p>
          </p:txBody>
        </p:sp>
        <p:sp>
          <p:nvSpPr>
            <p:cNvPr id="21" name="Arrow: Right 20">
              <a:extLst>
                <a:ext uri="{FF2B5EF4-FFF2-40B4-BE49-F238E27FC236}">
                  <a16:creationId xmlns:a16="http://schemas.microsoft.com/office/drawing/2014/main" id="{16076288-9C40-4719-B0F6-2BA582DC3B3A}"/>
                </a:ext>
              </a:extLst>
            </p:cNvPr>
            <p:cNvSpPr/>
            <p:nvPr/>
          </p:nvSpPr>
          <p:spPr>
            <a:xfrm rot="16200000">
              <a:off x="-443252" y="2725438"/>
              <a:ext cx="2316581" cy="28101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t>Business Impact</a:t>
              </a:r>
            </a:p>
          </p:txBody>
        </p:sp>
        <p:sp>
          <p:nvSpPr>
            <p:cNvPr id="6" name="TextBox 5">
              <a:extLst>
                <a:ext uri="{FF2B5EF4-FFF2-40B4-BE49-F238E27FC236}">
                  <a16:creationId xmlns:a16="http://schemas.microsoft.com/office/drawing/2014/main" id="{A1FEEBFB-E0CB-4E47-9F1D-FF1AFB1A52CB}"/>
                </a:ext>
              </a:extLst>
            </p:cNvPr>
            <p:cNvSpPr txBox="1"/>
            <p:nvPr/>
          </p:nvSpPr>
          <p:spPr>
            <a:xfrm>
              <a:off x="855546" y="4371950"/>
              <a:ext cx="576063" cy="246221"/>
            </a:xfrm>
            <a:prstGeom prst="rect">
              <a:avLst/>
            </a:prstGeom>
            <a:noFill/>
          </p:spPr>
          <p:txBody>
            <a:bodyPr wrap="square" rtlCol="0">
              <a:spAutoFit/>
            </a:bodyPr>
            <a:lstStyle/>
            <a:p>
              <a:r>
                <a:rPr lang="en-US" sz="1000" b="1" dirty="0"/>
                <a:t>Low</a:t>
              </a:r>
            </a:p>
          </p:txBody>
        </p:sp>
        <p:sp>
          <p:nvSpPr>
            <p:cNvPr id="22" name="TextBox 21">
              <a:extLst>
                <a:ext uri="{FF2B5EF4-FFF2-40B4-BE49-F238E27FC236}">
                  <a16:creationId xmlns:a16="http://schemas.microsoft.com/office/drawing/2014/main" id="{F39DBB82-90EA-4C5C-8AC1-05C07855A60A}"/>
                </a:ext>
              </a:extLst>
            </p:cNvPr>
            <p:cNvSpPr txBox="1"/>
            <p:nvPr/>
          </p:nvSpPr>
          <p:spPr>
            <a:xfrm>
              <a:off x="1835696" y="4371951"/>
              <a:ext cx="648071" cy="246221"/>
            </a:xfrm>
            <a:prstGeom prst="rect">
              <a:avLst/>
            </a:prstGeom>
            <a:noFill/>
          </p:spPr>
          <p:txBody>
            <a:bodyPr wrap="square" rtlCol="0">
              <a:spAutoFit/>
            </a:bodyPr>
            <a:lstStyle/>
            <a:p>
              <a:r>
                <a:rPr lang="en-US" sz="1000" b="1" dirty="0"/>
                <a:t>Medium</a:t>
              </a:r>
            </a:p>
          </p:txBody>
        </p:sp>
        <p:sp>
          <p:nvSpPr>
            <p:cNvPr id="23" name="TextBox 22">
              <a:extLst>
                <a:ext uri="{FF2B5EF4-FFF2-40B4-BE49-F238E27FC236}">
                  <a16:creationId xmlns:a16="http://schemas.microsoft.com/office/drawing/2014/main" id="{43AD1304-F72F-4DCC-98BE-51728523C324}"/>
                </a:ext>
              </a:extLst>
            </p:cNvPr>
            <p:cNvSpPr txBox="1"/>
            <p:nvPr/>
          </p:nvSpPr>
          <p:spPr>
            <a:xfrm>
              <a:off x="2786767" y="4389420"/>
              <a:ext cx="648071" cy="246221"/>
            </a:xfrm>
            <a:prstGeom prst="rect">
              <a:avLst/>
            </a:prstGeom>
            <a:noFill/>
          </p:spPr>
          <p:txBody>
            <a:bodyPr wrap="square" rtlCol="0">
              <a:spAutoFit/>
            </a:bodyPr>
            <a:lstStyle/>
            <a:p>
              <a:r>
                <a:rPr lang="en-US" sz="1000" b="1" dirty="0"/>
                <a:t>High</a:t>
              </a:r>
            </a:p>
          </p:txBody>
        </p:sp>
        <p:sp>
          <p:nvSpPr>
            <p:cNvPr id="24" name="TextBox 23">
              <a:extLst>
                <a:ext uri="{FF2B5EF4-FFF2-40B4-BE49-F238E27FC236}">
                  <a16:creationId xmlns:a16="http://schemas.microsoft.com/office/drawing/2014/main" id="{C9BC57A7-0722-4339-BF74-ABDB346B5305}"/>
                </a:ext>
              </a:extLst>
            </p:cNvPr>
            <p:cNvSpPr txBox="1"/>
            <p:nvPr/>
          </p:nvSpPr>
          <p:spPr>
            <a:xfrm rot="16200000">
              <a:off x="161800" y="3650639"/>
              <a:ext cx="576063" cy="246221"/>
            </a:xfrm>
            <a:prstGeom prst="rect">
              <a:avLst/>
            </a:prstGeom>
            <a:noFill/>
          </p:spPr>
          <p:txBody>
            <a:bodyPr wrap="square" rtlCol="0">
              <a:spAutoFit/>
            </a:bodyPr>
            <a:lstStyle/>
            <a:p>
              <a:r>
                <a:rPr lang="en-US" sz="1000" b="1" dirty="0"/>
                <a:t>Low</a:t>
              </a:r>
            </a:p>
          </p:txBody>
        </p:sp>
        <p:sp>
          <p:nvSpPr>
            <p:cNvPr id="25" name="TextBox 24">
              <a:extLst>
                <a:ext uri="{FF2B5EF4-FFF2-40B4-BE49-F238E27FC236}">
                  <a16:creationId xmlns:a16="http://schemas.microsoft.com/office/drawing/2014/main" id="{CDE9A5DC-B8DA-4848-A03B-2888F60214BD}"/>
                </a:ext>
              </a:extLst>
            </p:cNvPr>
            <p:cNvSpPr txBox="1"/>
            <p:nvPr/>
          </p:nvSpPr>
          <p:spPr>
            <a:xfrm rot="16200000">
              <a:off x="137310" y="2887622"/>
              <a:ext cx="648071" cy="246221"/>
            </a:xfrm>
            <a:prstGeom prst="rect">
              <a:avLst/>
            </a:prstGeom>
            <a:noFill/>
          </p:spPr>
          <p:txBody>
            <a:bodyPr wrap="square" rtlCol="0">
              <a:spAutoFit/>
            </a:bodyPr>
            <a:lstStyle/>
            <a:p>
              <a:r>
                <a:rPr lang="en-US" sz="1000" b="1" dirty="0"/>
                <a:t>Medium</a:t>
              </a:r>
            </a:p>
          </p:txBody>
        </p:sp>
        <p:sp>
          <p:nvSpPr>
            <p:cNvPr id="26" name="TextBox 25">
              <a:extLst>
                <a:ext uri="{FF2B5EF4-FFF2-40B4-BE49-F238E27FC236}">
                  <a16:creationId xmlns:a16="http://schemas.microsoft.com/office/drawing/2014/main" id="{E6B7AD21-B305-4442-AE2B-E462CBE2EF0C}"/>
                </a:ext>
              </a:extLst>
            </p:cNvPr>
            <p:cNvSpPr txBox="1"/>
            <p:nvPr/>
          </p:nvSpPr>
          <p:spPr>
            <a:xfrm rot="16200000">
              <a:off x="127096" y="1936322"/>
              <a:ext cx="648071" cy="246221"/>
            </a:xfrm>
            <a:prstGeom prst="rect">
              <a:avLst/>
            </a:prstGeom>
            <a:noFill/>
          </p:spPr>
          <p:txBody>
            <a:bodyPr wrap="square" rtlCol="0">
              <a:spAutoFit/>
            </a:bodyPr>
            <a:lstStyle/>
            <a:p>
              <a:r>
                <a:rPr lang="en-US" sz="1000" b="1" dirty="0"/>
                <a:t>High</a:t>
              </a:r>
            </a:p>
          </p:txBody>
        </p:sp>
      </p:grpSp>
      <p:pic>
        <p:nvPicPr>
          <p:cNvPr id="3" name="Picture 2" descr="A picture containing graphics, graphic design, design&#10;&#10;Description automatically generated">
            <a:extLst>
              <a:ext uri="{FF2B5EF4-FFF2-40B4-BE49-F238E27FC236}">
                <a16:creationId xmlns:a16="http://schemas.microsoft.com/office/drawing/2014/main" id="{1254AFE3-6FF1-A710-4876-4C6D4FD028F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8" name="スライド番号プレースホルダー 3">
            <a:extLst>
              <a:ext uri="{FF2B5EF4-FFF2-40B4-BE49-F238E27FC236}">
                <a16:creationId xmlns:a16="http://schemas.microsoft.com/office/drawing/2014/main" id="{12F0CB78-C49D-9C42-B6CA-C3084241EC45}"/>
              </a:ext>
            </a:extLst>
          </p:cNvPr>
          <p:cNvSpPr txBox="1">
            <a:spLocks/>
          </p:cNvSpPr>
          <p:nvPr/>
        </p:nvSpPr>
        <p:spPr>
          <a:xfrm>
            <a:off x="7555169" y="4827590"/>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25</a:t>
            </a:fld>
            <a:endParaRPr lang="ja-JP" altLang="en-US"/>
          </a:p>
        </p:txBody>
      </p:sp>
      <p:sp>
        <p:nvSpPr>
          <p:cNvPr id="9" name="サブタイトル 7">
            <a:extLst>
              <a:ext uri="{FF2B5EF4-FFF2-40B4-BE49-F238E27FC236}">
                <a16:creationId xmlns:a16="http://schemas.microsoft.com/office/drawing/2014/main" id="{21D3482D-2335-6AC5-979C-C8506C70A957}"/>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0" name="サブタイトル 7">
            <a:extLst>
              <a:ext uri="{FF2B5EF4-FFF2-40B4-BE49-F238E27FC236}">
                <a16:creationId xmlns:a16="http://schemas.microsoft.com/office/drawing/2014/main" id="{0CF02F32-6C96-57E3-50E0-357AE43D491A}"/>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graphicFrame>
        <p:nvGraphicFramePr>
          <p:cNvPr id="12" name="Diagram 11">
            <a:extLst>
              <a:ext uri="{FF2B5EF4-FFF2-40B4-BE49-F238E27FC236}">
                <a16:creationId xmlns:a16="http://schemas.microsoft.com/office/drawing/2014/main" id="{742146F8-1324-AFD6-3912-B8E98F0C485B}"/>
              </a:ext>
            </a:extLst>
          </p:cNvPr>
          <p:cNvGraphicFramePr/>
          <p:nvPr>
            <p:extLst>
              <p:ext uri="{D42A27DB-BD31-4B8C-83A1-F6EECF244321}">
                <p14:modId xmlns:p14="http://schemas.microsoft.com/office/powerpoint/2010/main" val="4184470933"/>
              </p:ext>
            </p:extLst>
          </p:nvPr>
        </p:nvGraphicFramePr>
        <p:xfrm>
          <a:off x="3246724" y="794551"/>
          <a:ext cx="5245798" cy="19968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5" name="Rectangle: Rounded Corners 14">
            <a:extLst>
              <a:ext uri="{FF2B5EF4-FFF2-40B4-BE49-F238E27FC236}">
                <a16:creationId xmlns:a16="http://schemas.microsoft.com/office/drawing/2014/main" id="{17429558-0413-F49F-AB9A-C428A46A9CA6}"/>
              </a:ext>
            </a:extLst>
          </p:cNvPr>
          <p:cNvSpPr/>
          <p:nvPr/>
        </p:nvSpPr>
        <p:spPr>
          <a:xfrm>
            <a:off x="1026475" y="948414"/>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ITD01</a:t>
            </a:r>
          </a:p>
        </p:txBody>
      </p:sp>
      <p:sp>
        <p:nvSpPr>
          <p:cNvPr id="38" name="Rectangle: Rounded Corners 37">
            <a:extLst>
              <a:ext uri="{FF2B5EF4-FFF2-40B4-BE49-F238E27FC236}">
                <a16:creationId xmlns:a16="http://schemas.microsoft.com/office/drawing/2014/main" id="{A14AB9D1-35A7-482B-110F-7FF63DD5891D}"/>
              </a:ext>
            </a:extLst>
          </p:cNvPr>
          <p:cNvSpPr/>
          <p:nvPr/>
        </p:nvSpPr>
        <p:spPr>
          <a:xfrm>
            <a:off x="1675247" y="948414"/>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ITD02</a:t>
            </a:r>
          </a:p>
        </p:txBody>
      </p:sp>
      <p:sp>
        <p:nvSpPr>
          <p:cNvPr id="39" name="Rectangle: Rounded Corners 38">
            <a:extLst>
              <a:ext uri="{FF2B5EF4-FFF2-40B4-BE49-F238E27FC236}">
                <a16:creationId xmlns:a16="http://schemas.microsoft.com/office/drawing/2014/main" id="{49BABDAA-D841-D09B-AEC6-4307479283DF}"/>
              </a:ext>
            </a:extLst>
          </p:cNvPr>
          <p:cNvSpPr/>
          <p:nvPr/>
        </p:nvSpPr>
        <p:spPr>
          <a:xfrm>
            <a:off x="1041301" y="1751479"/>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ITD03</a:t>
            </a:r>
          </a:p>
        </p:txBody>
      </p:sp>
      <p:sp>
        <p:nvSpPr>
          <p:cNvPr id="40" name="Rectangle: Rounded Corners 39">
            <a:extLst>
              <a:ext uri="{FF2B5EF4-FFF2-40B4-BE49-F238E27FC236}">
                <a16:creationId xmlns:a16="http://schemas.microsoft.com/office/drawing/2014/main" id="{908B886D-1DAF-BE22-0B7C-AA5937481C25}"/>
              </a:ext>
            </a:extLst>
          </p:cNvPr>
          <p:cNvSpPr/>
          <p:nvPr/>
        </p:nvSpPr>
        <p:spPr>
          <a:xfrm>
            <a:off x="2459636" y="942909"/>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ITD04</a:t>
            </a:r>
          </a:p>
        </p:txBody>
      </p:sp>
      <p:sp>
        <p:nvSpPr>
          <p:cNvPr id="41" name="Rectangle: Rounded Corners 40">
            <a:extLst>
              <a:ext uri="{FF2B5EF4-FFF2-40B4-BE49-F238E27FC236}">
                <a16:creationId xmlns:a16="http://schemas.microsoft.com/office/drawing/2014/main" id="{55F7BA6B-4CD6-FFE2-FA16-1D433FD3955E}"/>
              </a:ext>
            </a:extLst>
          </p:cNvPr>
          <p:cNvSpPr/>
          <p:nvPr/>
        </p:nvSpPr>
        <p:spPr>
          <a:xfrm>
            <a:off x="3135026" y="934829"/>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ITD05</a:t>
            </a:r>
          </a:p>
        </p:txBody>
      </p:sp>
      <p:sp>
        <p:nvSpPr>
          <p:cNvPr id="42" name="Rectangle: Rounded Corners 41">
            <a:extLst>
              <a:ext uri="{FF2B5EF4-FFF2-40B4-BE49-F238E27FC236}">
                <a16:creationId xmlns:a16="http://schemas.microsoft.com/office/drawing/2014/main" id="{C64F0BF5-A8CB-2F27-8F24-3C416D07E92C}"/>
              </a:ext>
            </a:extLst>
          </p:cNvPr>
          <p:cNvSpPr/>
          <p:nvPr/>
        </p:nvSpPr>
        <p:spPr>
          <a:xfrm>
            <a:off x="2443972" y="1734686"/>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ITD06</a:t>
            </a:r>
          </a:p>
        </p:txBody>
      </p:sp>
      <p:sp>
        <p:nvSpPr>
          <p:cNvPr id="43" name="TextBox 42">
            <a:extLst>
              <a:ext uri="{FF2B5EF4-FFF2-40B4-BE49-F238E27FC236}">
                <a16:creationId xmlns:a16="http://schemas.microsoft.com/office/drawing/2014/main" id="{95861E20-3DBC-C6A3-6658-06505F3BB187}"/>
              </a:ext>
            </a:extLst>
          </p:cNvPr>
          <p:cNvSpPr txBox="1"/>
          <p:nvPr/>
        </p:nvSpPr>
        <p:spPr>
          <a:xfrm>
            <a:off x="4364979" y="2943154"/>
            <a:ext cx="3671123" cy="1215717"/>
          </a:xfrm>
          <a:prstGeom prst="rect">
            <a:avLst/>
          </a:prstGeom>
          <a:noFill/>
        </p:spPr>
        <p:txBody>
          <a:bodyPr wrap="square">
            <a:spAutoFit/>
          </a:bodyPr>
          <a:lstStyle/>
          <a:p>
            <a:pPr algn="l" fontAlgn="base"/>
            <a:r>
              <a:rPr lang="en-US" sz="1050" b="0" i="0" dirty="0">
                <a:solidFill>
                  <a:srgbClr val="A8A8A8"/>
                </a:solidFill>
                <a:effectLst/>
                <a:latin typeface="Raleway" pitchFamily="2" charset="0"/>
              </a:rPr>
              <a:t>Scope Current EPICS  </a:t>
            </a:r>
          </a:p>
          <a:p>
            <a:pPr algn="l" fontAlgn="base"/>
            <a:endParaRPr lang="en-US" sz="1050" b="0" i="0" dirty="0">
              <a:solidFill>
                <a:srgbClr val="A8A8A8"/>
              </a:solidFill>
              <a:effectLst/>
              <a:latin typeface="Raleway" pitchFamily="2" charset="0"/>
            </a:endParaRPr>
          </a:p>
          <a:p>
            <a:pPr algn="l" fontAlgn="base"/>
            <a:r>
              <a:rPr lang="en-US" sz="1200" b="1" i="0" dirty="0">
                <a:solidFill>
                  <a:srgbClr val="272727"/>
                </a:solidFill>
                <a:effectLst/>
                <a:latin typeface="Calibri" panose="020F0502020204030204" pitchFamily="34" charset="0"/>
                <a:cs typeface="Calibri" panose="020F0502020204030204" pitchFamily="34" charset="0"/>
              </a:rPr>
              <a:t>❶ </a:t>
            </a:r>
            <a:r>
              <a:rPr lang="en-US" sz="1200" b="1" i="0" dirty="0">
                <a:solidFill>
                  <a:srgbClr val="272727"/>
                </a:solidFill>
                <a:effectLst/>
                <a:latin typeface="Raleway" pitchFamily="2" charset="0"/>
              </a:rPr>
              <a:t>Import Parts </a:t>
            </a:r>
            <a:r>
              <a:rPr lang="en-US" sz="1200" b="1" dirty="0">
                <a:solidFill>
                  <a:srgbClr val="272727"/>
                </a:solidFill>
                <a:latin typeface="Raleway" pitchFamily="2" charset="0"/>
              </a:rPr>
              <a:t>C</a:t>
            </a:r>
            <a:r>
              <a:rPr lang="en-US" sz="1200" b="1" i="0" dirty="0">
                <a:solidFill>
                  <a:srgbClr val="272727"/>
                </a:solidFill>
                <a:effectLst/>
                <a:latin typeface="Raleway" pitchFamily="2" charset="0"/>
              </a:rPr>
              <a:t>atalogues</a:t>
            </a:r>
          </a:p>
          <a:p>
            <a:pPr fontAlgn="base"/>
            <a:r>
              <a:rPr lang="en-US" sz="1200" b="1" i="0" dirty="0">
                <a:solidFill>
                  <a:srgbClr val="272727"/>
                </a:solidFill>
                <a:effectLst/>
                <a:latin typeface="Calibri" panose="020F0502020204030204" pitchFamily="34" charset="0"/>
                <a:cs typeface="Calibri" panose="020F0502020204030204" pitchFamily="34" charset="0"/>
              </a:rPr>
              <a:t>❶ </a:t>
            </a:r>
            <a:r>
              <a:rPr lang="en-US" sz="1200" b="1" dirty="0">
                <a:solidFill>
                  <a:srgbClr val="272727"/>
                </a:solidFill>
                <a:latin typeface="Raleway" pitchFamily="2" charset="0"/>
                <a:cs typeface="Calibri" panose="020F0502020204030204" pitchFamily="34" charset="0"/>
              </a:rPr>
              <a:t>UI Design &amp; Platform</a:t>
            </a:r>
          </a:p>
          <a:p>
            <a:pPr fontAlgn="base"/>
            <a:r>
              <a:rPr lang="en-US" sz="1200" b="1" i="0" dirty="0">
                <a:solidFill>
                  <a:srgbClr val="272727"/>
                </a:solidFill>
                <a:effectLst/>
                <a:latin typeface="Calibri" panose="020F0502020204030204" pitchFamily="34" charset="0"/>
                <a:cs typeface="Calibri" panose="020F0502020204030204" pitchFamily="34" charset="0"/>
              </a:rPr>
              <a:t>❷</a:t>
            </a:r>
            <a:r>
              <a:rPr lang="en-US" sz="1200" b="1" i="0" dirty="0">
                <a:solidFill>
                  <a:srgbClr val="272727"/>
                </a:solidFill>
                <a:effectLst/>
                <a:latin typeface="Raleway" pitchFamily="2" charset="0"/>
              </a:rPr>
              <a:t>Microsite Spare Parts Catalogues</a:t>
            </a:r>
          </a:p>
          <a:p>
            <a:pPr fontAlgn="base"/>
            <a:endParaRPr lang="en-US" sz="800" b="0" i="0" dirty="0">
              <a:solidFill>
                <a:srgbClr val="A8A8A8"/>
              </a:solidFill>
              <a:effectLst/>
              <a:latin typeface="Raleway" pitchFamily="2" charset="0"/>
            </a:endParaRPr>
          </a:p>
          <a:p>
            <a:pPr algn="l" fontAlgn="base"/>
            <a:endParaRPr lang="en-US" sz="800" b="1" i="0" dirty="0">
              <a:solidFill>
                <a:srgbClr val="272727"/>
              </a:solidFill>
              <a:effectLst/>
              <a:latin typeface="Raleway" pitchFamily="2" charset="0"/>
            </a:endParaRPr>
          </a:p>
        </p:txBody>
      </p:sp>
    </p:spTree>
    <p:extLst>
      <p:ext uri="{BB962C8B-B14F-4D97-AF65-F5344CB8AC3E}">
        <p14:creationId xmlns:p14="http://schemas.microsoft.com/office/powerpoint/2010/main" val="146160361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393130" cy="364901"/>
          </a:xfrm>
        </p:spPr>
        <p:txBody>
          <a:bodyPr anchor="ctr"/>
          <a:lstStyle/>
          <a:p>
            <a:r>
              <a:rPr lang="en-US" sz="2000" dirty="0">
                <a:ea typeface="ヒラギノ角ゴ Std W6" pitchFamily="34" charset="-128"/>
              </a:rPr>
              <a:t>Features – Microsite Spare Parts Catalogues – Features Responsive Website </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26</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pic>
        <p:nvPicPr>
          <p:cNvPr id="8" name="Picture 7">
            <a:extLst>
              <a:ext uri="{FF2B5EF4-FFF2-40B4-BE49-F238E27FC236}">
                <a16:creationId xmlns:a16="http://schemas.microsoft.com/office/drawing/2014/main" id="{A3D4069E-F667-821C-227C-7A39D54121E6}"/>
              </a:ext>
            </a:extLst>
          </p:cNvPr>
          <p:cNvPicPr>
            <a:picLocks noChangeAspect="1"/>
          </p:cNvPicPr>
          <p:nvPr/>
        </p:nvPicPr>
        <p:blipFill>
          <a:blip r:embed="rId4"/>
          <a:stretch>
            <a:fillRect/>
          </a:stretch>
        </p:blipFill>
        <p:spPr>
          <a:xfrm>
            <a:off x="4340949" y="2012423"/>
            <a:ext cx="1047308" cy="1111957"/>
          </a:xfrm>
          <a:prstGeom prst="rect">
            <a:avLst/>
          </a:prstGeom>
        </p:spPr>
      </p:pic>
      <p:grpSp>
        <p:nvGrpSpPr>
          <p:cNvPr id="35" name="Group 34">
            <a:extLst>
              <a:ext uri="{FF2B5EF4-FFF2-40B4-BE49-F238E27FC236}">
                <a16:creationId xmlns:a16="http://schemas.microsoft.com/office/drawing/2014/main" id="{0F172AA3-5AFB-7E91-A4B3-943F789F9C70}"/>
              </a:ext>
            </a:extLst>
          </p:cNvPr>
          <p:cNvGrpSpPr/>
          <p:nvPr/>
        </p:nvGrpSpPr>
        <p:grpSpPr>
          <a:xfrm>
            <a:off x="4364979" y="827642"/>
            <a:ext cx="4626794" cy="3738183"/>
            <a:chOff x="4364979" y="827642"/>
            <a:chExt cx="4626794" cy="3738183"/>
          </a:xfrm>
        </p:grpSpPr>
        <p:sp>
          <p:nvSpPr>
            <p:cNvPr id="21" name="TextBox 20">
              <a:extLst>
                <a:ext uri="{FF2B5EF4-FFF2-40B4-BE49-F238E27FC236}">
                  <a16:creationId xmlns:a16="http://schemas.microsoft.com/office/drawing/2014/main" id="{C73564A4-C733-295B-EDBA-6A0335AF3769}"/>
                </a:ext>
              </a:extLst>
            </p:cNvPr>
            <p:cNvSpPr txBox="1"/>
            <p:nvPr/>
          </p:nvSpPr>
          <p:spPr>
            <a:xfrm>
              <a:off x="5359303" y="827642"/>
              <a:ext cx="2997297" cy="106952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❶ </a:t>
              </a:r>
              <a:r>
                <a:rPr lang="en-US" sz="1050" b="1" i="0" dirty="0">
                  <a:solidFill>
                    <a:srgbClr val="272727"/>
                  </a:solidFill>
                  <a:effectLst/>
                  <a:latin typeface="Raleway" pitchFamily="2" charset="0"/>
                </a:rPr>
                <a:t>Import Parts </a:t>
              </a:r>
              <a:r>
                <a:rPr lang="en-US" sz="1050" b="1" dirty="0">
                  <a:solidFill>
                    <a:srgbClr val="272727"/>
                  </a:solidFill>
                  <a:latin typeface="Raleway" pitchFamily="2" charset="0"/>
                </a:rPr>
                <a:t>C</a:t>
              </a:r>
              <a:r>
                <a:rPr lang="en-US" sz="1050" b="1" i="0" dirty="0">
                  <a:solidFill>
                    <a:srgbClr val="272727"/>
                  </a:solidFill>
                  <a:effectLst/>
                  <a:latin typeface="Raleway" pitchFamily="2" charset="0"/>
                </a:rPr>
                <a:t>atalogues</a:t>
              </a: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Technical drawings, code lists and price lists</a:t>
              </a:r>
            </a:p>
            <a:p>
              <a:pPr algn="l" fontAlgn="base"/>
              <a:r>
                <a:rPr lang="en-US" sz="800" b="0" i="0" dirty="0">
                  <a:solidFill>
                    <a:srgbClr val="2E2E2E"/>
                  </a:solidFill>
                  <a:effectLst/>
                  <a:latin typeface="Raleway" pitchFamily="2" charset="0"/>
                </a:rPr>
                <a:t>Export drawings and codes from CAPS and import them with a click in </a:t>
              </a:r>
              <a:r>
                <a:rPr lang="en-US" sz="800" dirty="0">
                  <a:solidFill>
                    <a:srgbClr val="2E2E2E"/>
                  </a:solidFill>
                  <a:latin typeface="Raleway" pitchFamily="2" charset="0"/>
                </a:rPr>
                <a:t>CMS (Content Management System) Digital Spare Parts Catalog. </a:t>
              </a:r>
              <a:r>
                <a:rPr lang="en-US" sz="800" b="0" i="0" dirty="0">
                  <a:solidFill>
                    <a:srgbClr val="2E2E2E"/>
                  </a:solidFill>
                  <a:effectLst/>
                  <a:latin typeface="Raleway" pitchFamily="2" charset="0"/>
                </a:rPr>
                <a:t>System will automatically convert your file drawings and make them interactive, </a:t>
              </a:r>
            </a:p>
          </p:txBody>
        </p:sp>
        <p:pic>
          <p:nvPicPr>
            <p:cNvPr id="23" name="Picture 22">
              <a:extLst>
                <a:ext uri="{FF2B5EF4-FFF2-40B4-BE49-F238E27FC236}">
                  <a16:creationId xmlns:a16="http://schemas.microsoft.com/office/drawing/2014/main" id="{DE790434-0072-C170-D6E3-223C6A338D54}"/>
                </a:ext>
              </a:extLst>
            </p:cNvPr>
            <p:cNvPicPr>
              <a:picLocks noChangeAspect="1"/>
            </p:cNvPicPr>
            <p:nvPr/>
          </p:nvPicPr>
          <p:blipFill>
            <a:blip r:embed="rId5"/>
            <a:stretch>
              <a:fillRect/>
            </a:stretch>
          </p:blipFill>
          <p:spPr>
            <a:xfrm>
              <a:off x="4441384" y="3318415"/>
              <a:ext cx="965312" cy="1021335"/>
            </a:xfrm>
            <a:prstGeom prst="rect">
              <a:avLst/>
            </a:prstGeom>
          </p:spPr>
        </p:pic>
        <p:sp>
          <p:nvSpPr>
            <p:cNvPr id="24" name="TextBox 23">
              <a:extLst>
                <a:ext uri="{FF2B5EF4-FFF2-40B4-BE49-F238E27FC236}">
                  <a16:creationId xmlns:a16="http://schemas.microsoft.com/office/drawing/2014/main" id="{3C4A70CE-7A47-E896-5CB8-AEEC69D978C1}"/>
                </a:ext>
              </a:extLst>
            </p:cNvPr>
            <p:cNvSpPr txBox="1"/>
            <p:nvPr/>
          </p:nvSpPr>
          <p:spPr>
            <a:xfrm>
              <a:off x="5405986" y="3373191"/>
              <a:ext cx="3585787" cy="119263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❷</a:t>
              </a:r>
              <a:r>
                <a:rPr lang="en-US" sz="1050" b="1" i="0" dirty="0">
                  <a:solidFill>
                    <a:srgbClr val="272727"/>
                  </a:solidFill>
                  <a:effectLst/>
                  <a:latin typeface="Raleway" pitchFamily="2" charset="0"/>
                </a:rPr>
                <a:t>Microsite Spare Parts Catalogues</a:t>
              </a: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CMS Portal for User Management</a:t>
              </a:r>
            </a:p>
            <a:p>
              <a:pPr algn="l" fontAlgn="base"/>
              <a:r>
                <a:rPr lang="en-US" sz="800" b="0" i="0" dirty="0">
                  <a:solidFill>
                    <a:srgbClr val="2E2E2E"/>
                  </a:solidFill>
                  <a:effectLst/>
                  <a:latin typeface="Raleway" pitchFamily="2" charset="0"/>
                </a:rPr>
                <a:t>Transform Spare Parts Catalogues into Business Opportunities.</a:t>
              </a:r>
            </a:p>
            <a:p>
              <a:pPr algn="l" fontAlgn="base"/>
              <a:r>
                <a:rPr lang="en-US" sz="800" dirty="0">
                  <a:solidFill>
                    <a:srgbClr val="2E2E2E"/>
                  </a:solidFill>
                  <a:latin typeface="Raleway" pitchFamily="2" charset="0"/>
                </a:rPr>
                <a:t>With Omni Channel Integration, system can track user behavior</a:t>
              </a:r>
            </a:p>
            <a:p>
              <a:pPr algn="l" fontAlgn="base"/>
              <a:r>
                <a:rPr lang="en-US" sz="800" b="0" i="0" dirty="0">
                  <a:solidFill>
                    <a:srgbClr val="2E2E2E"/>
                  </a:solidFill>
                  <a:effectLst/>
                  <a:latin typeface="Raleway" pitchFamily="2" charset="0"/>
                </a:rPr>
                <a:t>And notify to user campaign and information.  </a:t>
              </a:r>
              <a:r>
                <a:rPr lang="en-US" sz="800" dirty="0">
                  <a:solidFill>
                    <a:srgbClr val="2E2E2E"/>
                  </a:solidFill>
                  <a:latin typeface="Raleway" pitchFamily="2" charset="0"/>
                </a:rPr>
                <a:t>CMS system also integrated with MMKSI Backend (BE) systems such as SAP R3, D-NET , BRIGHT DMS.</a:t>
              </a:r>
              <a:endParaRPr lang="en-US" sz="800" b="0" i="0" dirty="0">
                <a:solidFill>
                  <a:srgbClr val="2E2E2E"/>
                </a:solidFill>
                <a:effectLst/>
                <a:latin typeface="Raleway" pitchFamily="2" charset="0"/>
              </a:endParaRPr>
            </a:p>
          </p:txBody>
        </p:sp>
        <p:sp>
          <p:nvSpPr>
            <p:cNvPr id="32" name="TextBox 31">
              <a:extLst>
                <a:ext uri="{FF2B5EF4-FFF2-40B4-BE49-F238E27FC236}">
                  <a16:creationId xmlns:a16="http://schemas.microsoft.com/office/drawing/2014/main" id="{745852DE-5A26-6A7C-B2C9-0E2D7ED879AA}"/>
                </a:ext>
              </a:extLst>
            </p:cNvPr>
            <p:cNvSpPr txBox="1"/>
            <p:nvPr/>
          </p:nvSpPr>
          <p:spPr>
            <a:xfrm>
              <a:off x="5388257" y="2145927"/>
              <a:ext cx="3504223" cy="946413"/>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❶ </a:t>
              </a:r>
              <a:r>
                <a:rPr lang="en-US" sz="1050" b="1" dirty="0">
                  <a:solidFill>
                    <a:srgbClr val="272727"/>
                  </a:solidFill>
                  <a:latin typeface="Raleway" pitchFamily="2" charset="0"/>
                  <a:cs typeface="Calibri" panose="020F0502020204030204" pitchFamily="34" charset="0"/>
                </a:rPr>
                <a:t>UI Design &amp; Platform</a:t>
              </a:r>
              <a:endParaRPr lang="en-US" sz="1050" b="0" i="0" dirty="0">
                <a:solidFill>
                  <a:srgbClr val="A8A8A8"/>
                </a:solidFill>
                <a:effectLst/>
                <a:latin typeface="Raleway" pitchFamily="2" charset="0"/>
              </a:endParaRP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Responsive Website</a:t>
              </a:r>
            </a:p>
            <a:p>
              <a:pPr algn="l" fontAlgn="base"/>
              <a:r>
                <a:rPr lang="en-US" sz="800" b="0" i="0" dirty="0">
                  <a:solidFill>
                    <a:srgbClr val="2E2E2E"/>
                  </a:solidFill>
                  <a:effectLst/>
                  <a:latin typeface="Raleway" pitchFamily="2" charset="0"/>
                </a:rPr>
                <a:t>A mobile responsive website is a website that is capable of adapting its content based on the device it is being viewed on. The layout and design of a website are generally created for desktop users.</a:t>
              </a:r>
            </a:p>
          </p:txBody>
        </p:sp>
        <p:pic>
          <p:nvPicPr>
            <p:cNvPr id="33" name="Picture 32">
              <a:extLst>
                <a:ext uri="{FF2B5EF4-FFF2-40B4-BE49-F238E27FC236}">
                  <a16:creationId xmlns:a16="http://schemas.microsoft.com/office/drawing/2014/main" id="{B3CD3E81-7968-D1F9-4409-2F2BFE3B0164}"/>
                </a:ext>
              </a:extLst>
            </p:cNvPr>
            <p:cNvPicPr>
              <a:picLocks noChangeAspect="1"/>
            </p:cNvPicPr>
            <p:nvPr/>
          </p:nvPicPr>
          <p:blipFill>
            <a:blip r:embed="rId4"/>
            <a:stretch>
              <a:fillRect/>
            </a:stretch>
          </p:blipFill>
          <p:spPr>
            <a:xfrm>
              <a:off x="4364979" y="866443"/>
              <a:ext cx="970797" cy="1030723"/>
            </a:xfrm>
            <a:prstGeom prst="rect">
              <a:avLst/>
            </a:prstGeom>
          </p:spPr>
        </p:pic>
      </p:grpSp>
      <p:sp>
        <p:nvSpPr>
          <p:cNvPr id="6" name="Rectangle: Rounded Corners 5">
            <a:extLst>
              <a:ext uri="{FF2B5EF4-FFF2-40B4-BE49-F238E27FC236}">
                <a16:creationId xmlns:a16="http://schemas.microsoft.com/office/drawing/2014/main" id="{70CA2A4E-A354-1B71-B08C-EB2DF66BD813}"/>
              </a:ext>
            </a:extLst>
          </p:cNvPr>
          <p:cNvSpPr/>
          <p:nvPr/>
        </p:nvSpPr>
        <p:spPr>
          <a:xfrm>
            <a:off x="8146549" y="773639"/>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ITD01</a:t>
            </a:r>
          </a:p>
        </p:txBody>
      </p:sp>
      <p:sp>
        <p:nvSpPr>
          <p:cNvPr id="7" name="Rectangle: Rounded Corners 6">
            <a:extLst>
              <a:ext uri="{FF2B5EF4-FFF2-40B4-BE49-F238E27FC236}">
                <a16:creationId xmlns:a16="http://schemas.microsoft.com/office/drawing/2014/main" id="{ECED6956-7FBD-789C-9CCA-FFFC55F3DF06}"/>
              </a:ext>
            </a:extLst>
          </p:cNvPr>
          <p:cNvSpPr/>
          <p:nvPr/>
        </p:nvSpPr>
        <p:spPr>
          <a:xfrm>
            <a:off x="8146549" y="2012423"/>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ITD02</a:t>
            </a:r>
          </a:p>
        </p:txBody>
      </p:sp>
      <p:sp>
        <p:nvSpPr>
          <p:cNvPr id="12" name="Rectangle: Rounded Corners 11">
            <a:extLst>
              <a:ext uri="{FF2B5EF4-FFF2-40B4-BE49-F238E27FC236}">
                <a16:creationId xmlns:a16="http://schemas.microsoft.com/office/drawing/2014/main" id="{D910E381-A1A0-3C8E-4AD6-08A6D400E6F0}"/>
              </a:ext>
            </a:extLst>
          </p:cNvPr>
          <p:cNvSpPr/>
          <p:nvPr/>
        </p:nvSpPr>
        <p:spPr>
          <a:xfrm>
            <a:off x="8146549" y="3318415"/>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ITD03</a:t>
            </a:r>
          </a:p>
        </p:txBody>
      </p:sp>
      <p:pic>
        <p:nvPicPr>
          <p:cNvPr id="4" name="Picture 3">
            <a:extLst>
              <a:ext uri="{FF2B5EF4-FFF2-40B4-BE49-F238E27FC236}">
                <a16:creationId xmlns:a16="http://schemas.microsoft.com/office/drawing/2014/main" id="{54E759C3-291F-D613-5623-22066C1958DE}"/>
              </a:ext>
            </a:extLst>
          </p:cNvPr>
          <p:cNvPicPr>
            <a:picLocks noChangeAspect="1"/>
          </p:cNvPicPr>
          <p:nvPr/>
        </p:nvPicPr>
        <p:blipFill>
          <a:blip r:embed="rId6"/>
          <a:stretch>
            <a:fillRect/>
          </a:stretch>
        </p:blipFill>
        <p:spPr>
          <a:xfrm>
            <a:off x="371297" y="803450"/>
            <a:ext cx="3800475" cy="3762375"/>
          </a:xfrm>
          <a:prstGeom prst="rect">
            <a:avLst/>
          </a:prstGeom>
        </p:spPr>
      </p:pic>
    </p:spTree>
    <p:extLst>
      <p:ext uri="{BB962C8B-B14F-4D97-AF65-F5344CB8AC3E}">
        <p14:creationId xmlns:p14="http://schemas.microsoft.com/office/powerpoint/2010/main" val="3546638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7979EA-6BE2-4E2C-B4E7-6520C6CA9F61}"/>
              </a:ext>
            </a:extLst>
          </p:cNvPr>
          <p:cNvSpPr>
            <a:spLocks noGrp="1"/>
          </p:cNvSpPr>
          <p:nvPr>
            <p:ph type="body" sz="quarter" idx="13"/>
          </p:nvPr>
        </p:nvSpPr>
        <p:spPr>
          <a:xfrm>
            <a:off x="229320" y="127887"/>
            <a:ext cx="8393130" cy="364901"/>
          </a:xfrm>
        </p:spPr>
        <p:txBody>
          <a:bodyPr anchor="ctr"/>
          <a:lstStyle/>
          <a:p>
            <a:r>
              <a:rPr lang="en-US" sz="2000" dirty="0">
                <a:ea typeface="ヒラギノ角ゴ Std W6" pitchFamily="34" charset="-128"/>
              </a:rPr>
              <a:t>Group Features – Microsite Spare Parts Catalogues - Responsive Website </a:t>
            </a:r>
          </a:p>
        </p:txBody>
      </p:sp>
      <p:sp>
        <p:nvSpPr>
          <p:cNvPr id="9" name="スライド番号プレースホルダー 3">
            <a:extLst>
              <a:ext uri="{FF2B5EF4-FFF2-40B4-BE49-F238E27FC236}">
                <a16:creationId xmlns:a16="http://schemas.microsoft.com/office/drawing/2014/main" id="{59645E79-9836-8B5B-608B-D57745C8BBDC}"/>
              </a:ext>
            </a:extLst>
          </p:cNvPr>
          <p:cNvSpPr>
            <a:spLocks noGrp="1"/>
          </p:cNvSpPr>
          <p:nvPr>
            <p:ph type="sldNum" sz="quarter" idx="4"/>
          </p:nvPr>
        </p:nvSpPr>
        <p:spPr>
          <a:xfrm>
            <a:off x="8356600" y="4863192"/>
            <a:ext cx="535880" cy="273844"/>
          </a:xfrm>
        </p:spPr>
        <p:txBody>
          <a:bodyPr/>
          <a:lstStyle/>
          <a:p>
            <a:fld id="{AFA0F65E-F5D4-45B0-A4C5-F0ACF598014B}" type="slidenum">
              <a:rPr lang="ja-JP" altLang="en-US" smtClean="0"/>
              <a:pPr/>
              <a:t>27</a:t>
            </a:fld>
            <a:endParaRPr lang="ja-JP" altLang="en-US"/>
          </a:p>
        </p:txBody>
      </p:sp>
      <p:sp>
        <p:nvSpPr>
          <p:cNvPr id="10" name="サブタイトル 7">
            <a:extLst>
              <a:ext uri="{FF2B5EF4-FFF2-40B4-BE49-F238E27FC236}">
                <a16:creationId xmlns:a16="http://schemas.microsoft.com/office/drawing/2014/main" id="{53C32B3A-F784-BFA1-B750-E0AED48FEA51}"/>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1" name="サブタイトル 7">
            <a:extLst>
              <a:ext uri="{FF2B5EF4-FFF2-40B4-BE49-F238E27FC236}">
                <a16:creationId xmlns:a16="http://schemas.microsoft.com/office/drawing/2014/main" id="{B0156052-817F-1E49-BFCB-F9B4E094FCB3}"/>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pic>
        <p:nvPicPr>
          <p:cNvPr id="34" name="Picture 33" descr="A picture containing graphics, graphic design, design&#10;&#10;Description automatically generated">
            <a:extLst>
              <a:ext uri="{FF2B5EF4-FFF2-40B4-BE49-F238E27FC236}">
                <a16:creationId xmlns:a16="http://schemas.microsoft.com/office/drawing/2014/main" id="{174CC3C1-E5EA-D113-B59B-BE6D8104BF5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grpSp>
        <p:nvGrpSpPr>
          <p:cNvPr id="2" name="Group 1">
            <a:extLst>
              <a:ext uri="{FF2B5EF4-FFF2-40B4-BE49-F238E27FC236}">
                <a16:creationId xmlns:a16="http://schemas.microsoft.com/office/drawing/2014/main" id="{3B3EADB4-84AC-B43C-F4AD-35FD06AB34CA}"/>
              </a:ext>
            </a:extLst>
          </p:cNvPr>
          <p:cNvGrpSpPr/>
          <p:nvPr/>
        </p:nvGrpSpPr>
        <p:grpSpPr>
          <a:xfrm>
            <a:off x="296525" y="781897"/>
            <a:ext cx="4650824" cy="3792186"/>
            <a:chOff x="4340949" y="773639"/>
            <a:chExt cx="4650824" cy="3792186"/>
          </a:xfrm>
        </p:grpSpPr>
        <p:pic>
          <p:nvPicPr>
            <p:cNvPr id="8" name="Picture 7">
              <a:extLst>
                <a:ext uri="{FF2B5EF4-FFF2-40B4-BE49-F238E27FC236}">
                  <a16:creationId xmlns:a16="http://schemas.microsoft.com/office/drawing/2014/main" id="{A3D4069E-F667-821C-227C-7A39D54121E6}"/>
                </a:ext>
              </a:extLst>
            </p:cNvPr>
            <p:cNvPicPr>
              <a:picLocks noChangeAspect="1"/>
            </p:cNvPicPr>
            <p:nvPr/>
          </p:nvPicPr>
          <p:blipFill>
            <a:blip r:embed="rId4"/>
            <a:stretch>
              <a:fillRect/>
            </a:stretch>
          </p:blipFill>
          <p:spPr>
            <a:xfrm>
              <a:off x="4340949" y="2012423"/>
              <a:ext cx="1047308" cy="1111957"/>
            </a:xfrm>
            <a:prstGeom prst="rect">
              <a:avLst/>
            </a:prstGeom>
          </p:spPr>
        </p:pic>
        <p:grpSp>
          <p:nvGrpSpPr>
            <p:cNvPr id="35" name="Group 34">
              <a:extLst>
                <a:ext uri="{FF2B5EF4-FFF2-40B4-BE49-F238E27FC236}">
                  <a16:creationId xmlns:a16="http://schemas.microsoft.com/office/drawing/2014/main" id="{0F172AA3-5AFB-7E91-A4B3-943F789F9C70}"/>
                </a:ext>
              </a:extLst>
            </p:cNvPr>
            <p:cNvGrpSpPr/>
            <p:nvPr/>
          </p:nvGrpSpPr>
          <p:grpSpPr>
            <a:xfrm>
              <a:off x="4364979" y="827642"/>
              <a:ext cx="4626794" cy="3738183"/>
              <a:chOff x="4364979" y="827642"/>
              <a:chExt cx="4626794" cy="3738183"/>
            </a:xfrm>
          </p:grpSpPr>
          <p:sp>
            <p:nvSpPr>
              <p:cNvPr id="21" name="TextBox 20">
                <a:extLst>
                  <a:ext uri="{FF2B5EF4-FFF2-40B4-BE49-F238E27FC236}">
                    <a16:creationId xmlns:a16="http://schemas.microsoft.com/office/drawing/2014/main" id="{C73564A4-C733-295B-EDBA-6A0335AF3769}"/>
                  </a:ext>
                </a:extLst>
              </p:cNvPr>
              <p:cNvSpPr txBox="1"/>
              <p:nvPr/>
            </p:nvSpPr>
            <p:spPr>
              <a:xfrm>
                <a:off x="5359303" y="827642"/>
                <a:ext cx="2997297" cy="106952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❶ </a:t>
                </a:r>
                <a:r>
                  <a:rPr lang="en-US" sz="1050" b="1" i="0" dirty="0">
                    <a:solidFill>
                      <a:srgbClr val="272727"/>
                    </a:solidFill>
                    <a:effectLst/>
                    <a:latin typeface="Raleway" pitchFamily="2" charset="0"/>
                  </a:rPr>
                  <a:t>Import Parts </a:t>
                </a:r>
                <a:r>
                  <a:rPr lang="en-US" sz="1050" b="1" dirty="0">
                    <a:solidFill>
                      <a:srgbClr val="272727"/>
                    </a:solidFill>
                    <a:latin typeface="Raleway" pitchFamily="2" charset="0"/>
                  </a:rPr>
                  <a:t>C</a:t>
                </a:r>
                <a:r>
                  <a:rPr lang="en-US" sz="1050" b="1" i="0" dirty="0">
                    <a:solidFill>
                      <a:srgbClr val="272727"/>
                    </a:solidFill>
                    <a:effectLst/>
                    <a:latin typeface="Raleway" pitchFamily="2" charset="0"/>
                  </a:rPr>
                  <a:t>atalogues</a:t>
                </a: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Technical drawings, code lists and price lists</a:t>
                </a:r>
              </a:p>
              <a:p>
                <a:pPr algn="l" fontAlgn="base"/>
                <a:r>
                  <a:rPr lang="en-US" sz="800" b="0" i="0" dirty="0">
                    <a:solidFill>
                      <a:srgbClr val="2E2E2E"/>
                    </a:solidFill>
                    <a:effectLst/>
                    <a:latin typeface="Raleway" pitchFamily="2" charset="0"/>
                  </a:rPr>
                  <a:t>Export drawings and codes from CAPS and import them with a click in </a:t>
                </a:r>
                <a:r>
                  <a:rPr lang="en-US" sz="800" dirty="0">
                    <a:solidFill>
                      <a:srgbClr val="2E2E2E"/>
                    </a:solidFill>
                    <a:latin typeface="Raleway" pitchFamily="2" charset="0"/>
                  </a:rPr>
                  <a:t>CMS (Content Management System) Digital Spare Parts Catalog. </a:t>
                </a:r>
                <a:r>
                  <a:rPr lang="en-US" sz="800" b="0" i="0" dirty="0">
                    <a:solidFill>
                      <a:srgbClr val="2E2E2E"/>
                    </a:solidFill>
                    <a:effectLst/>
                    <a:latin typeface="Raleway" pitchFamily="2" charset="0"/>
                  </a:rPr>
                  <a:t>System will automatically convert your file drawings and make them interactive, </a:t>
                </a:r>
              </a:p>
            </p:txBody>
          </p:sp>
          <p:pic>
            <p:nvPicPr>
              <p:cNvPr id="23" name="Picture 22">
                <a:extLst>
                  <a:ext uri="{FF2B5EF4-FFF2-40B4-BE49-F238E27FC236}">
                    <a16:creationId xmlns:a16="http://schemas.microsoft.com/office/drawing/2014/main" id="{DE790434-0072-C170-D6E3-223C6A338D54}"/>
                  </a:ext>
                </a:extLst>
              </p:cNvPr>
              <p:cNvPicPr>
                <a:picLocks noChangeAspect="1"/>
              </p:cNvPicPr>
              <p:nvPr/>
            </p:nvPicPr>
            <p:blipFill>
              <a:blip r:embed="rId5"/>
              <a:stretch>
                <a:fillRect/>
              </a:stretch>
            </p:blipFill>
            <p:spPr>
              <a:xfrm>
                <a:off x="4441384" y="3318415"/>
                <a:ext cx="965312" cy="1021335"/>
              </a:xfrm>
              <a:prstGeom prst="rect">
                <a:avLst/>
              </a:prstGeom>
            </p:spPr>
          </p:pic>
          <p:sp>
            <p:nvSpPr>
              <p:cNvPr id="24" name="TextBox 23">
                <a:extLst>
                  <a:ext uri="{FF2B5EF4-FFF2-40B4-BE49-F238E27FC236}">
                    <a16:creationId xmlns:a16="http://schemas.microsoft.com/office/drawing/2014/main" id="{3C4A70CE-7A47-E896-5CB8-AEEC69D978C1}"/>
                  </a:ext>
                </a:extLst>
              </p:cNvPr>
              <p:cNvSpPr txBox="1"/>
              <p:nvPr/>
            </p:nvSpPr>
            <p:spPr>
              <a:xfrm>
                <a:off x="5405986" y="3373191"/>
                <a:ext cx="3585787" cy="1192634"/>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❷</a:t>
                </a:r>
                <a:r>
                  <a:rPr lang="en-US" sz="1050" b="1" i="0" dirty="0">
                    <a:solidFill>
                      <a:srgbClr val="272727"/>
                    </a:solidFill>
                    <a:effectLst/>
                    <a:latin typeface="Raleway" pitchFamily="2" charset="0"/>
                  </a:rPr>
                  <a:t>Microsite Spare Parts Catalogues</a:t>
                </a: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CMS Portal for User Management</a:t>
                </a:r>
              </a:p>
              <a:p>
                <a:pPr algn="l" fontAlgn="base"/>
                <a:r>
                  <a:rPr lang="en-US" sz="800" b="0" i="0" dirty="0">
                    <a:solidFill>
                      <a:srgbClr val="2E2E2E"/>
                    </a:solidFill>
                    <a:effectLst/>
                    <a:latin typeface="Raleway" pitchFamily="2" charset="0"/>
                  </a:rPr>
                  <a:t>Transform Spare Parts Catalogues into Business Opportunities.</a:t>
                </a:r>
              </a:p>
              <a:p>
                <a:pPr algn="l" fontAlgn="base"/>
                <a:r>
                  <a:rPr lang="en-US" sz="800" dirty="0">
                    <a:solidFill>
                      <a:srgbClr val="2E2E2E"/>
                    </a:solidFill>
                    <a:latin typeface="Raleway" pitchFamily="2" charset="0"/>
                  </a:rPr>
                  <a:t>With Omni Channel Integration, system can track user behavior</a:t>
                </a:r>
              </a:p>
              <a:p>
                <a:pPr algn="l" fontAlgn="base"/>
                <a:r>
                  <a:rPr lang="en-US" sz="800" b="0" i="0" dirty="0">
                    <a:solidFill>
                      <a:srgbClr val="2E2E2E"/>
                    </a:solidFill>
                    <a:effectLst/>
                    <a:latin typeface="Raleway" pitchFamily="2" charset="0"/>
                  </a:rPr>
                  <a:t>And notify to user campaign and information.  </a:t>
                </a:r>
                <a:r>
                  <a:rPr lang="en-US" sz="800" dirty="0">
                    <a:solidFill>
                      <a:srgbClr val="2E2E2E"/>
                    </a:solidFill>
                    <a:latin typeface="Raleway" pitchFamily="2" charset="0"/>
                  </a:rPr>
                  <a:t>CMS system also integrated with MMKSI Backend (BE) systems such as SAP R3, D-NET , BRIGHT DMS.</a:t>
                </a:r>
                <a:endParaRPr lang="en-US" sz="800" b="0" i="0" dirty="0">
                  <a:solidFill>
                    <a:srgbClr val="2E2E2E"/>
                  </a:solidFill>
                  <a:effectLst/>
                  <a:latin typeface="Raleway" pitchFamily="2" charset="0"/>
                </a:endParaRPr>
              </a:p>
            </p:txBody>
          </p:sp>
          <p:sp>
            <p:nvSpPr>
              <p:cNvPr id="32" name="TextBox 31">
                <a:extLst>
                  <a:ext uri="{FF2B5EF4-FFF2-40B4-BE49-F238E27FC236}">
                    <a16:creationId xmlns:a16="http://schemas.microsoft.com/office/drawing/2014/main" id="{745852DE-5A26-6A7C-B2C9-0E2D7ED879AA}"/>
                  </a:ext>
                </a:extLst>
              </p:cNvPr>
              <p:cNvSpPr txBox="1"/>
              <p:nvPr/>
            </p:nvSpPr>
            <p:spPr>
              <a:xfrm>
                <a:off x="5388257" y="2145927"/>
                <a:ext cx="3504223" cy="946413"/>
              </a:xfrm>
              <a:prstGeom prst="rect">
                <a:avLst/>
              </a:prstGeom>
              <a:noFill/>
            </p:spPr>
            <p:txBody>
              <a:bodyPr wrap="square">
                <a:spAutoFit/>
              </a:bodyPr>
              <a:lstStyle/>
              <a:p>
                <a:pPr algn="l" fontAlgn="base"/>
                <a:r>
                  <a:rPr lang="en-US" sz="1050" b="1" i="0" dirty="0">
                    <a:solidFill>
                      <a:srgbClr val="272727"/>
                    </a:solidFill>
                    <a:effectLst/>
                    <a:latin typeface="Calibri" panose="020F0502020204030204" pitchFamily="34" charset="0"/>
                    <a:cs typeface="Calibri" panose="020F0502020204030204" pitchFamily="34" charset="0"/>
                  </a:rPr>
                  <a:t>❶ </a:t>
                </a:r>
                <a:r>
                  <a:rPr lang="en-US" sz="1050" b="1" dirty="0">
                    <a:solidFill>
                      <a:srgbClr val="272727"/>
                    </a:solidFill>
                    <a:latin typeface="Raleway" pitchFamily="2" charset="0"/>
                    <a:cs typeface="Calibri" panose="020F0502020204030204" pitchFamily="34" charset="0"/>
                  </a:rPr>
                  <a:t>UI Design &amp; Platform</a:t>
                </a:r>
                <a:endParaRPr lang="en-US" sz="1050" b="0" i="0" dirty="0">
                  <a:solidFill>
                    <a:srgbClr val="A8A8A8"/>
                  </a:solidFill>
                  <a:effectLst/>
                  <a:latin typeface="Raleway" pitchFamily="2" charset="0"/>
                </a:endParaRPr>
              </a:p>
              <a:p>
                <a:pPr algn="l" fontAlgn="base"/>
                <a:endParaRPr lang="en-US" sz="1050" b="0" i="0" dirty="0">
                  <a:solidFill>
                    <a:srgbClr val="A8A8A8"/>
                  </a:solidFill>
                  <a:effectLst/>
                  <a:latin typeface="Raleway" pitchFamily="2" charset="0"/>
                </a:endParaRPr>
              </a:p>
              <a:p>
                <a:pPr algn="l" fontAlgn="base"/>
                <a:r>
                  <a:rPr lang="en-US" sz="1050" b="0" i="0" dirty="0">
                    <a:solidFill>
                      <a:srgbClr val="A8A8A8"/>
                    </a:solidFill>
                    <a:effectLst/>
                    <a:latin typeface="Raleway" pitchFamily="2" charset="0"/>
                  </a:rPr>
                  <a:t>Responsive Website</a:t>
                </a:r>
              </a:p>
              <a:p>
                <a:pPr algn="l" fontAlgn="base"/>
                <a:r>
                  <a:rPr lang="en-US" sz="800" b="0" i="0" dirty="0">
                    <a:solidFill>
                      <a:srgbClr val="2E2E2E"/>
                    </a:solidFill>
                    <a:effectLst/>
                    <a:latin typeface="Raleway" pitchFamily="2" charset="0"/>
                  </a:rPr>
                  <a:t>A mobile responsive website is a website that is capable of adapting its content based on the device it is being viewed on. The layout and design of a website are generally created for desktop users.</a:t>
                </a:r>
              </a:p>
            </p:txBody>
          </p:sp>
          <p:pic>
            <p:nvPicPr>
              <p:cNvPr id="33" name="Picture 32">
                <a:extLst>
                  <a:ext uri="{FF2B5EF4-FFF2-40B4-BE49-F238E27FC236}">
                    <a16:creationId xmlns:a16="http://schemas.microsoft.com/office/drawing/2014/main" id="{B3CD3E81-7968-D1F9-4409-2F2BFE3B0164}"/>
                  </a:ext>
                </a:extLst>
              </p:cNvPr>
              <p:cNvPicPr>
                <a:picLocks noChangeAspect="1"/>
              </p:cNvPicPr>
              <p:nvPr/>
            </p:nvPicPr>
            <p:blipFill>
              <a:blip r:embed="rId4"/>
              <a:stretch>
                <a:fillRect/>
              </a:stretch>
            </p:blipFill>
            <p:spPr>
              <a:xfrm>
                <a:off x="4364979" y="866443"/>
                <a:ext cx="970797" cy="1030723"/>
              </a:xfrm>
              <a:prstGeom prst="rect">
                <a:avLst/>
              </a:prstGeom>
            </p:spPr>
          </p:pic>
        </p:grpSp>
        <p:sp>
          <p:nvSpPr>
            <p:cNvPr id="6" name="Rectangle: Rounded Corners 5">
              <a:extLst>
                <a:ext uri="{FF2B5EF4-FFF2-40B4-BE49-F238E27FC236}">
                  <a16:creationId xmlns:a16="http://schemas.microsoft.com/office/drawing/2014/main" id="{70CA2A4E-A354-1B71-B08C-EB2DF66BD813}"/>
                </a:ext>
              </a:extLst>
            </p:cNvPr>
            <p:cNvSpPr/>
            <p:nvPr/>
          </p:nvSpPr>
          <p:spPr>
            <a:xfrm>
              <a:off x="8146549" y="773639"/>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ITD01</a:t>
              </a:r>
            </a:p>
          </p:txBody>
        </p:sp>
        <p:sp>
          <p:nvSpPr>
            <p:cNvPr id="7" name="Rectangle: Rounded Corners 6">
              <a:extLst>
                <a:ext uri="{FF2B5EF4-FFF2-40B4-BE49-F238E27FC236}">
                  <a16:creationId xmlns:a16="http://schemas.microsoft.com/office/drawing/2014/main" id="{ECED6956-7FBD-789C-9CCA-FFFC55F3DF06}"/>
                </a:ext>
              </a:extLst>
            </p:cNvPr>
            <p:cNvSpPr/>
            <p:nvPr/>
          </p:nvSpPr>
          <p:spPr>
            <a:xfrm>
              <a:off x="8146549" y="2012423"/>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ITD02</a:t>
              </a:r>
            </a:p>
          </p:txBody>
        </p:sp>
        <p:sp>
          <p:nvSpPr>
            <p:cNvPr id="12" name="Rectangle: Rounded Corners 11">
              <a:extLst>
                <a:ext uri="{FF2B5EF4-FFF2-40B4-BE49-F238E27FC236}">
                  <a16:creationId xmlns:a16="http://schemas.microsoft.com/office/drawing/2014/main" id="{D910E381-A1A0-3C8E-4AD6-08A6D400E6F0}"/>
                </a:ext>
              </a:extLst>
            </p:cNvPr>
            <p:cNvSpPr/>
            <p:nvPr/>
          </p:nvSpPr>
          <p:spPr>
            <a:xfrm>
              <a:off x="8146549" y="3318415"/>
              <a:ext cx="576754" cy="306467"/>
            </a:xfrm>
            <a:prstGeom prst="roundRect">
              <a:avLst/>
            </a:prstGeom>
          </p:spPr>
          <p:style>
            <a:lnRef idx="2">
              <a:schemeClr val="accent6"/>
            </a:lnRef>
            <a:fillRef idx="1">
              <a:schemeClr val="lt1"/>
            </a:fillRef>
            <a:effectRef idx="0">
              <a:schemeClr val="accent6"/>
            </a:effectRef>
            <a:fontRef idx="minor">
              <a:schemeClr val="dk1"/>
            </a:fontRef>
          </p:style>
          <p:txBody>
            <a:bodyPr wrap="none" rtlCol="0" anchor="ctr">
              <a:spAutoFit/>
            </a:bodyPr>
            <a:lstStyle/>
            <a:p>
              <a:pPr algn="ctr"/>
              <a:r>
                <a:rPr lang="en-US" sz="1200" b="0" dirty="0"/>
                <a:t>ITD03</a:t>
              </a:r>
            </a:p>
          </p:txBody>
        </p:sp>
      </p:grpSp>
      <p:sp>
        <p:nvSpPr>
          <p:cNvPr id="5" name="TextBox 4">
            <a:extLst>
              <a:ext uri="{FF2B5EF4-FFF2-40B4-BE49-F238E27FC236}">
                <a16:creationId xmlns:a16="http://schemas.microsoft.com/office/drawing/2014/main" id="{F628D02F-D83E-F98A-6503-7E5B8F51B528}"/>
              </a:ext>
            </a:extLst>
          </p:cNvPr>
          <p:cNvSpPr txBox="1"/>
          <p:nvPr/>
        </p:nvSpPr>
        <p:spPr>
          <a:xfrm>
            <a:off x="4972267" y="709942"/>
            <a:ext cx="3671123" cy="1146468"/>
          </a:xfrm>
          <a:prstGeom prst="rect">
            <a:avLst/>
          </a:prstGeom>
          <a:noFill/>
        </p:spPr>
        <p:txBody>
          <a:bodyPr wrap="square">
            <a:spAutoFit/>
          </a:bodyPr>
          <a:lstStyle/>
          <a:p>
            <a:pPr algn="l" fontAlgn="base"/>
            <a:r>
              <a:rPr lang="en-US" sz="1050" b="1" i="0" dirty="0">
                <a:solidFill>
                  <a:srgbClr val="A8A8A8"/>
                </a:solidFill>
                <a:effectLst/>
                <a:latin typeface="Raleway" pitchFamily="2" charset="0"/>
              </a:rPr>
              <a:t>List of Features</a:t>
            </a:r>
          </a:p>
          <a:p>
            <a:pPr marL="114300" indent="-114300" algn="l" fontAlgn="base">
              <a:buFont typeface="+mj-lt"/>
              <a:buAutoNum type="arabicPeriod"/>
            </a:pPr>
            <a:r>
              <a:rPr lang="en-US" sz="1000" b="1" dirty="0">
                <a:solidFill>
                  <a:srgbClr val="272727"/>
                </a:solidFill>
                <a:latin typeface="Calibri" panose="020F0502020204030204" pitchFamily="34" charset="0"/>
                <a:cs typeface="Calibri" panose="020F0502020204030204" pitchFamily="34" charset="0"/>
              </a:rPr>
              <a:t>Features  import image from ASA</a:t>
            </a:r>
          </a:p>
          <a:p>
            <a:pPr marL="114300" lvl="1">
              <a:spcBef>
                <a:spcPts val="0"/>
              </a:spcBef>
              <a:buFont typeface="+mj-lt"/>
              <a:buAutoNum type="alphaLcPeriod"/>
              <a:tabLst>
                <a:tab pos="341313" algn="l"/>
              </a:tabLst>
            </a:pPr>
            <a:r>
              <a:rPr lang="en-US" sz="800" b="0" dirty="0">
                <a:latin typeface="Helvetica Neue" panose="02000503000000020004"/>
              </a:rPr>
              <a:t>Parts data in Txt format</a:t>
            </a:r>
          </a:p>
          <a:p>
            <a:pPr marL="114300" lvl="1">
              <a:spcBef>
                <a:spcPts val="0"/>
              </a:spcBef>
              <a:buFont typeface="+mj-lt"/>
              <a:buAutoNum type="alphaLcPeriod"/>
              <a:tabLst>
                <a:tab pos="341313" algn="l"/>
              </a:tabLst>
            </a:pPr>
            <a:r>
              <a:rPr lang="en-US" sz="800" b="0" dirty="0">
                <a:latin typeface="Helvetica Neue" panose="02000503000000020004"/>
              </a:rPr>
              <a:t>Parts image in jpg format</a:t>
            </a:r>
          </a:p>
          <a:p>
            <a:pPr marL="0" lvl="1">
              <a:spcBef>
                <a:spcPts val="0"/>
              </a:spcBef>
              <a:tabLst>
                <a:tab pos="341313" algn="l"/>
              </a:tabLst>
            </a:pPr>
            <a:r>
              <a:rPr lang="en-US" sz="800" b="0" dirty="0">
                <a:latin typeface="Helvetica Neue" panose="02000503000000020004"/>
              </a:rPr>
              <a:t>2. </a:t>
            </a:r>
            <a:r>
              <a:rPr lang="en-US" sz="800" b="1" dirty="0">
                <a:latin typeface="Helvetica Neue" panose="02000503000000020004"/>
              </a:rPr>
              <a:t>OCR Azure Vision </a:t>
            </a:r>
          </a:p>
          <a:p>
            <a:pPr marL="114300" lvl="1">
              <a:spcBef>
                <a:spcPts val="0"/>
              </a:spcBef>
              <a:tabLst>
                <a:tab pos="341313" algn="l"/>
              </a:tabLst>
            </a:pPr>
            <a:r>
              <a:rPr lang="en-US" sz="800" b="1" dirty="0">
                <a:latin typeface="Helvetica Neue" panose="02000503000000020004"/>
              </a:rPr>
              <a:t>a. Capture image and auto mapping </a:t>
            </a:r>
          </a:p>
          <a:p>
            <a:pPr marL="114300" lvl="1">
              <a:spcBef>
                <a:spcPts val="0"/>
              </a:spcBef>
              <a:tabLst>
                <a:tab pos="341313" algn="l"/>
              </a:tabLst>
            </a:pPr>
            <a:r>
              <a:rPr lang="en-US" sz="800" b="1" dirty="0">
                <a:latin typeface="Helvetica Neue" panose="02000503000000020004"/>
              </a:rPr>
              <a:t>    with spare part master data</a:t>
            </a:r>
          </a:p>
          <a:p>
            <a:pPr marL="114300" lvl="1">
              <a:spcBef>
                <a:spcPts val="0"/>
              </a:spcBef>
              <a:tabLst>
                <a:tab pos="341313" algn="l"/>
              </a:tabLst>
            </a:pPr>
            <a:r>
              <a:rPr lang="en-US" sz="800" b="1" dirty="0">
                <a:latin typeface="Helvetica Neue" panose="02000503000000020004"/>
              </a:rPr>
              <a:t>b. Feature Multiple File </a:t>
            </a:r>
          </a:p>
        </p:txBody>
      </p:sp>
      <p:sp>
        <p:nvSpPr>
          <p:cNvPr id="13" name="TextBox 12">
            <a:extLst>
              <a:ext uri="{FF2B5EF4-FFF2-40B4-BE49-F238E27FC236}">
                <a16:creationId xmlns:a16="http://schemas.microsoft.com/office/drawing/2014/main" id="{D6C7B518-869F-F896-EB69-43B85C0F7A7E}"/>
              </a:ext>
            </a:extLst>
          </p:cNvPr>
          <p:cNvSpPr txBox="1"/>
          <p:nvPr/>
        </p:nvSpPr>
        <p:spPr>
          <a:xfrm>
            <a:off x="5009662" y="2111852"/>
            <a:ext cx="3671123" cy="500137"/>
          </a:xfrm>
          <a:prstGeom prst="rect">
            <a:avLst/>
          </a:prstGeom>
          <a:noFill/>
        </p:spPr>
        <p:txBody>
          <a:bodyPr wrap="square">
            <a:spAutoFit/>
          </a:bodyPr>
          <a:lstStyle/>
          <a:p>
            <a:pPr algn="l" fontAlgn="base"/>
            <a:r>
              <a:rPr lang="en-US" sz="1050" b="1" i="0" dirty="0">
                <a:solidFill>
                  <a:srgbClr val="A8A8A8"/>
                </a:solidFill>
                <a:effectLst/>
                <a:latin typeface="Raleway" pitchFamily="2" charset="0"/>
              </a:rPr>
              <a:t>List of Features</a:t>
            </a:r>
            <a:endParaRPr lang="en-US" sz="1050" i="0" dirty="0">
              <a:solidFill>
                <a:srgbClr val="A8A8A8"/>
              </a:solidFill>
              <a:effectLst/>
              <a:latin typeface="Raleway" pitchFamily="2" charset="0"/>
            </a:endParaRPr>
          </a:p>
          <a:p>
            <a:pPr marL="114300" lvl="1" indent="-114300" fontAlgn="base">
              <a:buFont typeface="+mj-lt"/>
              <a:buAutoNum type="arabicPeriod"/>
              <a:tabLst>
                <a:tab pos="341313" algn="l"/>
              </a:tabLst>
            </a:pPr>
            <a:r>
              <a:rPr lang="en-US" sz="800" b="1" dirty="0">
                <a:latin typeface="Helvetica Neue" panose="02000503000000020004"/>
              </a:rPr>
              <a:t>Auto Responsive content to tablet </a:t>
            </a:r>
          </a:p>
          <a:p>
            <a:pPr marL="114300" lvl="1" indent="-114300" fontAlgn="base">
              <a:buFont typeface="+mj-lt"/>
              <a:buAutoNum type="arabicPeriod"/>
              <a:tabLst>
                <a:tab pos="341313" algn="l"/>
              </a:tabLst>
            </a:pPr>
            <a:r>
              <a:rPr lang="en-US" sz="800" b="1" dirty="0">
                <a:latin typeface="Helvetica Neue" panose="02000503000000020004"/>
              </a:rPr>
              <a:t>Auto Responsive content to Mon. Apps</a:t>
            </a:r>
          </a:p>
        </p:txBody>
      </p:sp>
      <p:sp>
        <p:nvSpPr>
          <p:cNvPr id="14" name="TextBox 13">
            <a:extLst>
              <a:ext uri="{FF2B5EF4-FFF2-40B4-BE49-F238E27FC236}">
                <a16:creationId xmlns:a16="http://schemas.microsoft.com/office/drawing/2014/main" id="{8D077F99-885D-4F46-B95E-C4B3AAD03703}"/>
              </a:ext>
            </a:extLst>
          </p:cNvPr>
          <p:cNvSpPr txBox="1"/>
          <p:nvPr/>
        </p:nvSpPr>
        <p:spPr>
          <a:xfrm>
            <a:off x="5009662" y="3237453"/>
            <a:ext cx="3671123" cy="746358"/>
          </a:xfrm>
          <a:prstGeom prst="rect">
            <a:avLst/>
          </a:prstGeom>
          <a:noFill/>
        </p:spPr>
        <p:txBody>
          <a:bodyPr wrap="square">
            <a:spAutoFit/>
          </a:bodyPr>
          <a:lstStyle/>
          <a:p>
            <a:pPr algn="l" fontAlgn="base"/>
            <a:r>
              <a:rPr lang="en-US" sz="1050" b="1" i="0" dirty="0">
                <a:solidFill>
                  <a:srgbClr val="A8A8A8"/>
                </a:solidFill>
                <a:effectLst/>
                <a:latin typeface="Raleway" pitchFamily="2" charset="0"/>
              </a:rPr>
              <a:t>List of Features</a:t>
            </a:r>
            <a:endParaRPr lang="en-US" sz="1050" i="0" dirty="0">
              <a:solidFill>
                <a:srgbClr val="A8A8A8"/>
              </a:solidFill>
              <a:effectLst/>
              <a:latin typeface="Raleway" pitchFamily="2" charset="0"/>
            </a:endParaRPr>
          </a:p>
          <a:p>
            <a:pPr marL="114300" lvl="1" indent="-114300" fontAlgn="base">
              <a:buFont typeface="+mj-lt"/>
              <a:buAutoNum type="arabicPeriod"/>
              <a:tabLst>
                <a:tab pos="341313" algn="l"/>
              </a:tabLst>
            </a:pPr>
            <a:r>
              <a:rPr lang="en-US" sz="800" b="1" dirty="0">
                <a:latin typeface="Helvetica Neue" panose="02000503000000020004"/>
              </a:rPr>
              <a:t>Tracking Behaviors using GA4</a:t>
            </a:r>
          </a:p>
          <a:p>
            <a:pPr marL="114300" lvl="1" indent="-114300" fontAlgn="base">
              <a:buFont typeface="+mj-lt"/>
              <a:buAutoNum type="arabicPeriod"/>
              <a:tabLst>
                <a:tab pos="341313" algn="l"/>
              </a:tabLst>
            </a:pPr>
            <a:r>
              <a:rPr lang="en-US" sz="800" b="1" dirty="0">
                <a:latin typeface="Helvetica Neue" panose="02000503000000020004"/>
              </a:rPr>
              <a:t>Tracking Behaviors with Omni Channel (MoE)</a:t>
            </a:r>
          </a:p>
          <a:p>
            <a:pPr marL="114300" lvl="1" indent="-114300" fontAlgn="base">
              <a:buFont typeface="+mj-lt"/>
              <a:buAutoNum type="arabicPeriod"/>
              <a:tabLst>
                <a:tab pos="341313" algn="l"/>
              </a:tabLst>
            </a:pPr>
            <a:r>
              <a:rPr lang="en-US" sz="800" b="1" dirty="0">
                <a:latin typeface="Helvetica Neue" panose="02000503000000020004"/>
              </a:rPr>
              <a:t>Integration with Email, WA </a:t>
            </a:r>
          </a:p>
          <a:p>
            <a:pPr marL="114300" lvl="1" indent="-114300" fontAlgn="base">
              <a:buFont typeface="+mj-lt"/>
              <a:buAutoNum type="arabicPeriod"/>
              <a:tabLst>
                <a:tab pos="341313" algn="l"/>
              </a:tabLst>
            </a:pPr>
            <a:r>
              <a:rPr lang="en-US" sz="800" b="1" dirty="0">
                <a:latin typeface="Helvetica Neue" panose="02000503000000020004"/>
              </a:rPr>
              <a:t>Feature Download</a:t>
            </a:r>
          </a:p>
        </p:txBody>
      </p:sp>
    </p:spTree>
    <p:extLst>
      <p:ext uri="{BB962C8B-B14F-4D97-AF65-F5344CB8AC3E}">
        <p14:creationId xmlns:p14="http://schemas.microsoft.com/office/powerpoint/2010/main" val="2861106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95A0-9548-D040-6E7E-923CD59A44FA}"/>
              </a:ext>
            </a:extLst>
          </p:cNvPr>
          <p:cNvSpPr>
            <a:spLocks noGrp="1"/>
          </p:cNvSpPr>
          <p:nvPr>
            <p:ph type="title"/>
          </p:nvPr>
        </p:nvSpPr>
        <p:spPr/>
        <p:txBody>
          <a:bodyPr/>
          <a:lstStyle/>
          <a:p>
            <a:endParaRPr lang="en-US" sz="100" dirty="0"/>
          </a:p>
        </p:txBody>
      </p:sp>
      <p:sp>
        <p:nvSpPr>
          <p:cNvPr id="3" name="Content Placeholder 2">
            <a:extLst>
              <a:ext uri="{FF2B5EF4-FFF2-40B4-BE49-F238E27FC236}">
                <a16:creationId xmlns:a16="http://schemas.microsoft.com/office/drawing/2014/main" id="{D1B08985-9866-B4DF-4838-29B25B4B814D}"/>
              </a:ext>
            </a:extLst>
          </p:cNvPr>
          <p:cNvSpPr>
            <a:spLocks noGrp="1"/>
          </p:cNvSpPr>
          <p:nvPr>
            <p:ph idx="1"/>
          </p:nvPr>
        </p:nvSpPr>
        <p:spPr/>
        <p:txBody>
          <a:bodyPr/>
          <a:lstStyle/>
          <a:p>
            <a:endParaRPr lang="en-US" sz="100" dirty="0"/>
          </a:p>
        </p:txBody>
      </p:sp>
      <p:pic>
        <p:nvPicPr>
          <p:cNvPr id="4" name="Picture 3">
            <a:extLst>
              <a:ext uri="{FF2B5EF4-FFF2-40B4-BE49-F238E27FC236}">
                <a16:creationId xmlns:a16="http://schemas.microsoft.com/office/drawing/2014/main" id="{1690185A-7AFF-C6DD-EF36-E91EEE16D92B}"/>
              </a:ext>
            </a:extLst>
          </p:cNvPr>
          <p:cNvPicPr>
            <a:picLocks noChangeAspect="1"/>
          </p:cNvPicPr>
          <p:nvPr/>
        </p:nvPicPr>
        <p:blipFill rotWithShape="1">
          <a:blip r:embed="rId3"/>
          <a:srcRect t="8048" b="4745"/>
          <a:stretch/>
        </p:blipFill>
        <p:spPr>
          <a:xfrm>
            <a:off x="431540" y="897654"/>
            <a:ext cx="7706802" cy="3780420"/>
          </a:xfrm>
          <a:prstGeom prst="rect">
            <a:avLst/>
          </a:prstGeom>
        </p:spPr>
      </p:pic>
      <p:sp>
        <p:nvSpPr>
          <p:cNvPr id="10" name="スライド番号プレースホルダー 3">
            <a:extLst>
              <a:ext uri="{FF2B5EF4-FFF2-40B4-BE49-F238E27FC236}">
                <a16:creationId xmlns:a16="http://schemas.microsoft.com/office/drawing/2014/main" id="{DA55C652-92A5-FB67-4A50-5DB393E6E323}"/>
              </a:ext>
            </a:extLst>
          </p:cNvPr>
          <p:cNvSpPr txBox="1">
            <a:spLocks/>
          </p:cNvSpPr>
          <p:nvPr/>
        </p:nvSpPr>
        <p:spPr>
          <a:xfrm>
            <a:off x="8356600" y="4863192"/>
            <a:ext cx="535880" cy="273844"/>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A0F65E-F5D4-45B0-A4C5-F0ACF598014B}" type="slidenum">
              <a:rPr lang="ja-JP" altLang="en-US" smtClean="0"/>
              <a:pPr/>
              <a:t>28</a:t>
            </a:fld>
            <a:endParaRPr lang="ja-JP" altLang="en-US"/>
          </a:p>
        </p:txBody>
      </p:sp>
      <p:sp>
        <p:nvSpPr>
          <p:cNvPr id="17" name="サブタイトル 7">
            <a:extLst>
              <a:ext uri="{FF2B5EF4-FFF2-40B4-BE49-F238E27FC236}">
                <a16:creationId xmlns:a16="http://schemas.microsoft.com/office/drawing/2014/main" id="{A9C41A90-7302-B9E1-0399-9A55EF059887}"/>
              </a:ext>
            </a:extLst>
          </p:cNvPr>
          <p:cNvSpPr txBox="1">
            <a:spLocks/>
          </p:cNvSpPr>
          <p:nvPr/>
        </p:nvSpPr>
        <p:spPr>
          <a:xfrm>
            <a:off x="188515" y="4828410"/>
            <a:ext cx="4176464"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spcBef>
                <a:spcPts val="0"/>
              </a:spcBef>
            </a:pPr>
            <a:r>
              <a:rPr lang="en-US" altLang="ja-JP" sz="1000" b="1" dirty="0">
                <a:solidFill>
                  <a:schemeClr val="tx1">
                    <a:lumMod val="65000"/>
                    <a:lumOff val="35000"/>
                  </a:schemeClr>
                </a:solidFill>
              </a:rPr>
              <a:t>PT Berlian Sistem Informasi (BSI)</a:t>
            </a:r>
          </a:p>
        </p:txBody>
      </p:sp>
      <p:sp>
        <p:nvSpPr>
          <p:cNvPr id="18" name="サブタイトル 7">
            <a:extLst>
              <a:ext uri="{FF2B5EF4-FFF2-40B4-BE49-F238E27FC236}">
                <a16:creationId xmlns:a16="http://schemas.microsoft.com/office/drawing/2014/main" id="{00B3CD20-C703-F418-3848-13D465310A3D}"/>
              </a:ext>
            </a:extLst>
          </p:cNvPr>
          <p:cNvSpPr txBox="1">
            <a:spLocks/>
          </p:cNvSpPr>
          <p:nvPr/>
        </p:nvSpPr>
        <p:spPr>
          <a:xfrm>
            <a:off x="3396934" y="4834875"/>
            <a:ext cx="2349653" cy="308626"/>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spcBef>
                <a:spcPts val="0"/>
              </a:spcBef>
            </a:pPr>
            <a:r>
              <a:rPr lang="en-US" altLang="ja-JP" sz="1000" b="1" dirty="0">
                <a:solidFill>
                  <a:schemeClr val="tx1">
                    <a:lumMod val="65000"/>
                    <a:lumOff val="35000"/>
                  </a:schemeClr>
                </a:solidFill>
              </a:rPr>
              <a:t>Confidential – Internal Used</a:t>
            </a:r>
          </a:p>
        </p:txBody>
      </p:sp>
      <p:sp>
        <p:nvSpPr>
          <p:cNvPr id="19" name="Slide Number Placeholder 4">
            <a:extLst>
              <a:ext uri="{FF2B5EF4-FFF2-40B4-BE49-F238E27FC236}">
                <a16:creationId xmlns:a16="http://schemas.microsoft.com/office/drawing/2014/main" id="{6CE889C4-C2CD-EF85-0C6A-C82FF9A83835}"/>
              </a:ext>
            </a:extLst>
          </p:cNvPr>
          <p:cNvSpPr txBox="1">
            <a:spLocks/>
          </p:cNvSpPr>
          <p:nvPr/>
        </p:nvSpPr>
        <p:spPr>
          <a:xfrm>
            <a:off x="8834277" y="4690389"/>
            <a:ext cx="209550" cy="171450"/>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rgbClr val="686D71"/>
                </a:solidFill>
                <a:latin typeface="MMC OFFICE" panose="00000500000000000000" pitchFamily="2" charset="0"/>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28575" algn="l" defTabSz="685800">
              <a:lnSpc>
                <a:spcPts val="915"/>
              </a:lnSpc>
              <a:defRPr/>
            </a:pPr>
            <a:fld id="{81D60167-4931-47E6-BA6A-407CBD079E47}" type="slidenum">
              <a:rPr kumimoji="0" lang="en-US" sz="863" spc="11" smtClean="0">
                <a:solidFill>
                  <a:schemeClr val="accent5">
                    <a:lumMod val="75000"/>
                  </a:schemeClr>
                </a:solidFill>
                <a:latin typeface="Calibri"/>
                <a:cs typeface="Calibri"/>
              </a:rPr>
              <a:pPr marL="28575" algn="l" defTabSz="685800">
                <a:lnSpc>
                  <a:spcPts val="915"/>
                </a:lnSpc>
                <a:defRPr/>
              </a:pPr>
              <a:t>28</a:t>
            </a:fld>
            <a:endParaRPr kumimoji="0" lang="en-US" sz="863" spc="11">
              <a:solidFill>
                <a:schemeClr val="accent5">
                  <a:lumMod val="75000"/>
                </a:schemeClr>
              </a:solidFill>
              <a:latin typeface="Calibri"/>
              <a:cs typeface="Calibri"/>
            </a:endParaRPr>
          </a:p>
        </p:txBody>
      </p:sp>
      <p:sp>
        <p:nvSpPr>
          <p:cNvPr id="20" name="Text Placeholder 2">
            <a:extLst>
              <a:ext uri="{FF2B5EF4-FFF2-40B4-BE49-F238E27FC236}">
                <a16:creationId xmlns:a16="http://schemas.microsoft.com/office/drawing/2014/main" id="{FDA1DDCC-3723-3157-5CA5-E05F610C8CA8}"/>
              </a:ext>
            </a:extLst>
          </p:cNvPr>
          <p:cNvSpPr txBox="1">
            <a:spLocks/>
          </p:cNvSpPr>
          <p:nvPr/>
        </p:nvSpPr>
        <p:spPr>
          <a:xfrm>
            <a:off x="229320" y="127887"/>
            <a:ext cx="6187885" cy="364901"/>
          </a:xfrm>
          <a:prstGeom prst="rect">
            <a:avLst/>
          </a:prstGeom>
        </p:spPr>
        <p:txBody>
          <a:bodyPr anchor="ctr"/>
          <a:lstStyle>
            <a:lvl1pPr marL="0" indent="0" algn="l" defTabSz="914400" rtl="0" eaLnBrk="1" latinLnBrk="0" hangingPunct="1">
              <a:spcBef>
                <a:spcPct val="20000"/>
              </a:spcBef>
              <a:buFont typeface="Arial" panose="020B0604020202020204" pitchFamily="34" charset="0"/>
              <a:buNone/>
              <a:defRPr kumimoji="1" sz="2400" kern="1200">
                <a:solidFill>
                  <a:schemeClr val="tx1"/>
                </a:solidFill>
                <a:latin typeface="ヒラギノ角ゴ Std W6" pitchFamily="34" charset="-128"/>
                <a:ea typeface="ヒラギノ角ゴ Std W6" pitchFamily="34" charset="-128"/>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en-US" sz="1800" b="1" dirty="0"/>
              <a:t>How to Monitor</a:t>
            </a:r>
          </a:p>
        </p:txBody>
      </p:sp>
      <p:pic>
        <p:nvPicPr>
          <p:cNvPr id="21" name="Picture 20" descr="A picture containing graphics, graphic design, design&#10;&#10;Description automatically generated">
            <a:extLst>
              <a:ext uri="{FF2B5EF4-FFF2-40B4-BE49-F238E27FC236}">
                <a16:creationId xmlns:a16="http://schemas.microsoft.com/office/drawing/2014/main" id="{B4A60BA2-1D5E-8F64-5B7E-1E20A1EE3A1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63047"/>
          <a:stretch/>
        </p:blipFill>
        <p:spPr>
          <a:xfrm>
            <a:off x="8434926" y="45863"/>
            <a:ext cx="491718" cy="458167"/>
          </a:xfrm>
          <a:prstGeom prst="rect">
            <a:avLst/>
          </a:prstGeom>
        </p:spPr>
      </p:pic>
      <p:sp>
        <p:nvSpPr>
          <p:cNvPr id="22" name="object 3">
            <a:extLst>
              <a:ext uri="{FF2B5EF4-FFF2-40B4-BE49-F238E27FC236}">
                <a16:creationId xmlns:a16="http://schemas.microsoft.com/office/drawing/2014/main" id="{FD21A0C9-DB3A-51C8-F778-82AE3B29651D}"/>
              </a:ext>
            </a:extLst>
          </p:cNvPr>
          <p:cNvSpPr txBox="1"/>
          <p:nvPr/>
        </p:nvSpPr>
        <p:spPr>
          <a:xfrm>
            <a:off x="342224" y="545584"/>
            <a:ext cx="7110095" cy="208199"/>
          </a:xfrm>
          <a:prstGeom prst="rect">
            <a:avLst/>
          </a:prstGeom>
        </p:spPr>
        <p:txBody>
          <a:bodyPr vert="horz" wrap="square" lIns="0" tIns="9525" rIns="0" bIns="0" rtlCol="0">
            <a:spAutoFit/>
          </a:bodyPr>
          <a:lstStyle/>
          <a:p>
            <a:pPr marL="127397" lvl="1" defTabSz="685800">
              <a:lnSpc>
                <a:spcPct val="114000"/>
              </a:lnSpc>
              <a:tabLst>
                <a:tab pos="177641" algn="l"/>
              </a:tabLst>
              <a:defRPr/>
            </a:pPr>
            <a:r>
              <a:rPr kumimoji="0" lang="en-US" sz="1200" b="1" u="sng" dirty="0">
                <a:solidFill>
                  <a:schemeClr val="accent5">
                    <a:lumMod val="75000"/>
                  </a:schemeClr>
                </a:solidFill>
                <a:latin typeface="Calibri"/>
              </a:rPr>
              <a:t>Description: How to Monitor Refer Product </a:t>
            </a:r>
            <a:r>
              <a:rPr kumimoji="0" lang="en-US" sz="1200" b="1" u="sng" dirty="0" err="1">
                <a:solidFill>
                  <a:schemeClr val="accent5">
                    <a:lumMod val="75000"/>
                  </a:schemeClr>
                </a:solidFill>
                <a:latin typeface="Calibri"/>
              </a:rPr>
              <a:t>Matrics</a:t>
            </a:r>
            <a:endParaRPr kumimoji="0" lang="en-US" sz="1200" dirty="0">
              <a:solidFill>
                <a:schemeClr val="accent5">
                  <a:lumMod val="75000"/>
                </a:schemeClr>
              </a:solidFill>
              <a:latin typeface="Calibri"/>
            </a:endParaRPr>
          </a:p>
        </p:txBody>
      </p:sp>
    </p:spTree>
    <p:extLst>
      <p:ext uri="{BB962C8B-B14F-4D97-AF65-F5344CB8AC3E}">
        <p14:creationId xmlns:p14="http://schemas.microsoft.com/office/powerpoint/2010/main" val="3798547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0DE5B5-7CC5-01CC-DC70-A9E819C057B8}"/>
              </a:ext>
            </a:extLst>
          </p:cNvPr>
          <p:cNvSpPr txBox="1"/>
          <p:nvPr/>
        </p:nvSpPr>
        <p:spPr>
          <a:xfrm>
            <a:off x="353615" y="238807"/>
            <a:ext cx="3934219" cy="507831"/>
          </a:xfrm>
          <a:prstGeom prst="rect">
            <a:avLst/>
          </a:prstGeom>
          <a:noFill/>
        </p:spPr>
        <p:txBody>
          <a:bodyPr wrap="square" rtlCol="0">
            <a:spAutoFit/>
          </a:bodyPr>
          <a:lstStyle/>
          <a:p>
            <a:pPr defTabSz="685800">
              <a:defRPr/>
            </a:pPr>
            <a:r>
              <a:rPr kumimoji="0" lang="en-US" altLang="en-US" sz="1350" b="1" dirty="0">
                <a:solidFill>
                  <a:srgbClr val="212121"/>
                </a:solidFill>
                <a:latin typeface="MMC OFFICE" pitchFamily="2" charset="77"/>
              </a:rPr>
              <a:t>Release Schedule and Program Status</a:t>
            </a:r>
          </a:p>
          <a:p>
            <a:pPr defTabSz="685800">
              <a:defRPr/>
            </a:pPr>
            <a:endParaRPr kumimoji="0" lang="en-US" altLang="en-US" sz="1350" b="1" dirty="0">
              <a:solidFill>
                <a:srgbClr val="212121"/>
              </a:solidFill>
              <a:latin typeface="MMC OFFICE" pitchFamily="2" charset="77"/>
            </a:endParaRPr>
          </a:p>
        </p:txBody>
      </p:sp>
      <p:sp>
        <p:nvSpPr>
          <p:cNvPr id="4" name="Title 1">
            <a:extLst>
              <a:ext uri="{FF2B5EF4-FFF2-40B4-BE49-F238E27FC236}">
                <a16:creationId xmlns:a16="http://schemas.microsoft.com/office/drawing/2014/main" id="{527253B6-191F-99C1-DCD1-ABB7F959D478}"/>
              </a:ext>
            </a:extLst>
          </p:cNvPr>
          <p:cNvSpPr txBox="1">
            <a:spLocks/>
          </p:cNvSpPr>
          <p:nvPr/>
        </p:nvSpPr>
        <p:spPr>
          <a:xfrm>
            <a:off x="354330" y="233724"/>
            <a:ext cx="8435340" cy="249716"/>
          </a:xfrm>
          <a:prstGeom prst="rect">
            <a:avLst/>
          </a:prstGeom>
        </p:spPr>
        <p:txBody>
          <a:bodyPr/>
          <a:lstStyle>
            <a:lvl1pPr>
              <a:defRPr>
                <a:latin typeface="+mj-lt"/>
                <a:ea typeface="+mj-ea"/>
                <a:cs typeface="+mj-cs"/>
              </a:defRPr>
            </a:lvl1pPr>
          </a:lstStyle>
          <a:p>
            <a:pPr defTabSz="685800">
              <a:defRPr/>
            </a:pPr>
            <a:endParaRPr kumimoji="0" lang="en-US" kern="0" dirty="0">
              <a:solidFill>
                <a:sysClr val="windowText" lastClr="000000"/>
              </a:solidFill>
              <a:latin typeface="Calibri"/>
            </a:endParaRPr>
          </a:p>
        </p:txBody>
      </p:sp>
      <p:graphicFrame>
        <p:nvGraphicFramePr>
          <p:cNvPr id="5" name="Table 4">
            <a:extLst>
              <a:ext uri="{FF2B5EF4-FFF2-40B4-BE49-F238E27FC236}">
                <a16:creationId xmlns:a16="http://schemas.microsoft.com/office/drawing/2014/main" id="{8FD467E6-C301-96FC-1B91-D4C1C38BC84E}"/>
              </a:ext>
            </a:extLst>
          </p:cNvPr>
          <p:cNvGraphicFramePr>
            <a:graphicFrameLocks noGrp="1"/>
          </p:cNvGraphicFramePr>
          <p:nvPr/>
        </p:nvGraphicFramePr>
        <p:xfrm>
          <a:off x="354332" y="3540935"/>
          <a:ext cx="8392751" cy="822960"/>
        </p:xfrm>
        <a:graphic>
          <a:graphicData uri="http://schemas.openxmlformats.org/drawingml/2006/table">
            <a:tbl>
              <a:tblPr firstRow="1" bandRow="1">
                <a:tableStyleId>{5C22544A-7EE6-4342-B048-85BDC9FD1C3A}</a:tableStyleId>
              </a:tblPr>
              <a:tblGrid>
                <a:gridCol w="8392751">
                  <a:extLst>
                    <a:ext uri="{9D8B030D-6E8A-4147-A177-3AD203B41FA5}">
                      <a16:colId xmlns:a16="http://schemas.microsoft.com/office/drawing/2014/main" val="1089684565"/>
                    </a:ext>
                  </a:extLst>
                </a:gridCol>
              </a:tblGrid>
              <a:tr h="205740">
                <a:tc>
                  <a:txBody>
                    <a:bodyPr/>
                    <a:lstStyle/>
                    <a:p>
                      <a:pPr algn="ctr">
                        <a:spcBef>
                          <a:spcPts val="600"/>
                        </a:spcBef>
                      </a:pPr>
                      <a:r>
                        <a:rPr lang="en-US" sz="900" dirty="0"/>
                        <a:t>SCOPE SUMMARY</a:t>
                      </a:r>
                      <a:endParaRPr lang="en-US" sz="900" b="1" dirty="0">
                        <a:solidFill>
                          <a:schemeClr val="bg1"/>
                        </a:solidFill>
                      </a:endParaRPr>
                    </a:p>
                  </a:txBody>
                  <a:tcPr marL="68580" marR="68580" marT="34290" marB="34290">
                    <a:lnR w="76200" cap="flat" cmpd="sng" algn="ctr">
                      <a:solidFill>
                        <a:schemeClr val="bg1"/>
                      </a:solidFill>
                      <a:prstDash val="solid"/>
                      <a:round/>
                      <a:headEnd type="none" w="med" len="med"/>
                      <a:tailEnd type="none" w="med" len="med"/>
                    </a:lnR>
                    <a:solidFill>
                      <a:schemeClr val="tx1"/>
                    </a:solidFill>
                  </a:tcPr>
                </a:tc>
                <a:extLst>
                  <a:ext uri="{0D108BD9-81ED-4DB2-BD59-A6C34878D82A}">
                    <a16:rowId xmlns:a16="http://schemas.microsoft.com/office/drawing/2014/main" val="1663013004"/>
                  </a:ext>
                </a:extLst>
              </a:tr>
              <a:tr h="617220">
                <a:tc>
                  <a:txBody>
                    <a:bodyPr/>
                    <a:lstStyle/>
                    <a:p>
                      <a:pPr marL="171450" marR="0" lvl="0" indent="-171450" algn="l" defTabSz="105691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b="0" dirty="0">
                          <a:solidFill>
                            <a:schemeClr val="tx1"/>
                          </a:solidFill>
                          <a:latin typeface="+mn-lt"/>
                        </a:rPr>
                        <a:t>Develop Content Management System (CMS) to accommodate data input and update parts</a:t>
                      </a:r>
                    </a:p>
                    <a:p>
                      <a:pPr marL="171450" marR="0" lvl="0" indent="-171450" algn="l" defTabSz="105691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b="0" dirty="0">
                          <a:solidFill>
                            <a:schemeClr val="tx1"/>
                          </a:solidFill>
                          <a:latin typeface="+mn-lt"/>
                        </a:rPr>
                        <a:t>Develop integration with other system related to spare part digitalization</a:t>
                      </a:r>
                    </a:p>
                    <a:p>
                      <a:pPr marL="171450" marR="0" lvl="0" indent="-171450" algn="l" defTabSz="105691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b="0" dirty="0">
                          <a:solidFill>
                            <a:schemeClr val="tx1"/>
                          </a:solidFill>
                          <a:latin typeface="+mn-lt"/>
                        </a:rPr>
                        <a:t>Develop digitalized spare part catalog to replace hardcopy document and maintain spare part data</a:t>
                      </a:r>
                    </a:p>
                    <a:p>
                      <a:pPr marL="171450" marR="0" lvl="0" indent="-171450" algn="l" defTabSz="1056917"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900" b="0" dirty="0">
                          <a:solidFill>
                            <a:schemeClr val="tx1"/>
                          </a:solidFill>
                          <a:latin typeface="+mn-lt"/>
                        </a:rPr>
                        <a:t>Loading / migration data from local to CMS system</a:t>
                      </a:r>
                    </a:p>
                  </a:txBody>
                  <a:tcPr marL="68580" marR="68580" marT="34290" marB="34290">
                    <a:lnR w="76200" cap="flat" cmpd="sng" algn="ctr">
                      <a:solidFill>
                        <a:schemeClr val="bg1"/>
                      </a:solidFill>
                      <a:prstDash val="solid"/>
                      <a:round/>
                      <a:headEnd type="none" w="med" len="med"/>
                      <a:tailEnd type="none" w="med" len="med"/>
                    </a:lnR>
                    <a:solidFill>
                      <a:schemeClr val="bg1"/>
                    </a:solidFill>
                  </a:tcPr>
                </a:tc>
                <a:extLst>
                  <a:ext uri="{0D108BD9-81ED-4DB2-BD59-A6C34878D82A}">
                    <a16:rowId xmlns:a16="http://schemas.microsoft.com/office/drawing/2014/main" val="3191836808"/>
                  </a:ext>
                </a:extLst>
              </a:tr>
            </a:tbl>
          </a:graphicData>
        </a:graphic>
      </p:graphicFrame>
      <p:sp>
        <p:nvSpPr>
          <p:cNvPr id="6" name="Isosceles Triangle 84">
            <a:extLst>
              <a:ext uri="{FF2B5EF4-FFF2-40B4-BE49-F238E27FC236}">
                <a16:creationId xmlns:a16="http://schemas.microsoft.com/office/drawing/2014/main" id="{E1999E58-C5D1-AF92-0E42-0F78B18B07A1}"/>
              </a:ext>
            </a:extLst>
          </p:cNvPr>
          <p:cNvSpPr/>
          <p:nvPr>
            <p:custDataLst>
              <p:tags r:id="rId1"/>
            </p:custDataLst>
          </p:nvPr>
        </p:nvSpPr>
        <p:spPr bwMode="gray">
          <a:xfrm>
            <a:off x="8231236" y="95115"/>
            <a:ext cx="89297" cy="77391"/>
          </a:xfrm>
          <a:prstGeom prst="triangle">
            <a:avLst/>
          </a:prstGeom>
          <a:solidFill>
            <a:srgbClr val="0000FF"/>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7" name="Rounded Rectangle 6">
            <a:extLst>
              <a:ext uri="{FF2B5EF4-FFF2-40B4-BE49-F238E27FC236}">
                <a16:creationId xmlns:a16="http://schemas.microsoft.com/office/drawing/2014/main" id="{0A526A01-FB27-85ED-8527-90B04008A1A0}"/>
              </a:ext>
            </a:extLst>
          </p:cNvPr>
          <p:cNvSpPr/>
          <p:nvPr/>
        </p:nvSpPr>
        <p:spPr>
          <a:xfrm>
            <a:off x="8319795" y="90598"/>
            <a:ext cx="685800" cy="864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kumimoji="0" lang="en-US" sz="600">
                <a:solidFill>
                  <a:sysClr val="windowText" lastClr="000000"/>
                </a:solidFill>
                <a:latin typeface="Calibri"/>
              </a:rPr>
              <a:t>Milestone</a:t>
            </a:r>
          </a:p>
        </p:txBody>
      </p:sp>
      <p:graphicFrame>
        <p:nvGraphicFramePr>
          <p:cNvPr id="13" name="Table 12">
            <a:extLst>
              <a:ext uri="{FF2B5EF4-FFF2-40B4-BE49-F238E27FC236}">
                <a16:creationId xmlns:a16="http://schemas.microsoft.com/office/drawing/2014/main" id="{F238EBE9-532D-FC98-0430-D364825A5C09}"/>
              </a:ext>
            </a:extLst>
          </p:cNvPr>
          <p:cNvGraphicFramePr>
            <a:graphicFrameLocks noGrp="1"/>
          </p:cNvGraphicFramePr>
          <p:nvPr/>
        </p:nvGraphicFramePr>
        <p:xfrm>
          <a:off x="5938600" y="248771"/>
          <a:ext cx="2851785" cy="228600"/>
        </p:xfrm>
        <a:graphic>
          <a:graphicData uri="http://schemas.openxmlformats.org/drawingml/2006/table">
            <a:tbl>
              <a:tblPr firstRow="1" bandRow="1">
                <a:tableStyleId>{5C22544A-7EE6-4342-B048-85BDC9FD1C3A}</a:tableStyleId>
              </a:tblPr>
              <a:tblGrid>
                <a:gridCol w="34290">
                  <a:extLst>
                    <a:ext uri="{9D8B030D-6E8A-4147-A177-3AD203B41FA5}">
                      <a16:colId xmlns:a16="http://schemas.microsoft.com/office/drawing/2014/main" val="470744933"/>
                    </a:ext>
                  </a:extLst>
                </a:gridCol>
                <a:gridCol w="131445">
                  <a:extLst>
                    <a:ext uri="{9D8B030D-6E8A-4147-A177-3AD203B41FA5}">
                      <a16:colId xmlns:a16="http://schemas.microsoft.com/office/drawing/2014/main" val="1523681640"/>
                    </a:ext>
                  </a:extLst>
                </a:gridCol>
                <a:gridCol w="411480">
                  <a:extLst>
                    <a:ext uri="{9D8B030D-6E8A-4147-A177-3AD203B41FA5}">
                      <a16:colId xmlns:a16="http://schemas.microsoft.com/office/drawing/2014/main" val="2774889022"/>
                    </a:ext>
                  </a:extLst>
                </a:gridCol>
                <a:gridCol w="131445">
                  <a:extLst>
                    <a:ext uri="{9D8B030D-6E8A-4147-A177-3AD203B41FA5}">
                      <a16:colId xmlns:a16="http://schemas.microsoft.com/office/drawing/2014/main" val="873180236"/>
                    </a:ext>
                  </a:extLst>
                </a:gridCol>
                <a:gridCol w="411480">
                  <a:extLst>
                    <a:ext uri="{9D8B030D-6E8A-4147-A177-3AD203B41FA5}">
                      <a16:colId xmlns:a16="http://schemas.microsoft.com/office/drawing/2014/main" val="254196420"/>
                    </a:ext>
                  </a:extLst>
                </a:gridCol>
                <a:gridCol w="131445">
                  <a:extLst>
                    <a:ext uri="{9D8B030D-6E8A-4147-A177-3AD203B41FA5}">
                      <a16:colId xmlns:a16="http://schemas.microsoft.com/office/drawing/2014/main" val="1610006899"/>
                    </a:ext>
                  </a:extLst>
                </a:gridCol>
                <a:gridCol w="480060">
                  <a:extLst>
                    <a:ext uri="{9D8B030D-6E8A-4147-A177-3AD203B41FA5}">
                      <a16:colId xmlns:a16="http://schemas.microsoft.com/office/drawing/2014/main" val="3242852120"/>
                    </a:ext>
                  </a:extLst>
                </a:gridCol>
                <a:gridCol w="131445">
                  <a:extLst>
                    <a:ext uri="{9D8B030D-6E8A-4147-A177-3AD203B41FA5}">
                      <a16:colId xmlns:a16="http://schemas.microsoft.com/office/drawing/2014/main" val="4009435243"/>
                    </a:ext>
                  </a:extLst>
                </a:gridCol>
                <a:gridCol w="411480">
                  <a:extLst>
                    <a:ext uri="{9D8B030D-6E8A-4147-A177-3AD203B41FA5}">
                      <a16:colId xmlns:a16="http://schemas.microsoft.com/office/drawing/2014/main" val="3148497524"/>
                    </a:ext>
                  </a:extLst>
                </a:gridCol>
                <a:gridCol w="131445">
                  <a:extLst>
                    <a:ext uri="{9D8B030D-6E8A-4147-A177-3AD203B41FA5}">
                      <a16:colId xmlns:a16="http://schemas.microsoft.com/office/drawing/2014/main" val="114542813"/>
                    </a:ext>
                  </a:extLst>
                </a:gridCol>
                <a:gridCol w="411480">
                  <a:extLst>
                    <a:ext uri="{9D8B030D-6E8A-4147-A177-3AD203B41FA5}">
                      <a16:colId xmlns:a16="http://schemas.microsoft.com/office/drawing/2014/main" val="2761509625"/>
                    </a:ext>
                  </a:extLst>
                </a:gridCol>
                <a:gridCol w="34290">
                  <a:extLst>
                    <a:ext uri="{9D8B030D-6E8A-4147-A177-3AD203B41FA5}">
                      <a16:colId xmlns:a16="http://schemas.microsoft.com/office/drawing/2014/main" val="4159228503"/>
                    </a:ext>
                  </a:extLst>
                </a:gridCol>
              </a:tblGrid>
              <a:tr h="34290">
                <a:tc>
                  <a:txBody>
                    <a:bodyPr/>
                    <a:lstStyle/>
                    <a:p>
                      <a:endParaRPr lang="en-US" sz="200">
                        <a:solidFill>
                          <a:schemeClr val="tx1"/>
                        </a:solidFill>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45720"/>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45720"/>
                      <a:endParaRPr lang="en-US" sz="200" b="0" i="1">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45720" marR="0" lvl="0" indent="0" algn="l" defTabSz="1056917" rtl="0" eaLnBrk="1" fontAlgn="auto" latinLnBrk="0" hangingPunct="1">
                        <a:lnSpc>
                          <a:spcPct val="100000"/>
                        </a:lnSpc>
                        <a:spcBef>
                          <a:spcPts val="0"/>
                        </a:spcBef>
                        <a:spcAft>
                          <a:spcPts val="0"/>
                        </a:spcAft>
                        <a:buClrTx/>
                        <a:buSzTx/>
                        <a:buFontTx/>
                        <a:buNone/>
                        <a:tabLst/>
                        <a:defRPr/>
                      </a:pPr>
                      <a:endParaRPr lang="en-US" sz="200" b="0" i="1">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45720"/>
                      <a:endParaRPr lang="en-US" sz="200" b="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45720"/>
                      <a:endParaRPr lang="en-US" sz="200">
                        <a:solidFill>
                          <a:schemeClr val="tx1"/>
                        </a:solidFill>
                      </a:endParaRPr>
                    </a:p>
                  </a:txBody>
                  <a:tcPr marL="0" marR="0" marT="0" marB="0" anchor="ctr">
                    <a:lnL w="12700" cmpd="sng">
                      <a:noFill/>
                    </a:lnL>
                    <a:lnR w="12700" cmpd="sng">
                      <a:noFill/>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45720"/>
                      <a:endParaRPr lang="en-US" sz="200">
                        <a:solidFill>
                          <a:schemeClr val="tx1"/>
                        </a:solidFill>
                      </a:endParaRPr>
                    </a:p>
                  </a:txBody>
                  <a:tcPr marL="0" marR="0" marT="0" marB="0" anchor="ctr">
                    <a:lnL w="12700" cmpd="sng">
                      <a:noFill/>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8254258"/>
                  </a:ext>
                </a:extLst>
              </a:tr>
              <a:tr h="160020">
                <a:tc>
                  <a:txBody>
                    <a:bodyPr/>
                    <a:lstStyle/>
                    <a:p>
                      <a:endParaRPr lang="en-US" sz="500">
                        <a:solidFill>
                          <a:schemeClr val="tx1"/>
                        </a:solidFill>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50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7F7F7F"/>
                    </a:solidFill>
                  </a:tcPr>
                </a:tc>
                <a:tc>
                  <a:txBody>
                    <a:bodyPr/>
                    <a:lstStyle/>
                    <a:p>
                      <a:pPr marL="45720"/>
                      <a:r>
                        <a:rPr lang="en-US" sz="500" b="1">
                          <a:solidFill>
                            <a:schemeClr val="tx1"/>
                          </a:solidFill>
                        </a:rPr>
                        <a:t>Not Started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50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7FD13B"/>
                    </a:solidFill>
                  </a:tcPr>
                </a:tc>
                <a:tc>
                  <a:txBody>
                    <a:bodyPr/>
                    <a:lstStyle/>
                    <a:p>
                      <a:pPr marL="45720"/>
                      <a:r>
                        <a:rPr lang="en-US" sz="500" b="1">
                          <a:solidFill>
                            <a:schemeClr val="tx1"/>
                          </a:solidFill>
                        </a:rPr>
                        <a:t>In Progress</a:t>
                      </a:r>
                      <a:br>
                        <a:rPr lang="en-US" sz="500">
                          <a:solidFill>
                            <a:schemeClr val="tx1"/>
                          </a:solidFill>
                        </a:rPr>
                      </a:br>
                      <a:r>
                        <a:rPr lang="en-US" sz="500" b="0" i="1">
                          <a:solidFill>
                            <a:schemeClr val="tx1"/>
                          </a:solidFill>
                        </a:rPr>
                        <a:t>(On Target)</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50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C000"/>
                    </a:solidFill>
                  </a:tcPr>
                </a:tc>
                <a:tc>
                  <a:txBody>
                    <a:bodyPr/>
                    <a:lstStyle/>
                    <a:p>
                      <a:pPr marL="45720" marR="0" lvl="0" indent="0" algn="l" defTabSz="1056917" rtl="0" eaLnBrk="1" fontAlgn="auto" latinLnBrk="0" hangingPunct="1">
                        <a:lnSpc>
                          <a:spcPct val="100000"/>
                        </a:lnSpc>
                        <a:spcBef>
                          <a:spcPts val="0"/>
                        </a:spcBef>
                        <a:spcAft>
                          <a:spcPts val="0"/>
                        </a:spcAft>
                        <a:buClrTx/>
                        <a:buSzTx/>
                        <a:buFontTx/>
                        <a:buNone/>
                        <a:tabLst/>
                        <a:defRPr/>
                      </a:pPr>
                      <a:r>
                        <a:rPr lang="en-US" sz="500" b="1">
                          <a:solidFill>
                            <a:schemeClr val="tx1"/>
                          </a:solidFill>
                        </a:rPr>
                        <a:t>In Progress</a:t>
                      </a:r>
                      <a:br>
                        <a:rPr lang="en-US" sz="500">
                          <a:solidFill>
                            <a:schemeClr val="tx1"/>
                          </a:solidFill>
                        </a:rPr>
                      </a:br>
                      <a:r>
                        <a:rPr lang="en-US" sz="500" b="0" i="1">
                          <a:solidFill>
                            <a:schemeClr val="tx1"/>
                          </a:solidFill>
                        </a:rPr>
                        <a:t>(Risk of Delay)</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50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0000"/>
                    </a:solidFill>
                  </a:tcPr>
                </a:tc>
                <a:tc>
                  <a:txBody>
                    <a:bodyPr/>
                    <a:lstStyle/>
                    <a:p>
                      <a:pPr marL="45720"/>
                      <a:r>
                        <a:rPr lang="en-US" sz="500" b="1">
                          <a:solidFill>
                            <a:schemeClr val="tx1"/>
                          </a:solidFill>
                        </a:rPr>
                        <a:t>Delayed</a:t>
                      </a:r>
                    </a:p>
                    <a:p>
                      <a:pPr marL="45720"/>
                      <a:r>
                        <a:rPr lang="en-US" sz="500" b="0">
                          <a:solidFill>
                            <a:schemeClr val="tx1"/>
                          </a:solidFill>
                        </a:rPr>
                        <a:t>(Start/ End)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500">
                        <a:solidFill>
                          <a:schemeClr val="tx1"/>
                        </a:solidFill>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6296FF"/>
                    </a:solidFill>
                  </a:tcPr>
                </a:tc>
                <a:tc>
                  <a:txBody>
                    <a:bodyPr/>
                    <a:lstStyle/>
                    <a:p>
                      <a:pPr marL="45720"/>
                      <a:r>
                        <a:rPr lang="en-US" sz="500" b="1">
                          <a:solidFill>
                            <a:schemeClr val="tx1"/>
                          </a:solidFill>
                        </a:rPr>
                        <a:t>Completed</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45720"/>
                      <a:endParaRPr lang="en-US" sz="500">
                        <a:solidFill>
                          <a:schemeClr val="tx1"/>
                        </a:solidFill>
                      </a:endParaRPr>
                    </a:p>
                  </a:txBody>
                  <a:tcPr marL="0" marR="0" marT="0" marB="0" anchor="ctr">
                    <a:lnL w="12700" cmpd="sng">
                      <a:noFill/>
                    </a:lnL>
                    <a:lnR w="1270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59256979"/>
                  </a:ext>
                </a:extLst>
              </a:tr>
              <a:tr h="34290">
                <a:tc>
                  <a:txBody>
                    <a:bodyPr/>
                    <a:lstStyle/>
                    <a:p>
                      <a:endParaRPr lang="en-US" sz="200">
                        <a:solidFill>
                          <a:schemeClr val="tx1"/>
                        </a:solidFill>
                      </a:endParaRPr>
                    </a:p>
                  </a:txBody>
                  <a:tcPr marL="0" marR="0" marT="0" marB="0" anchor="ctr">
                    <a:lnL w="12700" cap="flat" cmpd="sng" algn="ctr">
                      <a:solidFill>
                        <a:schemeClr val="tx1">
                          <a:lumMod val="50000"/>
                          <a:lumOff val="50000"/>
                        </a:schemeClr>
                      </a:solidFill>
                      <a:prstDash val="solid"/>
                      <a:round/>
                      <a:headEnd type="none" w="med" len="med"/>
                      <a:tailEnd type="none" w="med" len="med"/>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a:endParaRPr lang="en-US" sz="200" b="0" i="1">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marR="0" lvl="0" indent="0" algn="l" defTabSz="1056917" rtl="0" eaLnBrk="1" fontAlgn="auto" latinLnBrk="0" hangingPunct="1">
                        <a:lnSpc>
                          <a:spcPct val="100000"/>
                        </a:lnSpc>
                        <a:spcBef>
                          <a:spcPts val="0"/>
                        </a:spcBef>
                        <a:spcAft>
                          <a:spcPts val="0"/>
                        </a:spcAft>
                        <a:buClrTx/>
                        <a:buSzTx/>
                        <a:buFontTx/>
                        <a:buNone/>
                        <a:tabLst/>
                        <a:defRPr/>
                      </a:pPr>
                      <a:endParaRPr lang="en-US" sz="200" b="0" i="1">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a:endParaRPr lang="en-US" sz="200" b="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a:endParaRPr lang="en-US" sz="200">
                        <a:solidFill>
                          <a:schemeClr val="tx1"/>
                        </a:solidFill>
                      </a:endParaRPr>
                    </a:p>
                  </a:txBody>
                  <a:tcPr marL="0" marR="0" marT="0" marB="0" anchor="ctr">
                    <a:lnL w="12700" cmpd="sng">
                      <a:noFill/>
                    </a:lnL>
                    <a:lnR w="12700" cmpd="sng">
                      <a:noFill/>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a:endParaRPr lang="en-US" sz="200">
                        <a:solidFill>
                          <a:schemeClr val="tx1"/>
                        </a:solidFill>
                      </a:endParaRPr>
                    </a:p>
                  </a:txBody>
                  <a:tcPr marL="0" marR="0" marT="0" marB="0" anchor="ctr">
                    <a:lnL w="12700" cmpd="sng">
                      <a:noFill/>
                    </a:lnL>
                    <a:lnR w="12700" cap="flat" cmpd="sng" algn="ctr">
                      <a:solidFill>
                        <a:schemeClr val="tx1">
                          <a:lumMod val="50000"/>
                          <a:lumOff val="50000"/>
                        </a:schemeClr>
                      </a:solidFill>
                      <a:prstDash val="solid"/>
                      <a:round/>
                      <a:headEnd type="none" w="med" len="med"/>
                      <a:tailEnd type="none" w="med" len="med"/>
                    </a:lnR>
                    <a:lnT w="12700" cmpd="sng">
                      <a:noFill/>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1386753"/>
                  </a:ext>
                </a:extLst>
              </a:tr>
            </a:tbl>
          </a:graphicData>
        </a:graphic>
      </p:graphicFrame>
      <p:sp>
        <p:nvSpPr>
          <p:cNvPr id="14" name="Arrow: Pentagon 219">
            <a:extLst>
              <a:ext uri="{FF2B5EF4-FFF2-40B4-BE49-F238E27FC236}">
                <a16:creationId xmlns:a16="http://schemas.microsoft.com/office/drawing/2014/main" id="{577BC57A-90B3-AF63-B3C0-751E71B312B3}"/>
              </a:ext>
            </a:extLst>
          </p:cNvPr>
          <p:cNvSpPr/>
          <p:nvPr/>
        </p:nvSpPr>
        <p:spPr>
          <a:xfrm>
            <a:off x="5057780" y="766358"/>
            <a:ext cx="2274569" cy="276191"/>
          </a:xfrm>
          <a:prstGeom prst="homePlate">
            <a:avLst/>
          </a:prstGeom>
          <a:solidFill>
            <a:srgbClr val="44546A">
              <a:lumMod val="40000"/>
              <a:lumOff val="60000"/>
            </a:srgbClr>
          </a:solidFill>
          <a:ln>
            <a:solidFill>
              <a:sysClr val="window" lastClr="FFFFFF"/>
            </a:solidFill>
          </a:ln>
          <a:effectLst/>
        </p:spPr>
        <p:txBody>
          <a:bodyPr lIns="240030" tIns="0" bIns="102870" rtlCol="0" anchor="t"/>
          <a:lstStyle/>
          <a:p>
            <a:pPr defTabSz="685800">
              <a:defRPr/>
            </a:pPr>
            <a:r>
              <a:rPr kumimoji="0" lang="en-US" sz="1350" b="1" kern="0" spc="225" dirty="0">
                <a:solidFill>
                  <a:prstClr val="white"/>
                </a:solidFill>
                <a:latin typeface="Calibri" panose="020F0502020204030204"/>
              </a:rPr>
              <a:t>2024</a:t>
            </a:r>
          </a:p>
        </p:txBody>
      </p:sp>
      <p:sp>
        <p:nvSpPr>
          <p:cNvPr id="15" name="Arrow: Pentagon 220">
            <a:extLst>
              <a:ext uri="{FF2B5EF4-FFF2-40B4-BE49-F238E27FC236}">
                <a16:creationId xmlns:a16="http://schemas.microsoft.com/office/drawing/2014/main" id="{819CEB1A-964F-6854-9079-62DC98F897A4}"/>
              </a:ext>
            </a:extLst>
          </p:cNvPr>
          <p:cNvSpPr/>
          <p:nvPr/>
        </p:nvSpPr>
        <p:spPr>
          <a:xfrm>
            <a:off x="2515523" y="766358"/>
            <a:ext cx="2688936" cy="263676"/>
          </a:xfrm>
          <a:prstGeom prst="homePlate">
            <a:avLst/>
          </a:prstGeom>
          <a:solidFill>
            <a:schemeClr val="bg1">
              <a:lumMod val="75000"/>
            </a:schemeClr>
          </a:solidFill>
          <a:ln>
            <a:solidFill>
              <a:schemeClr val="bg1"/>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tIns="0" bIns="102870" rtlCol="0" anchor="t"/>
          <a:lstStyle/>
          <a:p>
            <a:pPr defTabSz="685800">
              <a:defRPr/>
            </a:pPr>
            <a:r>
              <a:rPr kumimoji="0" lang="en-US" sz="1350" b="1" spc="225" dirty="0">
                <a:solidFill>
                  <a:prstClr val="white"/>
                </a:solidFill>
                <a:latin typeface="Calibri" panose="020F0502020204030204" pitchFamily="34" charset="0"/>
                <a:cs typeface="Calibri" panose="020F0502020204030204" pitchFamily="34" charset="0"/>
              </a:rPr>
              <a:t>2023			</a:t>
            </a:r>
          </a:p>
        </p:txBody>
      </p:sp>
      <p:graphicFrame>
        <p:nvGraphicFramePr>
          <p:cNvPr id="16" name="Table 15">
            <a:extLst>
              <a:ext uri="{FF2B5EF4-FFF2-40B4-BE49-F238E27FC236}">
                <a16:creationId xmlns:a16="http://schemas.microsoft.com/office/drawing/2014/main" id="{FC5F03EF-F1B2-BA40-DCDC-BDB66D1DBA4D}"/>
              </a:ext>
            </a:extLst>
          </p:cNvPr>
          <p:cNvGraphicFramePr>
            <a:graphicFrameLocks noGrp="1"/>
          </p:cNvGraphicFramePr>
          <p:nvPr/>
        </p:nvGraphicFramePr>
        <p:xfrm>
          <a:off x="355312" y="975968"/>
          <a:ext cx="8374727" cy="2545080"/>
        </p:xfrm>
        <a:graphic>
          <a:graphicData uri="http://schemas.openxmlformats.org/drawingml/2006/table">
            <a:tbl>
              <a:tblPr/>
              <a:tblGrid>
                <a:gridCol w="2134977">
                  <a:extLst>
                    <a:ext uri="{9D8B030D-6E8A-4147-A177-3AD203B41FA5}">
                      <a16:colId xmlns:a16="http://schemas.microsoft.com/office/drawing/2014/main" val="2204108999"/>
                    </a:ext>
                  </a:extLst>
                </a:gridCol>
                <a:gridCol w="249590">
                  <a:extLst>
                    <a:ext uri="{9D8B030D-6E8A-4147-A177-3AD203B41FA5}">
                      <a16:colId xmlns:a16="http://schemas.microsoft.com/office/drawing/2014/main" val="3726811393"/>
                    </a:ext>
                  </a:extLst>
                </a:gridCol>
                <a:gridCol w="249590">
                  <a:extLst>
                    <a:ext uri="{9D8B030D-6E8A-4147-A177-3AD203B41FA5}">
                      <a16:colId xmlns:a16="http://schemas.microsoft.com/office/drawing/2014/main" val="219768949"/>
                    </a:ext>
                  </a:extLst>
                </a:gridCol>
                <a:gridCol w="249590">
                  <a:extLst>
                    <a:ext uri="{9D8B030D-6E8A-4147-A177-3AD203B41FA5}">
                      <a16:colId xmlns:a16="http://schemas.microsoft.com/office/drawing/2014/main" val="3105386596"/>
                    </a:ext>
                  </a:extLst>
                </a:gridCol>
                <a:gridCol w="249590">
                  <a:extLst>
                    <a:ext uri="{9D8B030D-6E8A-4147-A177-3AD203B41FA5}">
                      <a16:colId xmlns:a16="http://schemas.microsoft.com/office/drawing/2014/main" val="2612640166"/>
                    </a:ext>
                  </a:extLst>
                </a:gridCol>
                <a:gridCol w="249590">
                  <a:extLst>
                    <a:ext uri="{9D8B030D-6E8A-4147-A177-3AD203B41FA5}">
                      <a16:colId xmlns:a16="http://schemas.microsoft.com/office/drawing/2014/main" val="3282928299"/>
                    </a:ext>
                  </a:extLst>
                </a:gridCol>
                <a:gridCol w="249590">
                  <a:extLst>
                    <a:ext uri="{9D8B030D-6E8A-4147-A177-3AD203B41FA5}">
                      <a16:colId xmlns:a16="http://schemas.microsoft.com/office/drawing/2014/main" val="2712191341"/>
                    </a:ext>
                  </a:extLst>
                </a:gridCol>
                <a:gridCol w="249590">
                  <a:extLst>
                    <a:ext uri="{9D8B030D-6E8A-4147-A177-3AD203B41FA5}">
                      <a16:colId xmlns:a16="http://schemas.microsoft.com/office/drawing/2014/main" val="2187339509"/>
                    </a:ext>
                  </a:extLst>
                </a:gridCol>
                <a:gridCol w="249590">
                  <a:extLst>
                    <a:ext uri="{9D8B030D-6E8A-4147-A177-3AD203B41FA5}">
                      <a16:colId xmlns:a16="http://schemas.microsoft.com/office/drawing/2014/main" val="525983677"/>
                    </a:ext>
                  </a:extLst>
                </a:gridCol>
                <a:gridCol w="249590">
                  <a:extLst>
                    <a:ext uri="{9D8B030D-6E8A-4147-A177-3AD203B41FA5}">
                      <a16:colId xmlns:a16="http://schemas.microsoft.com/office/drawing/2014/main" val="2994975055"/>
                    </a:ext>
                  </a:extLst>
                </a:gridCol>
                <a:gridCol w="249590">
                  <a:extLst>
                    <a:ext uri="{9D8B030D-6E8A-4147-A177-3AD203B41FA5}">
                      <a16:colId xmlns:a16="http://schemas.microsoft.com/office/drawing/2014/main" val="2371542031"/>
                    </a:ext>
                  </a:extLst>
                </a:gridCol>
                <a:gridCol w="249590">
                  <a:extLst>
                    <a:ext uri="{9D8B030D-6E8A-4147-A177-3AD203B41FA5}">
                      <a16:colId xmlns:a16="http://schemas.microsoft.com/office/drawing/2014/main" val="2710610660"/>
                    </a:ext>
                  </a:extLst>
                </a:gridCol>
                <a:gridCol w="249590">
                  <a:extLst>
                    <a:ext uri="{9D8B030D-6E8A-4147-A177-3AD203B41FA5}">
                      <a16:colId xmlns:a16="http://schemas.microsoft.com/office/drawing/2014/main" val="2480523837"/>
                    </a:ext>
                  </a:extLst>
                </a:gridCol>
                <a:gridCol w="249590">
                  <a:extLst>
                    <a:ext uri="{9D8B030D-6E8A-4147-A177-3AD203B41FA5}">
                      <a16:colId xmlns:a16="http://schemas.microsoft.com/office/drawing/2014/main" val="3071318787"/>
                    </a:ext>
                  </a:extLst>
                </a:gridCol>
                <a:gridCol w="249590">
                  <a:extLst>
                    <a:ext uri="{9D8B030D-6E8A-4147-A177-3AD203B41FA5}">
                      <a16:colId xmlns:a16="http://schemas.microsoft.com/office/drawing/2014/main" val="2424209655"/>
                    </a:ext>
                  </a:extLst>
                </a:gridCol>
                <a:gridCol w="249590">
                  <a:extLst>
                    <a:ext uri="{9D8B030D-6E8A-4147-A177-3AD203B41FA5}">
                      <a16:colId xmlns:a16="http://schemas.microsoft.com/office/drawing/2014/main" val="2455991284"/>
                    </a:ext>
                  </a:extLst>
                </a:gridCol>
                <a:gridCol w="249590">
                  <a:extLst>
                    <a:ext uri="{9D8B030D-6E8A-4147-A177-3AD203B41FA5}">
                      <a16:colId xmlns:a16="http://schemas.microsoft.com/office/drawing/2014/main" val="2099426875"/>
                    </a:ext>
                  </a:extLst>
                </a:gridCol>
                <a:gridCol w="249590">
                  <a:extLst>
                    <a:ext uri="{9D8B030D-6E8A-4147-A177-3AD203B41FA5}">
                      <a16:colId xmlns:a16="http://schemas.microsoft.com/office/drawing/2014/main" val="2790115963"/>
                    </a:ext>
                  </a:extLst>
                </a:gridCol>
                <a:gridCol w="249590">
                  <a:extLst>
                    <a:ext uri="{9D8B030D-6E8A-4147-A177-3AD203B41FA5}">
                      <a16:colId xmlns:a16="http://schemas.microsoft.com/office/drawing/2014/main" val="1248268902"/>
                    </a:ext>
                  </a:extLst>
                </a:gridCol>
                <a:gridCol w="249590">
                  <a:extLst>
                    <a:ext uri="{9D8B030D-6E8A-4147-A177-3AD203B41FA5}">
                      <a16:colId xmlns:a16="http://schemas.microsoft.com/office/drawing/2014/main" val="940752024"/>
                    </a:ext>
                  </a:extLst>
                </a:gridCol>
                <a:gridCol w="249590">
                  <a:extLst>
                    <a:ext uri="{9D8B030D-6E8A-4147-A177-3AD203B41FA5}">
                      <a16:colId xmlns:a16="http://schemas.microsoft.com/office/drawing/2014/main" val="4021724233"/>
                    </a:ext>
                  </a:extLst>
                </a:gridCol>
                <a:gridCol w="249590">
                  <a:extLst>
                    <a:ext uri="{9D8B030D-6E8A-4147-A177-3AD203B41FA5}">
                      <a16:colId xmlns:a16="http://schemas.microsoft.com/office/drawing/2014/main" val="3664355564"/>
                    </a:ext>
                  </a:extLst>
                </a:gridCol>
                <a:gridCol w="249590">
                  <a:extLst>
                    <a:ext uri="{9D8B030D-6E8A-4147-A177-3AD203B41FA5}">
                      <a16:colId xmlns:a16="http://schemas.microsoft.com/office/drawing/2014/main" val="1494437652"/>
                    </a:ext>
                  </a:extLst>
                </a:gridCol>
                <a:gridCol w="249590">
                  <a:extLst>
                    <a:ext uri="{9D8B030D-6E8A-4147-A177-3AD203B41FA5}">
                      <a16:colId xmlns:a16="http://schemas.microsoft.com/office/drawing/2014/main" val="3060617907"/>
                    </a:ext>
                  </a:extLst>
                </a:gridCol>
                <a:gridCol w="249590">
                  <a:extLst>
                    <a:ext uri="{9D8B030D-6E8A-4147-A177-3AD203B41FA5}">
                      <a16:colId xmlns:a16="http://schemas.microsoft.com/office/drawing/2014/main" val="252229308"/>
                    </a:ext>
                  </a:extLst>
                </a:gridCol>
                <a:gridCol w="249590">
                  <a:extLst>
                    <a:ext uri="{9D8B030D-6E8A-4147-A177-3AD203B41FA5}">
                      <a16:colId xmlns:a16="http://schemas.microsoft.com/office/drawing/2014/main" val="1811496639"/>
                    </a:ext>
                  </a:extLst>
                </a:gridCol>
              </a:tblGrid>
              <a:tr h="188595">
                <a:tc>
                  <a:txBody>
                    <a:bodyPr/>
                    <a:lstStyle/>
                    <a:p>
                      <a:pPr algn="ctr" fontAlgn="ctr"/>
                      <a:endParaRPr lang="en-US" sz="800" b="1" i="0" u="none" strike="noStrike">
                        <a:solidFill>
                          <a:srgbClr val="FFFFFF"/>
                        </a:solidFill>
                        <a:effectLst/>
                        <a:latin typeface="Calibri" panose="020F0502020204030204" pitchFamily="34" charset="0"/>
                      </a:endParaRP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2">
                  <a:txBody>
                    <a:bodyPr/>
                    <a:lstStyle/>
                    <a:p>
                      <a:pPr algn="ctr" fontAlgn="ctr"/>
                      <a:r>
                        <a:rPr lang="en-US" sz="800" b="1" i="0" u="none" strike="noStrike" dirty="0">
                          <a:solidFill>
                            <a:srgbClr val="FFFFFF"/>
                          </a:solidFill>
                          <a:effectLst/>
                          <a:latin typeface="Calibri" panose="020F0502020204030204" pitchFamily="34" charset="0"/>
                        </a:rPr>
                        <a:t>Oct</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r>
                        <a:rPr lang="en-US" sz="1050" b="1" i="0" u="none" strike="noStrike" dirty="0">
                          <a:solidFill>
                            <a:srgbClr val="FFFFFF"/>
                          </a:solidFill>
                          <a:effectLst/>
                          <a:latin typeface="Calibri" panose="020F0502020204030204" pitchFamily="34" charset="0"/>
                        </a:rPr>
                        <a:t>Oct</a:t>
                      </a: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4">
                  <a:txBody>
                    <a:bodyPr/>
                    <a:lstStyle/>
                    <a:p>
                      <a:pPr algn="ctr" fontAlgn="ctr"/>
                      <a:r>
                        <a:rPr lang="en-US" sz="800" b="1" i="0" u="none" strike="noStrike" dirty="0">
                          <a:solidFill>
                            <a:srgbClr val="FFFFFF"/>
                          </a:solidFill>
                          <a:effectLst/>
                          <a:latin typeface="Calibri" panose="020F0502020204030204" pitchFamily="34" charset="0"/>
                        </a:rPr>
                        <a:t>Nov</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r>
                        <a:rPr lang="en-US" sz="1050" b="1" i="0" u="none" strike="noStrike">
                          <a:solidFill>
                            <a:srgbClr val="FFFFFF"/>
                          </a:solidFill>
                          <a:effectLst/>
                          <a:latin typeface="Calibri" panose="020F0502020204030204" pitchFamily="34" charset="0"/>
                        </a:rPr>
                        <a:t>Dec</a:t>
                      </a: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5">
                  <a:txBody>
                    <a:bodyPr/>
                    <a:lstStyle/>
                    <a:p>
                      <a:pPr algn="ctr" fontAlgn="ctr"/>
                      <a:r>
                        <a:rPr lang="en-US" sz="800" b="1" i="0" u="none" strike="noStrike" dirty="0">
                          <a:solidFill>
                            <a:srgbClr val="FFFFFF"/>
                          </a:solidFill>
                          <a:effectLst/>
                          <a:latin typeface="Calibri" panose="020F0502020204030204" pitchFamily="34" charset="0"/>
                        </a:rPr>
                        <a:t>Dec</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r>
                        <a:rPr lang="en-US" sz="1050" b="1" i="0" u="none" strike="noStrike">
                          <a:solidFill>
                            <a:srgbClr val="FFFFFF"/>
                          </a:solidFill>
                          <a:effectLst/>
                          <a:latin typeface="Calibri" panose="020F0502020204030204" pitchFamily="34" charset="0"/>
                        </a:rPr>
                        <a:t>Nov</a:t>
                      </a: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4">
                  <a:txBody>
                    <a:bodyPr/>
                    <a:lstStyle/>
                    <a:p>
                      <a:pPr algn="ctr" fontAlgn="ctr"/>
                      <a:r>
                        <a:rPr lang="en-US" sz="800" b="1" i="0" u="none" strike="noStrike" dirty="0">
                          <a:solidFill>
                            <a:srgbClr val="FFFFFF"/>
                          </a:solidFill>
                          <a:effectLst/>
                          <a:latin typeface="Calibri" panose="020F0502020204030204" pitchFamily="34" charset="0"/>
                        </a:rPr>
                        <a:t>Jan</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r>
                        <a:rPr lang="en-US" sz="1050" b="1" i="0" u="none" strike="noStrike">
                          <a:solidFill>
                            <a:srgbClr val="FFFFFF"/>
                          </a:solidFill>
                          <a:effectLst/>
                          <a:latin typeface="Calibri" panose="020F0502020204030204" pitchFamily="34" charset="0"/>
                        </a:rPr>
                        <a:t>Dec</a:t>
                      </a: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4">
                  <a:txBody>
                    <a:bodyPr/>
                    <a:lstStyle/>
                    <a:p>
                      <a:pPr algn="ctr" fontAlgn="ctr"/>
                      <a:r>
                        <a:rPr lang="en-US" sz="800" b="1" i="0" u="none" strike="noStrike" dirty="0">
                          <a:solidFill>
                            <a:srgbClr val="FFFFFF"/>
                          </a:solidFill>
                          <a:effectLst/>
                          <a:latin typeface="Calibri" panose="020F0502020204030204" pitchFamily="34" charset="0"/>
                        </a:rPr>
                        <a:t>Feb</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r>
                        <a:rPr lang="en-US" sz="1050" b="1" i="0" u="none" strike="noStrike">
                          <a:solidFill>
                            <a:srgbClr val="FFFFFF"/>
                          </a:solidFill>
                          <a:effectLst/>
                          <a:latin typeface="Calibri" panose="020F0502020204030204" pitchFamily="34" charset="0"/>
                        </a:rPr>
                        <a:t>Jan</a:t>
                      </a: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4">
                  <a:txBody>
                    <a:bodyPr/>
                    <a:lstStyle/>
                    <a:p>
                      <a:pPr algn="ctr" fontAlgn="ctr"/>
                      <a:r>
                        <a:rPr lang="en-US" sz="800" b="1" i="0" u="none" strike="noStrike" dirty="0">
                          <a:solidFill>
                            <a:srgbClr val="FFFFFF"/>
                          </a:solidFill>
                          <a:effectLst/>
                          <a:latin typeface="Calibri" panose="020F0502020204030204" pitchFamily="34" charset="0"/>
                        </a:rPr>
                        <a:t>Mar</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dirty="0">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dirty="0">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dirty="0">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2">
                  <a:txBody>
                    <a:bodyPr/>
                    <a:lstStyle/>
                    <a:p>
                      <a:pPr algn="ctr" fontAlgn="ctr"/>
                      <a:r>
                        <a:rPr lang="en-US" sz="800" b="1" i="0" u="none" strike="noStrike" dirty="0">
                          <a:solidFill>
                            <a:srgbClr val="FFFFFF"/>
                          </a:solidFill>
                          <a:effectLst/>
                          <a:latin typeface="Calibri" panose="020F0502020204030204" pitchFamily="34" charset="0"/>
                        </a:rPr>
                        <a:t>Apr</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pPr algn="ctr" fontAlgn="ctr"/>
                      <a:endParaRPr lang="en-US" sz="1050" b="1" i="0" u="none" strike="noStrike" dirty="0">
                        <a:solidFill>
                          <a:srgbClr val="FFFFFF"/>
                        </a:solidFill>
                        <a:effectLst/>
                        <a:latin typeface="Calibri" panose="020F0502020204030204" pitchFamily="34" charset="0"/>
                      </a:endParaRPr>
                    </a:p>
                  </a:txBody>
                  <a:tcPr marL="1962" marR="1962" marT="196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037112390"/>
                  </a:ext>
                </a:extLst>
              </a:tr>
              <a:tr h="160020">
                <a:tc>
                  <a:txBody>
                    <a:bodyPr/>
                    <a:lstStyle/>
                    <a:p>
                      <a:pPr algn="ctr" fontAlgn="ctr"/>
                      <a:endParaRPr lang="en-US" sz="600" b="0" i="0" u="none" strike="noStrike">
                        <a:solidFill>
                          <a:schemeClr val="bg1">
                            <a:lumMod val="50000"/>
                          </a:schemeClr>
                        </a:solidFill>
                        <a:effectLst/>
                        <a:latin typeface="Calibri" panose="020F0502020204030204" pitchFamily="34" charset="0"/>
                      </a:endParaRP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W3</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W4</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W1</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W2</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W3</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W4</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W1</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W2</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W3</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W4</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W5</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W1</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W2</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W3</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W4</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W1</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W2</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W3</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a:solidFill>
                            <a:schemeClr val="bg1">
                              <a:lumMod val="50000"/>
                            </a:schemeClr>
                          </a:solidFill>
                          <a:effectLst/>
                          <a:latin typeface="Calibri" panose="020F0502020204030204" pitchFamily="34" charset="0"/>
                        </a:rPr>
                        <a:t>W4</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W1</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W2</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W3</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W4</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W1</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tc>
                  <a:txBody>
                    <a:bodyPr/>
                    <a:lstStyle/>
                    <a:p>
                      <a:pPr algn="ctr" fontAlgn="ctr"/>
                      <a:r>
                        <a:rPr lang="en-US" sz="600" b="0" i="0" u="none" strike="noStrike" dirty="0">
                          <a:solidFill>
                            <a:schemeClr val="bg1">
                              <a:lumMod val="50000"/>
                            </a:schemeClr>
                          </a:solidFill>
                          <a:effectLst/>
                          <a:latin typeface="Calibri" panose="020F0502020204030204" pitchFamily="34" charset="0"/>
                        </a:rPr>
                        <a:t>W2</a:t>
                      </a:r>
                    </a:p>
                  </a:txBody>
                  <a:tcPr marL="1472" marR="1472" marT="1472"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4C6E7"/>
                    </a:solidFill>
                  </a:tcPr>
                </a:tc>
                <a:extLst>
                  <a:ext uri="{0D108BD9-81ED-4DB2-BD59-A6C34878D82A}">
                    <a16:rowId xmlns:a16="http://schemas.microsoft.com/office/drawing/2014/main" val="3005862604"/>
                  </a:ext>
                </a:extLst>
              </a:tr>
              <a:tr h="274320">
                <a:tc>
                  <a:txBody>
                    <a:bodyPr/>
                    <a:lstStyle/>
                    <a:p>
                      <a:pPr algn="l" fontAlgn="b"/>
                      <a:r>
                        <a:rPr lang="en-US" sz="800" b="1" i="0" u="none" strike="noStrike" dirty="0">
                          <a:solidFill>
                            <a:srgbClr val="000000"/>
                          </a:solidFill>
                          <a:effectLst/>
                          <a:latin typeface="Calibri" panose="020F0502020204030204" pitchFamily="34" charset="0"/>
                        </a:rPr>
                        <a:t>Requirement Analysis &amp; Mockup</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2720939298"/>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Development SOA</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994926717"/>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Development CMS Parts</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1226199551"/>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Development Microsite</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656833543"/>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Acceptance Test</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1621633642"/>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Data Migration &amp; Dashboard Monitoring</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676105527"/>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Go Live</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r>
                        <a:rPr lang="en-US" sz="900" b="0" i="0" u="none" strike="noStrike" dirty="0">
                          <a:solidFill>
                            <a:srgbClr val="000000"/>
                          </a:solidFill>
                          <a:effectLst/>
                          <a:latin typeface="Calibri" panose="020F0502020204030204" pitchFamily="34" charset="0"/>
                        </a:rPr>
                        <a:t> </a:t>
                      </a: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858573610"/>
                  </a:ext>
                </a:extLst>
              </a:tr>
              <a:tr h="274320">
                <a:tc>
                  <a:txBody>
                    <a:bodyPr/>
                    <a:lstStyle/>
                    <a:p>
                      <a:pPr marL="0" marR="0" lvl="0" indent="0" algn="l" defTabSz="914400" eaLnBrk="1" fontAlgn="b"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Stabilization &amp; Operational</a:t>
                      </a:r>
                    </a:p>
                  </a:txBody>
                  <a:tcPr marL="34290" marR="34290" marT="34290" marB="3429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tc>
                  <a:txBody>
                    <a:bodyPr/>
                    <a:lstStyle/>
                    <a:p>
                      <a:pPr algn="l" fontAlgn="b"/>
                      <a:endParaRPr lang="en-US" sz="900" b="0" i="0" u="none" strike="noStrike" dirty="0">
                        <a:solidFill>
                          <a:srgbClr val="000000"/>
                        </a:solidFill>
                        <a:effectLst/>
                        <a:latin typeface="Calibri" panose="020F0502020204030204" pitchFamily="34" charset="0"/>
                      </a:endParaRPr>
                    </a:p>
                  </a:txBody>
                  <a:tcPr marL="1472" marR="1472" marT="1472" marB="0" anchor="b">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198631378"/>
                  </a:ext>
                </a:extLst>
              </a:tr>
            </a:tbl>
          </a:graphicData>
        </a:graphic>
      </p:graphicFrame>
      <p:sp>
        <p:nvSpPr>
          <p:cNvPr id="17" name="Rectangle 16">
            <a:extLst>
              <a:ext uri="{FF2B5EF4-FFF2-40B4-BE49-F238E27FC236}">
                <a16:creationId xmlns:a16="http://schemas.microsoft.com/office/drawing/2014/main" id="{397F4D28-348D-E512-82F4-736DA41B5A9A}"/>
              </a:ext>
            </a:extLst>
          </p:cNvPr>
          <p:cNvSpPr/>
          <p:nvPr>
            <p:custDataLst>
              <p:tags r:id="rId2"/>
            </p:custDataLst>
          </p:nvPr>
        </p:nvSpPr>
        <p:spPr bwMode="gray">
          <a:xfrm>
            <a:off x="2648336" y="1427127"/>
            <a:ext cx="348151" cy="47949"/>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fontAlgn="base">
              <a:spcBef>
                <a:spcPct val="0"/>
              </a:spcBef>
              <a:spcAft>
                <a:spcPct val="0"/>
              </a:spcAft>
              <a:defRPr/>
            </a:pPr>
            <a:endParaRPr kumimoji="0" lang="en-US" sz="900">
              <a:solidFill>
                <a:srgbClr val="FFFFFF"/>
              </a:solidFill>
              <a:latin typeface="Calibri"/>
            </a:endParaRPr>
          </a:p>
        </p:txBody>
      </p:sp>
      <p:sp>
        <p:nvSpPr>
          <p:cNvPr id="18" name="Rectangle 17">
            <a:extLst>
              <a:ext uri="{FF2B5EF4-FFF2-40B4-BE49-F238E27FC236}">
                <a16:creationId xmlns:a16="http://schemas.microsoft.com/office/drawing/2014/main" id="{F1CD2535-F87B-65B4-3127-01E3ED20D70E}"/>
              </a:ext>
            </a:extLst>
          </p:cNvPr>
          <p:cNvSpPr/>
          <p:nvPr>
            <p:custDataLst>
              <p:tags r:id="rId3"/>
            </p:custDataLst>
          </p:nvPr>
        </p:nvSpPr>
        <p:spPr bwMode="gray">
          <a:xfrm>
            <a:off x="3117394" y="1959601"/>
            <a:ext cx="1485193" cy="55622"/>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fontAlgn="base">
              <a:spcBef>
                <a:spcPct val="0"/>
              </a:spcBef>
              <a:spcAft>
                <a:spcPct val="0"/>
              </a:spcAft>
              <a:defRPr/>
            </a:pPr>
            <a:endParaRPr kumimoji="0" lang="en-US" sz="900">
              <a:solidFill>
                <a:srgbClr val="FFFFFF"/>
              </a:solidFill>
              <a:latin typeface="Calibri"/>
            </a:endParaRPr>
          </a:p>
        </p:txBody>
      </p:sp>
      <p:sp>
        <p:nvSpPr>
          <p:cNvPr id="19" name="Rectangle 18">
            <a:extLst>
              <a:ext uri="{FF2B5EF4-FFF2-40B4-BE49-F238E27FC236}">
                <a16:creationId xmlns:a16="http://schemas.microsoft.com/office/drawing/2014/main" id="{636488E8-5259-F047-7E15-07C04BF01372}"/>
              </a:ext>
            </a:extLst>
          </p:cNvPr>
          <p:cNvSpPr/>
          <p:nvPr>
            <p:custDataLst>
              <p:tags r:id="rId4"/>
            </p:custDataLst>
          </p:nvPr>
        </p:nvSpPr>
        <p:spPr bwMode="gray">
          <a:xfrm>
            <a:off x="3117395" y="2261913"/>
            <a:ext cx="2532168" cy="45719"/>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20" name="Rectangle 19">
            <a:extLst>
              <a:ext uri="{FF2B5EF4-FFF2-40B4-BE49-F238E27FC236}">
                <a16:creationId xmlns:a16="http://schemas.microsoft.com/office/drawing/2014/main" id="{2D9262F7-B1D2-B21E-4012-8FEC1E7AC8FA}"/>
              </a:ext>
            </a:extLst>
          </p:cNvPr>
          <p:cNvSpPr/>
          <p:nvPr>
            <p:custDataLst>
              <p:tags r:id="rId5"/>
            </p:custDataLst>
          </p:nvPr>
        </p:nvSpPr>
        <p:spPr bwMode="gray">
          <a:xfrm>
            <a:off x="5749636" y="2795023"/>
            <a:ext cx="2481599" cy="56700"/>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21" name="Rectangle 20">
            <a:extLst>
              <a:ext uri="{FF2B5EF4-FFF2-40B4-BE49-F238E27FC236}">
                <a16:creationId xmlns:a16="http://schemas.microsoft.com/office/drawing/2014/main" id="{D7FBC790-BC5C-53F1-2FD6-C9CE6A1E5DAF}"/>
              </a:ext>
            </a:extLst>
          </p:cNvPr>
          <p:cNvSpPr/>
          <p:nvPr>
            <p:custDataLst>
              <p:tags r:id="rId6"/>
            </p:custDataLst>
          </p:nvPr>
        </p:nvSpPr>
        <p:spPr bwMode="gray">
          <a:xfrm>
            <a:off x="2996488" y="1689527"/>
            <a:ext cx="472728" cy="55623"/>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fontAlgn="base">
              <a:spcBef>
                <a:spcPct val="0"/>
              </a:spcBef>
              <a:spcAft>
                <a:spcPct val="0"/>
              </a:spcAft>
              <a:defRPr/>
            </a:pPr>
            <a:endParaRPr kumimoji="0" lang="en-US" sz="900">
              <a:solidFill>
                <a:srgbClr val="FFFFFF"/>
              </a:solidFill>
              <a:latin typeface="Calibri"/>
            </a:endParaRPr>
          </a:p>
        </p:txBody>
      </p:sp>
      <p:cxnSp>
        <p:nvCxnSpPr>
          <p:cNvPr id="23" name="Straight Connector 22">
            <a:extLst>
              <a:ext uri="{FF2B5EF4-FFF2-40B4-BE49-F238E27FC236}">
                <a16:creationId xmlns:a16="http://schemas.microsoft.com/office/drawing/2014/main" id="{460E0250-5691-62F9-1A9E-3ADBBB6CBB11}"/>
              </a:ext>
            </a:extLst>
          </p:cNvPr>
          <p:cNvCxnSpPr>
            <a:cxnSpLocks/>
          </p:cNvCxnSpPr>
          <p:nvPr/>
        </p:nvCxnSpPr>
        <p:spPr>
          <a:xfrm flipV="1">
            <a:off x="3491880" y="761517"/>
            <a:ext cx="0" cy="2838697"/>
          </a:xfrm>
          <a:prstGeom prst="line">
            <a:avLst/>
          </a:prstGeom>
          <a:ln w="19050">
            <a:solidFill>
              <a:srgbClr val="0432FF"/>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Snip Single Corner Rectangle 23">
            <a:extLst>
              <a:ext uri="{FF2B5EF4-FFF2-40B4-BE49-F238E27FC236}">
                <a16:creationId xmlns:a16="http://schemas.microsoft.com/office/drawing/2014/main" id="{8C389B27-99A1-828A-320F-9B0F12D8BDDE}"/>
              </a:ext>
            </a:extLst>
          </p:cNvPr>
          <p:cNvSpPr/>
          <p:nvPr/>
        </p:nvSpPr>
        <p:spPr>
          <a:xfrm>
            <a:off x="3235938" y="686065"/>
            <a:ext cx="480967" cy="75452"/>
          </a:xfrm>
          <a:prstGeom prst="snip1Rect">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25218" indent="31742" algn="l" rtl="0" fontAlgn="base">
              <a:spcBef>
                <a:spcPct val="0"/>
              </a:spcBef>
              <a:spcAft>
                <a:spcPct val="0"/>
              </a:spcAft>
              <a:defRPr sz="1200" kern="1200">
                <a:solidFill>
                  <a:schemeClr val="lt1"/>
                </a:solidFill>
                <a:latin typeface="+mn-lt"/>
                <a:ea typeface="+mn-ea"/>
                <a:cs typeface="+mn-cs"/>
              </a:defRPr>
            </a:lvl2pPr>
            <a:lvl3pPr marL="855191" indent="58709" algn="l" rtl="0" fontAlgn="base">
              <a:spcBef>
                <a:spcPct val="0"/>
              </a:spcBef>
              <a:spcAft>
                <a:spcPct val="0"/>
              </a:spcAft>
              <a:defRPr sz="1200" kern="1200">
                <a:solidFill>
                  <a:schemeClr val="lt1"/>
                </a:solidFill>
                <a:latin typeface="+mn-lt"/>
                <a:ea typeface="+mn-ea"/>
                <a:cs typeface="+mn-cs"/>
              </a:defRPr>
            </a:lvl3pPr>
            <a:lvl4pPr marL="1285167" indent="85679" algn="l" rtl="0" fontAlgn="base">
              <a:spcBef>
                <a:spcPct val="0"/>
              </a:spcBef>
              <a:spcAft>
                <a:spcPct val="0"/>
              </a:spcAft>
              <a:defRPr sz="1200" kern="1200">
                <a:solidFill>
                  <a:schemeClr val="lt1"/>
                </a:solidFill>
                <a:latin typeface="+mn-lt"/>
                <a:ea typeface="+mn-ea"/>
                <a:cs typeface="+mn-cs"/>
              </a:defRPr>
            </a:lvl4pPr>
            <a:lvl5pPr marL="1713552" indent="114237" algn="l" rtl="0" fontAlgn="base">
              <a:spcBef>
                <a:spcPct val="0"/>
              </a:spcBef>
              <a:spcAft>
                <a:spcPct val="0"/>
              </a:spcAft>
              <a:defRPr sz="1200" kern="1200">
                <a:solidFill>
                  <a:schemeClr val="lt1"/>
                </a:solidFill>
                <a:latin typeface="+mn-lt"/>
                <a:ea typeface="+mn-ea"/>
                <a:cs typeface="+mn-cs"/>
              </a:defRPr>
            </a:lvl5pPr>
            <a:lvl6pPr marL="2284733" algn="l" defTabSz="913899" rtl="0" eaLnBrk="1" latinLnBrk="0" hangingPunct="1">
              <a:defRPr sz="1200" kern="1200">
                <a:solidFill>
                  <a:schemeClr val="lt1"/>
                </a:solidFill>
                <a:latin typeface="+mn-lt"/>
                <a:ea typeface="+mn-ea"/>
                <a:cs typeface="+mn-cs"/>
              </a:defRPr>
            </a:lvl6pPr>
            <a:lvl7pPr marL="2741698" algn="l" defTabSz="913899" rtl="0" eaLnBrk="1" latinLnBrk="0" hangingPunct="1">
              <a:defRPr sz="1200" kern="1200">
                <a:solidFill>
                  <a:schemeClr val="lt1"/>
                </a:solidFill>
                <a:latin typeface="+mn-lt"/>
                <a:ea typeface="+mn-ea"/>
                <a:cs typeface="+mn-cs"/>
              </a:defRPr>
            </a:lvl7pPr>
            <a:lvl8pPr marL="3198633" algn="l" defTabSz="913899" rtl="0" eaLnBrk="1" latinLnBrk="0" hangingPunct="1">
              <a:defRPr sz="1200" kern="1200">
                <a:solidFill>
                  <a:schemeClr val="lt1"/>
                </a:solidFill>
                <a:latin typeface="+mn-lt"/>
                <a:ea typeface="+mn-ea"/>
                <a:cs typeface="+mn-cs"/>
              </a:defRPr>
            </a:lvl8pPr>
            <a:lvl9pPr marL="3655580" algn="l" defTabSz="913899" rtl="0" eaLnBrk="1" latinLnBrk="0" hangingPunct="1">
              <a:defRPr sz="1200" kern="1200">
                <a:solidFill>
                  <a:schemeClr val="lt1"/>
                </a:solidFill>
                <a:latin typeface="+mn-lt"/>
                <a:ea typeface="+mn-ea"/>
                <a:cs typeface="+mn-cs"/>
              </a:defRPr>
            </a:lvl9pPr>
          </a:lstStyle>
          <a:p>
            <a:pPr algn="ctr" defTabSz="685800">
              <a:defRPr/>
            </a:pPr>
            <a:r>
              <a:rPr kumimoji="0" lang="de-DE" sz="600" b="1" dirty="0">
                <a:solidFill>
                  <a:srgbClr val="FFFFFF"/>
                </a:solidFill>
                <a:latin typeface="Calibri" panose="020F0502020204030204" pitchFamily="34" charset="0"/>
                <a:cs typeface="Calibri" panose="020F0502020204030204" pitchFamily="34" charset="0"/>
              </a:rPr>
              <a:t>We‘re here</a:t>
            </a:r>
          </a:p>
        </p:txBody>
      </p:sp>
      <p:sp>
        <p:nvSpPr>
          <p:cNvPr id="25" name="TextBox 24">
            <a:extLst>
              <a:ext uri="{FF2B5EF4-FFF2-40B4-BE49-F238E27FC236}">
                <a16:creationId xmlns:a16="http://schemas.microsoft.com/office/drawing/2014/main" id="{4DF48647-C40F-873E-878F-DED73F318508}"/>
              </a:ext>
            </a:extLst>
          </p:cNvPr>
          <p:cNvSpPr txBox="1"/>
          <p:nvPr/>
        </p:nvSpPr>
        <p:spPr>
          <a:xfrm>
            <a:off x="2286373" y="1431786"/>
            <a:ext cx="458299" cy="181552"/>
          </a:xfrm>
          <a:prstGeom prst="rect">
            <a:avLst/>
          </a:prstGeom>
          <a:noFill/>
        </p:spPr>
        <p:txBody>
          <a:bodyPr wrap="none" rtlCol="0" anchor="ctr">
            <a:noAutofit/>
          </a:bodyPr>
          <a:lstStyle/>
          <a:p>
            <a:pPr defTabSz="685800">
              <a:defRPr/>
            </a:pPr>
            <a:r>
              <a:rPr kumimoji="0" lang="en-US" sz="525" b="1" dirty="0">
                <a:solidFill>
                  <a:prstClr val="black"/>
                </a:solidFill>
                <a:latin typeface="Calibri"/>
              </a:rPr>
              <a:t>Kick-Off</a:t>
            </a:r>
          </a:p>
          <a:p>
            <a:pPr defTabSz="685800">
              <a:defRPr/>
            </a:pPr>
            <a:r>
              <a:rPr kumimoji="0" lang="en-US" sz="525" dirty="0">
                <a:solidFill>
                  <a:prstClr val="black"/>
                </a:solidFill>
                <a:latin typeface="Calibri"/>
              </a:rPr>
              <a:t>31-Oct-23</a:t>
            </a:r>
          </a:p>
        </p:txBody>
      </p:sp>
      <p:sp>
        <p:nvSpPr>
          <p:cNvPr id="26" name="Star: 5 Points 246">
            <a:extLst>
              <a:ext uri="{FF2B5EF4-FFF2-40B4-BE49-F238E27FC236}">
                <a16:creationId xmlns:a16="http://schemas.microsoft.com/office/drawing/2014/main" id="{8F20AB70-427F-9637-B9FA-29B3111F2385}"/>
              </a:ext>
            </a:extLst>
          </p:cNvPr>
          <p:cNvSpPr/>
          <p:nvPr>
            <p:custDataLst>
              <p:tags r:id="rId7"/>
            </p:custDataLst>
          </p:nvPr>
        </p:nvSpPr>
        <p:spPr bwMode="gray">
          <a:xfrm>
            <a:off x="2648343" y="1344411"/>
            <a:ext cx="85725" cy="85725"/>
          </a:xfrm>
          <a:prstGeom prst="star5">
            <a:avLst/>
          </a:prstGeom>
          <a:solidFill>
            <a:srgbClr val="FF0000"/>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28" name="Isosceles Triangle 42">
            <a:extLst>
              <a:ext uri="{FF2B5EF4-FFF2-40B4-BE49-F238E27FC236}">
                <a16:creationId xmlns:a16="http://schemas.microsoft.com/office/drawing/2014/main" id="{F8DA6F12-B085-A50E-DF29-92631AA650E7}"/>
              </a:ext>
            </a:extLst>
          </p:cNvPr>
          <p:cNvSpPr/>
          <p:nvPr>
            <p:custDataLst>
              <p:tags r:id="rId8"/>
            </p:custDataLst>
          </p:nvPr>
        </p:nvSpPr>
        <p:spPr bwMode="gray">
          <a:xfrm>
            <a:off x="4529137" y="1888375"/>
            <a:ext cx="85725" cy="85725"/>
          </a:xfrm>
          <a:prstGeom prst="triangle">
            <a:avLst/>
          </a:prstGeom>
          <a:solidFill>
            <a:srgbClr val="0000FF"/>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0" name="Isosceles Triangle 32">
            <a:extLst>
              <a:ext uri="{FF2B5EF4-FFF2-40B4-BE49-F238E27FC236}">
                <a16:creationId xmlns:a16="http://schemas.microsoft.com/office/drawing/2014/main" id="{6D866E76-7FCA-431F-ADA5-A7130512F46E}"/>
              </a:ext>
            </a:extLst>
          </p:cNvPr>
          <p:cNvSpPr/>
          <p:nvPr>
            <p:custDataLst>
              <p:tags r:id="rId9"/>
            </p:custDataLst>
          </p:nvPr>
        </p:nvSpPr>
        <p:spPr bwMode="gray">
          <a:xfrm>
            <a:off x="8146261" y="2717633"/>
            <a:ext cx="89297" cy="77391"/>
          </a:xfrm>
          <a:prstGeom prst="triangle">
            <a:avLst/>
          </a:prstGeom>
          <a:solidFill>
            <a:srgbClr val="0000FF"/>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1" name="Isosceles Triangle 33">
            <a:extLst>
              <a:ext uri="{FF2B5EF4-FFF2-40B4-BE49-F238E27FC236}">
                <a16:creationId xmlns:a16="http://schemas.microsoft.com/office/drawing/2014/main" id="{F9518E9F-3DC4-6A7C-064A-EAE62471EBB6}"/>
              </a:ext>
            </a:extLst>
          </p:cNvPr>
          <p:cNvSpPr/>
          <p:nvPr>
            <p:custDataLst>
              <p:tags r:id="rId10"/>
            </p:custDataLst>
          </p:nvPr>
        </p:nvSpPr>
        <p:spPr bwMode="gray">
          <a:xfrm>
            <a:off x="8396007" y="2949269"/>
            <a:ext cx="89297" cy="77391"/>
          </a:xfrm>
          <a:prstGeom prst="triangle">
            <a:avLst/>
          </a:prstGeom>
          <a:solidFill>
            <a:srgbClr val="0000FF"/>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2" name="Isosceles Triangle 34">
            <a:extLst>
              <a:ext uri="{FF2B5EF4-FFF2-40B4-BE49-F238E27FC236}">
                <a16:creationId xmlns:a16="http://schemas.microsoft.com/office/drawing/2014/main" id="{07C6F47A-DF3A-1D5C-391E-BB53CC3384FC}"/>
              </a:ext>
            </a:extLst>
          </p:cNvPr>
          <p:cNvSpPr/>
          <p:nvPr>
            <p:custDataLst>
              <p:tags r:id="rId11"/>
            </p:custDataLst>
          </p:nvPr>
        </p:nvSpPr>
        <p:spPr bwMode="gray">
          <a:xfrm>
            <a:off x="5649565" y="2165346"/>
            <a:ext cx="89297" cy="77391"/>
          </a:xfrm>
          <a:prstGeom prst="triangle">
            <a:avLst/>
          </a:prstGeom>
          <a:solidFill>
            <a:srgbClr val="0000FF"/>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4" name="Rectangle 33">
            <a:extLst>
              <a:ext uri="{FF2B5EF4-FFF2-40B4-BE49-F238E27FC236}">
                <a16:creationId xmlns:a16="http://schemas.microsoft.com/office/drawing/2014/main" id="{B1A951DE-6FAE-ACF4-47C9-1F9BF276810B}"/>
              </a:ext>
            </a:extLst>
          </p:cNvPr>
          <p:cNvSpPr/>
          <p:nvPr>
            <p:custDataLst>
              <p:tags r:id="rId12"/>
            </p:custDataLst>
          </p:nvPr>
        </p:nvSpPr>
        <p:spPr bwMode="gray">
          <a:xfrm>
            <a:off x="5493548" y="2569759"/>
            <a:ext cx="740997" cy="54000"/>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5" name="Rectangle 34">
            <a:extLst>
              <a:ext uri="{FF2B5EF4-FFF2-40B4-BE49-F238E27FC236}">
                <a16:creationId xmlns:a16="http://schemas.microsoft.com/office/drawing/2014/main" id="{5094BB70-BDD9-B7BD-6698-8E6F8CE0D11E}"/>
              </a:ext>
            </a:extLst>
          </p:cNvPr>
          <p:cNvSpPr/>
          <p:nvPr>
            <p:custDataLst>
              <p:tags r:id="rId13"/>
            </p:custDataLst>
          </p:nvPr>
        </p:nvSpPr>
        <p:spPr bwMode="gray">
          <a:xfrm>
            <a:off x="8231236" y="3031316"/>
            <a:ext cx="249824" cy="54000"/>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6" name="Rectangle 35">
            <a:extLst>
              <a:ext uri="{FF2B5EF4-FFF2-40B4-BE49-F238E27FC236}">
                <a16:creationId xmlns:a16="http://schemas.microsoft.com/office/drawing/2014/main" id="{B00E504F-4CEC-0F31-AAB9-886933890F3E}"/>
              </a:ext>
            </a:extLst>
          </p:cNvPr>
          <p:cNvSpPr/>
          <p:nvPr>
            <p:custDataLst>
              <p:tags r:id="rId14"/>
            </p:custDataLst>
          </p:nvPr>
        </p:nvSpPr>
        <p:spPr bwMode="gray">
          <a:xfrm>
            <a:off x="8231237" y="3361743"/>
            <a:ext cx="498808" cy="54000"/>
          </a:xfrm>
          <a:prstGeom prst="rect">
            <a:avLst/>
          </a:prstGeom>
          <a:solidFill>
            <a:srgbClr val="7F7F7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
        <p:nvSpPr>
          <p:cNvPr id="37" name="Isosceles Triangle 33">
            <a:extLst>
              <a:ext uri="{FF2B5EF4-FFF2-40B4-BE49-F238E27FC236}">
                <a16:creationId xmlns:a16="http://schemas.microsoft.com/office/drawing/2014/main" id="{542760CA-EA86-69ED-961E-81C291938861}"/>
              </a:ext>
            </a:extLst>
          </p:cNvPr>
          <p:cNvSpPr/>
          <p:nvPr>
            <p:custDataLst>
              <p:tags r:id="rId15"/>
            </p:custDataLst>
          </p:nvPr>
        </p:nvSpPr>
        <p:spPr bwMode="gray">
          <a:xfrm>
            <a:off x="6150416" y="2471369"/>
            <a:ext cx="89297" cy="77391"/>
          </a:xfrm>
          <a:prstGeom prst="triangle">
            <a:avLst/>
          </a:prstGeom>
          <a:solidFill>
            <a:srgbClr val="0000FF"/>
          </a:solidFill>
          <a:ln w="1905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kumimoji="0" lang="en-US" sz="1350">
              <a:solidFill>
                <a:srgbClr val="FFFFFF"/>
              </a:solidFill>
              <a:latin typeface="Calibri"/>
            </a:endParaRPr>
          </a:p>
        </p:txBody>
      </p:sp>
    </p:spTree>
    <p:extLst>
      <p:ext uri="{BB962C8B-B14F-4D97-AF65-F5344CB8AC3E}">
        <p14:creationId xmlns:p14="http://schemas.microsoft.com/office/powerpoint/2010/main" val="1598563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ar on the road&#10;&#10;Description automatically generated with low confidence">
            <a:extLst>
              <a:ext uri="{FF2B5EF4-FFF2-40B4-BE49-F238E27FC236}">
                <a16:creationId xmlns:a16="http://schemas.microsoft.com/office/drawing/2014/main" id="{9C686E05-EFEC-AD96-AA63-214947FCDB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1562" y="0"/>
            <a:ext cx="7715250" cy="5143500"/>
          </a:xfrm>
          <a:prstGeom prst="rect">
            <a:avLst/>
          </a:prstGeom>
        </p:spPr>
      </p:pic>
      <p:grpSp>
        <p:nvGrpSpPr>
          <p:cNvPr id="19" name="Group 18">
            <a:extLst>
              <a:ext uri="{FF2B5EF4-FFF2-40B4-BE49-F238E27FC236}">
                <a16:creationId xmlns:a16="http://schemas.microsoft.com/office/drawing/2014/main" id="{B5D2AB04-C490-E84C-A75A-FCC62FA15DD5}"/>
              </a:ext>
            </a:extLst>
          </p:cNvPr>
          <p:cNvGrpSpPr/>
          <p:nvPr/>
        </p:nvGrpSpPr>
        <p:grpSpPr>
          <a:xfrm>
            <a:off x="-468989" y="-541224"/>
            <a:ext cx="9612989" cy="5818369"/>
            <a:chOff x="-625319" y="-721632"/>
            <a:chExt cx="12817319" cy="7757825"/>
          </a:xfrm>
        </p:grpSpPr>
        <p:grpSp>
          <p:nvGrpSpPr>
            <p:cNvPr id="11" name="Group 10">
              <a:extLst>
                <a:ext uri="{FF2B5EF4-FFF2-40B4-BE49-F238E27FC236}">
                  <a16:creationId xmlns:a16="http://schemas.microsoft.com/office/drawing/2014/main" id="{404467E7-AE91-F28D-611D-E972191C163B}"/>
                </a:ext>
              </a:extLst>
            </p:cNvPr>
            <p:cNvGrpSpPr/>
            <p:nvPr/>
          </p:nvGrpSpPr>
          <p:grpSpPr>
            <a:xfrm>
              <a:off x="-625319" y="-721632"/>
              <a:ext cx="6187134" cy="7757825"/>
              <a:chOff x="-625319" y="-721632"/>
              <a:chExt cx="6187134" cy="7757825"/>
            </a:xfrm>
          </p:grpSpPr>
          <p:sp>
            <p:nvSpPr>
              <p:cNvPr id="13" name="Freeform: Shape 12">
                <a:extLst>
                  <a:ext uri="{FF2B5EF4-FFF2-40B4-BE49-F238E27FC236}">
                    <a16:creationId xmlns:a16="http://schemas.microsoft.com/office/drawing/2014/main" id="{D826A18C-4FFF-3AE4-5FE6-3212AA9F7EBD}"/>
                  </a:ext>
                </a:extLst>
              </p:cNvPr>
              <p:cNvSpPr/>
              <p:nvPr/>
            </p:nvSpPr>
            <p:spPr>
              <a:xfrm rot="17100000">
                <a:off x="-1144966" y="-189671"/>
                <a:ext cx="6622937" cy="5559015"/>
              </a:xfrm>
              <a:custGeom>
                <a:avLst/>
                <a:gdLst>
                  <a:gd name="connsiteX0" fmla="*/ 5268690 w 6622937"/>
                  <a:gd name="connsiteY0" fmla="*/ 0 h 5559015"/>
                  <a:gd name="connsiteX1" fmla="*/ 6622937 w 6622937"/>
                  <a:gd name="connsiteY1" fmla="*/ 5054116 h 5559015"/>
                  <a:gd name="connsiteX2" fmla="*/ 6370487 w 6622937"/>
                  <a:gd name="connsiteY2" fmla="*/ 5559015 h 5559015"/>
                  <a:gd name="connsiteX3" fmla="*/ 1750134 w 6622937"/>
                  <a:gd name="connsiteY3" fmla="*/ 5559015 h 5559015"/>
                  <a:gd name="connsiteX4" fmla="*/ 0 w 6622937"/>
                  <a:gd name="connsiteY4" fmla="*/ 2058750 h 5559015"/>
                  <a:gd name="connsiteX5" fmla="*/ 373551 w 6622937"/>
                  <a:gd name="connsiteY5" fmla="*/ 1311649 h 5559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22937" h="5559015">
                    <a:moveTo>
                      <a:pt x="5268690" y="0"/>
                    </a:moveTo>
                    <a:lnTo>
                      <a:pt x="6622937" y="5054116"/>
                    </a:lnTo>
                    <a:lnTo>
                      <a:pt x="6370487" y="5559015"/>
                    </a:lnTo>
                    <a:lnTo>
                      <a:pt x="1750134" y="5559015"/>
                    </a:lnTo>
                    <a:lnTo>
                      <a:pt x="0" y="2058750"/>
                    </a:lnTo>
                    <a:lnTo>
                      <a:pt x="373551" y="1311649"/>
                    </a:lnTo>
                    <a:close/>
                  </a:path>
                </a:pathLst>
              </a:custGeom>
              <a:solidFill>
                <a:schemeClr val="tx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7" name="Freeform: Shape 16">
                <a:extLst>
                  <a:ext uri="{FF2B5EF4-FFF2-40B4-BE49-F238E27FC236}">
                    <a16:creationId xmlns:a16="http://schemas.microsoft.com/office/drawing/2014/main" id="{0029778A-7968-522D-24E3-8E60654BB116}"/>
                  </a:ext>
                </a:extLst>
              </p:cNvPr>
              <p:cNvSpPr/>
              <p:nvPr/>
            </p:nvSpPr>
            <p:spPr>
              <a:xfrm rot="17100000">
                <a:off x="-1110713" y="439181"/>
                <a:ext cx="6843860" cy="5873071"/>
              </a:xfrm>
              <a:custGeom>
                <a:avLst/>
                <a:gdLst>
                  <a:gd name="connsiteX0" fmla="*/ 6843860 w 6843860"/>
                  <a:gd name="connsiteY0" fmla="*/ 2923133 h 5873071"/>
                  <a:gd name="connsiteX1" fmla="*/ 5368890 w 6843860"/>
                  <a:gd name="connsiteY1" fmla="*/ 5873071 h 5873071"/>
                  <a:gd name="connsiteX2" fmla="*/ 1474970 w 6843860"/>
                  <a:gd name="connsiteY2" fmla="*/ 5873071 h 5873071"/>
                  <a:gd name="connsiteX3" fmla="*/ 0 w 6843860"/>
                  <a:gd name="connsiteY3" fmla="*/ 2923133 h 5873071"/>
                  <a:gd name="connsiteX4" fmla="*/ 855028 w 6843860"/>
                  <a:gd name="connsiteY4" fmla="*/ 1213077 h 5873071"/>
                  <a:gd name="connsiteX5" fmla="*/ 5382293 w 6843860"/>
                  <a:gd name="connsiteY5" fmla="*/ 0 h 587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3860" h="5873071">
                    <a:moveTo>
                      <a:pt x="6843860" y="2923133"/>
                    </a:moveTo>
                    <a:lnTo>
                      <a:pt x="5368890" y="5873071"/>
                    </a:lnTo>
                    <a:lnTo>
                      <a:pt x="1474970" y="5873071"/>
                    </a:lnTo>
                    <a:lnTo>
                      <a:pt x="0" y="2923133"/>
                    </a:lnTo>
                    <a:lnTo>
                      <a:pt x="855028" y="1213077"/>
                    </a:lnTo>
                    <a:lnTo>
                      <a:pt x="5382293" y="0"/>
                    </a:lnTo>
                    <a:close/>
                  </a:path>
                </a:pathLst>
              </a:cu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15" name="Freeform: Shape 14">
                <a:extLst>
                  <a:ext uri="{FF2B5EF4-FFF2-40B4-BE49-F238E27FC236}">
                    <a16:creationId xmlns:a16="http://schemas.microsoft.com/office/drawing/2014/main" id="{3805D8B1-2144-467B-846F-408E70F06AF1}"/>
                  </a:ext>
                </a:extLst>
              </p:cNvPr>
              <p:cNvSpPr/>
              <p:nvPr/>
            </p:nvSpPr>
            <p:spPr>
              <a:xfrm rot="16449798">
                <a:off x="-346266" y="1752058"/>
                <a:ext cx="5484006" cy="5084263"/>
              </a:xfrm>
              <a:custGeom>
                <a:avLst/>
                <a:gdLst>
                  <a:gd name="connsiteX0" fmla="*/ 5484006 w 5484006"/>
                  <a:gd name="connsiteY0" fmla="*/ 2134325 h 5084263"/>
                  <a:gd name="connsiteX1" fmla="*/ 4009036 w 5484006"/>
                  <a:gd name="connsiteY1" fmla="*/ 5084263 h 5084263"/>
                  <a:gd name="connsiteX2" fmla="*/ 346688 w 5484006"/>
                  <a:gd name="connsiteY2" fmla="*/ 5084263 h 5084263"/>
                  <a:gd name="connsiteX3" fmla="*/ 0 w 5484006"/>
                  <a:gd name="connsiteY3" fmla="*/ 321508 h 5084263"/>
                  <a:gd name="connsiteX4" fmla="*/ 4416843 w 5484006"/>
                  <a:gd name="connsiteY4" fmla="*/ 0 h 5084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006" h="5084263">
                    <a:moveTo>
                      <a:pt x="5484006" y="2134325"/>
                    </a:moveTo>
                    <a:lnTo>
                      <a:pt x="4009036" y="5084263"/>
                    </a:lnTo>
                    <a:lnTo>
                      <a:pt x="346688" y="5084263"/>
                    </a:lnTo>
                    <a:lnTo>
                      <a:pt x="0" y="321508"/>
                    </a:lnTo>
                    <a:lnTo>
                      <a:pt x="4416843" y="0"/>
                    </a:lnTo>
                    <a:close/>
                  </a:path>
                </a:pathLst>
              </a:custGeom>
              <a:solidFill>
                <a:srgbClr val="F0F1F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16" name="Picture 15" descr="A picture containing black, darkness&#10;&#10;Description automatically generated">
                <a:extLst>
                  <a:ext uri="{FF2B5EF4-FFF2-40B4-BE49-F238E27FC236}">
                    <a16:creationId xmlns:a16="http://schemas.microsoft.com/office/drawing/2014/main" id="{70CD2589-B997-13DF-D0AD-183109E39954}"/>
                  </a:ext>
                </a:extLst>
              </p:cNvPr>
              <p:cNvPicPr>
                <a:picLocks noChangeAspect="1"/>
              </p:cNvPicPr>
              <p:nvPr/>
            </p:nvPicPr>
            <p:blipFill rotWithShape="1">
              <a:blip r:embed="rId3">
                <a:duotone>
                  <a:schemeClr val="bg2">
                    <a:shade val="45000"/>
                    <a:satMod val="135000"/>
                  </a:schemeClr>
                  <a:prstClr val="white"/>
                </a:duotone>
                <a:alphaModFix amt="85000"/>
                <a:extLst>
                  <a:ext uri="{28A0092B-C50C-407E-A947-70E740481C1C}">
                    <a14:useLocalDpi xmlns:a14="http://schemas.microsoft.com/office/drawing/2010/main" val="0"/>
                  </a:ext>
                </a:extLst>
              </a:blip>
              <a:srcRect l="14693" t="40864" r="19245"/>
              <a:stretch/>
            </p:blipFill>
            <p:spPr>
              <a:xfrm>
                <a:off x="-9427" y="1525267"/>
                <a:ext cx="5571242" cy="2493616"/>
              </a:xfrm>
              <a:custGeom>
                <a:avLst/>
                <a:gdLst>
                  <a:gd name="connsiteX0" fmla="*/ 2209054 w 5571242"/>
                  <a:gd name="connsiteY0" fmla="*/ 0 h 2493616"/>
                  <a:gd name="connsiteX1" fmla="*/ 5390591 w 5571242"/>
                  <a:gd name="connsiteY1" fmla="*/ 1905910 h 2493616"/>
                  <a:gd name="connsiteX2" fmla="*/ 5571242 w 5571242"/>
                  <a:gd name="connsiteY2" fmla="*/ 1604349 h 2493616"/>
                  <a:gd name="connsiteX3" fmla="*/ 5571242 w 5571242"/>
                  <a:gd name="connsiteY3" fmla="*/ 2493616 h 2493616"/>
                  <a:gd name="connsiteX4" fmla="*/ 0 w 5571242"/>
                  <a:gd name="connsiteY4" fmla="*/ 2493616 h 2493616"/>
                  <a:gd name="connsiteX5" fmla="*/ 0 w 5571242"/>
                  <a:gd name="connsiteY5" fmla="*/ 913704 h 2493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71242" h="2493616">
                    <a:moveTo>
                      <a:pt x="2209054" y="0"/>
                    </a:moveTo>
                    <a:lnTo>
                      <a:pt x="5390591" y="1905910"/>
                    </a:lnTo>
                    <a:lnTo>
                      <a:pt x="5571242" y="1604349"/>
                    </a:lnTo>
                    <a:lnTo>
                      <a:pt x="5571242" y="2493616"/>
                    </a:lnTo>
                    <a:lnTo>
                      <a:pt x="0" y="2493616"/>
                    </a:lnTo>
                    <a:lnTo>
                      <a:pt x="0" y="913704"/>
                    </a:lnTo>
                    <a:close/>
                  </a:path>
                </a:pathLst>
              </a:custGeom>
            </p:spPr>
          </p:pic>
        </p:grpSp>
        <p:pic>
          <p:nvPicPr>
            <p:cNvPr id="2" name="Picture 1" descr="A picture containing black, darkness&#10;&#10;Description automatically generated">
              <a:extLst>
                <a:ext uri="{FF2B5EF4-FFF2-40B4-BE49-F238E27FC236}">
                  <a16:creationId xmlns:a16="http://schemas.microsoft.com/office/drawing/2014/main" id="{93739D07-6D1A-8BEF-436F-7B9A4AD041A3}"/>
                </a:ext>
              </a:extLst>
            </p:cNvPr>
            <p:cNvPicPr>
              <a:picLocks noChangeAspect="1"/>
            </p:cNvPicPr>
            <p:nvPr/>
          </p:nvPicPr>
          <p:blipFill rotWithShape="1">
            <a:blip r:embed="rId4" cstate="print">
              <a:alphaModFix amt="5000"/>
              <a:extLst>
                <a:ext uri="{28A0092B-C50C-407E-A947-70E740481C1C}">
                  <a14:useLocalDpi xmlns:a14="http://schemas.microsoft.com/office/drawing/2010/main" val="0"/>
                </a:ext>
              </a:extLst>
            </a:blip>
            <a:srcRect t="15618" r="7034"/>
            <a:stretch/>
          </p:blipFill>
          <p:spPr>
            <a:xfrm>
              <a:off x="7268908" y="-1"/>
              <a:ext cx="4923092" cy="2234261"/>
            </a:xfrm>
            <a:prstGeom prst="rect">
              <a:avLst/>
            </a:prstGeom>
          </p:spPr>
        </p:pic>
      </p:grpSp>
      <p:sp>
        <p:nvSpPr>
          <p:cNvPr id="6" name="Text Placeholder 1">
            <a:extLst>
              <a:ext uri="{FF2B5EF4-FFF2-40B4-BE49-F238E27FC236}">
                <a16:creationId xmlns:a16="http://schemas.microsoft.com/office/drawing/2014/main" id="{E76F4F7F-BE75-3B9D-FB20-6451A4C92F0B}"/>
              </a:ext>
            </a:extLst>
          </p:cNvPr>
          <p:cNvSpPr txBox="1">
            <a:spLocks/>
          </p:cNvSpPr>
          <p:nvPr/>
        </p:nvSpPr>
        <p:spPr>
          <a:xfrm>
            <a:off x="749994" y="2929487"/>
            <a:ext cx="1829439" cy="912181"/>
          </a:xfrm>
          <a:prstGeom prst="rect">
            <a:avLst/>
          </a:prstGeom>
        </p:spPr>
        <p:txBody>
          <a:bodyPr vert="horz" lIns="68580" tIns="34290" rIns="68580" bIns="34290" rtlCol="0" anchor="ctr">
            <a:normAutofit fontScale="92500"/>
          </a:bodyP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a:latin typeface="Calibri" panose="020F0502020204030204" pitchFamily="34" charset="0"/>
                <a:ea typeface="Calibri" panose="020F0502020204030204" pitchFamily="34" charset="0"/>
                <a:cs typeface="Calibri" panose="020F0502020204030204" pitchFamily="34" charset="0"/>
              </a:rPr>
              <a:t>End Off Slides</a:t>
            </a:r>
          </a:p>
          <a:p>
            <a:pPr algn="ctr"/>
            <a:r>
              <a:rPr lang="en-US" sz="2400" b="1">
                <a:latin typeface="Calibri" panose="020F0502020204030204" pitchFamily="34" charset="0"/>
                <a:ea typeface="Calibri" panose="020F0502020204030204" pitchFamily="34" charset="0"/>
                <a:cs typeface="Calibri" panose="020F0502020204030204" pitchFamily="34" charset="0"/>
              </a:rPr>
              <a:t>Thank you!</a:t>
            </a:r>
            <a:endParaRPr lang="en-ID" sz="2400" b="1">
              <a:latin typeface="Calibri" panose="020F0502020204030204" pitchFamily="34" charset="0"/>
              <a:ea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8AEDEB2-27F7-C859-83A6-533E9A503F5F}"/>
              </a:ext>
            </a:extLst>
          </p:cNvPr>
          <p:cNvSpPr>
            <a:spLocks noGrp="1"/>
          </p:cNvSpPr>
          <p:nvPr>
            <p:ph type="sldNum" sz="quarter" idx="12"/>
          </p:nvPr>
        </p:nvSpPr>
        <p:spPr/>
        <p:txBody>
          <a:bodyPr/>
          <a:lstStyle/>
          <a:p>
            <a:fld id="{9E58CC3A-6D25-4F27-9F25-D37F7EDD5123}" type="slidenum">
              <a:rPr lang="en-ID" smtClean="0"/>
              <a:t>30</a:t>
            </a:fld>
            <a:endParaRPr lang="en-ID"/>
          </a:p>
        </p:txBody>
      </p:sp>
    </p:spTree>
    <p:extLst>
      <p:ext uri="{BB962C8B-B14F-4D97-AF65-F5344CB8AC3E}">
        <p14:creationId xmlns:p14="http://schemas.microsoft.com/office/powerpoint/2010/main" val="19721610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Sn1NKMQySC2BfRJgC_mqz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yPqpa0UTeKhrOXS_LFAA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KyPqpa0UTeKhrOXS_LFAA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Sn1NKMQySC2BfRJgC_mqz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Sn1NKMQySC2BfRJgC_mqz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Sn1NKMQySC2BfRJgC_mqz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uQfeQJXiUOpEr3ESz0gmq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Sn1NKMQySC2BfRJgC_mqzQ"/>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MMC OFFICE"/>
        <a:ea typeface="ヒラギノ角ゴ StdN W4"/>
        <a:cs typeface=""/>
      </a:majorFont>
      <a:minorFont>
        <a:latin typeface="MMC OFFICE"/>
        <a:ea typeface="ヒラギノ角ゴ StdN W4"/>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a7ddd95-d9b7-4028-bbb2-cce0f782a2ea">
      <Terms xmlns="http://schemas.microsoft.com/office/infopath/2007/PartnerControls"/>
    </lcf76f155ced4ddcb4097134ff3c332f>
    <TaxCatchAll xmlns="c5a84d18-d2a5-4cb3-a5b3-57492133250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810C20E77C7349BCA0D66A3BE6C60F" ma:contentTypeVersion="11" ma:contentTypeDescription="Create a new document." ma:contentTypeScope="" ma:versionID="a1a68ea845780128e88b892d02f3b981">
  <xsd:schema xmlns:xsd="http://www.w3.org/2001/XMLSchema" xmlns:xs="http://www.w3.org/2001/XMLSchema" xmlns:p="http://schemas.microsoft.com/office/2006/metadata/properties" xmlns:ns2="4a7ddd95-d9b7-4028-bbb2-cce0f782a2ea" xmlns:ns3="c5a84d18-d2a5-4cb3-a5b3-574921332508" targetNamespace="http://schemas.microsoft.com/office/2006/metadata/properties" ma:root="true" ma:fieldsID="ef7e9b2076a5fb48763e691ca6998356" ns2:_="" ns3:_="">
    <xsd:import namespace="4a7ddd95-d9b7-4028-bbb2-cce0f782a2ea"/>
    <xsd:import namespace="c5a84d18-d2a5-4cb3-a5b3-57492133250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7ddd95-d9b7-4028-bbb2-cce0f782a2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41748861-dfd0-43dc-baeb-b56a0002e95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a84d18-d2a5-4cb3-a5b3-574921332508"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6650b5b-ab5a-484b-bd6d-25fb19c44bfe}" ma:internalName="TaxCatchAll" ma:showField="CatchAllData" ma:web="c5a84d18-d2a5-4cb3-a5b3-57492133250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74A4DC-AFAC-4FE5-A74A-4C095F8AB11D}">
  <ds:schemaRefs>
    <ds:schemaRef ds:uri="c5a84d18-d2a5-4cb3-a5b3-574921332508"/>
    <ds:schemaRef ds:uri="http://www.w3.org/XML/1998/namespace"/>
    <ds:schemaRef ds:uri="http://purl.org/dc/elements/1.1/"/>
    <ds:schemaRef ds:uri="http://schemas.microsoft.com/office/2006/documentManagement/types"/>
    <ds:schemaRef ds:uri="4a7ddd95-d9b7-4028-bbb2-cce0f782a2ea"/>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873D1DA-A92F-4D45-BA62-0DC0C8A2ED9C}">
  <ds:schemaRefs>
    <ds:schemaRef ds:uri="http://schemas.microsoft.com/sharepoint/v3/contenttype/forms"/>
  </ds:schemaRefs>
</ds:datastoreItem>
</file>

<file path=customXml/itemProps3.xml><?xml version="1.0" encoding="utf-8"?>
<ds:datastoreItem xmlns:ds="http://schemas.openxmlformats.org/officeDocument/2006/customXml" ds:itemID="{594E38FB-F7C9-4B10-8C33-C84D23FAE2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7ddd95-d9b7-4028-bbb2-cce0f782a2ea"/>
    <ds:schemaRef ds:uri="c5a84d18-d2a5-4cb3-a5b3-5749213325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836ce2-9979-476e-9819-73d2287a38ef}" enabled="1" method="Privileged" siteId="{9f3efc26-eea3-45e0-9a33-bdd96bbc7f67}" contentBits="0" removed="0"/>
</clbl:labelList>
</file>

<file path=docProps/app.xml><?xml version="1.0" encoding="utf-8"?>
<Properties xmlns="http://schemas.openxmlformats.org/officeDocument/2006/extended-properties" xmlns:vt="http://schemas.openxmlformats.org/officeDocument/2006/docPropsVTypes">
  <Template/>
  <TotalTime>19891</TotalTime>
  <Words>4079</Words>
  <Application>Microsoft Office PowerPoint</Application>
  <PresentationFormat>On-screen Show (16:9)</PresentationFormat>
  <Paragraphs>819</Paragraphs>
  <Slides>30</Slides>
  <Notes>23</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30</vt:i4>
      </vt:variant>
    </vt:vector>
  </HeadingPairs>
  <TitlesOfParts>
    <vt:vector size="50" baseType="lpstr">
      <vt:lpstr>Effra</vt:lpstr>
      <vt:lpstr>Fira Sans Extra Condensed Medium</vt:lpstr>
      <vt:lpstr>Helvetica Neue</vt:lpstr>
      <vt:lpstr>MMC</vt:lpstr>
      <vt:lpstr>MMC OFFICE</vt:lpstr>
      <vt:lpstr>MMCBeta5</vt:lpstr>
      <vt:lpstr>Söhne</vt:lpstr>
      <vt:lpstr>ヒラギノ角ゴ Std W4</vt:lpstr>
      <vt:lpstr>ヒラギノ角ゴ Std W6</vt:lpstr>
      <vt:lpstr>ヒラギノ角ゴ Std W8</vt:lpstr>
      <vt:lpstr>Arial</vt:lpstr>
      <vt:lpstr>Calibri</vt:lpstr>
      <vt:lpstr>Calibri Light</vt:lpstr>
      <vt:lpstr>Lato</vt:lpstr>
      <vt:lpstr>Raleway</vt:lpstr>
      <vt:lpstr>Roboto</vt:lpstr>
      <vt:lpstr>Symbol</vt:lpstr>
      <vt:lpstr>Times New Roman</vt:lpstr>
      <vt:lpstr>Wingdings</vt: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Prioritization Matrix Approach and Methodology </vt:lpstr>
      <vt:lpstr>PowerPoint Presentation</vt:lpstr>
      <vt:lpstr>PowerPoint Presentation</vt:lpstr>
      <vt:lpstr>PowerPoint Presentation</vt:lpstr>
      <vt:lpstr>PowerPoint Presentation</vt:lpstr>
      <vt:lpstr>PowerPoint Presentation</vt:lpstr>
    </vt:vector>
  </TitlesOfParts>
  <Company>Mitsubishi　Motors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dc:title>
  <dc:creator>yusak.hartanto@bsi.co.id</dc:creator>
  <cp:lastModifiedBy>Tito Tamaro</cp:lastModifiedBy>
  <cp:revision>1198</cp:revision>
  <cp:lastPrinted>2018-04-10T23:49:58Z</cp:lastPrinted>
  <dcterms:created xsi:type="dcterms:W3CDTF">2018-02-02T00:46:25Z</dcterms:created>
  <dcterms:modified xsi:type="dcterms:W3CDTF">2026-04-27T07:09:35Z</dcterms:modified>
  <cp:category>NONE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0x0101001A810C20E77C7349BCA0D66A3BE6C60F</vt:lpwstr>
  </property>
  <property fmtid="{D5CDD505-2E9C-101B-9397-08002B2CF9AE}" pid="3" name="MediaServiceImageTags">
    <vt:lpwstr/>
  </property>
</Properties>
</file>