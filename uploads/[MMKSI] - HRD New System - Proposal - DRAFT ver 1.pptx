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58_5CF9FE08.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CB3_1E9B921E.xml" ContentType="application/vnd.ms-powerpoint.comments+xml"/>
  <Override PartName="/ppt/comments/modernComment_7FFE5C78_2A26DD7D.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CC3_5E749B80.xml" ContentType="application/vnd.ms-powerpoint.comments+xml"/>
  <Override PartName="/ppt/comments/modernComment_7FFE5C8F_E3967E7F.xml" ContentType="application/vnd.ms-powerpoint.comments+xml"/>
  <Override PartName="/ppt/notesSlides/notesSlide7.xml" ContentType="application/vnd.openxmlformats-officedocument.presentationml.notesSlide+xml"/>
  <Override PartName="/ppt/comments/modernComment_7FFE5C70_B7D9275D.xml" ContentType="application/vnd.ms-powerpoint.comments+xml"/>
  <Override PartName="/ppt/comments/modernComment_7FFE5C71_1032F7C3.xml" ContentType="application/vnd.ms-powerpoint.comments+xml"/>
  <Override PartName="/ppt/comments/modernComment_7FFE5C8C_FBB83F4D.xml" ContentType="application/vnd.ms-powerpoint.comments+xml"/>
  <Override PartName="/ppt/comments/modernComment_7FFE5C8E_6DF98EC7.xml" ContentType="application/vnd.ms-powerpoint.comments+xml"/>
  <Override PartName="/ppt/comments/modernComment_7FFE5C84_36F93183.xml" ContentType="application/vnd.ms-powerpoint.comments+xml"/>
  <Override PartName="/ppt/comments/modernComment_15A_2C3E35A.xml" ContentType="application/vnd.ms-powerpoint.comments+xml"/>
  <Override PartName="/ppt/comments/modernComment_7FFE5C72_9C39271.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71_6EE853FC.xml" ContentType="application/vnd.ms-powerpoint.comments+xml"/>
  <Override PartName="/ppt/comments/modernComment_C91_24E2B0E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3" r:id="rId5"/>
  </p:sldMasterIdLst>
  <p:notesMasterIdLst>
    <p:notesMasterId r:id="rId84"/>
  </p:notesMasterIdLst>
  <p:sldIdLst>
    <p:sldId id="344" r:id="rId6"/>
    <p:sldId id="3264" r:id="rId7"/>
    <p:sldId id="2147376256" r:id="rId8"/>
    <p:sldId id="2147376272" r:id="rId9"/>
    <p:sldId id="3251" r:id="rId10"/>
    <p:sldId id="2147376248" r:id="rId11"/>
    <p:sldId id="2147376246" r:id="rId12"/>
    <p:sldId id="3255" r:id="rId13"/>
    <p:sldId id="2147376236" r:id="rId14"/>
    <p:sldId id="3260" r:id="rId15"/>
    <p:sldId id="2147376312" r:id="rId16"/>
    <p:sldId id="2147376253" r:id="rId17"/>
    <p:sldId id="2147376266" r:id="rId18"/>
    <p:sldId id="2147376267" r:id="rId19"/>
    <p:sldId id="2147376311" r:id="rId20"/>
    <p:sldId id="3267" r:id="rId21"/>
    <p:sldId id="2147376238" r:id="rId22"/>
    <p:sldId id="2147376271" r:id="rId23"/>
    <p:sldId id="2147376239" r:id="rId24"/>
    <p:sldId id="3262" r:id="rId25"/>
    <p:sldId id="3263" r:id="rId26"/>
    <p:sldId id="2147376276" r:id="rId27"/>
    <p:sldId id="2147376235" r:id="rId28"/>
    <p:sldId id="3222" r:id="rId29"/>
    <p:sldId id="3256" r:id="rId30"/>
    <p:sldId id="3265" r:id="rId31"/>
    <p:sldId id="3257" r:id="rId32"/>
    <p:sldId id="3258" r:id="rId33"/>
    <p:sldId id="3245" r:id="rId34"/>
    <p:sldId id="3246" r:id="rId35"/>
    <p:sldId id="3235" r:id="rId36"/>
    <p:sldId id="3237" r:id="rId37"/>
    <p:sldId id="2147376179" r:id="rId38"/>
    <p:sldId id="2147376185" r:id="rId39"/>
    <p:sldId id="2147376181" r:id="rId40"/>
    <p:sldId id="2147376186" r:id="rId41"/>
    <p:sldId id="2147376182" r:id="rId42"/>
    <p:sldId id="2147376183" r:id="rId43"/>
    <p:sldId id="2147376234" r:id="rId44"/>
    <p:sldId id="2147376184" r:id="rId45"/>
    <p:sldId id="413" r:id="rId46"/>
    <p:sldId id="3224" r:id="rId47"/>
    <p:sldId id="3225" r:id="rId48"/>
    <p:sldId id="2147376240" r:id="rId49"/>
    <p:sldId id="2147376241" r:id="rId50"/>
    <p:sldId id="2147376268" r:id="rId51"/>
    <p:sldId id="2147376270" r:id="rId52"/>
    <p:sldId id="2147376260" r:id="rId53"/>
    <p:sldId id="2147376262" r:id="rId54"/>
    <p:sldId id="2147376263" r:id="rId55"/>
    <p:sldId id="2147376265" r:id="rId56"/>
    <p:sldId id="258" r:id="rId57"/>
    <p:sldId id="2147376300" r:id="rId58"/>
    <p:sldId id="2147376301" r:id="rId59"/>
    <p:sldId id="2147376302" r:id="rId60"/>
    <p:sldId id="2147376303" r:id="rId61"/>
    <p:sldId id="2147376304" r:id="rId62"/>
    <p:sldId id="2147376307" r:id="rId63"/>
    <p:sldId id="2147376305" r:id="rId64"/>
    <p:sldId id="2147376306" r:id="rId65"/>
    <p:sldId id="2147376309" r:id="rId66"/>
    <p:sldId id="2147376310" r:id="rId67"/>
    <p:sldId id="2147376274" r:id="rId68"/>
    <p:sldId id="346" r:id="rId69"/>
    <p:sldId id="2147376255" r:id="rId70"/>
    <p:sldId id="2147376254" r:id="rId71"/>
    <p:sldId id="2147376242" r:id="rId72"/>
    <p:sldId id="3252" r:id="rId73"/>
    <p:sldId id="3254" r:id="rId74"/>
    <p:sldId id="3261" r:id="rId75"/>
    <p:sldId id="2147376237" r:id="rId76"/>
    <p:sldId id="2147376258" r:id="rId77"/>
    <p:sldId id="2147376252" r:id="rId78"/>
    <p:sldId id="2147376257" r:id="rId79"/>
    <p:sldId id="2147376259" r:id="rId80"/>
    <p:sldId id="369" r:id="rId81"/>
    <p:sldId id="3217" r:id="rId82"/>
    <p:sldId id="2147376308" r:id="rId83"/>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07B05-06A9-9B35-C0BE-B68BCE606150}" name="Asra Haryadi" initials="AH" userId="S::BSI00069@bsi.co.id::97d1a4d6-2ee9-4386-9ff9-659489e50a09" providerId="AD"/>
  <p188:author id="{A8742C20-8871-052F-8646-BD62B4DF15C5}" name="Doni Setya Wijaya" initials="D" userId="S::BSI00234@bsi.co.id::73b054ce-6919-4560-b2a8-48d5ac45b5ec" providerId="AD"/>
  <p188:author id="{E901AD2F-768D-3293-D5E4-07B8D227B920}" name="Donnie Adilaksono" initials="" userId="S::BSI80123@bsi.co.id::14ea2fd7-8d20-4e4a-920b-1488463f8ef2" providerId="AD"/>
  <p188:author id="{CC73F754-DF2E-F7B5-7B74-E036E4548CF0}" name="Wijayanti Govindaraju" initials="WG" userId="S::bsi00156@bsi.co.id::8004ba40-ae36-406e-85ed-38640a8a30c3" providerId="AD"/>
  <p188:author id="{95E483C5-8FA8-F7AF-5E99-3746627BA972}" name="Budi" initials="" userId="S::BSI80020@bsi.co.id::9f3af6a0-126c-4266-860a-33be3c7a9de5" providerId="AD"/>
  <p188:author id="{357FD6CA-B2FC-F896-9F2D-8FF4012D3948}" name="Tito Tamaro" initials="TT" userId="S::BSI80241@bsi.co.id::12d78b35-eb5f-4ae6-8d37-73429f075c64" providerId="AD"/>
  <p188:author id="{16372EE2-EED7-AD7D-2FCE-57B9C5A2BBC0}" name="Mohammad Arif Budi Laksono" initials="MB" userId="S::BSI80095@bsi.co.id::d945a983-7b22-4be4-89ab-c41a43b94e3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ngga Gauvana Pratama" initials="AGP" lastIdx="19" clrIdx="0">
    <p:extLst>
      <p:ext uri="{19B8F6BF-5375-455C-9EA6-DF929625EA0E}">
        <p15:presenceInfo xmlns:p15="http://schemas.microsoft.com/office/powerpoint/2012/main" userId="S::BSI00295@bsi.co.id::9a913f61-3dd8-42f5-9fb5-dba941ad6f56" providerId="AD"/>
      </p:ext>
    </p:extLst>
  </p:cmAuthor>
  <p:cmAuthor id="2" name="Doni Gusrizaldi Chandra" initials="DC" lastIdx="2" clrIdx="1">
    <p:extLst>
      <p:ext uri="{19B8F6BF-5375-455C-9EA6-DF929625EA0E}">
        <p15:presenceInfo xmlns:p15="http://schemas.microsoft.com/office/powerpoint/2012/main" userId="S::bsi00323@bsi.co.id::52c1ee8a-ce76-415b-9e71-52c24c74da44" providerId="AD"/>
      </p:ext>
    </p:extLst>
  </p:cmAuthor>
  <p:cmAuthor id="3" name="Septia Putri Afriani" initials="SA" lastIdx="1" clrIdx="2">
    <p:extLst>
      <p:ext uri="{19B8F6BF-5375-455C-9EA6-DF929625EA0E}">
        <p15:presenceInfo xmlns:p15="http://schemas.microsoft.com/office/powerpoint/2012/main" userId="S::bsi00358@bsi.co.id::7a02ab35-3263-44f3-bebe-54c6243d5d61" providerId="AD"/>
      </p:ext>
    </p:extLst>
  </p:cmAuthor>
  <p:cmAuthor id="4" name="Aditya Budi Harmeigi" initials="AH" lastIdx="1" clrIdx="3">
    <p:extLst>
      <p:ext uri="{19B8F6BF-5375-455C-9EA6-DF929625EA0E}">
        <p15:presenceInfo xmlns:p15="http://schemas.microsoft.com/office/powerpoint/2012/main" userId="S::bsi00267@bsi.co.id::ebe50df2-32f3-44e5-b0a8-446fac8499fd" providerId="AD"/>
      </p:ext>
    </p:extLst>
  </p:cmAuthor>
  <p:cmAuthor id="5" name="Rizki Sattwika" initials="RS" lastIdx="1" clrIdx="4">
    <p:extLst>
      <p:ext uri="{19B8F6BF-5375-455C-9EA6-DF929625EA0E}">
        <p15:presenceInfo xmlns:p15="http://schemas.microsoft.com/office/powerpoint/2012/main" userId="S::bsi50057@bsi.co.id::40bdaa38-8858-4965-a42c-0efdfc55ec64" providerId="AD"/>
      </p:ext>
    </p:extLst>
  </p:cmAuthor>
  <p:cmAuthor id="6" name="Elita Cahyani Purba" initials="ECP" lastIdx="1" clrIdx="5">
    <p:extLst>
      <p:ext uri="{19B8F6BF-5375-455C-9EA6-DF929625EA0E}">
        <p15:presenceInfo xmlns:p15="http://schemas.microsoft.com/office/powerpoint/2012/main" userId="S::BSI50143@bsi.co.id::df6b413c-8420-44c9-9ad3-97aa9d3ca6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EFF"/>
    <a:srgbClr val="C073CF"/>
    <a:srgbClr val="FACECE"/>
    <a:srgbClr val="CFD5EA"/>
    <a:srgbClr val="F8C0C0"/>
    <a:srgbClr val="FFFFFF"/>
    <a:srgbClr val="7F318F"/>
    <a:srgbClr val="C55A11"/>
    <a:srgbClr val="E9EBF5"/>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2C16A-20D3-43B7-B403-08496BDFE310}" v="1" dt="2026-04-27T07:21:11.088"/>
    <p1510:client id="{A2165547-8767-4AB4-A2C8-1E7398836F3F}" v="252" dt="2026-04-21T04:48:41.48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360" y="52"/>
      </p:cViewPr>
      <p:guideLst>
        <p:guide orient="horz" pos="2160"/>
        <p:guide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microsoft.com/office/2015/10/relationships/revisionInfo" Target="revisionInfo.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omments/modernComment_7FFE5C8C_FBB83F4D.xml><?xml version="1.0" encoding="utf-8"?>
<p188:cmLst xmlns:a="http://schemas.openxmlformats.org/drawingml/2006/main" xmlns:r="http://schemas.openxmlformats.org/officeDocument/2006/relationships" xmlns:p188="http://schemas.microsoft.com/office/powerpoint/2018/8/main">
  <p188:cm id="{AB54E560-5700-4B3B-BC53-97DBA3805683}" authorId="{6F407B05-06A9-9B35-C0BE-B68BCE606150}" created="2026-04-02T01:59:29.084">
    <ac:txMkLst xmlns:ac="http://schemas.microsoft.com/office/drawing/2013/main/command">
      <pc:docMk xmlns:pc="http://schemas.microsoft.com/office/powerpoint/2013/main/command"/>
      <pc:sldMk xmlns:pc="http://schemas.microsoft.com/office/powerpoint/2013/main/command" cId="4223156045" sldId="2147376268"/>
      <ac:graphicFrameMk id="2" creationId="{7458F4EC-B3C7-CC8F-50C6-442AA9F3F4DD}"/>
      <ac:tblMk/>
      <ac:tcMk rowId="1120366538" colId="1113904390"/>
      <ac:txMk cp="0">
        <ac:context len="375" hash="3915608056"/>
      </ac:txMk>
    </ac:txMkLst>
    <p188:replyLst>
      <p188:reply id="{E6BD5BD2-CC50-4F10-9174-34A693360836}" authorId="{357FD6CA-B2FC-F896-9F2D-8FF4012D3948}" created="2026-04-02T02:34:18.854">
        <p188:txBody>
          <a:bodyPr/>
          <a:lstStyle/>
          <a:p>
            <a:r>
              <a:rPr lang="en-US"/>
              <a:t>Noted pak Asra, untuk pain points dari ke-8 modul ini adalah memang yang dialami oleh tim HRD</a:t>
            </a:r>
          </a:p>
        </p188:txBody>
      </p188:reply>
    </p188:replyLst>
    <p188:txBody>
      <a:bodyPr/>
      <a:lstStyle/>
      <a:p>
        <a:r>
          <a:rPr lang="en-US"/>
          <a:t>Mas Tito dan kang Budi, tolong pastikan bahwa pain point ini adalah yang benar2 dirasakan oleh business user</a:t>
        </a:r>
      </a:p>
    </p188:txBody>
  </p188:cm>
  <p188:cm id="{17302D2B-432F-4534-983C-98B83AD7B99C}" authorId="{6F407B05-06A9-9B35-C0BE-B68BCE606150}" created="2026-04-02T09:54:42.358">
    <ac:deMkLst xmlns:ac="http://schemas.microsoft.com/office/drawing/2013/main/command">
      <pc:docMk xmlns:pc="http://schemas.microsoft.com/office/powerpoint/2013/main/command"/>
      <pc:sldMk xmlns:pc="http://schemas.microsoft.com/office/powerpoint/2013/main/command" cId="4223156045" sldId="2147376268"/>
      <ac:graphicFrameMk id="2" creationId="{7458F4EC-B3C7-CC8F-50C6-442AA9F3F4DD}"/>
    </ac:deMkLst>
    <p188:txBody>
      <a:bodyPr/>
      <a:lstStyle/>
      <a:p>
        <a:r>
          <a:rPr lang="en-US"/>
          <a:t>Propose solution disini sudah mengambarkan apa yang ada nantinya
</a:t>
        </a:r>
      </a:p>
    </p188:txBody>
  </p188:cm>
</p188:cmLst>
</file>

<file path=ppt/comments/modernComment_7FFE5C8E_6DF98EC7.xml><?xml version="1.0" encoding="utf-8"?>
<p188:cmLst xmlns:a="http://schemas.openxmlformats.org/drawingml/2006/main" xmlns:r="http://schemas.openxmlformats.org/officeDocument/2006/relationships" xmlns:p188="http://schemas.microsoft.com/office/powerpoint/2018/8/main">
  <p188:cm id="{2B831430-134E-4806-8CCC-175B7B48ED5A}" authorId="{6F407B05-06A9-9B35-C0BE-B68BCE606150}" created="2026-04-02T01:59:29.084">
    <ac:txMkLst xmlns:ac="http://schemas.microsoft.com/office/drawing/2013/main/command">
      <pc:docMk xmlns:pc="http://schemas.microsoft.com/office/powerpoint/2013/main/command"/>
      <pc:sldMk xmlns:pc="http://schemas.microsoft.com/office/powerpoint/2013/main/command" cId="1661636137" sldId="2147376269"/>
      <ac:graphicFrameMk id="2" creationId="{6729BF29-A28F-EF3E-01DC-239ADEE5A808}"/>
      <ac:tblMk/>
      <ac:tcMk rowId="1120366538" colId="1113904390"/>
      <ac:txMk cp="0">
        <ac:context len="375" hash="3915608056"/>
      </ac:txMk>
    </ac:txMkLst>
    <p188:replyLst>
      <p188:reply id="{E6BD5BD2-CC50-4F10-9174-34A693360836}" authorId="{357FD6CA-B2FC-F896-9F2D-8FF4012D3948}" created="2026-04-02T02:34:18.854">
        <p188:txBody>
          <a:bodyPr/>
          <a:lstStyle/>
          <a:p>
            <a:r>
              <a:rPr lang="en-US"/>
              <a:t>Noted pak Asra, untuk pain points dari ke-8 modul ini adalah memang yang dialami oleh tim HRD</a:t>
            </a:r>
          </a:p>
        </p188:txBody>
      </p188:reply>
    </p188:replyLst>
    <p188:txBody>
      <a:bodyPr/>
      <a:lstStyle/>
      <a:p>
        <a:r>
          <a:rPr lang="en-US"/>
          <a:t>Mas Tito dan kang Budi, tolong pastikan bahwa pain point ini adalah yang benar2 dirasakan oleh business user</a:t>
        </a:r>
      </a:p>
    </p188:txBody>
  </p188:cm>
  <p188:cm id="{47F5286D-0B6C-4D3D-A5AC-EB75995DB05F}" authorId="{6F407B05-06A9-9B35-C0BE-B68BCE606150}" created="2026-04-02T09:54:42.358">
    <ac:deMkLst xmlns:ac="http://schemas.microsoft.com/office/drawing/2013/main/command">
      <pc:docMk xmlns:pc="http://schemas.microsoft.com/office/powerpoint/2013/main/command"/>
      <pc:sldMk xmlns:pc="http://schemas.microsoft.com/office/powerpoint/2013/main/command" cId="1661636137" sldId="2147376269"/>
      <ac:graphicFrameMk id="2" creationId="{6729BF29-A28F-EF3E-01DC-239ADEE5A808}"/>
    </ac:deMkLst>
    <p188:txBody>
      <a:bodyPr/>
      <a:lstStyle/>
      <a:p>
        <a:r>
          <a:rPr lang="en-US"/>
          <a:t>Propose solution disini sudah mengambarkan apa yang ada nantinya
</a:t>
        </a:r>
      </a:p>
    </p188:txBody>
  </p188:cm>
</p188:cmLst>
</file>

<file path=ppt/comments/modernComment_7FFE5C8F_E3967E7F.xml><?xml version="1.0" encoding="utf-8"?>
<p188:cmLst xmlns:a="http://schemas.openxmlformats.org/drawingml/2006/main" xmlns:r="http://schemas.openxmlformats.org/officeDocument/2006/relationships" xmlns:p188="http://schemas.microsoft.com/office/powerpoint/2018/8/main">
  <p188:cm id="{ED9793B1-5057-4909-8CA3-4F1941384A58}" authorId="{E901AD2F-768D-3293-D5E4-07B8D227B920}" created="2026-04-01T01:33:23.375">
    <ac:txMkLst xmlns:ac="http://schemas.microsoft.com/office/drawing/2013/main/command">
      <pc:docMk xmlns:pc="http://schemas.microsoft.com/office/powerpoint/2013/main/command"/>
      <pc:sldMk xmlns:pc="http://schemas.microsoft.com/office/powerpoint/2013/main/command" cId="3818290815" sldId="2147376271"/>
      <ac:spMk id="11" creationId="{48316B6A-7E4C-1333-D6DE-36FF9F42258D}"/>
      <ac:txMk cp="244" len="8">
        <ac:context len="616" hash="4007316756"/>
      </ac:txMk>
    </ac:txMkLst>
    <p188:pos x="5183588" y="994606"/>
    <p188:replyLst>
      <p188:reply id="{48C4C219-756F-40C1-8A0A-10E55031DD11}" authorId="{357FD6CA-B2FC-F896-9F2D-8FF4012D3948}" created="2026-04-01T09:37:32.610">
        <p188:txBody>
          <a:bodyPr/>
          <a:lstStyle/>
          <a:p>
            <a:r>
              <a:rPr lang="en-US"/>
              <a:t>Sudah saya tambahkan di bagian V Appendix ya pak [@Donnie Adilaksono] 
cc: [@Budi] </a:t>
            </a:r>
          </a:p>
        </p188:txBody>
      </p188:reply>
    </p188:replyLst>
    <p188:txBody>
      <a:bodyPr/>
      <a:lstStyle/>
      <a:p>
        <a:r>
          <a:rPr lang="en-US"/>
          <a:t>[@Tito Tamaro]  tolong buatkan skema operationnya di appendix
cc: [@Budi] </a:t>
        </a:r>
      </a:p>
    </p188:txBody>
  </p188:cm>
  <p188:cm id="{1619D9A6-F410-4596-BB4D-192DD605E9D6}" authorId="{E901AD2F-768D-3293-D5E4-07B8D227B920}" created="2026-04-01T01:34:42.192">
    <ac:txMkLst xmlns:ac="http://schemas.microsoft.com/office/drawing/2013/main/command">
      <pc:docMk xmlns:pc="http://schemas.microsoft.com/office/powerpoint/2013/main/command"/>
      <pc:sldMk xmlns:pc="http://schemas.microsoft.com/office/powerpoint/2013/main/command" cId="38342289" sldId="3217"/>
      <ac:graphicFrameMk id="10" creationId="{CC1E7AAF-0702-3CAC-C637-D169A23567CC}"/>
      <ac:tblMk/>
      <ac:tcMk rowId="2690458169" colId="2984476847"/>
      <ac:txMk cp="0" len="14">
        <ac:context len="15" hash="3851025710"/>
      </ac:txMk>
    </ac:txMkLst>
    <p188:replyLst>
      <p188:reply id="{84A033F8-2581-49B2-8991-34CDA3245A5B}" authorId="{A8742C20-8871-052F-8646-BD62B4DF15C5}" created="2026-04-01T04:15:21.112">
        <p188:txBody>
          <a:bodyPr/>
          <a:lstStyle/>
          <a:p>
            <a:r>
              <a:rPr lang="en-US"/>
              <a:t>Harusnya ga ada, kita pake existing HRIS server
</a:t>
            </a:r>
          </a:p>
        </p188:txBody>
      </p188:reply>
    </p188:replyLst>
    <p188:txBody>
      <a:bodyPr/>
      <a:lstStyle/>
      <a:p>
        <a:r>
          <a:rPr lang="en-US"/>
          <a:t>Pak [@Doni Setya Wijaya] untuk operation tidak ada biaya infra tambahan kah?</a:t>
        </a:r>
      </a:p>
    </p188:txBody>
  </p188:cm>
</p188:cmLst>
</file>

<file path=ppt/comments/modernComment_7FFE5C70_B7D9275D.xml><?xml version="1.0" encoding="utf-8"?>
<p188:cmLst xmlns:a="http://schemas.openxmlformats.org/drawingml/2006/main" xmlns:r="http://schemas.openxmlformats.org/officeDocument/2006/relationships" xmlns:p188="http://schemas.microsoft.com/office/powerpoint/2018/8/main">
  <p188:cm id="{D7D40FDE-C5BF-4B4F-A48B-E149B9CE61F1}" authorId="{E901AD2F-768D-3293-D5E4-07B8D227B920}" created="2026-04-02T02:20:19.305" startDate="2026-04-02T02:20:19.305" dueDate="2026-04-02T02:20:19.305" assignedTo="{357FD6CA-B2FC-F896-9F2D-8FF4012D3948}" title="Om @Budi and @Tito Tamaro untuk komunikasi ke BSI Helpdesknya baiknya ditambahkan keterangan lewat channel apa saja.. (Email/Whatsapp)">
    <ac:deMkLst xmlns:ac="http://schemas.microsoft.com/office/drawing/2013/main/command">
      <pc:docMk xmlns:pc="http://schemas.microsoft.com/office/powerpoint/2013/main/command"/>
      <pc:sldMk xmlns:pc="http://schemas.microsoft.com/office/powerpoint/2013/main/command" cId="3084461917" sldId="2147376240"/>
      <ac:picMk id="10" creationId="{F2BCD4D3-DEDF-1D52-7C51-3B9B4A9BB52B}"/>
    </ac:deMkLst>
    <p188:replyLst>
      <p188:reply id="{E7BA17CD-1A57-4A17-9CCA-E2CBD709A5CD}" authorId="{357FD6CA-B2FC-F896-9F2D-8FF4012D3948}" created="2026-04-02T03:10:48.320">
        <p188:txBody>
          <a:bodyPr/>
          <a:lstStyle/>
          <a:p>
            <a:r>
              <a:rPr lang="en-US"/>
              <a:t>Added</a:t>
            </a:r>
          </a:p>
        </p188:txBody>
      </p188:reply>
    </p188:replyLst>
    <p188:txBody>
      <a:bodyPr/>
      <a:lstStyle/>
      <a:p>
        <a:r>
          <a:rPr lang="en-US"/>
          <a:t>Om [@Budi]  and [@Tito Tamaro]  untuk komunikasi ke BSI Helpdesknya baiknya ditambahkan keterangan lewat channel apa saja.. (Email/Whatsapp)</a:t>
        </a:r>
      </a:p>
    </p188:txBody>
    <p188:extLst>
      <p:ext xmlns:p="http://schemas.openxmlformats.org/presentationml/2006/main" uri="{5BB2D875-25FF-4072-B9AC-8F64D62656EB}">
        <p228:taskDetails xmlns:p228="http://schemas.microsoft.com/office/powerpoint/2022/08/main">
          <p228:history>
            <p228:event time="2026-04-02T02:20:19.305" id="{0C3B008A-7115-4D17-8789-3E9CD92990FB}">
              <p228:atrbtn authorId="{E901AD2F-768D-3293-D5E4-07B8D227B920}"/>
              <p228:anchr>
                <p228:comment id="{D7D40FDE-C5BF-4B4F-A48B-E149B9CE61F1}"/>
              </p228:anchr>
              <p228:add/>
            </p228:event>
            <p228:event time="2026-04-02T02:20:19.305" id="{2EE4DA88-5505-4221-BA54-1665F8127BF2}">
              <p228:atrbtn authorId="{E901AD2F-768D-3293-D5E4-07B8D227B920}"/>
              <p228:anchr>
                <p228:comment id="{D7D40FDE-C5BF-4B4F-A48B-E149B9CE61F1}"/>
              </p228:anchr>
              <p228:asgn authorId="{357FD6CA-B2FC-F896-9F2D-8FF4012D3948}"/>
            </p228:event>
            <p228:event time="2026-04-02T02:20:19.305" id="{638065D4-A204-4D72-B1FB-19C8F9F91395}">
              <p228:atrbtn authorId="{E901AD2F-768D-3293-D5E4-07B8D227B920}"/>
              <p228:anchr>
                <p228:comment id="{D7D40FDE-C5BF-4B4F-A48B-E149B9CE61F1}"/>
              </p228:anchr>
              <p228:title val="Om @Budi and @Tito Tamaro untuk komunikasi ke BSI Helpdesknya baiknya ditambahkan keterangan lewat channel apa saja.. (Email/Whatsapp)"/>
            </p228:event>
            <p228:event time="2026-04-02T02:20:19.305" id="{E796DDF9-19BB-43A9-AC92-FC5178FD5A3A}">
              <p228:atrbtn authorId="{E901AD2F-768D-3293-D5E4-07B8D227B920}"/>
              <p228:anchr>
                <p228:comment id="{D7D40FDE-C5BF-4B4F-A48B-E149B9CE61F1}"/>
              </p228:anchr>
              <p228:date stDt="2026-04-02T02:20:19.305" endDt="2026-04-02T02:20:19.305"/>
            </p228:event>
          </p228:history>
        </p228:taskDetails>
      </p:ext>
    </p188:extLst>
  </p188:cm>
</p188:cmLst>
</file>

<file path=ppt/comments/modernComment_7FFE5C71_1032F7C3.xml><?xml version="1.0" encoding="utf-8"?>
<p188:cmLst xmlns:a="http://schemas.openxmlformats.org/drawingml/2006/main" xmlns:r="http://schemas.openxmlformats.org/officeDocument/2006/relationships" xmlns:p188="http://schemas.microsoft.com/office/powerpoint/2018/8/main">
  <p188:cm id="{E4778D20-786D-41A6-B440-3307B0B43894}" authorId="{E901AD2F-768D-3293-D5E4-07B8D227B920}" created="2026-04-02T02:22:33.705" startDate="2026-04-02T02:22:33.705" dueDate="2026-04-02T02:22:33.705" assignedTo="{95E483C5-8FA8-F7AF-5E99-3746627BA972}" title="Om @Budi mohon ditambahkan detail scope responsibility di operation and maintenance.">
    <pc:sldMkLst xmlns:pc="http://schemas.microsoft.com/office/powerpoint/2013/main/command">
      <pc:docMk/>
      <pc:sldMk cId="271775683" sldId="2147376241"/>
    </pc:sldMkLst>
    <p188:txBody>
      <a:bodyPr/>
      <a:lstStyle/>
      <a:p>
        <a:r>
          <a:rPr lang="en-US"/>
          <a:t>Om [@Budi] mohon ditambahkan detail scope responsibility di operation and maintenance.</a:t>
        </a:r>
      </a:p>
    </p188:txBody>
    <p188:extLst>
      <p:ext xmlns:p="http://schemas.openxmlformats.org/presentationml/2006/main" uri="{5BB2D875-25FF-4072-B9AC-8F64D62656EB}">
        <p228:taskDetails xmlns:p228="http://schemas.microsoft.com/office/powerpoint/2022/08/main">
          <p228:history>
            <p228:event time="2026-04-02T02:22:33.705" id="{2655DCB9-52E0-4A27-B348-EA53C253ED09}">
              <p228:atrbtn authorId="{E901AD2F-768D-3293-D5E4-07B8D227B920}"/>
              <p228:anchr>
                <p228:comment id="{E4778D20-786D-41A6-B440-3307B0B43894}"/>
              </p228:anchr>
              <p228:add/>
            </p228:event>
            <p228:event time="2026-04-02T02:22:33.705" id="{273B4FC6-CE4D-407A-9CEF-5AAEC70E005E}">
              <p228:atrbtn authorId="{E901AD2F-768D-3293-D5E4-07B8D227B920}"/>
              <p228:anchr>
                <p228:comment id="{E4778D20-786D-41A6-B440-3307B0B43894}"/>
              </p228:anchr>
              <p228:asgn authorId="{95E483C5-8FA8-F7AF-5E99-3746627BA972}"/>
            </p228:event>
            <p228:event time="2026-04-02T02:22:33.705" id="{FD45A1ED-BE33-477F-8A3B-1698EEBCA609}">
              <p228:atrbtn authorId="{E901AD2F-768D-3293-D5E4-07B8D227B920}"/>
              <p228:anchr>
                <p228:comment id="{E4778D20-786D-41A6-B440-3307B0B43894}"/>
              </p228:anchr>
              <p228:title val="Om @Budi mohon ditambahkan detail scope responsibility di operation and maintenance."/>
            </p228:event>
            <p228:event time="2026-04-02T02:22:33.705" id="{E9170A5D-D52C-4177-86E1-EC9B0EBC7E25}">
              <p228:atrbtn authorId="{E901AD2F-768D-3293-D5E4-07B8D227B920}"/>
              <p228:anchr>
                <p228:comment id="{E4778D20-786D-41A6-B440-3307B0B43894}"/>
              </p228:anchr>
              <p228:date stDt="2026-04-02T02:22:33.705" endDt="2026-04-02T02:22:33.705"/>
            </p228:event>
          </p228:history>
        </p228:taskDetails>
      </p:ext>
    </p188:extLst>
  </p188:cm>
</p188:cmLst>
</file>

<file path=ppt/comments/modernComment_7FFE5C72_9C39271.xml><?xml version="1.0" encoding="utf-8"?>
<p188:cmLst xmlns:a="http://schemas.openxmlformats.org/drawingml/2006/main" xmlns:r="http://schemas.openxmlformats.org/officeDocument/2006/relationships" xmlns:p188="http://schemas.microsoft.com/office/powerpoint/2018/8/main">
  <p188:cm id="{893F6631-B5ED-4CC8-A046-69DD0C9EB7CE}" authorId="{CC73F754-DF2E-F7B5-7B74-E036E4548CF0}" created="2026-04-01T03:08:48.837">
    <ac:txMkLst xmlns:ac="http://schemas.microsoft.com/office/drawing/2013/main/command">
      <pc:docMk xmlns:pc="http://schemas.microsoft.com/office/powerpoint/2013/main/command"/>
      <pc:sldMk xmlns:pc="http://schemas.microsoft.com/office/powerpoint/2013/main/command" cId="163811953" sldId="2147376242"/>
      <ac:graphicFrameMk id="4" creationId="{A700F94A-F206-C8F5-8FE9-AF6B4FB59791}"/>
      <ac:tblMk/>
      <ac:tcMk rowId="3212780037" colId="115139022"/>
      <ac:txMk cp="44" len="29">
        <ac:context len="199" hash="845983859"/>
      </ac:txMk>
    </ac:txMkLst>
    <p188:pos x="2853806" y="941832"/>
    <p188:replyLst>
      <p188:reply id="{751812A3-F433-4694-BFCE-ABDE35B4A143}" authorId="{95E483C5-8FA8-F7AF-5E99-3746627BA972}" created="2026-04-02T04:21:09.969">
        <p188:txBody>
          <a:bodyPr/>
          <a:lstStyle/>
          <a:p>
            <a:r>
              <a:rPr lang="en-US"/>
              <a:t>Already updated with more relevan and selling sentences on slide 6-14.</a:t>
            </a:r>
          </a:p>
        </p188:txBody>
      </p188:reply>
    </p188:replyLst>
    <p188:txBody>
      <a:bodyPr/>
      <a:lstStyle/>
      <a:p>
        <a:r>
          <a:rPr lang="en-US"/>
          <a:t>"Fair performance evaluation system" - - is it realistic?</a:t>
        </a:r>
      </a:p>
    </p188:txBody>
  </p188:cm>
  <p188:cm id="{3ED6B266-EDBC-49DD-B7B9-76A9313CAB7B}" authorId="{CC73F754-DF2E-F7B5-7B74-E036E4548CF0}" created="2026-04-01T03:12:58.654">
    <ac:txMkLst xmlns:ac="http://schemas.microsoft.com/office/drawing/2013/main/command">
      <pc:docMk xmlns:pc="http://schemas.microsoft.com/office/powerpoint/2013/main/command"/>
      <pc:sldMk xmlns:pc="http://schemas.microsoft.com/office/powerpoint/2013/main/command" cId="163811953" sldId="2147376242"/>
      <ac:graphicFrameMk id="4" creationId="{A700F94A-F206-C8F5-8FE9-AF6B4FB59791}"/>
      <ac:tblMk/>
      <ac:tcMk rowId="3212780037" colId="3329258466"/>
      <ac:txMk cp="0" len="212">
        <ac:context len="213" hash="2542464871"/>
      </ac:txMk>
    </ac:txMkLst>
    <p188:pos x="4445351" y="1764792"/>
    <p188:replyLst>
      <p188:reply id="{094A5FE9-03C1-47B7-9C3E-33F5D420A421}" authorId="{CC73F754-DF2E-F7B5-7B74-E036E4548CF0}" created="2026-04-01T03:22:51.012">
        <p188:txBody>
          <a:bodyPr/>
          <a:lstStyle/>
          <a:p>
            <a:r>
              <a:rPr lang="en-US"/>
              <a:t>Provide a system (function) that enable :​
- Recording the company KPI, to be further used as reference of individual KPI​
- Recording a plan of individual KPI in every beginning year and runs periodic evaluations. ​
- …..????</a:t>
            </a:r>
          </a:p>
        </p188:txBody>
      </p188:reply>
      <p188:reply id="{49120A98-F0CF-45B8-B198-967B3E992DB8}" authorId="{95E483C5-8FA8-F7AF-5E99-3746627BA972}" created="2026-04-02T04:22:38.724">
        <p188:txBody>
          <a:bodyPr/>
          <a:lstStyle/>
          <a:p>
            <a:r>
              <a:rPr lang="en-US"/>
              <a:t>Thank you for your feedback. 
We already updated with relevant pain point, propose solution and benefit. </a:t>
            </a:r>
          </a:p>
        </p188:txBody>
      </p188:reply>
    </p188:replyLst>
    <p188:txBody>
      <a:bodyPr/>
      <a:lstStyle/>
      <a:p>
        <a:r>
          <a:rPr lang="en-US"/>
          <a:t>you can combined the proposed solution and feature and create clearer information, as the sample          </a:t>
        </a:r>
      </a:p>
    </p188:txBody>
  </p188:cm>
</p188:cmLst>
</file>

<file path=ppt/comments/modernComment_7FFE5C78_2A26DD7D.xml><?xml version="1.0" encoding="utf-8"?>
<p188:cmLst xmlns:a="http://schemas.openxmlformats.org/drawingml/2006/main" xmlns:r="http://schemas.openxmlformats.org/officeDocument/2006/relationships" xmlns:p188="http://schemas.microsoft.com/office/powerpoint/2018/8/main">
  <p188:cm id="{CEC439D3-2C22-45B3-A022-497E3741734B}" authorId="{6F407B05-06A9-9B35-C0BE-B68BCE606150}" created="2026-04-02T01:59:29.084">
    <ac:txMkLst xmlns:ac="http://schemas.microsoft.com/office/drawing/2013/main/command">
      <pc:docMk xmlns:pc="http://schemas.microsoft.com/office/powerpoint/2013/main/command"/>
      <pc:sldMk xmlns:pc="http://schemas.microsoft.com/office/powerpoint/2013/main/command" cId="707190141" sldId="2147376248"/>
      <ac:graphicFrameMk id="2" creationId="{36FE2F44-D34C-E9A4-C006-F3A6150620E3}"/>
      <ac:tblMk/>
      <ac:tcMk rowId="1883718269" colId="1113904390"/>
      <ac:txMk cp="0">
        <ac:context len="196" hash="2375155543"/>
      </ac:txMk>
    </ac:txMkLst>
    <p188:pos x="4013845" y="614661"/>
    <p188:replyLst>
      <p188:reply id="{E6BD5BD2-CC50-4F10-9174-34A693360836}" authorId="{357FD6CA-B2FC-F896-9F2D-8FF4012D3948}" created="2026-04-02T02:34:18.854">
        <p188:txBody>
          <a:bodyPr/>
          <a:lstStyle/>
          <a:p>
            <a:r>
              <a:rPr lang="en-US"/>
              <a:t>Noted pak Asra, untuk pain points dari ke-8 modul ini adalah memang yang dialami oleh tim HRD</a:t>
            </a:r>
          </a:p>
        </p188:txBody>
      </p188:reply>
    </p188:replyLst>
    <p188:txBody>
      <a:bodyPr/>
      <a:lstStyle/>
      <a:p>
        <a:r>
          <a:rPr lang="en-US"/>
          <a:t>Mas Tito dan kang Budi, tolong pastikan bahwa pain point ini adalah yang benar2 dirasakan oleh business user</a:t>
        </a:r>
      </a:p>
    </p188:txBody>
  </p188:cm>
  <p188:cm id="{CEC469C7-4E16-4D15-966F-E8FB2CFB257C}" authorId="{6F407B05-06A9-9B35-C0BE-B68BCE606150}" created="2026-04-02T09:54:42.358">
    <ac:deMkLst xmlns:ac="http://schemas.microsoft.com/office/drawing/2013/main/command">
      <pc:docMk xmlns:pc="http://schemas.microsoft.com/office/powerpoint/2013/main/command"/>
      <pc:sldMk xmlns:pc="http://schemas.microsoft.com/office/powerpoint/2013/main/command" cId="707190141" sldId="2147376248"/>
      <ac:graphicFrameMk id="2" creationId="{36FE2F44-D34C-E9A4-C006-F3A6150620E3}"/>
    </ac:deMkLst>
    <p188:txBody>
      <a:bodyPr/>
      <a:lstStyle/>
      <a:p>
        <a:r>
          <a:rPr lang="en-US"/>
          <a:t>Propose solution disini sudah mengambarkan apa yang ada nantinya
</a:t>
        </a:r>
      </a:p>
    </p188:txBody>
  </p188:cm>
</p188:cmLst>
</file>

<file path=ppt/comments/modernComment_7FFE5C84_36F93183.xml><?xml version="1.0" encoding="utf-8"?>
<p188:cmLst xmlns:a="http://schemas.openxmlformats.org/drawingml/2006/main" xmlns:r="http://schemas.openxmlformats.org/officeDocument/2006/relationships" xmlns:p188="http://schemas.microsoft.com/office/powerpoint/2018/8/main">
  <p188:cm id="{8CD5F3FF-F1B2-45DC-A2B3-6328654EEC03}" authorId="{6F407B05-06A9-9B35-C0BE-B68BCE606150}" created="2026-04-02T01:59:29.084">
    <ac:txMkLst xmlns:ac="http://schemas.microsoft.com/office/drawing/2013/main/command">
      <pc:docMk xmlns:pc="http://schemas.microsoft.com/office/powerpoint/2013/main/command"/>
      <pc:sldMk xmlns:pc="http://schemas.microsoft.com/office/powerpoint/2013/main/command" cId="922300803" sldId="2147376260"/>
      <ac:graphicFrameMk id="2" creationId="{E460E89D-2C8C-69B8-7CFE-630594695F71}"/>
      <ac:tblMk/>
      <ac:tcMk rowId="1120366538" colId="1113904390"/>
      <ac:txMk cp="0">
        <ac:context len="380" hash="1832026419"/>
      </ac:txMk>
    </ac:txMkLst>
    <p188:pos x="4013845" y="614661"/>
    <p188:replyLst>
      <p188:reply id="{E6BD5BD2-CC50-4F10-9174-34A693360836}" authorId="{357FD6CA-B2FC-F896-9F2D-8FF4012D3948}" created="2026-04-02T02:34:18.854">
        <p188:txBody>
          <a:bodyPr/>
          <a:lstStyle/>
          <a:p>
            <a:r>
              <a:rPr lang="en-US"/>
              <a:t>Noted pak Asra, untuk pain points dari ke-8 modul ini adalah memang yang dialami oleh tim HRD</a:t>
            </a:r>
          </a:p>
        </p188:txBody>
      </p188:reply>
    </p188:replyLst>
    <p188:txBody>
      <a:bodyPr/>
      <a:lstStyle/>
      <a:p>
        <a:r>
          <a:rPr lang="en-US"/>
          <a:t>Mas Tito dan kang Budi, tolong pastikan bahwa pain point ini adalah yang benar2 dirasakan oleh business user</a:t>
        </a:r>
      </a:p>
    </p188:txBody>
  </p188:cm>
  <p188:cm id="{9D5D6BB3-B5B8-49D1-A49F-AEFAFD2CBCA7}" authorId="{6F407B05-06A9-9B35-C0BE-B68BCE606150}" created="2026-04-02T09:54:42.358">
    <ac:deMkLst xmlns:ac="http://schemas.microsoft.com/office/drawing/2013/main/command">
      <pc:docMk xmlns:pc="http://schemas.microsoft.com/office/powerpoint/2013/main/command"/>
      <pc:sldMk xmlns:pc="http://schemas.microsoft.com/office/powerpoint/2013/main/command" cId="922300803" sldId="2147376260"/>
      <ac:graphicFrameMk id="2" creationId="{E460E89D-2C8C-69B8-7CFE-630594695F71}"/>
    </ac:deMkLst>
    <p188:txBody>
      <a:bodyPr/>
      <a:lstStyle/>
      <a:p>
        <a:r>
          <a:rPr lang="en-US"/>
          <a:t>Propose solution disini sudah mengambarkan apa yang ada nantinya
</a:t>
        </a:r>
      </a:p>
    </p188:txBody>
  </p188:cm>
</p188:cmLst>
</file>

<file path=ppt/comments/modernComment_15A_2C3E35A.xml><?xml version="1.0" encoding="utf-8"?>
<p188:cmLst xmlns:a="http://schemas.openxmlformats.org/drawingml/2006/main" xmlns:r="http://schemas.openxmlformats.org/officeDocument/2006/relationships" xmlns:p188="http://schemas.microsoft.com/office/powerpoint/2018/8/main">
  <p188:cm id="{BA7965EF-321F-4744-BD85-490506C0CFF9}" authorId="{CC73F754-DF2E-F7B5-7B74-E036E4548CF0}" created="2026-04-01T03:03:34.137">
    <ac:deMkLst xmlns:ac="http://schemas.microsoft.com/office/drawing/2013/main/command">
      <pc:docMk xmlns:pc="http://schemas.microsoft.com/office/powerpoint/2013/main/command"/>
      <pc:sldMk xmlns:pc="http://schemas.microsoft.com/office/powerpoint/2013/main/command" cId="46392154" sldId="346"/>
      <ac:spMk id="8" creationId="{4DD1FE24-C3C5-DDD3-5CF0-3E1E429FB5F1}"/>
    </ac:deMkLst>
    <p188:txBody>
      <a:bodyPr/>
      <a:lstStyle/>
      <a:p>
        <a:r>
          <a:rPr lang="en-US"/>
          <a:t>I do not know this background is relevant to the proposed solution or not, I believe MMKSI not yet use HRD module, please think over. </a:t>
        </a:r>
      </a:p>
    </p188:txBody>
  </p188:cm>
  <p188:cm id="{1068F38B-7A68-47AB-B905-6FAF1DA1BB4C}" authorId="{CC73F754-DF2E-F7B5-7B74-E036E4548CF0}" created="2026-04-01T03:06:45.161">
    <ac:deMkLst xmlns:ac="http://schemas.microsoft.com/office/drawing/2013/main/command">
      <pc:docMk xmlns:pc="http://schemas.microsoft.com/office/powerpoint/2013/main/command"/>
      <pc:sldMk xmlns:pc="http://schemas.microsoft.com/office/powerpoint/2013/main/command" cId="46392154" sldId="346"/>
      <ac:spMk id="5" creationId="{5627C160-5D9E-BEAA-F3F0-39A5D1C42885}"/>
    </ac:deMkLst>
    <p188:txBody>
      <a:bodyPr/>
      <a:lstStyle/>
      <a:p>
        <a:r>
          <a:rPr lang="en-US"/>
          <a:t>This objective and benefit is also "not grounded" please think over 1. "why MMKSI need HRD system and what we plan to give them" , 2. after the system ready, what user can have, proper record? accuracy of data? effective process? </a:t>
        </a:r>
      </a:p>
    </p188:txBody>
  </p188:cm>
</p188:cmLst>
</file>

<file path=ppt/comments/modernComment_158_5CF9FE08.xml><?xml version="1.0" encoding="utf-8"?>
<p188:cmLst xmlns:a="http://schemas.openxmlformats.org/drawingml/2006/main" xmlns:r="http://schemas.openxmlformats.org/officeDocument/2006/relationships" xmlns:p188="http://schemas.microsoft.com/office/powerpoint/2018/8/main">
  <p188:cm id="{99B070FE-A269-4684-9031-BEA66D7FD584}" authorId="{357FD6CA-B2FC-F896-9F2D-8FF4012D3948}" status="resolved" created="2026-03-26T06:29:14.017" startDate="2026-03-26T06:29:14.017" dueDate="2026-03-26T06:29:14.017" assignedTo="{E901AD2F-768D-3293-D5E4-07B8D227B920}" complete="100000" title="Please your help to edit @Donnie Adilaksono ">
    <ac:txMkLst xmlns:ac="http://schemas.microsoft.com/office/drawing/2013/main/command">
      <pc:docMk xmlns:pc="http://schemas.microsoft.com/office/powerpoint/2013/main/command"/>
      <pc:sldMk xmlns:pc="http://schemas.microsoft.com/office/powerpoint/2013/main/command" cId="1559887368" sldId="344"/>
      <ac:spMk id="16" creationId="{33775A34-714D-0BDA-3417-FB97E38DB95C}"/>
      <ac:txMk cp="14" len="35">
        <ac:context len="50" hash="19669816"/>
      </ac:txMk>
    </ac:txMkLst>
    <p188:pos x="3526141" y="613997"/>
    <p188:txBody>
      <a:bodyPr/>
      <a:lstStyle/>
      <a:p>
        <a:r>
          <a:rPr lang="en-US"/>
          <a:t>Please your help to edit [@Donnie Adilaksono] </a:t>
        </a:r>
      </a:p>
    </p188:txBody>
    <p188:extLst>
      <p:ext xmlns:p="http://schemas.openxmlformats.org/presentationml/2006/main" uri="{5BB2D875-25FF-4072-B9AC-8F64D62656EB}">
        <p228:taskDetails xmlns:p228="http://schemas.microsoft.com/office/powerpoint/2022/08/main">
          <p228:history>
            <p228:event time="2026-03-26T06:29:14.017" id="{9858A9B5-76C6-4984-85C5-3A94BE3D8779}">
              <p228:atrbtn authorId="{357FD6CA-B2FC-F896-9F2D-8FF4012D3948}"/>
              <p228:anchr>
                <p228:comment id="{99B070FE-A269-4684-9031-BEA66D7FD584}"/>
              </p228:anchr>
              <p228:add/>
            </p228:event>
            <p228:event time="2026-03-26T06:29:14.017" id="{53770391-D909-4AF8-82F6-2C58111E435F}">
              <p228:atrbtn authorId="{357FD6CA-B2FC-F896-9F2D-8FF4012D3948}"/>
              <p228:anchr>
                <p228:comment id="{99B070FE-A269-4684-9031-BEA66D7FD584}"/>
              </p228:anchr>
              <p228:asgn authorId="{E901AD2F-768D-3293-D5E4-07B8D227B920}"/>
            </p228:event>
            <p228:event time="2026-03-26T06:29:14.017" id="{15016BC7-5EAE-41DC-A93B-0E13DF2E9DAA}">
              <p228:atrbtn authorId="{357FD6CA-B2FC-F896-9F2D-8FF4012D3948}"/>
              <p228:anchr>
                <p228:comment id="{99B070FE-A269-4684-9031-BEA66D7FD584}"/>
              </p228:anchr>
              <p228:title val="Please your help to edit @Donnie Adilaksono "/>
            </p228:event>
            <p228:event time="2026-03-26T06:29:14.017" id="{9E25A310-E110-49A7-8358-3B9FB45AD2FB}">
              <p228:atrbtn authorId="{357FD6CA-B2FC-F896-9F2D-8FF4012D3948}"/>
              <p228:anchr>
                <p228:comment id="{99B070FE-A269-4684-9031-BEA66D7FD584}"/>
              </p228:anchr>
              <p228:date stDt="2026-03-26T06:29:14.017" endDt="2026-03-26T06:29:14.017"/>
            </p228:event>
            <p228:event time="2026-04-01T07:46:49.006" id="{2FC4732E-B607-449B-9C85-BF60494AB040}">
              <p228:atrbtn authorId="{E901AD2F-768D-3293-D5E4-07B8D227B920}"/>
              <p228:anchr>
                <p228:comment id="{00000000-0000-0000-0000-000000000000}"/>
              </p228:anchr>
              <p228:pcntCmplt val="100000"/>
            </p228:event>
          </p228:history>
        </p228:taskDetails>
      </p:ext>
    </p188:extLst>
  </p188:cm>
</p188:cmLst>
</file>

<file path=ppt/comments/modernComment_171_6EE853FC.xml><?xml version="1.0" encoding="utf-8"?>
<p188:cmLst xmlns:a="http://schemas.openxmlformats.org/drawingml/2006/main" xmlns:r="http://schemas.openxmlformats.org/officeDocument/2006/relationships" xmlns:p188="http://schemas.microsoft.com/office/powerpoint/2018/8/main">
  <p188:cm id="{72C0D89A-472C-4B98-BFC4-D05C14135AA3}" authorId="{357FD6CA-B2FC-F896-9F2D-8FF4012D3948}" created="2026-03-27T03:41:43.432">
    <pc:sldMkLst xmlns:pc="http://schemas.microsoft.com/office/powerpoint/2013/main/command">
      <pc:docMk/>
      <pc:sldMk cId="2926416353" sldId="369"/>
    </pc:sldMkLst>
    <p188:txBody>
      <a:bodyPr/>
      <a:lstStyle/>
      <a:p>
        <a:r>
          <a:rPr lang="en-US"/>
          <a:t>Please your help to provide this section [@Budi] </a:t>
        </a:r>
      </a:p>
    </p188:txBody>
  </p188:cm>
  <p188:cm id="{9891F31C-5DF8-4D08-A0AD-288570EEC023}" authorId="{CC73F754-DF2E-F7B5-7B74-E036E4548CF0}" created="2026-04-01T03:35:11.032">
    <ac:deMkLst xmlns:ac="http://schemas.microsoft.com/office/drawing/2013/main/command">
      <pc:docMk xmlns:pc="http://schemas.microsoft.com/office/powerpoint/2013/main/command"/>
      <pc:sldMk xmlns:pc="http://schemas.microsoft.com/office/powerpoint/2013/main/command" cId="1860719612" sldId="369"/>
      <ac:picMk id="15" creationId="{9C436045-0123-A6DA-EDBC-A0732D83BCA0}"/>
    </ac:deMkLst>
    <p188:replyLst>
      <p188:reply id="{712FD27C-CD8B-4888-8147-D421952924CD}" authorId="{95E483C5-8FA8-F7AF-5E99-3746627BA972}" created="2026-04-02T02:53:25.593">
        <p188:txBody>
          <a:bodyPr/>
          <a:lstStyle/>
          <a:p>
            <a:r>
              <a:rPr lang="en-US"/>
              <a:t>Noted for the concern bu.
Timeline already refined on the next slide. 
We will put VAPT activity as part of last iteration activity instead of individual activity in one iteration.</a:t>
            </a:r>
          </a:p>
        </p188:txBody>
      </p188:reply>
    </p188:replyLst>
    <p188:txBody>
      <a:bodyPr/>
      <a:lstStyle/>
      <a:p>
        <a:r>
          <a:rPr lang="en-US"/>
          <a:t>In iteration-2, we just do VAPT, is my understanding correct? if yes, does it means the agile team (dev/po/qa) will be idle (not having any task) for 1 month?</a:t>
        </a:r>
      </a:p>
    </p188:txBody>
  </p188:cm>
  <p188:cm id="{8DAA5D9E-D98E-4526-B0AD-6AFC09E6FE4B}" authorId="{CC73F754-DF2E-F7B5-7B74-E036E4548CF0}" created="2026-04-01T03:45:58.657">
    <pc:sldMkLst xmlns:pc="http://schemas.microsoft.com/office/powerpoint/2013/main/command">
      <pc:docMk/>
      <pc:sldMk cId="2926416353" sldId="369"/>
    </pc:sldMkLst>
    <p188:replyLst>
      <p188:reply id="{E857EB75-9A3D-4B19-9764-E30B600F8F30}" authorId="{95E483C5-8FA8-F7AF-5E99-3746627BA972}" created="2026-04-02T02:48:18.928">
        <p188:txBody>
          <a:bodyPr/>
          <a:lstStyle/>
          <a:p>
            <a:r>
              <a:rPr lang="en-US"/>
              <a:t>Project timeline already simplify on the next two slide based on main modules and agile team activity.
We also add agile methodology that  will break project into several interations.
Please kindly review ya bu.</a:t>
            </a:r>
          </a:p>
        </p188:txBody>
      </p188:reply>
    </p188:replyLst>
    <p188:txBody>
      <a:bodyPr/>
      <a:lstStyle/>
      <a:p>
        <a:r>
          <a:rPr lang="en-US"/>
          <a:t>seeing this iteration plan, seems like we understand that all the module have the same weight (#function/complexity), is this valid? </a:t>
        </a:r>
      </a:p>
    </p188:txBody>
  </p188:cm>
</p188:cmLst>
</file>

<file path=ppt/comments/modernComment_C91_24E2B0E8.xml><?xml version="1.0" encoding="utf-8"?>
<p188:cmLst xmlns:a="http://schemas.openxmlformats.org/drawingml/2006/main" xmlns:r="http://schemas.openxmlformats.org/officeDocument/2006/relationships" xmlns:p188="http://schemas.microsoft.com/office/powerpoint/2018/8/main">
  <p188:cm id="{5829EC6E-7820-4119-94C7-94D475D74D9C}" authorId="{E901AD2F-768D-3293-D5E4-07B8D227B920}" created="2026-04-01T01:33:23.375">
    <ac:txMkLst xmlns:ac="http://schemas.microsoft.com/office/drawing/2013/main/command">
      <pc:docMk xmlns:pc="http://schemas.microsoft.com/office/powerpoint/2013/main/command"/>
      <pc:sldMk xmlns:pc="http://schemas.microsoft.com/office/powerpoint/2013/main/command" cId="618836200" sldId="3217"/>
      <ac:spMk id="11" creationId="{EBCFA5B3-D4F6-BA6B-8C5C-7933DD7B5F7D}"/>
      <ac:txMk cp="210" len="8">
        <ac:context len="582" hash="2608381814"/>
      </ac:txMk>
    </ac:txMkLst>
    <p188:pos x="5183588" y="994606"/>
    <p188:replyLst>
      <p188:reply id="{48C4C219-756F-40C1-8A0A-10E55031DD11}" authorId="{357FD6CA-B2FC-F896-9F2D-8FF4012D3948}" created="2026-04-01T09:37:32.610">
        <p188:txBody>
          <a:bodyPr/>
          <a:lstStyle/>
          <a:p>
            <a:r>
              <a:rPr lang="en-US"/>
              <a:t>Sudah saya tambahkan di bagian V Appendix ya pak [@Donnie Adilaksono] 
cc: [@Budi] </a:t>
            </a:r>
          </a:p>
        </p188:txBody>
      </p188:reply>
    </p188:replyLst>
    <p188:txBody>
      <a:bodyPr/>
      <a:lstStyle/>
      <a:p>
        <a:r>
          <a:rPr lang="en-US"/>
          <a:t>[@Tito Tamaro]  tolong buatkan skema operationnya di appendix
cc: [@Budi] </a:t>
        </a:r>
      </a:p>
    </p188:txBody>
  </p188:cm>
  <p188:cm id="{97630F50-BE6A-4908-9815-A05B2083CF1E}" authorId="{E901AD2F-768D-3293-D5E4-07B8D227B920}" created="2026-04-01T01:34:42.192">
    <ac:txMkLst xmlns:ac="http://schemas.microsoft.com/office/drawing/2013/main/command">
      <pc:docMk xmlns:pc="http://schemas.microsoft.com/office/powerpoint/2013/main/command"/>
      <pc:sldMk xmlns:pc="http://schemas.microsoft.com/office/powerpoint/2013/main/command" cId="38342289" sldId="3217"/>
      <ac:graphicFrameMk id="10" creationId="{CC1E7AAF-0702-3CAC-C637-D169A23567CC}"/>
      <ac:tblMk/>
      <ac:tcMk rowId="2690458169" colId="2984476847"/>
      <ac:txMk cp="0" len="14">
        <ac:context len="15" hash="3851025710"/>
      </ac:txMk>
    </ac:txMkLst>
    <p188:replyLst>
      <p188:reply id="{84A033F8-2581-49B2-8991-34CDA3245A5B}" authorId="{A8742C20-8871-052F-8646-BD62B4DF15C5}" created="2026-04-01T04:15:21.112">
        <p188:txBody>
          <a:bodyPr/>
          <a:lstStyle/>
          <a:p>
            <a:r>
              <a:rPr lang="en-US"/>
              <a:t>Harusnya ga ada, kita pake existing HRIS server
</a:t>
            </a:r>
          </a:p>
        </p188:txBody>
      </p188:reply>
    </p188:replyLst>
    <p188:txBody>
      <a:bodyPr/>
      <a:lstStyle/>
      <a:p>
        <a:r>
          <a:rPr lang="en-US"/>
          <a:t>Pak [@Doni Setya Wijaya] untuk operation tidak ada biaya infra tambahan kah?</a:t>
        </a:r>
      </a:p>
    </p188:txBody>
  </p188:cm>
</p188:cmLst>
</file>

<file path=ppt/comments/modernComment_CB3_1E9B921E.xml><?xml version="1.0" encoding="utf-8"?>
<p188:cmLst xmlns:a="http://schemas.openxmlformats.org/drawingml/2006/main" xmlns:r="http://schemas.openxmlformats.org/officeDocument/2006/relationships" xmlns:p188="http://schemas.microsoft.com/office/powerpoint/2018/8/main">
  <p188:cm id="{47778E48-1528-47AC-8A43-B9313F256869}" authorId="{CC73F754-DF2E-F7B5-7B74-E036E4548CF0}" created="2026-04-01T03:08:48.837">
    <ac:txMkLst xmlns:ac="http://schemas.microsoft.com/office/drawing/2013/main/command">
      <pc:docMk xmlns:pc="http://schemas.microsoft.com/office/powerpoint/2013/main/command"/>
      <pc:sldMk xmlns:pc="http://schemas.microsoft.com/office/powerpoint/2013/main/command" cId="513511966" sldId="3251"/>
      <ac:graphicFrameMk id="4" creationId="{88EA92DB-0DA1-D1C5-4BA4-FCBBA18B2AF6}"/>
      <ac:tblMk/>
      <ac:tcMk rowId="3212780037" colId="115139022"/>
      <ac:txMk cp="0">
        <ac:context len="53" hash="1952914888"/>
      </ac:txMk>
    </ac:txMkLst>
    <p188:pos x="2853806" y="941832"/>
    <p188:txBody>
      <a:bodyPr/>
      <a:lstStyle/>
      <a:p>
        <a:r>
          <a:rPr lang="en-US"/>
          <a:t>"Fair performance evaluation system" - - is it realistic?</a:t>
        </a:r>
      </a:p>
    </p188:txBody>
  </p188:cm>
  <p188:cm id="{9FD74D58-83ED-4FC4-9ACD-94ED4C42B01A}" authorId="{CC73F754-DF2E-F7B5-7B74-E036E4548CF0}" created="2026-04-01T03:12:58.654">
    <ac:txMkLst xmlns:ac="http://schemas.microsoft.com/office/drawing/2013/main/command">
      <pc:docMk xmlns:pc="http://schemas.microsoft.com/office/powerpoint/2013/main/command"/>
      <pc:sldMk xmlns:pc="http://schemas.microsoft.com/office/powerpoint/2013/main/command" cId="513511966" sldId="3251"/>
      <ac:graphicFrameMk id="4" creationId="{88EA92DB-0DA1-D1C5-4BA4-FCBBA18B2AF6}"/>
      <ac:tblMk/>
      <ac:tcMk rowId="3212780037" colId="3329258466"/>
      <ac:txMk cp="0" len="1">
        <ac:context len="165" hash="2452630442"/>
      </ac:txMk>
    </ac:txMkLst>
    <p188:pos x="4445351" y="1764792"/>
    <p188:replyLst>
      <p188:reply id="{094A5FE9-03C1-47B7-9C3E-33F5D420A421}" authorId="{CC73F754-DF2E-F7B5-7B74-E036E4548CF0}" created="2026-04-01T03:22:51.012">
        <p188:txBody>
          <a:bodyPr/>
          <a:lstStyle/>
          <a:p>
            <a:r>
              <a:rPr lang="en-US"/>
              <a:t>Provide a system (function) that enable :​
- Recording the company KPI, to be further used as reference of individual KPI​
- Recording a plan of individual KPI in every beginning year and runs periodic evaluations. ​
- …..????</a:t>
            </a:r>
          </a:p>
        </p188:txBody>
      </p188:reply>
    </p188:replyLst>
    <p188:txBody>
      <a:bodyPr/>
      <a:lstStyle/>
      <a:p>
        <a:r>
          <a:rPr lang="en-US"/>
          <a:t>you can combined the proposed solution and feature and create clearer information, as the sample          </a:t>
        </a:r>
      </a:p>
    </p188:txBody>
  </p188:cm>
</p188:cmLst>
</file>

<file path=ppt/comments/modernComment_CC3_5E749B80.xml><?xml version="1.0" encoding="utf-8"?>
<p188:cmLst xmlns:a="http://schemas.openxmlformats.org/drawingml/2006/main" xmlns:r="http://schemas.openxmlformats.org/officeDocument/2006/relationships" xmlns:p188="http://schemas.microsoft.com/office/powerpoint/2018/8/main">
  <p188:cm id="{0E873F14-7EEB-431D-BC71-5B545A67EA70}" authorId="{CC73F754-DF2E-F7B5-7B74-E036E4548CF0}" created="2026-04-01T03:23:32.655">
    <ac:deMkLst xmlns:ac="http://schemas.microsoft.com/office/drawing/2013/main/command">
      <pc:docMk xmlns:pc="http://schemas.microsoft.com/office/powerpoint/2013/main/command"/>
      <pc:sldMk xmlns:pc="http://schemas.microsoft.com/office/powerpoint/2013/main/command" cId="1584700288" sldId="3267"/>
      <ac:spMk id="21" creationId="{6AE482EC-7C9F-E6AA-D4FE-22ED73850C22}"/>
    </ac:deMkLst>
    <p188:replyLst>
      <p188:reply id="{756B2484-5BC7-4FE0-83F4-E824766C4B64}" authorId="{CC73F754-DF2E-F7B5-7B74-E036E4548CF0}" created="2026-04-01T03:24:04.422">
        <p188:txBody>
          <a:bodyPr/>
          <a:lstStyle/>
          <a:p>
            <a:r>
              <a:rPr lang="en-US"/>
              <a:t>please consider whether MMKSI need involvement of Taka-san in this project (or not)?</a:t>
            </a:r>
          </a:p>
        </p188:txBody>
      </p188:reply>
      <p188:reply id="{D3BF5F28-F279-4D0B-9784-BE6AA195DF59}" authorId="{A8742C20-8871-052F-8646-BD62B4DF15C5}" created="2026-04-02T01:14:57.734">
        <p188:txBody>
          <a:bodyPr/>
          <a:lstStyle/>
          <a:p>
            <a:r>
              <a:rPr lang="en-US"/>
              <a:t>Yes bu, it’s already updated</a:t>
            </a:r>
          </a:p>
        </p188:txBody>
      </p188:reply>
    </p188:replyLst>
    <p188:txBody>
      <a:bodyPr/>
      <a:lstStyle/>
      <a:p>
        <a:r>
          <a:rPr lang="en-US"/>
          <a:t>we usually put customer first, is it?</a:t>
        </a:r>
      </a:p>
    </p188:txBody>
  </p188:cm>
  <p188:cm id="{41215C87-97AA-4E2A-A610-EAB9CF3B0226}" authorId="{CC73F754-DF2E-F7B5-7B74-E036E4548CF0}" created="2026-04-01T03:28:05.257">
    <ac:deMkLst xmlns:ac="http://schemas.microsoft.com/office/drawing/2013/main/command">
      <pc:docMk xmlns:pc="http://schemas.microsoft.com/office/powerpoint/2013/main/command"/>
      <pc:sldMk xmlns:pc="http://schemas.microsoft.com/office/powerpoint/2013/main/command" cId="1584700288" sldId="3267"/>
      <ac:spMk id="44" creationId="{86E0A7B7-0DDE-E213-654C-8528CD01CC22}"/>
    </ac:deMkLst>
    <p188:replyLst>
      <p188:reply id="{5C960F5C-13B6-4CCD-8185-671833CB08BC}" authorId="{A8742C20-8871-052F-8646-BD62B4DF15C5}" created="2026-04-02T01:15:02.774">
        <p188:txBody>
          <a:bodyPr/>
          <a:lstStyle/>
          <a:p>
            <a:r>
              <a:rPr lang="en-US"/>
              <a:t>Yes bu, it’s already updated</a:t>
            </a:r>
          </a:p>
        </p188:txBody>
      </p188:reply>
    </p188:replyLst>
    <p188:txBody>
      <a:bodyPr/>
      <a:lstStyle/>
      <a:p>
        <a:r>
          <a:rPr lang="en-US"/>
          <a:t>is key user not part of team under project manager? ussually we put them as part of project team, right?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BE716-A659-411D-BCB8-6AFC0D7D8579}" type="datetimeFigureOut">
              <a:rPr lang="en-GB" smtClean="0"/>
              <a:t>27/04/2026</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67D88D-A21D-45DE-8152-A906F75528A4}" type="slidenum">
              <a:rPr lang="en-GB" smtClean="0"/>
              <a:t>‹#›</a:t>
            </a:fld>
            <a:endParaRPr lang="en-GB"/>
          </a:p>
        </p:txBody>
      </p:sp>
    </p:spTree>
    <p:extLst>
      <p:ext uri="{BB962C8B-B14F-4D97-AF65-F5344CB8AC3E}">
        <p14:creationId xmlns:p14="http://schemas.microsoft.com/office/powerpoint/2010/main" val="383519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67D88D-A21D-45DE-8152-A906F75528A4}" type="slidenum">
              <a:rPr lang="en-GB" smtClean="0"/>
              <a:t>1</a:t>
            </a:fld>
            <a:endParaRPr lang="en-GB"/>
          </a:p>
        </p:txBody>
      </p:sp>
    </p:spTree>
    <p:extLst>
      <p:ext uri="{BB962C8B-B14F-4D97-AF65-F5344CB8AC3E}">
        <p14:creationId xmlns:p14="http://schemas.microsoft.com/office/powerpoint/2010/main" val="400042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Configurable vs adaptive changes according to business needs</a:t>
            </a:r>
            <a:br>
              <a:rPr lang="en-US"/>
            </a:br>
            <a:r>
              <a:rPr lang="en-US"/>
              <a:t>Ensure existing BSI framework microservices implemented on this project (</a:t>
            </a:r>
            <a:r>
              <a:rPr lang="en-US" err="1"/>
              <a:t>DevLead</a:t>
            </a:r>
            <a:r>
              <a:rPr lang="en-US"/>
              <a:t> required to ensure secure development implemented) </a:t>
            </a:r>
          </a:p>
        </p:txBody>
      </p:sp>
      <p:sp>
        <p:nvSpPr>
          <p:cNvPr id="4" name="Slide Number Placeholder 3"/>
          <p:cNvSpPr>
            <a:spLocks noGrp="1"/>
          </p:cNvSpPr>
          <p:nvPr>
            <p:ph type="sldNum" sz="quarter" idx="5"/>
          </p:nvPr>
        </p:nvSpPr>
        <p:spPr/>
        <p:txBody>
          <a:bodyPr/>
          <a:lstStyle/>
          <a:p>
            <a:fld id="{7367D88D-A21D-45DE-8152-A906F75528A4}" type="slidenum">
              <a:rPr lang="en-GB" smtClean="0"/>
              <a:t>3</a:t>
            </a:fld>
            <a:endParaRPr lang="en-GB"/>
          </a:p>
        </p:txBody>
      </p:sp>
    </p:spTree>
    <p:extLst>
      <p:ext uri="{BB962C8B-B14F-4D97-AF65-F5344CB8AC3E}">
        <p14:creationId xmlns:p14="http://schemas.microsoft.com/office/powerpoint/2010/main" val="1810605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Summarize content and make simplify</a:t>
            </a:r>
          </a:p>
        </p:txBody>
      </p:sp>
      <p:sp>
        <p:nvSpPr>
          <p:cNvPr id="4" name="Slide Number Placeholder 3"/>
          <p:cNvSpPr>
            <a:spLocks noGrp="1"/>
          </p:cNvSpPr>
          <p:nvPr>
            <p:ph type="sldNum" sz="quarter" idx="5"/>
          </p:nvPr>
        </p:nvSpPr>
        <p:spPr/>
        <p:txBody>
          <a:bodyPr/>
          <a:lstStyle/>
          <a:p>
            <a:fld id="{7367D88D-A21D-45DE-8152-A906F75528A4}" type="slidenum">
              <a:rPr lang="en-GB" smtClean="0"/>
              <a:t>5</a:t>
            </a:fld>
            <a:endParaRPr lang="en-GB"/>
          </a:p>
        </p:txBody>
      </p:sp>
    </p:spTree>
    <p:extLst>
      <p:ext uri="{BB962C8B-B14F-4D97-AF65-F5344CB8AC3E}">
        <p14:creationId xmlns:p14="http://schemas.microsoft.com/office/powerpoint/2010/main" val="408829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E3AB-181F-38C8-E520-F5CE6C452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8E4BD-8E77-9275-2310-37714B3A3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5EFDD-646E-942B-03FD-3BBBA84170D4}"/>
              </a:ext>
            </a:extLst>
          </p:cNvPr>
          <p:cNvSpPr>
            <a:spLocks noGrp="1"/>
          </p:cNvSpPr>
          <p:nvPr>
            <p:ph type="body" idx="1"/>
          </p:nvPr>
        </p:nvSpPr>
        <p:spPr/>
        <p:txBody>
          <a:bodyPr/>
          <a:lstStyle/>
          <a:p>
            <a:br>
              <a:rPr lang="en-US"/>
            </a:br>
            <a:endParaRPr lang="en-US"/>
          </a:p>
        </p:txBody>
      </p:sp>
      <p:sp>
        <p:nvSpPr>
          <p:cNvPr id="4" name="Slide Number Placeholder 3">
            <a:extLst>
              <a:ext uri="{FF2B5EF4-FFF2-40B4-BE49-F238E27FC236}">
                <a16:creationId xmlns:a16="http://schemas.microsoft.com/office/drawing/2014/main" id="{7C2FA4DF-0EF0-AF53-0D98-714F49ED4B7A}"/>
              </a:ext>
            </a:extLst>
          </p:cNvPr>
          <p:cNvSpPr>
            <a:spLocks noGrp="1"/>
          </p:cNvSpPr>
          <p:nvPr>
            <p:ph type="sldNum" sz="quarter" idx="5"/>
          </p:nvPr>
        </p:nvSpPr>
        <p:spPr/>
        <p:txBody>
          <a:bodyPr/>
          <a:lstStyle/>
          <a:p>
            <a:fld id="{7367D88D-A21D-45DE-8152-A906F75528A4}" type="slidenum">
              <a:rPr lang="en-GB" smtClean="0"/>
              <a:t>14</a:t>
            </a:fld>
            <a:endParaRPr lang="en-GB"/>
          </a:p>
        </p:txBody>
      </p:sp>
    </p:spTree>
    <p:extLst>
      <p:ext uri="{BB962C8B-B14F-4D97-AF65-F5344CB8AC3E}">
        <p14:creationId xmlns:p14="http://schemas.microsoft.com/office/powerpoint/2010/main" val="3896844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E3AB-181F-38C8-E520-F5CE6C452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8E4BD-8E77-9275-2310-37714B3A3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5EFDD-646E-942B-03FD-3BBBA84170D4}"/>
              </a:ext>
            </a:extLst>
          </p:cNvPr>
          <p:cNvSpPr>
            <a:spLocks noGrp="1"/>
          </p:cNvSpPr>
          <p:nvPr>
            <p:ph type="body" idx="1"/>
          </p:nvPr>
        </p:nvSpPr>
        <p:spPr/>
        <p:txBody>
          <a:bodyPr/>
          <a:lstStyle/>
          <a:p>
            <a:br>
              <a:rPr lang="en-US"/>
            </a:br>
            <a:endParaRPr lang="en-US"/>
          </a:p>
        </p:txBody>
      </p:sp>
      <p:sp>
        <p:nvSpPr>
          <p:cNvPr id="4" name="Slide Number Placeholder 3">
            <a:extLst>
              <a:ext uri="{FF2B5EF4-FFF2-40B4-BE49-F238E27FC236}">
                <a16:creationId xmlns:a16="http://schemas.microsoft.com/office/drawing/2014/main" id="{7C2FA4DF-0EF0-AF53-0D98-714F49ED4B7A}"/>
              </a:ext>
            </a:extLst>
          </p:cNvPr>
          <p:cNvSpPr>
            <a:spLocks noGrp="1"/>
          </p:cNvSpPr>
          <p:nvPr>
            <p:ph type="sldNum" sz="quarter" idx="5"/>
          </p:nvPr>
        </p:nvSpPr>
        <p:spPr/>
        <p:txBody>
          <a:bodyPr/>
          <a:lstStyle/>
          <a:p>
            <a:fld id="{7367D88D-A21D-45DE-8152-A906F75528A4}" type="slidenum">
              <a:rPr lang="en-GB" smtClean="0"/>
              <a:t>15</a:t>
            </a:fld>
            <a:endParaRPr lang="en-GB"/>
          </a:p>
        </p:txBody>
      </p:sp>
    </p:spTree>
    <p:extLst>
      <p:ext uri="{BB962C8B-B14F-4D97-AF65-F5344CB8AC3E}">
        <p14:creationId xmlns:p14="http://schemas.microsoft.com/office/powerpoint/2010/main" val="3896844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Please ask to Taka-</a:t>
            </a:r>
            <a:r>
              <a:rPr lang="en-US" err="1"/>
              <a:t>san</a:t>
            </a:r>
            <a:r>
              <a:rPr lang="en-US"/>
              <a:t> </a:t>
            </a:r>
          </a:p>
        </p:txBody>
      </p:sp>
      <p:sp>
        <p:nvSpPr>
          <p:cNvPr id="4" name="Slide Number Placeholder 3"/>
          <p:cNvSpPr>
            <a:spLocks noGrp="1"/>
          </p:cNvSpPr>
          <p:nvPr>
            <p:ph type="sldNum" sz="quarter" idx="5"/>
          </p:nvPr>
        </p:nvSpPr>
        <p:spPr/>
        <p:txBody>
          <a:bodyPr/>
          <a:lstStyle/>
          <a:p>
            <a:fld id="{7367D88D-A21D-45DE-8152-A906F75528A4}" type="slidenum">
              <a:rPr lang="en-GB" smtClean="0"/>
              <a:t>16</a:t>
            </a:fld>
            <a:endParaRPr lang="en-GB"/>
          </a:p>
        </p:txBody>
      </p:sp>
    </p:spTree>
    <p:extLst>
      <p:ext uri="{BB962C8B-B14F-4D97-AF65-F5344CB8AC3E}">
        <p14:creationId xmlns:p14="http://schemas.microsoft.com/office/powerpoint/2010/main" val="3462343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67D88D-A21D-45DE-8152-A906F75528A4}" type="slidenum">
              <a:rPr lang="en-GB" smtClean="0"/>
              <a:t>24</a:t>
            </a:fld>
            <a:endParaRPr lang="en-GB"/>
          </a:p>
        </p:txBody>
      </p:sp>
    </p:spTree>
    <p:extLst>
      <p:ext uri="{BB962C8B-B14F-4D97-AF65-F5344CB8AC3E}">
        <p14:creationId xmlns:p14="http://schemas.microsoft.com/office/powerpoint/2010/main" val="3589170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system vs Master Data Configuration</a:t>
            </a:r>
            <a:br>
              <a:rPr lang="en-US"/>
            </a:br>
            <a:r>
              <a:rPr lang="en-US"/>
              <a:t>PE VS PMS ?</a:t>
            </a:r>
          </a:p>
          <a:p>
            <a:r>
              <a:rPr lang="en-US"/>
              <a:t>Footnotes: Each phase will have several iteration</a:t>
            </a:r>
            <a:br>
              <a:rPr lang="en-US"/>
            </a:br>
            <a:r>
              <a:rPr lang="en-US"/>
              <a:t>Agile event for user’s involvement should be included in </a:t>
            </a:r>
            <a:br>
              <a:rPr lang="en-US"/>
            </a:br>
            <a:endParaRPr lang="en-US"/>
          </a:p>
        </p:txBody>
      </p:sp>
      <p:sp>
        <p:nvSpPr>
          <p:cNvPr id="4" name="Slide Number Placeholder 3"/>
          <p:cNvSpPr>
            <a:spLocks noGrp="1"/>
          </p:cNvSpPr>
          <p:nvPr>
            <p:ph type="sldNum" sz="quarter" idx="5"/>
          </p:nvPr>
        </p:nvSpPr>
        <p:spPr/>
        <p:txBody>
          <a:bodyPr/>
          <a:lstStyle/>
          <a:p>
            <a:fld id="{7367D88D-A21D-45DE-8152-A906F75528A4}" type="slidenum">
              <a:rPr lang="en-GB" smtClean="0"/>
              <a:t>73</a:t>
            </a:fld>
            <a:endParaRPr lang="en-GB"/>
          </a:p>
        </p:txBody>
      </p:sp>
    </p:spTree>
    <p:extLst>
      <p:ext uri="{BB962C8B-B14F-4D97-AF65-F5344CB8AC3E}">
        <p14:creationId xmlns:p14="http://schemas.microsoft.com/office/powerpoint/2010/main" val="3294180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4BB8E-4185-5238-A5E7-3843A1321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4B0E5-EEF8-5108-912C-78F41BDB6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F0BBB-138C-E3BD-EB5A-2FC5AB6CFB79}"/>
              </a:ext>
            </a:extLst>
          </p:cNvPr>
          <p:cNvSpPr>
            <a:spLocks noGrp="1"/>
          </p:cNvSpPr>
          <p:nvPr>
            <p:ph type="body" idx="1"/>
          </p:nvPr>
        </p:nvSpPr>
        <p:spPr/>
        <p:txBody>
          <a:bodyPr/>
          <a:lstStyle/>
          <a:p>
            <a:r>
              <a:rPr lang="en-US"/>
              <a:t>Core system vs Master Data Configuration</a:t>
            </a:r>
            <a:br>
              <a:rPr lang="en-US"/>
            </a:br>
            <a:r>
              <a:rPr lang="en-US"/>
              <a:t>PE VS PMS ?</a:t>
            </a:r>
          </a:p>
          <a:p>
            <a:r>
              <a:rPr lang="en-US"/>
              <a:t>Footnotes: Each phase will have several iteration</a:t>
            </a:r>
            <a:br>
              <a:rPr lang="en-US"/>
            </a:br>
            <a:r>
              <a:rPr lang="en-US"/>
              <a:t>Agile event for user’s involvement should be included in </a:t>
            </a:r>
            <a:br>
              <a:rPr lang="en-US"/>
            </a:br>
            <a:endParaRPr lang="en-US"/>
          </a:p>
        </p:txBody>
      </p:sp>
      <p:sp>
        <p:nvSpPr>
          <p:cNvPr id="4" name="Slide Number Placeholder 3">
            <a:extLst>
              <a:ext uri="{FF2B5EF4-FFF2-40B4-BE49-F238E27FC236}">
                <a16:creationId xmlns:a16="http://schemas.microsoft.com/office/drawing/2014/main" id="{7AF37E21-791F-4099-3193-114233DC0446}"/>
              </a:ext>
            </a:extLst>
          </p:cNvPr>
          <p:cNvSpPr>
            <a:spLocks noGrp="1"/>
          </p:cNvSpPr>
          <p:nvPr>
            <p:ph type="sldNum" sz="quarter" idx="5"/>
          </p:nvPr>
        </p:nvSpPr>
        <p:spPr/>
        <p:txBody>
          <a:bodyPr/>
          <a:lstStyle/>
          <a:p>
            <a:fld id="{7367D88D-A21D-45DE-8152-A906F75528A4}" type="slidenum">
              <a:rPr lang="en-GB" smtClean="0"/>
              <a:t>74</a:t>
            </a:fld>
            <a:endParaRPr lang="en-GB"/>
          </a:p>
        </p:txBody>
      </p:sp>
    </p:spTree>
    <p:extLst>
      <p:ext uri="{BB962C8B-B14F-4D97-AF65-F5344CB8AC3E}">
        <p14:creationId xmlns:p14="http://schemas.microsoft.com/office/powerpoint/2010/main" val="3664367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CD6E6-A91F-2BCA-A035-4BF3B180D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60740-8CC7-659A-643E-E98D66023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B9051-B00E-9231-6656-B031B68ADBFE}"/>
              </a:ext>
            </a:extLst>
          </p:cNvPr>
          <p:cNvSpPr>
            <a:spLocks noGrp="1"/>
          </p:cNvSpPr>
          <p:nvPr>
            <p:ph type="body" idx="1"/>
          </p:nvPr>
        </p:nvSpPr>
        <p:spPr/>
        <p:txBody>
          <a:bodyPr/>
          <a:lstStyle/>
          <a:p>
            <a:br>
              <a:rPr lang="en-US"/>
            </a:br>
            <a:endParaRPr lang="en-US"/>
          </a:p>
        </p:txBody>
      </p:sp>
      <p:sp>
        <p:nvSpPr>
          <p:cNvPr id="4" name="Slide Number Placeholder 3">
            <a:extLst>
              <a:ext uri="{FF2B5EF4-FFF2-40B4-BE49-F238E27FC236}">
                <a16:creationId xmlns:a16="http://schemas.microsoft.com/office/drawing/2014/main" id="{35F4DFDC-2A58-23E2-D057-1DC0C76B848A}"/>
              </a:ext>
            </a:extLst>
          </p:cNvPr>
          <p:cNvSpPr>
            <a:spLocks noGrp="1"/>
          </p:cNvSpPr>
          <p:nvPr>
            <p:ph type="sldNum" sz="quarter" idx="5"/>
          </p:nvPr>
        </p:nvSpPr>
        <p:spPr/>
        <p:txBody>
          <a:bodyPr/>
          <a:lstStyle/>
          <a:p>
            <a:fld id="{7367D88D-A21D-45DE-8152-A906F75528A4}" type="slidenum">
              <a:rPr lang="en-GB" smtClean="0"/>
              <a:t>75</a:t>
            </a:fld>
            <a:endParaRPr lang="en-GB"/>
          </a:p>
        </p:txBody>
      </p:sp>
    </p:spTree>
    <p:extLst>
      <p:ext uri="{BB962C8B-B14F-4D97-AF65-F5344CB8AC3E}">
        <p14:creationId xmlns:p14="http://schemas.microsoft.com/office/powerpoint/2010/main" val="17227263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5522F-6350-2078-85B4-949164377341}"/>
              </a:ext>
            </a:extLst>
          </p:cNvPr>
          <p:cNvSpPr>
            <a:spLocks noGrp="1"/>
          </p:cNvSpPr>
          <p:nvPr>
            <p:ph type="title"/>
          </p:nvPr>
        </p:nvSpPr>
        <p:spPr>
          <a:xfrm>
            <a:off x="681038" y="125282"/>
            <a:ext cx="8543925" cy="710252"/>
          </a:xfrm>
        </p:spPr>
        <p:txBody>
          <a:bodyPr>
            <a:normAutofit/>
          </a:bodyPr>
          <a:lstStyle>
            <a:lvl1pPr>
              <a:defRPr sz="2925">
                <a:latin typeface="Helvetica Neue" panose="02000503000000020004"/>
              </a:defRPr>
            </a:lvl1pPr>
          </a:lstStyle>
          <a:p>
            <a:r>
              <a:rPr lang="en-US"/>
              <a:t>Click to edit Master title style</a:t>
            </a:r>
          </a:p>
        </p:txBody>
      </p:sp>
      <p:sp>
        <p:nvSpPr>
          <p:cNvPr id="3" name="Date Placeholder 2">
            <a:extLst>
              <a:ext uri="{FF2B5EF4-FFF2-40B4-BE49-F238E27FC236}">
                <a16:creationId xmlns:a16="http://schemas.microsoft.com/office/drawing/2014/main" id="{96DB6A95-539A-F819-3F6E-11C49BEC5E0E}"/>
              </a:ext>
            </a:extLst>
          </p:cNvPr>
          <p:cNvSpPr>
            <a:spLocks noGrp="1"/>
          </p:cNvSpPr>
          <p:nvPr>
            <p:ph type="dt" sz="half" idx="10"/>
          </p:nvPr>
        </p:nvSpPr>
        <p:spPr/>
        <p:txBody>
          <a:bodyPr/>
          <a:lstStyle/>
          <a:p>
            <a:fld id="{EF2451C9-4511-4BEE-B3BD-C1D8DE2DA731}" type="datetimeFigureOut">
              <a:rPr lang="en-US" smtClean="0"/>
              <a:t>4/27/2026</a:t>
            </a:fld>
            <a:endParaRPr lang="en-US"/>
          </a:p>
        </p:txBody>
      </p:sp>
      <p:sp>
        <p:nvSpPr>
          <p:cNvPr id="4" name="Footer Placeholder 3">
            <a:extLst>
              <a:ext uri="{FF2B5EF4-FFF2-40B4-BE49-F238E27FC236}">
                <a16:creationId xmlns:a16="http://schemas.microsoft.com/office/drawing/2014/main" id="{5C96347B-5B64-3CC3-211B-7A3566AD69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AB5361-F4C3-0A7B-9F56-5C86EA1745C1}"/>
              </a:ext>
            </a:extLst>
          </p:cNvPr>
          <p:cNvSpPr>
            <a:spLocks noGrp="1"/>
          </p:cNvSpPr>
          <p:nvPr>
            <p:ph type="sldNum" sz="quarter" idx="12"/>
          </p:nvPr>
        </p:nvSpPr>
        <p:spPr/>
        <p:txBody>
          <a:bodyPr/>
          <a:lstStyle/>
          <a:p>
            <a:fld id="{FBC4C1A3-9B6B-42BF-83EB-5E3F96E47583}" type="slidenum">
              <a:rPr lang="en-US" smtClean="0"/>
              <a:t>‹#›</a:t>
            </a:fld>
            <a:endParaRPr lang="en-US"/>
          </a:p>
        </p:txBody>
      </p:sp>
      <p:sp>
        <p:nvSpPr>
          <p:cNvPr id="7" name="Rectangle 6">
            <a:extLst>
              <a:ext uri="{FF2B5EF4-FFF2-40B4-BE49-F238E27FC236}">
                <a16:creationId xmlns:a16="http://schemas.microsoft.com/office/drawing/2014/main" id="{685FDE45-531A-A51A-1BF2-A52107679881}"/>
              </a:ext>
            </a:extLst>
          </p:cNvPr>
          <p:cNvSpPr/>
          <p:nvPr userDrawn="1"/>
        </p:nvSpPr>
        <p:spPr>
          <a:xfrm>
            <a:off x="0" y="0"/>
            <a:ext cx="503535" cy="685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63"/>
          </a:p>
        </p:txBody>
      </p:sp>
      <p:sp>
        <p:nvSpPr>
          <p:cNvPr id="8" name="TextBox 7">
            <a:extLst>
              <a:ext uri="{FF2B5EF4-FFF2-40B4-BE49-F238E27FC236}">
                <a16:creationId xmlns:a16="http://schemas.microsoft.com/office/drawing/2014/main" id="{C847F67E-D5D6-61C3-2800-72EB4E3DCCC3}"/>
              </a:ext>
            </a:extLst>
          </p:cNvPr>
          <p:cNvSpPr txBox="1"/>
          <p:nvPr userDrawn="1"/>
        </p:nvSpPr>
        <p:spPr>
          <a:xfrm rot="16200000">
            <a:off x="-2615695" y="3304014"/>
            <a:ext cx="5844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tab pos="928688" algn="l"/>
                <a:tab pos="3203972" algn="l"/>
              </a:tabLst>
              <a:defRPr/>
            </a:pPr>
            <a:r>
              <a:rPr lang="en-US" sz="1000" b="1" spc="122">
                <a:latin typeface="+mn-lt"/>
                <a:ea typeface="Helvetica Neue" panose="02000503000000020004" pitchFamily="2" charset="0"/>
                <a:cs typeface="Helvetica Neue" panose="02000503000000020004" pitchFamily="2" charset="0"/>
              </a:rPr>
              <a:t>[MMKSI]</a:t>
            </a:r>
            <a:r>
              <a:rPr lang="en-US" sz="1000" spc="122">
                <a:latin typeface="+mn-lt"/>
                <a:ea typeface="Helvetica Neue" panose="02000503000000020004" pitchFamily="2" charset="0"/>
                <a:cs typeface="Helvetica Neue" panose="02000503000000020004" pitchFamily="2" charset="0"/>
              </a:rPr>
              <a:t> 	</a:t>
            </a:r>
            <a:r>
              <a:rPr lang="en-US" sz="1000" b="1" spc="122">
                <a:latin typeface="+mn-lt"/>
                <a:ea typeface="Helvetica Neue" panose="02000503000000020004" pitchFamily="2" charset="0"/>
                <a:cs typeface="Calibri"/>
              </a:rPr>
              <a:t>NEW HRD SYSTEM</a:t>
            </a:r>
            <a:r>
              <a:rPr lang="fr-FR" sz="1000" spc="122">
                <a:latin typeface="+mn-lt"/>
                <a:ea typeface="Helvetica Neue" panose="02000503000000020004" pitchFamily="2" charset="0"/>
                <a:cs typeface="Helvetica Neue" panose="02000503000000020004" pitchFamily="2" charset="0"/>
              </a:rPr>
              <a:t>	</a:t>
            </a:r>
            <a:endParaRPr lang="en-US" sz="1000" spc="122">
              <a:highlight>
                <a:srgbClr val="FFFF00"/>
              </a:highlight>
              <a:latin typeface="+mn-lt"/>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E6546F7A-4D00-AE3E-2CC0-38896AA719C9}"/>
              </a:ext>
            </a:extLst>
          </p:cNvPr>
          <p:cNvSpPr txBox="1"/>
          <p:nvPr userDrawn="1"/>
        </p:nvSpPr>
        <p:spPr>
          <a:xfrm>
            <a:off x="129611" y="6480081"/>
            <a:ext cx="298519" cy="392415"/>
          </a:xfrm>
          <a:prstGeom prst="rect">
            <a:avLst/>
          </a:prstGeom>
          <a:noFill/>
        </p:spPr>
        <p:txBody>
          <a:bodyPr wrap="square" rtlCol="0">
            <a:spAutoFit/>
          </a:bodyPr>
          <a:lstStyle/>
          <a:p>
            <a:fld id="{98084C29-2734-4352-81DF-ED544AFCF884}" type="slidenum">
              <a:rPr lang="en-US" sz="975" i="0" smtClean="0"/>
              <a:t>‹#›</a:t>
            </a:fld>
            <a:endParaRPr lang="en-US" sz="975" i="0"/>
          </a:p>
        </p:txBody>
      </p:sp>
      <p:cxnSp>
        <p:nvCxnSpPr>
          <p:cNvPr id="24" name="Straight Connector 23">
            <a:extLst>
              <a:ext uri="{FF2B5EF4-FFF2-40B4-BE49-F238E27FC236}">
                <a16:creationId xmlns:a16="http://schemas.microsoft.com/office/drawing/2014/main" id="{DA1F3890-8906-4792-2558-D2D37C670D24}"/>
              </a:ext>
            </a:extLst>
          </p:cNvPr>
          <p:cNvCxnSpPr/>
          <p:nvPr userDrawn="1"/>
        </p:nvCxnSpPr>
        <p:spPr>
          <a:xfrm>
            <a:off x="772668" y="816483"/>
            <a:ext cx="8039913"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 name="Picture 5" descr="A picture containing graphics, graphic design, design&#10;&#10;Description automatically generated">
            <a:extLst>
              <a:ext uri="{FF2B5EF4-FFF2-40B4-BE49-F238E27FC236}">
                <a16:creationId xmlns:a16="http://schemas.microsoft.com/office/drawing/2014/main" id="{AB0DE3E4-9007-2E1E-E3C9-E329204658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3047"/>
          <a:stretch/>
        </p:blipFill>
        <p:spPr>
          <a:xfrm>
            <a:off x="8955672" y="110392"/>
            <a:ext cx="766836" cy="706091"/>
          </a:xfrm>
          <a:prstGeom prst="rect">
            <a:avLst/>
          </a:prstGeom>
        </p:spPr>
      </p:pic>
    </p:spTree>
    <p:extLst>
      <p:ext uri="{BB962C8B-B14F-4D97-AF65-F5344CB8AC3E}">
        <p14:creationId xmlns:p14="http://schemas.microsoft.com/office/powerpoint/2010/main" val="14904866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236" y="905164"/>
            <a:ext cx="9025764" cy="5550908"/>
          </a:xfrm>
          <a:prstGeom prst="rect">
            <a:avLst/>
          </a:prstGeom>
        </p:spPr>
        <p:txBody>
          <a:bodyPr/>
          <a:lstStyle/>
          <a:p>
            <a:pPr lvl="0"/>
            <a:r>
              <a:rPr lang="en-US"/>
              <a:t>Edit Master text styles</a:t>
            </a:r>
          </a:p>
          <a:p>
            <a:pPr lvl="1"/>
            <a:r>
              <a:rPr lang="en-US"/>
              <a:t>Second level</a:t>
            </a:r>
          </a:p>
          <a:p>
            <a:pPr lvl="3"/>
            <a:r>
              <a:rPr lang="en-US"/>
              <a:t>Third level</a:t>
            </a:r>
          </a:p>
          <a:p>
            <a:pPr lvl="4"/>
            <a:r>
              <a:rPr lang="en-US"/>
              <a:t>Fourth level</a:t>
            </a:r>
          </a:p>
          <a:p>
            <a:pPr lvl="5"/>
            <a:r>
              <a:rPr lang="en-US"/>
              <a:t>Fifth level</a:t>
            </a:r>
          </a:p>
        </p:txBody>
      </p:sp>
      <p:sp>
        <p:nvSpPr>
          <p:cNvPr id="4" name="Date Placeholder 3">
            <a:extLst>
              <a:ext uri="{FF2B5EF4-FFF2-40B4-BE49-F238E27FC236}">
                <a16:creationId xmlns:a16="http://schemas.microsoft.com/office/drawing/2014/main" id="{0CC57296-D799-4AB2-B718-B058D1734CDA}"/>
              </a:ext>
            </a:extLst>
          </p:cNvPr>
          <p:cNvSpPr>
            <a:spLocks noGrp="1"/>
          </p:cNvSpPr>
          <p:nvPr>
            <p:ph type="dt" sz="half" idx="10"/>
          </p:nvPr>
        </p:nvSpPr>
        <p:spPr>
          <a:xfrm>
            <a:off x="547727" y="6521781"/>
            <a:ext cx="1876476" cy="261610"/>
          </a:xfrm>
          <a:prstGeom prst="rect">
            <a:avLst/>
          </a:prstGeom>
        </p:spPr>
        <p:txBody>
          <a:bodyPr/>
          <a:lstStyle/>
          <a:p>
            <a:r>
              <a:rPr lang="en-US" i="1">
                <a:solidFill>
                  <a:srgbClr val="7F7F7F"/>
                </a:solidFill>
              </a:rPr>
              <a:t>Document Title</a:t>
            </a:r>
          </a:p>
        </p:txBody>
      </p:sp>
      <p:sp>
        <p:nvSpPr>
          <p:cNvPr id="5" name="Footer Placeholder 4">
            <a:extLst>
              <a:ext uri="{FF2B5EF4-FFF2-40B4-BE49-F238E27FC236}">
                <a16:creationId xmlns:a16="http://schemas.microsoft.com/office/drawing/2014/main" id="{E444792F-BE8A-4DE5-9E2A-5CFC1B45A599}"/>
              </a:ext>
            </a:extLst>
          </p:cNvPr>
          <p:cNvSpPr>
            <a:spLocks noGrp="1"/>
          </p:cNvSpPr>
          <p:nvPr>
            <p:ph type="ftr" sz="quarter" idx="11"/>
          </p:nvPr>
        </p:nvSpPr>
        <p:spPr>
          <a:xfrm>
            <a:off x="3916003" y="6521781"/>
            <a:ext cx="2863284" cy="261610"/>
          </a:xfrm>
          <a:prstGeom prst="rect">
            <a:avLst/>
          </a:prstGeom>
        </p:spPr>
        <p:txBody>
          <a:bodyPr/>
          <a:lstStyle/>
          <a:p>
            <a:r>
              <a:rPr lang="en-US" i="1">
                <a:solidFill>
                  <a:srgbClr val="7F7F7F"/>
                </a:solidFill>
              </a:rPr>
              <a:t>Confidential - MMKSI and BSI Internal Use Only</a:t>
            </a:r>
          </a:p>
        </p:txBody>
      </p:sp>
      <p:sp>
        <p:nvSpPr>
          <p:cNvPr id="6" name="Slide Number Placeholder 5">
            <a:extLst>
              <a:ext uri="{FF2B5EF4-FFF2-40B4-BE49-F238E27FC236}">
                <a16:creationId xmlns:a16="http://schemas.microsoft.com/office/drawing/2014/main" id="{24CB71B8-06BD-4CE3-9018-FA84B4206360}"/>
              </a:ext>
            </a:extLst>
          </p:cNvPr>
          <p:cNvSpPr>
            <a:spLocks noGrp="1"/>
          </p:cNvSpPr>
          <p:nvPr>
            <p:ph type="sldNum" sz="quarter" idx="12"/>
          </p:nvPr>
        </p:nvSpPr>
        <p:spPr>
          <a:xfrm>
            <a:off x="8936103" y="6475599"/>
            <a:ext cx="606897" cy="261610"/>
          </a:xfrm>
          <a:prstGeom prst="rect">
            <a:avLst/>
          </a:prstGeom>
        </p:spPr>
        <p:txBody>
          <a:bodyPr/>
          <a:lstStyle/>
          <a:p>
            <a:r>
              <a:rPr lang="en-GB"/>
              <a:t> Page </a:t>
            </a:r>
            <a:fld id="{7A555EF9-59E7-4D74-815B-7A20869232EE}" type="slidenum">
              <a:rPr lang="en-GB" smtClean="0"/>
              <a:pPr/>
              <a:t>‹#›</a:t>
            </a:fld>
            <a:endParaRPr lang="en-GB"/>
          </a:p>
        </p:txBody>
      </p:sp>
      <p:sp>
        <p:nvSpPr>
          <p:cNvPr id="7" name="Rectangle 6">
            <a:extLst>
              <a:ext uri="{FF2B5EF4-FFF2-40B4-BE49-F238E27FC236}">
                <a16:creationId xmlns:a16="http://schemas.microsoft.com/office/drawing/2014/main" id="{BB1D6FC8-BFF8-4927-B033-DAB2D592EE79}"/>
              </a:ext>
            </a:extLst>
          </p:cNvPr>
          <p:cNvSpPr/>
          <p:nvPr userDrawn="1"/>
        </p:nvSpPr>
        <p:spPr>
          <a:xfrm>
            <a:off x="1" y="0"/>
            <a:ext cx="503535" cy="685800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63"/>
          </a:p>
        </p:txBody>
      </p:sp>
      <p:sp>
        <p:nvSpPr>
          <p:cNvPr id="8" name="TextBox 7">
            <a:extLst>
              <a:ext uri="{FF2B5EF4-FFF2-40B4-BE49-F238E27FC236}">
                <a16:creationId xmlns:a16="http://schemas.microsoft.com/office/drawing/2014/main" id="{AA031FEB-4F21-2BB2-085E-73626717BB1D}"/>
              </a:ext>
            </a:extLst>
          </p:cNvPr>
          <p:cNvSpPr txBox="1"/>
          <p:nvPr userDrawn="1"/>
        </p:nvSpPr>
        <p:spPr>
          <a:xfrm>
            <a:off x="60384" y="6480081"/>
            <a:ext cx="503535" cy="214226"/>
          </a:xfrm>
          <a:prstGeom prst="rect">
            <a:avLst/>
          </a:prstGeom>
          <a:noFill/>
        </p:spPr>
        <p:txBody>
          <a:bodyPr wrap="square" rtlCol="0">
            <a:spAutoFit/>
          </a:bodyPr>
          <a:lstStyle/>
          <a:p>
            <a:pPr algn="ctr"/>
            <a:fld id="{98084C29-2734-4352-81DF-ED544AFCF884}" type="slidenum">
              <a:rPr lang="en-US" sz="792" b="0" i="0" smtClean="0"/>
              <a:pPr algn="ctr"/>
              <a:t>‹#›</a:t>
            </a:fld>
            <a:endParaRPr lang="en-US" sz="792" b="0" i="0"/>
          </a:p>
        </p:txBody>
      </p:sp>
      <p:cxnSp>
        <p:nvCxnSpPr>
          <p:cNvPr id="11" name="Straight Connector 10">
            <a:extLst>
              <a:ext uri="{FF2B5EF4-FFF2-40B4-BE49-F238E27FC236}">
                <a16:creationId xmlns:a16="http://schemas.microsoft.com/office/drawing/2014/main" id="{BB2DBBE6-979B-3645-658E-5EF014DB8F34}"/>
              </a:ext>
            </a:extLst>
          </p:cNvPr>
          <p:cNvCxnSpPr/>
          <p:nvPr userDrawn="1"/>
        </p:nvCxnSpPr>
        <p:spPr>
          <a:xfrm>
            <a:off x="772668" y="816483"/>
            <a:ext cx="8039913"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B60E2E0-4A05-8B69-A26F-F4B37383905A}"/>
              </a:ext>
            </a:extLst>
          </p:cNvPr>
          <p:cNvSpPr txBox="1"/>
          <p:nvPr userDrawn="1"/>
        </p:nvSpPr>
        <p:spPr>
          <a:xfrm rot="16200000">
            <a:off x="-2615695" y="3304014"/>
            <a:ext cx="5844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tab pos="928688" algn="l"/>
                <a:tab pos="3203972" algn="l"/>
              </a:tabLst>
              <a:defRPr/>
            </a:pPr>
            <a:r>
              <a:rPr lang="en-US" sz="1000" b="1" spc="122">
                <a:latin typeface="+mn-lt"/>
                <a:ea typeface="Helvetica Neue" panose="02000503000000020004" pitchFamily="2" charset="0"/>
                <a:cs typeface="Helvetica Neue" panose="02000503000000020004" pitchFamily="2" charset="0"/>
              </a:rPr>
              <a:t>[MMKSI]</a:t>
            </a:r>
            <a:r>
              <a:rPr lang="en-US" sz="1000" spc="122">
                <a:latin typeface="+mn-lt"/>
                <a:ea typeface="Helvetica Neue" panose="02000503000000020004" pitchFamily="2" charset="0"/>
                <a:cs typeface="Helvetica Neue" panose="02000503000000020004" pitchFamily="2" charset="0"/>
              </a:rPr>
              <a:t> 	</a:t>
            </a:r>
            <a:r>
              <a:rPr lang="en-US" sz="1000" b="1" spc="122">
                <a:latin typeface="+mn-lt"/>
                <a:ea typeface="Helvetica Neue" panose="02000503000000020004" pitchFamily="2" charset="0"/>
                <a:cs typeface="Calibri"/>
              </a:rPr>
              <a:t>NEW HRD SYSTEM</a:t>
            </a:r>
            <a:r>
              <a:rPr lang="fr-FR" sz="1000" spc="122">
                <a:latin typeface="+mn-lt"/>
                <a:ea typeface="Helvetica Neue" panose="02000503000000020004" pitchFamily="2" charset="0"/>
                <a:cs typeface="Helvetica Neue" panose="02000503000000020004" pitchFamily="2" charset="0"/>
              </a:rPr>
              <a:t>	</a:t>
            </a:r>
            <a:endParaRPr lang="en-US" sz="1000" spc="122">
              <a:highlight>
                <a:srgbClr val="FFFF00"/>
              </a:highlight>
              <a:latin typeface="+mn-lt"/>
              <a:ea typeface="Helvetica Neue" panose="02000503000000020004" pitchFamily="2" charset="0"/>
              <a:cs typeface="Helvetica Neue" panose="02000503000000020004" pitchFamily="2" charset="0"/>
            </a:endParaRPr>
          </a:p>
        </p:txBody>
      </p:sp>
      <p:pic>
        <p:nvPicPr>
          <p:cNvPr id="14" name="Picture 13" descr="A picture containing graphics, graphic design, design&#10;&#10;Description automatically generated">
            <a:extLst>
              <a:ext uri="{FF2B5EF4-FFF2-40B4-BE49-F238E27FC236}">
                <a16:creationId xmlns:a16="http://schemas.microsoft.com/office/drawing/2014/main" id="{7AE317E3-2AFA-2F85-7274-5C08676CB37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3047"/>
          <a:stretch/>
        </p:blipFill>
        <p:spPr>
          <a:xfrm>
            <a:off x="8955672" y="110392"/>
            <a:ext cx="766836" cy="706091"/>
          </a:xfrm>
          <a:prstGeom prst="rect">
            <a:avLst/>
          </a:prstGeom>
        </p:spPr>
      </p:pic>
    </p:spTree>
    <p:extLst>
      <p:ext uri="{BB962C8B-B14F-4D97-AF65-F5344CB8AC3E}">
        <p14:creationId xmlns:p14="http://schemas.microsoft.com/office/powerpoint/2010/main" val="22623462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DFCD2-6810-9850-497C-4F0229EE9A5B}"/>
              </a:ext>
            </a:extLst>
          </p:cNvPr>
          <p:cNvSpPr>
            <a:spLocks noGrp="1"/>
          </p:cNvSpPr>
          <p:nvPr>
            <p:ph type="ctrTitle"/>
          </p:nvPr>
        </p:nvSpPr>
        <p:spPr>
          <a:xfrm>
            <a:off x="1238250" y="1122363"/>
            <a:ext cx="7429500" cy="2387600"/>
          </a:xfrm>
        </p:spPr>
        <p:txBody>
          <a:bodyPr anchor="b"/>
          <a:lstStyle>
            <a:lvl1pPr algn="ctr">
              <a:defRPr sz="4875"/>
            </a:lvl1pPr>
          </a:lstStyle>
          <a:p>
            <a:r>
              <a:rPr lang="en-US"/>
              <a:t>Click to edit Master title style</a:t>
            </a:r>
          </a:p>
        </p:txBody>
      </p:sp>
      <p:sp>
        <p:nvSpPr>
          <p:cNvPr id="3" name="Subtitle 2">
            <a:extLst>
              <a:ext uri="{FF2B5EF4-FFF2-40B4-BE49-F238E27FC236}">
                <a16:creationId xmlns:a16="http://schemas.microsoft.com/office/drawing/2014/main" id="{40623202-3846-BFF1-88F9-FD19425863AB}"/>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4" name="Date Placeholder 3">
            <a:extLst>
              <a:ext uri="{FF2B5EF4-FFF2-40B4-BE49-F238E27FC236}">
                <a16:creationId xmlns:a16="http://schemas.microsoft.com/office/drawing/2014/main" id="{C667B2C6-3E27-00D8-47C1-D154FC57CA47}"/>
              </a:ext>
            </a:extLst>
          </p:cNvPr>
          <p:cNvSpPr>
            <a:spLocks noGrp="1"/>
          </p:cNvSpPr>
          <p:nvPr>
            <p:ph type="dt" sz="half" idx="10"/>
          </p:nvPr>
        </p:nvSpPr>
        <p:spPr/>
        <p:txBody>
          <a:bodyPr/>
          <a:lstStyle/>
          <a:p>
            <a:fld id="{EF2451C9-4511-4BEE-B3BD-C1D8DE2DA731}" type="datetimeFigureOut">
              <a:rPr lang="en-US" smtClean="0"/>
              <a:t>4/27/2026</a:t>
            </a:fld>
            <a:endParaRPr lang="en-US"/>
          </a:p>
        </p:txBody>
      </p:sp>
      <p:sp>
        <p:nvSpPr>
          <p:cNvPr id="5" name="Footer Placeholder 4">
            <a:extLst>
              <a:ext uri="{FF2B5EF4-FFF2-40B4-BE49-F238E27FC236}">
                <a16:creationId xmlns:a16="http://schemas.microsoft.com/office/drawing/2014/main" id="{1BE51BF1-3012-F445-BF32-4A28D65236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9A82A-5AFB-F1CD-1179-F2D386840A7A}"/>
              </a:ext>
            </a:extLst>
          </p:cNvPr>
          <p:cNvSpPr>
            <a:spLocks noGrp="1"/>
          </p:cNvSpPr>
          <p:nvPr>
            <p:ph type="sldNum" sz="quarter" idx="12"/>
          </p:nvPr>
        </p:nvSpPr>
        <p:spPr/>
        <p:txBody>
          <a:bodyPr/>
          <a:lstStyle/>
          <a:p>
            <a:fld id="{FBC4C1A3-9B6B-42BF-83EB-5E3F96E47583}" type="slidenum">
              <a:rPr lang="en-US" smtClean="0"/>
              <a:t>‹#›</a:t>
            </a:fld>
            <a:endParaRPr lang="en-US"/>
          </a:p>
        </p:txBody>
      </p:sp>
    </p:spTree>
    <p:extLst>
      <p:ext uri="{BB962C8B-B14F-4D97-AF65-F5344CB8AC3E}">
        <p14:creationId xmlns:p14="http://schemas.microsoft.com/office/powerpoint/2010/main" val="30936782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236" y="905164"/>
            <a:ext cx="9025764" cy="5550908"/>
          </a:xfrm>
          <a:prstGeom prst="rect">
            <a:avLst/>
          </a:prstGeom>
        </p:spPr>
        <p:txBody>
          <a:bodyPr/>
          <a:lstStyle/>
          <a:p>
            <a:pPr lvl="0"/>
            <a:r>
              <a:rPr lang="en-US"/>
              <a:t>Edit Master text styles</a:t>
            </a:r>
          </a:p>
          <a:p>
            <a:pPr lvl="1"/>
            <a:r>
              <a:rPr lang="en-US"/>
              <a:t>Second level</a:t>
            </a:r>
          </a:p>
          <a:p>
            <a:pPr lvl="3"/>
            <a:r>
              <a:rPr lang="en-US"/>
              <a:t>Third level</a:t>
            </a:r>
          </a:p>
          <a:p>
            <a:pPr lvl="4"/>
            <a:r>
              <a:rPr lang="en-US"/>
              <a:t>Fourth level</a:t>
            </a:r>
          </a:p>
          <a:p>
            <a:pPr lvl="5"/>
            <a:r>
              <a:rPr lang="en-US"/>
              <a:t>Fifth level</a:t>
            </a:r>
          </a:p>
        </p:txBody>
      </p:sp>
      <p:sp>
        <p:nvSpPr>
          <p:cNvPr id="4" name="Date Placeholder 3">
            <a:extLst>
              <a:ext uri="{FF2B5EF4-FFF2-40B4-BE49-F238E27FC236}">
                <a16:creationId xmlns:a16="http://schemas.microsoft.com/office/drawing/2014/main" id="{0CC57296-D799-4AB2-B718-B058D1734CDA}"/>
              </a:ext>
            </a:extLst>
          </p:cNvPr>
          <p:cNvSpPr>
            <a:spLocks noGrp="1"/>
          </p:cNvSpPr>
          <p:nvPr>
            <p:ph type="dt" sz="half" idx="10"/>
          </p:nvPr>
        </p:nvSpPr>
        <p:spPr>
          <a:xfrm>
            <a:off x="547727" y="6521781"/>
            <a:ext cx="1876476" cy="261610"/>
          </a:xfrm>
          <a:prstGeom prst="rect">
            <a:avLst/>
          </a:prstGeom>
        </p:spPr>
        <p:txBody>
          <a:bodyPr/>
          <a:lstStyle/>
          <a:p>
            <a:r>
              <a:rPr lang="en-US" i="1">
                <a:solidFill>
                  <a:srgbClr val="7F7F7F"/>
                </a:solidFill>
              </a:rPr>
              <a:t>Document Title</a:t>
            </a:r>
          </a:p>
        </p:txBody>
      </p:sp>
      <p:sp>
        <p:nvSpPr>
          <p:cNvPr id="5" name="Footer Placeholder 4">
            <a:extLst>
              <a:ext uri="{FF2B5EF4-FFF2-40B4-BE49-F238E27FC236}">
                <a16:creationId xmlns:a16="http://schemas.microsoft.com/office/drawing/2014/main" id="{E444792F-BE8A-4DE5-9E2A-5CFC1B45A599}"/>
              </a:ext>
            </a:extLst>
          </p:cNvPr>
          <p:cNvSpPr>
            <a:spLocks noGrp="1"/>
          </p:cNvSpPr>
          <p:nvPr>
            <p:ph type="ftr" sz="quarter" idx="11"/>
          </p:nvPr>
        </p:nvSpPr>
        <p:spPr>
          <a:xfrm>
            <a:off x="3916003" y="6521781"/>
            <a:ext cx="2863284" cy="261610"/>
          </a:xfrm>
          <a:prstGeom prst="rect">
            <a:avLst/>
          </a:prstGeom>
        </p:spPr>
        <p:txBody>
          <a:bodyPr/>
          <a:lstStyle/>
          <a:p>
            <a:r>
              <a:rPr lang="en-US" i="1">
                <a:solidFill>
                  <a:srgbClr val="7F7F7F"/>
                </a:solidFill>
              </a:rPr>
              <a:t>Confidential - MMKSI and BSI Internal Use Only</a:t>
            </a:r>
          </a:p>
        </p:txBody>
      </p:sp>
      <p:sp>
        <p:nvSpPr>
          <p:cNvPr id="6" name="Slide Number Placeholder 5">
            <a:extLst>
              <a:ext uri="{FF2B5EF4-FFF2-40B4-BE49-F238E27FC236}">
                <a16:creationId xmlns:a16="http://schemas.microsoft.com/office/drawing/2014/main" id="{24CB71B8-06BD-4CE3-9018-FA84B4206360}"/>
              </a:ext>
            </a:extLst>
          </p:cNvPr>
          <p:cNvSpPr>
            <a:spLocks noGrp="1"/>
          </p:cNvSpPr>
          <p:nvPr>
            <p:ph type="sldNum" sz="quarter" idx="12"/>
          </p:nvPr>
        </p:nvSpPr>
        <p:spPr>
          <a:xfrm>
            <a:off x="8936103" y="6475599"/>
            <a:ext cx="606897" cy="261610"/>
          </a:xfrm>
          <a:prstGeom prst="rect">
            <a:avLst/>
          </a:prstGeom>
        </p:spPr>
        <p:txBody>
          <a:bodyPr/>
          <a:lstStyle/>
          <a:p>
            <a:r>
              <a:rPr lang="en-GB"/>
              <a:t> Page </a:t>
            </a:r>
            <a:fld id="{7A555EF9-59E7-4D74-815B-7A20869232EE}" type="slidenum">
              <a:rPr lang="en-GB" smtClean="0"/>
              <a:pPr/>
              <a:t>‹#›</a:t>
            </a:fld>
            <a:endParaRPr lang="en-GB"/>
          </a:p>
        </p:txBody>
      </p:sp>
      <p:sp>
        <p:nvSpPr>
          <p:cNvPr id="7" name="Rectangle 6">
            <a:extLst>
              <a:ext uri="{FF2B5EF4-FFF2-40B4-BE49-F238E27FC236}">
                <a16:creationId xmlns:a16="http://schemas.microsoft.com/office/drawing/2014/main" id="{BB1D6FC8-BFF8-4927-B033-DAB2D592EE79}"/>
              </a:ext>
            </a:extLst>
          </p:cNvPr>
          <p:cNvSpPr/>
          <p:nvPr userDrawn="1"/>
        </p:nvSpPr>
        <p:spPr>
          <a:xfrm>
            <a:off x="1" y="0"/>
            <a:ext cx="503535" cy="685800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63"/>
          </a:p>
        </p:txBody>
      </p:sp>
      <p:sp>
        <p:nvSpPr>
          <p:cNvPr id="8" name="TextBox 7">
            <a:extLst>
              <a:ext uri="{FF2B5EF4-FFF2-40B4-BE49-F238E27FC236}">
                <a16:creationId xmlns:a16="http://schemas.microsoft.com/office/drawing/2014/main" id="{AA031FEB-4F21-2BB2-085E-73626717BB1D}"/>
              </a:ext>
            </a:extLst>
          </p:cNvPr>
          <p:cNvSpPr txBox="1"/>
          <p:nvPr userDrawn="1"/>
        </p:nvSpPr>
        <p:spPr>
          <a:xfrm>
            <a:off x="60384" y="6480081"/>
            <a:ext cx="503535" cy="214226"/>
          </a:xfrm>
          <a:prstGeom prst="rect">
            <a:avLst/>
          </a:prstGeom>
          <a:noFill/>
        </p:spPr>
        <p:txBody>
          <a:bodyPr wrap="square" rtlCol="0">
            <a:spAutoFit/>
          </a:bodyPr>
          <a:lstStyle/>
          <a:p>
            <a:pPr algn="ctr"/>
            <a:fld id="{98084C29-2734-4352-81DF-ED544AFCF884}" type="slidenum">
              <a:rPr lang="en-US" sz="792" b="0" i="0" smtClean="0"/>
              <a:pPr algn="ctr"/>
              <a:t>‹#›</a:t>
            </a:fld>
            <a:endParaRPr lang="en-US" sz="792" b="0" i="0"/>
          </a:p>
        </p:txBody>
      </p:sp>
      <p:cxnSp>
        <p:nvCxnSpPr>
          <p:cNvPr id="11" name="Straight Connector 10">
            <a:extLst>
              <a:ext uri="{FF2B5EF4-FFF2-40B4-BE49-F238E27FC236}">
                <a16:creationId xmlns:a16="http://schemas.microsoft.com/office/drawing/2014/main" id="{BB2DBBE6-979B-3645-658E-5EF014DB8F34}"/>
              </a:ext>
            </a:extLst>
          </p:cNvPr>
          <p:cNvCxnSpPr/>
          <p:nvPr userDrawn="1"/>
        </p:nvCxnSpPr>
        <p:spPr>
          <a:xfrm>
            <a:off x="772668" y="816483"/>
            <a:ext cx="8039913"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B60E2E0-4A05-8B69-A26F-F4B37383905A}"/>
              </a:ext>
            </a:extLst>
          </p:cNvPr>
          <p:cNvSpPr txBox="1"/>
          <p:nvPr userDrawn="1"/>
        </p:nvSpPr>
        <p:spPr>
          <a:xfrm rot="16200000">
            <a:off x="-2615695" y="3304014"/>
            <a:ext cx="5844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tab pos="928688" algn="l"/>
                <a:tab pos="3203972" algn="l"/>
              </a:tabLst>
              <a:defRPr/>
            </a:pPr>
            <a:r>
              <a:rPr lang="en-US" sz="1000" b="1" spc="122">
                <a:latin typeface="+mn-lt"/>
                <a:ea typeface="Helvetica Neue" panose="02000503000000020004" pitchFamily="2" charset="0"/>
                <a:cs typeface="Helvetica Neue" panose="02000503000000020004" pitchFamily="2" charset="0"/>
              </a:rPr>
              <a:t>[MMKSI]</a:t>
            </a:r>
            <a:r>
              <a:rPr lang="en-US" sz="1000" spc="122">
                <a:latin typeface="+mn-lt"/>
                <a:ea typeface="Helvetica Neue" panose="02000503000000020004" pitchFamily="2" charset="0"/>
                <a:cs typeface="Helvetica Neue" panose="02000503000000020004" pitchFamily="2" charset="0"/>
              </a:rPr>
              <a:t> 	</a:t>
            </a:r>
            <a:r>
              <a:rPr lang="en-US" sz="1000" b="1" spc="122">
                <a:latin typeface="+mn-lt"/>
                <a:ea typeface="Helvetica Neue" panose="02000503000000020004" pitchFamily="2" charset="0"/>
                <a:cs typeface="Calibri"/>
              </a:rPr>
              <a:t>NEW HRD SYSTEM</a:t>
            </a:r>
            <a:r>
              <a:rPr lang="fr-FR" sz="1000" spc="122">
                <a:latin typeface="+mn-lt"/>
                <a:ea typeface="Helvetica Neue" panose="02000503000000020004" pitchFamily="2" charset="0"/>
                <a:cs typeface="Helvetica Neue" panose="02000503000000020004" pitchFamily="2" charset="0"/>
              </a:rPr>
              <a:t>	</a:t>
            </a:r>
            <a:endParaRPr lang="en-US" sz="1000" spc="122">
              <a:highlight>
                <a:srgbClr val="FFFF00"/>
              </a:highlight>
              <a:latin typeface="+mn-lt"/>
              <a:ea typeface="Helvetica Neue" panose="02000503000000020004" pitchFamily="2" charset="0"/>
              <a:cs typeface="Helvetica Neue" panose="02000503000000020004" pitchFamily="2" charset="0"/>
            </a:endParaRPr>
          </a:p>
        </p:txBody>
      </p:sp>
      <p:pic>
        <p:nvPicPr>
          <p:cNvPr id="14" name="Picture 13" descr="A picture containing graphics, graphic design, design&#10;&#10;Description automatically generated">
            <a:extLst>
              <a:ext uri="{FF2B5EF4-FFF2-40B4-BE49-F238E27FC236}">
                <a16:creationId xmlns:a16="http://schemas.microsoft.com/office/drawing/2014/main" id="{7AE317E3-2AFA-2F85-7274-5C08676CB37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3047"/>
          <a:stretch/>
        </p:blipFill>
        <p:spPr>
          <a:xfrm>
            <a:off x="8955672" y="110392"/>
            <a:ext cx="766836" cy="706091"/>
          </a:xfrm>
          <a:prstGeom prst="rect">
            <a:avLst/>
          </a:prstGeom>
        </p:spPr>
      </p:pic>
    </p:spTree>
    <p:extLst>
      <p:ext uri="{BB962C8B-B14F-4D97-AF65-F5344CB8AC3E}">
        <p14:creationId xmlns:p14="http://schemas.microsoft.com/office/powerpoint/2010/main" val="14141751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18459-47B1-85CF-42EC-1D22688DC925}"/>
              </a:ext>
            </a:extLst>
          </p:cNvPr>
          <p:cNvSpPr>
            <a:spLocks noGrp="1"/>
          </p:cNvSpPr>
          <p:nvPr>
            <p:ph type="ctrTitle"/>
          </p:nvPr>
        </p:nvSpPr>
        <p:spPr>
          <a:xfrm>
            <a:off x="1238250" y="1122363"/>
            <a:ext cx="7429500" cy="2387600"/>
          </a:xfrm>
        </p:spPr>
        <p:txBody>
          <a:bodyPr anchor="b"/>
          <a:lstStyle>
            <a:lvl1pPr algn="ctr">
              <a:defRPr sz="4875"/>
            </a:lvl1pPr>
          </a:lstStyle>
          <a:p>
            <a:r>
              <a:rPr lang="en-US"/>
              <a:t>Click to edit Master title style</a:t>
            </a:r>
          </a:p>
        </p:txBody>
      </p:sp>
      <p:sp>
        <p:nvSpPr>
          <p:cNvPr id="3" name="Subtitle 2">
            <a:extLst>
              <a:ext uri="{FF2B5EF4-FFF2-40B4-BE49-F238E27FC236}">
                <a16:creationId xmlns:a16="http://schemas.microsoft.com/office/drawing/2014/main" id="{E0308BD5-4894-4729-441C-4C6225A8D0F5}"/>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4" name="Date Placeholder 3">
            <a:extLst>
              <a:ext uri="{FF2B5EF4-FFF2-40B4-BE49-F238E27FC236}">
                <a16:creationId xmlns:a16="http://schemas.microsoft.com/office/drawing/2014/main" id="{85FCCF3F-261C-EA47-C16D-6BB860090C3E}"/>
              </a:ext>
            </a:extLst>
          </p:cNvPr>
          <p:cNvSpPr>
            <a:spLocks noGrp="1"/>
          </p:cNvSpPr>
          <p:nvPr>
            <p:ph type="dt" sz="half" idx="10"/>
          </p:nvPr>
        </p:nvSpPr>
        <p:spPr>
          <a:xfrm>
            <a:off x="898707" y="6475599"/>
            <a:ext cx="706284" cy="261610"/>
          </a:xfrm>
        </p:spPr>
        <p:txBody>
          <a:bodyPr/>
          <a:lstStyle/>
          <a:p>
            <a:fld id="{7009DCD9-7829-43C9-A97D-3A0C43223776}" type="datetimeFigureOut">
              <a:rPr lang="en-US" smtClean="0"/>
              <a:t>4/27/2026</a:t>
            </a:fld>
            <a:endParaRPr lang="en-US"/>
          </a:p>
        </p:txBody>
      </p:sp>
      <p:sp>
        <p:nvSpPr>
          <p:cNvPr id="5" name="Footer Placeholder 4">
            <a:extLst>
              <a:ext uri="{FF2B5EF4-FFF2-40B4-BE49-F238E27FC236}">
                <a16:creationId xmlns:a16="http://schemas.microsoft.com/office/drawing/2014/main" id="{BC208920-1B3E-E465-DB1F-2D7C1002E903}"/>
              </a:ext>
            </a:extLst>
          </p:cNvPr>
          <p:cNvSpPr>
            <a:spLocks noGrp="1"/>
          </p:cNvSpPr>
          <p:nvPr>
            <p:ph type="ftr" sz="quarter" idx="11"/>
          </p:nvPr>
        </p:nvSpPr>
        <p:spPr>
          <a:xfrm>
            <a:off x="5495424" y="6475599"/>
            <a:ext cx="184731" cy="261610"/>
          </a:xfrm>
        </p:spPr>
        <p:txBody>
          <a:bodyPr/>
          <a:lstStyle/>
          <a:p>
            <a:endParaRPr lang="en-US"/>
          </a:p>
        </p:txBody>
      </p:sp>
      <p:sp>
        <p:nvSpPr>
          <p:cNvPr id="6" name="Slide Number Placeholder 5">
            <a:extLst>
              <a:ext uri="{FF2B5EF4-FFF2-40B4-BE49-F238E27FC236}">
                <a16:creationId xmlns:a16="http://schemas.microsoft.com/office/drawing/2014/main" id="{801E545A-E902-2181-7AA6-DD32ADF8576A}"/>
              </a:ext>
            </a:extLst>
          </p:cNvPr>
          <p:cNvSpPr>
            <a:spLocks noGrp="1"/>
          </p:cNvSpPr>
          <p:nvPr>
            <p:ph type="sldNum" sz="quarter" idx="12"/>
          </p:nvPr>
        </p:nvSpPr>
        <p:spPr>
          <a:xfrm>
            <a:off x="9283955" y="6475599"/>
            <a:ext cx="259045" cy="261610"/>
          </a:xfrm>
        </p:spPr>
        <p:txBody>
          <a:bodyPr/>
          <a:lstStyle/>
          <a:p>
            <a:fld id="{5750AA2C-6EEF-494E-BD18-FC6BC4ADA65A}" type="slidenum">
              <a:rPr lang="en-US" smtClean="0"/>
              <a:t>‹#›</a:t>
            </a:fld>
            <a:endParaRPr lang="en-US"/>
          </a:p>
        </p:txBody>
      </p:sp>
    </p:spTree>
    <p:extLst>
      <p:ext uri="{BB962C8B-B14F-4D97-AF65-F5344CB8AC3E}">
        <p14:creationId xmlns:p14="http://schemas.microsoft.com/office/powerpoint/2010/main" val="888516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236" y="905164"/>
            <a:ext cx="9025764" cy="5550908"/>
          </a:xfrm>
          <a:prstGeom prst="rect">
            <a:avLst/>
          </a:prstGeom>
        </p:spPr>
        <p:txBody>
          <a:bodyPr/>
          <a:lstStyle/>
          <a:p>
            <a:pPr lvl="0"/>
            <a:r>
              <a:rPr lang="en-US"/>
              <a:t>Edit Master text styles</a:t>
            </a:r>
          </a:p>
          <a:p>
            <a:pPr lvl="1"/>
            <a:r>
              <a:rPr lang="en-US"/>
              <a:t>Second level</a:t>
            </a:r>
          </a:p>
          <a:p>
            <a:pPr lvl="3"/>
            <a:r>
              <a:rPr lang="en-US"/>
              <a:t>Third level</a:t>
            </a:r>
          </a:p>
          <a:p>
            <a:pPr lvl="4"/>
            <a:r>
              <a:rPr lang="en-US"/>
              <a:t>Fourth level</a:t>
            </a:r>
          </a:p>
          <a:p>
            <a:pPr lvl="5"/>
            <a:r>
              <a:rPr lang="en-US"/>
              <a:t>Fifth level</a:t>
            </a:r>
          </a:p>
        </p:txBody>
      </p:sp>
      <p:sp>
        <p:nvSpPr>
          <p:cNvPr id="4" name="Date Placeholder 3">
            <a:extLst>
              <a:ext uri="{FF2B5EF4-FFF2-40B4-BE49-F238E27FC236}">
                <a16:creationId xmlns:a16="http://schemas.microsoft.com/office/drawing/2014/main" id="{0CC57296-D799-4AB2-B718-B058D1734CDA}"/>
              </a:ext>
            </a:extLst>
          </p:cNvPr>
          <p:cNvSpPr>
            <a:spLocks noGrp="1"/>
          </p:cNvSpPr>
          <p:nvPr>
            <p:ph type="dt" sz="half" idx="10"/>
          </p:nvPr>
        </p:nvSpPr>
        <p:spPr>
          <a:xfrm>
            <a:off x="547727" y="6521781"/>
            <a:ext cx="959558" cy="261610"/>
          </a:xfrm>
          <a:prstGeom prst="rect">
            <a:avLst/>
          </a:prstGeom>
        </p:spPr>
        <p:txBody>
          <a:bodyPr/>
          <a:lstStyle/>
          <a:p>
            <a:r>
              <a:rPr lang="en-US" i="1">
                <a:solidFill>
                  <a:srgbClr val="7F7F7F"/>
                </a:solidFill>
              </a:rPr>
              <a:t>Document Title</a:t>
            </a:r>
          </a:p>
        </p:txBody>
      </p:sp>
      <p:sp>
        <p:nvSpPr>
          <p:cNvPr id="5" name="Footer Placeholder 4">
            <a:extLst>
              <a:ext uri="{FF2B5EF4-FFF2-40B4-BE49-F238E27FC236}">
                <a16:creationId xmlns:a16="http://schemas.microsoft.com/office/drawing/2014/main" id="{E444792F-BE8A-4DE5-9E2A-5CFC1B45A599}"/>
              </a:ext>
            </a:extLst>
          </p:cNvPr>
          <p:cNvSpPr>
            <a:spLocks noGrp="1"/>
          </p:cNvSpPr>
          <p:nvPr>
            <p:ph type="ftr" sz="quarter" idx="11"/>
          </p:nvPr>
        </p:nvSpPr>
        <p:spPr>
          <a:xfrm>
            <a:off x="3916003" y="6521781"/>
            <a:ext cx="2863284" cy="261610"/>
          </a:xfrm>
          <a:prstGeom prst="rect">
            <a:avLst/>
          </a:prstGeom>
        </p:spPr>
        <p:txBody>
          <a:bodyPr/>
          <a:lstStyle/>
          <a:p>
            <a:r>
              <a:rPr lang="en-US" i="1">
                <a:solidFill>
                  <a:srgbClr val="7F7F7F"/>
                </a:solidFill>
              </a:rPr>
              <a:t>Confidential - MMKSI and BSI Internal Use Only</a:t>
            </a:r>
          </a:p>
        </p:txBody>
      </p:sp>
      <p:sp>
        <p:nvSpPr>
          <p:cNvPr id="6" name="Slide Number Placeholder 5">
            <a:extLst>
              <a:ext uri="{FF2B5EF4-FFF2-40B4-BE49-F238E27FC236}">
                <a16:creationId xmlns:a16="http://schemas.microsoft.com/office/drawing/2014/main" id="{24CB71B8-06BD-4CE3-9018-FA84B4206360}"/>
              </a:ext>
            </a:extLst>
          </p:cNvPr>
          <p:cNvSpPr>
            <a:spLocks noGrp="1"/>
          </p:cNvSpPr>
          <p:nvPr>
            <p:ph type="sldNum" sz="quarter" idx="12"/>
          </p:nvPr>
        </p:nvSpPr>
        <p:spPr>
          <a:xfrm>
            <a:off x="8936103" y="6475599"/>
            <a:ext cx="606897" cy="261610"/>
          </a:xfrm>
          <a:prstGeom prst="rect">
            <a:avLst/>
          </a:prstGeom>
        </p:spPr>
        <p:txBody>
          <a:bodyPr/>
          <a:lstStyle/>
          <a:p>
            <a:r>
              <a:rPr lang="en-GB"/>
              <a:t> Page </a:t>
            </a:r>
            <a:fld id="{7A555EF9-59E7-4D74-815B-7A20869232EE}" type="slidenum">
              <a:rPr lang="en-GB" smtClean="0"/>
              <a:pPr/>
              <a:t>‹#›</a:t>
            </a:fld>
            <a:endParaRPr lang="en-GB"/>
          </a:p>
        </p:txBody>
      </p:sp>
      <p:sp>
        <p:nvSpPr>
          <p:cNvPr id="7" name="Rectangle 6">
            <a:extLst>
              <a:ext uri="{FF2B5EF4-FFF2-40B4-BE49-F238E27FC236}">
                <a16:creationId xmlns:a16="http://schemas.microsoft.com/office/drawing/2014/main" id="{BB1D6FC8-BFF8-4927-B033-DAB2D592EE79}"/>
              </a:ext>
            </a:extLst>
          </p:cNvPr>
          <p:cNvSpPr/>
          <p:nvPr userDrawn="1"/>
        </p:nvSpPr>
        <p:spPr>
          <a:xfrm>
            <a:off x="2" y="0"/>
            <a:ext cx="503535" cy="685800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189"/>
          </a:p>
        </p:txBody>
      </p:sp>
      <p:sp>
        <p:nvSpPr>
          <p:cNvPr id="8" name="TextBox 7">
            <a:extLst>
              <a:ext uri="{FF2B5EF4-FFF2-40B4-BE49-F238E27FC236}">
                <a16:creationId xmlns:a16="http://schemas.microsoft.com/office/drawing/2014/main" id="{AA031FEB-4F21-2BB2-085E-73626717BB1D}"/>
              </a:ext>
            </a:extLst>
          </p:cNvPr>
          <p:cNvSpPr txBox="1"/>
          <p:nvPr userDrawn="1"/>
        </p:nvSpPr>
        <p:spPr>
          <a:xfrm>
            <a:off x="60385" y="6480082"/>
            <a:ext cx="503535" cy="191463"/>
          </a:xfrm>
          <a:prstGeom prst="rect">
            <a:avLst/>
          </a:prstGeom>
          <a:noFill/>
        </p:spPr>
        <p:txBody>
          <a:bodyPr wrap="square" rtlCol="0">
            <a:spAutoFit/>
          </a:bodyPr>
          <a:lstStyle/>
          <a:p>
            <a:pPr algn="ctr"/>
            <a:fld id="{98084C29-2734-4352-81DF-ED544AFCF884}" type="slidenum">
              <a:rPr lang="en-US" sz="644" b="0" i="0" smtClean="0"/>
              <a:pPr algn="ctr"/>
              <a:t>‹#›</a:t>
            </a:fld>
            <a:endParaRPr lang="en-US" sz="644" b="0" i="0"/>
          </a:p>
        </p:txBody>
      </p:sp>
      <p:cxnSp>
        <p:nvCxnSpPr>
          <p:cNvPr id="11" name="Straight Connector 10">
            <a:extLst>
              <a:ext uri="{FF2B5EF4-FFF2-40B4-BE49-F238E27FC236}">
                <a16:creationId xmlns:a16="http://schemas.microsoft.com/office/drawing/2014/main" id="{BB2DBBE6-979B-3645-658E-5EF014DB8F34}"/>
              </a:ext>
            </a:extLst>
          </p:cNvPr>
          <p:cNvCxnSpPr/>
          <p:nvPr userDrawn="1"/>
        </p:nvCxnSpPr>
        <p:spPr>
          <a:xfrm>
            <a:off x="772668" y="816483"/>
            <a:ext cx="8039913"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B60E2E0-4A05-8B69-A26F-F4B37383905A}"/>
              </a:ext>
            </a:extLst>
          </p:cNvPr>
          <p:cNvSpPr txBox="1"/>
          <p:nvPr userDrawn="1"/>
        </p:nvSpPr>
        <p:spPr>
          <a:xfrm rot="16200000">
            <a:off x="-2615694" y="3318409"/>
            <a:ext cx="5844597" cy="217432"/>
          </a:xfrm>
          <a:prstGeom prst="rect">
            <a:avLst/>
          </a:prstGeom>
          <a:noFill/>
        </p:spPr>
        <p:txBody>
          <a:bodyPr wrap="square" rtlCol="0">
            <a:spAutoFit/>
          </a:bodyPr>
          <a:lstStyle/>
          <a:p>
            <a:pPr marL="0" marR="0" lvl="0" indent="0" algn="l" defTabSz="371475" rtl="0" eaLnBrk="1" fontAlgn="auto" latinLnBrk="0" hangingPunct="1">
              <a:lnSpc>
                <a:spcPct val="100000"/>
              </a:lnSpc>
              <a:spcBef>
                <a:spcPts val="0"/>
              </a:spcBef>
              <a:spcAft>
                <a:spcPts val="0"/>
              </a:spcAft>
              <a:buClrTx/>
              <a:buSzTx/>
              <a:buFontTx/>
              <a:buNone/>
              <a:tabLst>
                <a:tab pos="754559" algn="l"/>
                <a:tab pos="2603227" algn="l"/>
              </a:tabLst>
              <a:defRPr/>
            </a:pPr>
            <a:r>
              <a:rPr lang="en-US" sz="813" b="1" spc="99">
                <a:latin typeface="+mn-lt"/>
                <a:ea typeface="Helvetica Neue" panose="02000503000000020004" pitchFamily="2" charset="0"/>
                <a:cs typeface="Helvetica Neue" panose="02000503000000020004" pitchFamily="2" charset="0"/>
              </a:rPr>
              <a:t>[MMKSI]</a:t>
            </a:r>
            <a:r>
              <a:rPr lang="en-US" sz="813" spc="99">
                <a:latin typeface="+mn-lt"/>
                <a:ea typeface="Helvetica Neue" panose="02000503000000020004" pitchFamily="2" charset="0"/>
                <a:cs typeface="Helvetica Neue" panose="02000503000000020004" pitchFamily="2" charset="0"/>
              </a:rPr>
              <a:t> 	</a:t>
            </a:r>
            <a:r>
              <a:rPr lang="en-US" sz="813" b="1" spc="99">
                <a:latin typeface="+mn-lt"/>
                <a:ea typeface="Helvetica Neue" panose="02000503000000020004" pitchFamily="2" charset="0"/>
                <a:cs typeface="Calibri"/>
              </a:rPr>
              <a:t>NEW HRD SYSTEM</a:t>
            </a:r>
            <a:r>
              <a:rPr lang="fr-FR" sz="813" spc="99">
                <a:latin typeface="+mn-lt"/>
                <a:ea typeface="Helvetica Neue" panose="02000503000000020004" pitchFamily="2" charset="0"/>
                <a:cs typeface="Helvetica Neue" panose="02000503000000020004" pitchFamily="2" charset="0"/>
              </a:rPr>
              <a:t>	</a:t>
            </a:r>
            <a:endParaRPr lang="en-US" sz="813" spc="99">
              <a:highlight>
                <a:srgbClr val="FFFF00"/>
              </a:highlight>
              <a:latin typeface="+mn-lt"/>
              <a:ea typeface="Helvetica Neue" panose="02000503000000020004" pitchFamily="2" charset="0"/>
              <a:cs typeface="Helvetica Neue" panose="02000503000000020004" pitchFamily="2" charset="0"/>
            </a:endParaRPr>
          </a:p>
        </p:txBody>
      </p:sp>
      <p:pic>
        <p:nvPicPr>
          <p:cNvPr id="14" name="Picture 13" descr="A picture containing graphics, graphic design, design&#10;&#10;Description automatically generated">
            <a:extLst>
              <a:ext uri="{FF2B5EF4-FFF2-40B4-BE49-F238E27FC236}">
                <a16:creationId xmlns:a16="http://schemas.microsoft.com/office/drawing/2014/main" id="{7AE317E3-2AFA-2F85-7274-5C08676CB37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3047"/>
          <a:stretch/>
        </p:blipFill>
        <p:spPr>
          <a:xfrm>
            <a:off x="8955672" y="110394"/>
            <a:ext cx="766836" cy="706091"/>
          </a:xfrm>
          <a:prstGeom prst="rect">
            <a:avLst/>
          </a:prstGeom>
        </p:spPr>
      </p:pic>
    </p:spTree>
    <p:extLst>
      <p:ext uri="{BB962C8B-B14F-4D97-AF65-F5344CB8AC3E}">
        <p14:creationId xmlns:p14="http://schemas.microsoft.com/office/powerpoint/2010/main" val="1004502421"/>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4A2C2-F448-475F-8B47-FBFDC60457B8}"/>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692113-6D2B-883F-0125-25DCC2D13376}"/>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5E369E-3B6B-CDA1-7DE0-B6DEB8664C18}"/>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EF2451C9-4511-4BEE-B3BD-C1D8DE2DA731}" type="datetimeFigureOut">
              <a:rPr lang="en-US" smtClean="0"/>
              <a:t>4/27/2026</a:t>
            </a:fld>
            <a:endParaRPr lang="en-US"/>
          </a:p>
        </p:txBody>
      </p:sp>
      <p:sp>
        <p:nvSpPr>
          <p:cNvPr id="5" name="Footer Placeholder 4">
            <a:extLst>
              <a:ext uri="{FF2B5EF4-FFF2-40B4-BE49-F238E27FC236}">
                <a16:creationId xmlns:a16="http://schemas.microsoft.com/office/drawing/2014/main" id="{B5E254C9-F0E9-B07F-A01C-3828B780930C}"/>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920AE5-BC3B-171C-4B6F-25031ACA27D9}"/>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FBC4C1A3-9B6B-42BF-83EB-5E3F96E47583}" type="slidenum">
              <a:rPr lang="en-US" smtClean="0"/>
              <a:t>‹#›</a:t>
            </a:fld>
            <a:endParaRPr lang="en-US"/>
          </a:p>
        </p:txBody>
      </p:sp>
    </p:spTree>
    <p:extLst>
      <p:ext uri="{BB962C8B-B14F-4D97-AF65-F5344CB8AC3E}">
        <p14:creationId xmlns:p14="http://schemas.microsoft.com/office/powerpoint/2010/main" val="4155098963"/>
      </p:ext>
    </p:extLst>
  </p:cSld>
  <p:clrMap bg1="lt1" tx1="dk1" bg2="lt2" tx2="dk2" accent1="accent1" accent2="accent2" accent3="accent3" accent4="accent4" accent5="accent5" accent6="accent6" hlink="hlink" folHlink="folHlink"/>
  <p:sldLayoutIdLst>
    <p:sldLayoutId id="2147483654" r:id="rId1"/>
    <p:sldLayoutId id="2147483665" r:id="rId2"/>
    <p:sldLayoutId id="214748364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3000" y="136523"/>
            <a:ext cx="9540000" cy="540000"/>
          </a:xfrm>
          <a:prstGeom prst="rect">
            <a:avLst/>
          </a:prstGeom>
          <a:noFill/>
        </p:spPr>
        <p:txBody>
          <a:bodyPr vert="horz" lIns="21600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63000" y="696072"/>
            <a:ext cx="9180000" cy="576000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3"/>
            <a:r>
              <a:rPr lang="en-US"/>
              <a:t>Third level</a:t>
            </a:r>
          </a:p>
          <a:p>
            <a:pPr lvl="4"/>
            <a:r>
              <a:rPr lang="en-US"/>
              <a:t>Fourth level</a:t>
            </a:r>
          </a:p>
          <a:p>
            <a:pPr lvl="5"/>
            <a:r>
              <a:rPr lang="en-US"/>
              <a:t>Fifth level</a:t>
            </a:r>
          </a:p>
        </p:txBody>
      </p:sp>
      <p:sp>
        <p:nvSpPr>
          <p:cNvPr id="10" name="Date Placeholder 3">
            <a:extLst>
              <a:ext uri="{FF2B5EF4-FFF2-40B4-BE49-F238E27FC236}">
                <a16:creationId xmlns:a16="http://schemas.microsoft.com/office/drawing/2014/main" id="{3F53E9D6-C3BF-4F86-83B0-8837744411A5}"/>
              </a:ext>
            </a:extLst>
          </p:cNvPr>
          <p:cNvSpPr>
            <a:spLocks noGrp="1"/>
          </p:cNvSpPr>
          <p:nvPr>
            <p:ph type="dt" sz="half" idx="2"/>
          </p:nvPr>
        </p:nvSpPr>
        <p:spPr>
          <a:xfrm>
            <a:off x="898707" y="6475599"/>
            <a:ext cx="1876476" cy="261610"/>
          </a:xfrm>
          <a:prstGeom prst="rect">
            <a:avLst/>
          </a:prstGeom>
        </p:spPr>
        <p:txBody>
          <a:bodyPr wrap="none" lIns="0" anchor="ctr">
            <a:spAutoFit/>
          </a:bodyPr>
          <a:lstStyle>
            <a:lvl1pPr>
              <a:defRPr sz="1100"/>
            </a:lvl1pPr>
          </a:lstStyle>
          <a:p>
            <a:r>
              <a:rPr lang="en-US" i="1">
                <a:solidFill>
                  <a:srgbClr val="7F7F7F"/>
                </a:solidFill>
              </a:rPr>
              <a:t>Document Title</a:t>
            </a:r>
          </a:p>
        </p:txBody>
      </p:sp>
      <p:sp>
        <p:nvSpPr>
          <p:cNvPr id="11" name="Footer Placeholder 4">
            <a:extLst>
              <a:ext uri="{FF2B5EF4-FFF2-40B4-BE49-F238E27FC236}">
                <a16:creationId xmlns:a16="http://schemas.microsoft.com/office/drawing/2014/main" id="{4E9E663F-DDB6-460E-B7B0-801EB8785B0B}"/>
              </a:ext>
            </a:extLst>
          </p:cNvPr>
          <p:cNvSpPr>
            <a:spLocks noGrp="1"/>
          </p:cNvSpPr>
          <p:nvPr>
            <p:ph type="ftr" sz="quarter" idx="3"/>
          </p:nvPr>
        </p:nvSpPr>
        <p:spPr>
          <a:xfrm>
            <a:off x="4156148" y="6475599"/>
            <a:ext cx="2863284" cy="261610"/>
          </a:xfrm>
          <a:prstGeom prst="rect">
            <a:avLst/>
          </a:prstGeom>
        </p:spPr>
        <p:txBody>
          <a:bodyPr wrap="none" anchor="ctr">
            <a:spAutoFit/>
          </a:bodyPr>
          <a:lstStyle>
            <a:lvl1pPr algn="ctr">
              <a:defRPr sz="1100" b="0"/>
            </a:lvl1pPr>
          </a:lstStyle>
          <a:p>
            <a:r>
              <a:rPr lang="en-US" i="1">
                <a:solidFill>
                  <a:srgbClr val="7F7F7F"/>
                </a:solidFill>
              </a:rPr>
              <a:t>Confidential - MMKSI and BSI Internal Use Only</a:t>
            </a:r>
          </a:p>
        </p:txBody>
      </p:sp>
      <p:sp>
        <p:nvSpPr>
          <p:cNvPr id="12" name="Slide Number Placeholder 5">
            <a:extLst>
              <a:ext uri="{FF2B5EF4-FFF2-40B4-BE49-F238E27FC236}">
                <a16:creationId xmlns:a16="http://schemas.microsoft.com/office/drawing/2014/main" id="{FB37D4A5-279F-4367-B05C-5DD6B604F07F}"/>
              </a:ext>
            </a:extLst>
          </p:cNvPr>
          <p:cNvSpPr>
            <a:spLocks noGrp="1"/>
          </p:cNvSpPr>
          <p:nvPr>
            <p:ph type="sldNum" sz="quarter" idx="4"/>
          </p:nvPr>
        </p:nvSpPr>
        <p:spPr>
          <a:xfrm>
            <a:off x="8936103" y="6475599"/>
            <a:ext cx="606897" cy="261610"/>
          </a:xfrm>
          <a:prstGeom prst="rect">
            <a:avLst/>
          </a:prstGeom>
        </p:spPr>
        <p:txBody>
          <a:bodyPr wrap="none" rIns="0" anchor="ctr">
            <a:spAutoFit/>
          </a:bodyPr>
          <a:lstStyle>
            <a:lvl1pPr algn="r">
              <a:defRPr lang="en-GB" sz="1100" i="1" smtClean="0">
                <a:solidFill>
                  <a:srgbClr val="7F7F7F"/>
                </a:solidFill>
              </a:defRPr>
            </a:lvl1pPr>
          </a:lstStyle>
          <a:p>
            <a:r>
              <a:rPr lang="en-GB"/>
              <a:t> Page </a:t>
            </a:r>
            <a:fld id="{7A555EF9-59E7-4D74-815B-7A20869232EE}" type="slidenum">
              <a:rPr smtClean="0"/>
              <a:pPr/>
              <a:t>‹#›</a:t>
            </a:fld>
            <a:endParaRPr/>
          </a:p>
        </p:txBody>
      </p:sp>
    </p:spTree>
    <p:extLst>
      <p:ext uri="{BB962C8B-B14F-4D97-AF65-F5344CB8AC3E}">
        <p14:creationId xmlns:p14="http://schemas.microsoft.com/office/powerpoint/2010/main" val="1089557288"/>
      </p:ext>
    </p:extLst>
  </p:cSld>
  <p:clrMap bg1="lt1" tx1="dk1" bg2="lt2" tx2="dk2" accent1="accent1" accent2="accent2" accent3="accent3" accent4="accent4" accent5="accent5" accent6="accent6" hlink="hlink" folHlink="folHlink"/>
  <p:sldLayoutIdLst>
    <p:sldLayoutId id="2147483664" r:id="rId1"/>
    <p:sldLayoutId id="2147483666" r:id="rId2"/>
    <p:sldLayoutId id="2147483667" r:id="rId3"/>
  </p:sldLayoutIdLst>
  <p:hf hdr="0"/>
  <p:txStyles>
    <p:title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p:titleStyle>
    <p:bodyStyle>
      <a:lvl1pPr marL="174625" indent="-174625" algn="l" defTabSz="914400" rtl="0" eaLnBrk="1" latinLnBrk="0" hangingPunct="1">
        <a:lnSpc>
          <a:spcPct val="114000"/>
        </a:lnSpc>
        <a:spcBef>
          <a:spcPts val="0"/>
        </a:spcBef>
        <a:buFont typeface="Arial" panose="020B0604020202020204" pitchFamily="34" charset="0"/>
        <a:buChar char="•"/>
        <a:tabLst/>
        <a:defRPr sz="1600" kern="1200">
          <a:solidFill>
            <a:schemeClr val="tx1"/>
          </a:solidFill>
          <a:latin typeface="Calibri" panose="020F0502020204030204" pitchFamily="34" charset="0"/>
          <a:ea typeface="+mn-ea"/>
          <a:cs typeface="Calibri" panose="020F0502020204030204" pitchFamily="34" charset="0"/>
        </a:defRPr>
      </a:lvl1pPr>
      <a:lvl2pPr marL="363538" indent="-188913" algn="l" defTabSz="914400" rtl="0" eaLnBrk="1" latinLnBrk="0" hangingPunct="1">
        <a:lnSpc>
          <a:spcPct val="114000"/>
        </a:lnSpc>
        <a:spcBef>
          <a:spcPts val="0"/>
        </a:spcBef>
        <a:buFont typeface="Arial" panose="020B0604020202020204" pitchFamily="34" charset="0"/>
        <a:buChar char="•"/>
        <a:tabLst/>
        <a:defRPr sz="1400" kern="1200">
          <a:solidFill>
            <a:schemeClr val="tx1"/>
          </a:solidFill>
          <a:latin typeface="Calibri" panose="020F0502020204030204" pitchFamily="34" charset="0"/>
          <a:ea typeface="+mn-ea"/>
          <a:cs typeface="Calibri" panose="020F0502020204030204" pitchFamily="34" charset="0"/>
        </a:defRPr>
      </a:lvl2pPr>
      <a:lvl3pPr marL="631825" indent="-187325" algn="l" defTabSz="914400" rtl="0" eaLnBrk="1" latinLnBrk="0" hangingPunct="1">
        <a:lnSpc>
          <a:spcPct val="114000"/>
        </a:lnSpc>
        <a:spcBef>
          <a:spcPts val="0"/>
        </a:spcBef>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3pPr>
      <a:lvl4pPr marL="538163" indent="-174625" algn="l" defTabSz="914400" rtl="0" eaLnBrk="1" latinLnBrk="0" hangingPunct="1">
        <a:lnSpc>
          <a:spcPct val="114000"/>
        </a:lnSpc>
        <a:spcBef>
          <a:spcPts val="0"/>
        </a:spcBef>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4pPr>
      <a:lvl5pPr marL="712788" indent="-174625" algn="l" defTabSz="914400" rtl="0" eaLnBrk="1" latinLnBrk="0" hangingPunct="1">
        <a:lnSpc>
          <a:spcPct val="114000"/>
        </a:lnSpc>
        <a:spcBef>
          <a:spcPts val="0"/>
        </a:spcBef>
        <a:buFont typeface="Arial" panose="020B0604020202020204" pitchFamily="34" charset="0"/>
        <a:buChar char="•"/>
        <a:tabLst/>
        <a:defRPr sz="1400" kern="1200">
          <a:solidFill>
            <a:schemeClr val="tx1"/>
          </a:solidFill>
          <a:latin typeface="Calibri" panose="020F0502020204030204" pitchFamily="34" charset="0"/>
          <a:ea typeface="+mn-ea"/>
          <a:cs typeface="Calibri" panose="020F0502020204030204" pitchFamily="34" charset="0"/>
        </a:defRPr>
      </a:lvl5pPr>
      <a:lvl6pPr marL="901700" indent="-188913" algn="l" defTabSz="914400" rtl="0" eaLnBrk="1" latinLnBrk="0" hangingPunct="1">
        <a:lnSpc>
          <a:spcPct val="90000"/>
        </a:lnSpc>
        <a:spcBef>
          <a:spcPts val="500"/>
        </a:spcBef>
        <a:buFont typeface="Arial" panose="020B0604020202020204" pitchFamily="34" charset="0"/>
        <a:buChar char="•"/>
        <a:tabLs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58_5CF9FE08.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18/10/relationships/comments" Target="../comments/modernComment_CB3_1E9B921E.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microsoft.com/office/2018/10/relationships/comments" Target="../comments/modernComment_7FFE5C78_2A26DD7D.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CC3_5E749B80.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7FFE5C8F_E3967E7F.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7FFE5C70_B7D9275D.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microsoft.com/office/2018/10/relationships/comments" Target="../comments/modernComment_7FFE5C71_1032F7C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microsoft.com/office/2018/10/relationships/comments" Target="../comments/modernComment_7FFE5C8C_FBB83F4D.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microsoft.com/office/2018/10/relationships/comments" Target="../comments/modernComment_7FFE5C8E_6DF98EC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microsoft.com/office/2018/10/relationships/comments" Target="../comments/modernComment_7FFE5C84_36F9318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microsoft.com/office/2018/10/relationships/comments" Target="../comments/modernComment_15A_2C3E35A.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microsoft.com/office/2018/10/relationships/comments" Target="../comments/modernComment_7FFE5C72_9C39271.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8/10/relationships/comments" Target="../comments/modernComment_171_6EE853FC.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microsoft.com/office/2018/10/relationships/comments" Target="../comments/modernComment_C91_24E2B0E8.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968CD75-0D4B-7B35-445D-C693D3567E05}"/>
              </a:ext>
            </a:extLst>
          </p:cNvPr>
          <p:cNvGrpSpPr/>
          <p:nvPr/>
        </p:nvGrpSpPr>
        <p:grpSpPr>
          <a:xfrm>
            <a:off x="5159945" y="1388661"/>
            <a:ext cx="4303567" cy="1570235"/>
            <a:chOff x="6665719" y="2217585"/>
            <a:chExt cx="5303520" cy="1197762"/>
          </a:xfrm>
        </p:grpSpPr>
        <p:sp>
          <p:nvSpPr>
            <p:cNvPr id="7" name="TextBox 6">
              <a:extLst>
                <a:ext uri="{FF2B5EF4-FFF2-40B4-BE49-F238E27FC236}">
                  <a16:creationId xmlns:a16="http://schemas.microsoft.com/office/drawing/2014/main" id="{0850D2E8-6173-2BEF-5D4E-61D1AA17AE70}"/>
                </a:ext>
              </a:extLst>
            </p:cNvPr>
            <p:cNvSpPr txBox="1"/>
            <p:nvPr/>
          </p:nvSpPr>
          <p:spPr>
            <a:xfrm>
              <a:off x="6692717" y="2411888"/>
              <a:ext cx="5276521" cy="808488"/>
            </a:xfrm>
            <a:prstGeom prst="rect">
              <a:avLst/>
            </a:prstGeom>
            <a:noFill/>
            <a:ln>
              <a:noFill/>
            </a:ln>
          </p:spPr>
          <p:txBody>
            <a:bodyPr wrap="square" lIns="74295" tIns="37148" rIns="74295" bIns="37148" anchor="t">
              <a:spAutoFit/>
            </a:bodyPr>
            <a:lstStyle/>
            <a:p>
              <a:pPr algn="ctr"/>
              <a:r>
                <a:rPr lang="en-US" sz="3200" b="1">
                  <a:cs typeface="Calibri"/>
                </a:rPr>
                <a:t>MMKSI</a:t>
              </a:r>
            </a:p>
            <a:p>
              <a:pPr algn="ctr"/>
              <a:r>
                <a:rPr lang="en-US" sz="3200" b="1">
                  <a:cs typeface="Calibri"/>
                </a:rPr>
                <a:t>NEW HRD SYSTEM</a:t>
              </a:r>
            </a:p>
          </p:txBody>
        </p:sp>
        <p:cxnSp>
          <p:nvCxnSpPr>
            <p:cNvPr id="8" name="Straight Connector 7">
              <a:extLst>
                <a:ext uri="{FF2B5EF4-FFF2-40B4-BE49-F238E27FC236}">
                  <a16:creationId xmlns:a16="http://schemas.microsoft.com/office/drawing/2014/main" id="{03A2BD7B-22C6-3A73-B3AD-DDCE4EF3FE11}"/>
                </a:ext>
              </a:extLst>
            </p:cNvPr>
            <p:cNvCxnSpPr>
              <a:cxnSpLocks/>
            </p:cNvCxnSpPr>
            <p:nvPr/>
          </p:nvCxnSpPr>
          <p:spPr>
            <a:xfrm>
              <a:off x="6665719" y="2372475"/>
              <a:ext cx="0" cy="1042872"/>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DCF53F6-E497-DAA8-7736-20ED270721B6}"/>
                </a:ext>
              </a:extLst>
            </p:cNvPr>
            <p:cNvCxnSpPr>
              <a:cxnSpLocks/>
            </p:cNvCxnSpPr>
            <p:nvPr/>
          </p:nvCxnSpPr>
          <p:spPr>
            <a:xfrm flipH="1">
              <a:off x="6665722" y="2252127"/>
              <a:ext cx="2104898"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811357D-702E-0FDA-CADE-3398A6784038}"/>
                </a:ext>
              </a:extLst>
            </p:cNvPr>
            <p:cNvCxnSpPr>
              <a:cxnSpLocks/>
            </p:cNvCxnSpPr>
            <p:nvPr/>
          </p:nvCxnSpPr>
          <p:spPr>
            <a:xfrm>
              <a:off x="6665719" y="2217585"/>
              <a:ext cx="0" cy="883754"/>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5A6950E-1981-41C6-A0B2-4BD3ACAEBAA2}"/>
                </a:ext>
              </a:extLst>
            </p:cNvPr>
            <p:cNvCxnSpPr>
              <a:cxnSpLocks/>
            </p:cNvCxnSpPr>
            <p:nvPr/>
          </p:nvCxnSpPr>
          <p:spPr>
            <a:xfrm>
              <a:off x="11969239" y="2372475"/>
              <a:ext cx="0" cy="1042872"/>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2DC0BD-80F0-FA07-9B54-8CC4E362BC71}"/>
                </a:ext>
              </a:extLst>
            </p:cNvPr>
            <p:cNvCxnSpPr>
              <a:cxnSpLocks/>
            </p:cNvCxnSpPr>
            <p:nvPr/>
          </p:nvCxnSpPr>
          <p:spPr>
            <a:xfrm>
              <a:off x="11969239" y="2226062"/>
              <a:ext cx="0" cy="875277"/>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B06BD04-ED1F-394B-FB0A-DEE029481A28}"/>
                </a:ext>
              </a:extLst>
            </p:cNvPr>
            <p:cNvCxnSpPr>
              <a:cxnSpLocks/>
            </p:cNvCxnSpPr>
            <p:nvPr/>
          </p:nvCxnSpPr>
          <p:spPr>
            <a:xfrm flipH="1">
              <a:off x="9864341" y="2252127"/>
              <a:ext cx="2104898"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19FF72-7B0C-A294-ACC8-E5CAAE62A47B}"/>
                </a:ext>
              </a:extLst>
            </p:cNvPr>
            <p:cNvCxnSpPr>
              <a:cxnSpLocks/>
            </p:cNvCxnSpPr>
            <p:nvPr/>
          </p:nvCxnSpPr>
          <p:spPr>
            <a:xfrm flipH="1">
              <a:off x="6665722" y="3380136"/>
              <a:ext cx="2104898"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4DA034-B870-79A3-9B6D-67F48BE7BB16}"/>
                </a:ext>
              </a:extLst>
            </p:cNvPr>
            <p:cNvCxnSpPr>
              <a:cxnSpLocks/>
            </p:cNvCxnSpPr>
            <p:nvPr/>
          </p:nvCxnSpPr>
          <p:spPr>
            <a:xfrm flipH="1">
              <a:off x="9864341" y="3380136"/>
              <a:ext cx="2104898"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33775A34-714D-0BDA-3417-FB97E38DB95C}"/>
              </a:ext>
            </a:extLst>
          </p:cNvPr>
          <p:cNvSpPr txBox="1"/>
          <p:nvPr/>
        </p:nvSpPr>
        <p:spPr>
          <a:xfrm>
            <a:off x="5247745" y="5786803"/>
            <a:ext cx="4149873" cy="687946"/>
          </a:xfrm>
          <a:prstGeom prst="rect">
            <a:avLst/>
          </a:prstGeom>
          <a:noFill/>
        </p:spPr>
        <p:txBody>
          <a:bodyPr wrap="square" lIns="74295" tIns="37148" rIns="74295" bIns="37148" anchor="t">
            <a:spAutoFit/>
          </a:bodyPr>
          <a:lstStyle/>
          <a:p>
            <a:pPr algn="ctr">
              <a:lnSpc>
                <a:spcPct val="150000"/>
              </a:lnSpc>
            </a:pPr>
            <a:r>
              <a:rPr lang="en-US" sz="1400" b="1">
                <a:solidFill>
                  <a:sysClr val="windowText" lastClr="000000"/>
                </a:solidFill>
                <a:latin typeface="Calibri"/>
                <a:cs typeface="Calibri"/>
              </a:rPr>
              <a:t>26 March 2026</a:t>
            </a:r>
          </a:p>
          <a:p>
            <a:pPr algn="ctr">
              <a:lnSpc>
                <a:spcPct val="150000"/>
              </a:lnSpc>
            </a:pPr>
            <a:r>
              <a:rPr lang="en-US" sz="1400" b="1">
                <a:solidFill>
                  <a:sysClr val="windowText" lastClr="000000"/>
                </a:solidFill>
                <a:latin typeface="Calibri"/>
                <a:cs typeface="Calibri"/>
              </a:rPr>
              <a:t>Proposal No: </a:t>
            </a:r>
            <a:r>
              <a:rPr lang="it-IT" sz="1400" b="1">
                <a:solidFill>
                  <a:sysClr val="windowText" lastClr="000000"/>
                </a:solidFill>
                <a:latin typeface="Calibri"/>
                <a:cs typeface="Calibri"/>
              </a:rPr>
              <a:t>001/PROP.BSI/AOI/IV/26</a:t>
            </a:r>
            <a:endParaRPr lang="en-US" sz="1400" b="1">
              <a:solidFill>
                <a:sysClr val="windowText" lastClr="000000"/>
              </a:solidFill>
              <a:latin typeface="Calibri"/>
              <a:cs typeface="Calibri"/>
            </a:endParaRPr>
          </a:p>
        </p:txBody>
      </p:sp>
      <p:sp>
        <p:nvSpPr>
          <p:cNvPr id="18" name="TextBox 1">
            <a:extLst>
              <a:ext uri="{FF2B5EF4-FFF2-40B4-BE49-F238E27FC236}">
                <a16:creationId xmlns:a16="http://schemas.microsoft.com/office/drawing/2014/main" id="{8EBF5745-6F4D-8E2E-894B-DC92417D26C7}"/>
              </a:ext>
            </a:extLst>
          </p:cNvPr>
          <p:cNvSpPr txBox="1"/>
          <p:nvPr/>
        </p:nvSpPr>
        <p:spPr>
          <a:xfrm>
            <a:off x="6208258" y="725570"/>
            <a:ext cx="2228850" cy="321243"/>
          </a:xfrm>
          <a:prstGeom prst="rect">
            <a:avLst/>
          </a:prstGeom>
          <a:noFill/>
        </p:spPr>
        <p:txBody>
          <a:bodyPr rot="0" spcFirstLastPara="0" vert="horz" wrap="square" lIns="74295" tIns="37148" rIns="74295" bIns="37148"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SG" sz="1600" b="1">
                <a:solidFill>
                  <a:sysClr val="windowText" lastClr="000000"/>
                </a:solidFill>
                <a:cs typeface="Segoe UI"/>
              </a:rPr>
              <a:t>PROPOSAL</a:t>
            </a:r>
          </a:p>
        </p:txBody>
      </p:sp>
      <p:sp>
        <p:nvSpPr>
          <p:cNvPr id="19" name="TextBox 2">
            <a:extLst>
              <a:ext uri="{FF2B5EF4-FFF2-40B4-BE49-F238E27FC236}">
                <a16:creationId xmlns:a16="http://schemas.microsoft.com/office/drawing/2014/main" id="{5971F51D-A58F-1CBD-9D79-02FE2921019E}"/>
              </a:ext>
            </a:extLst>
          </p:cNvPr>
          <p:cNvSpPr txBox="1"/>
          <p:nvPr/>
        </p:nvSpPr>
        <p:spPr>
          <a:xfrm>
            <a:off x="4829652" y="3041789"/>
            <a:ext cx="4986064" cy="2547493"/>
          </a:xfrm>
          <a:prstGeom prst="rect">
            <a:avLst/>
          </a:prstGeom>
          <a:noFill/>
        </p:spPr>
        <p:txBody>
          <a:bodyPr rot="0" spcFirstLastPara="0" vert="horz" wrap="square" lIns="74295" tIns="37148" rIns="74295" bIns="37148"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b="1">
                <a:solidFill>
                  <a:sysClr val="windowText" lastClr="000000"/>
                </a:solidFill>
                <a:cs typeface="Segoe UI"/>
              </a:rPr>
              <a:t>Proposed to:​</a:t>
            </a:r>
          </a:p>
          <a:p>
            <a:pPr algn="ctr">
              <a:lnSpc>
                <a:spcPct val="150000"/>
              </a:lnSpc>
            </a:pPr>
            <a:r>
              <a:rPr lang="sv-SE" b="1">
                <a:solidFill>
                  <a:sysClr val="windowText" lastClr="000000"/>
                </a:solidFill>
                <a:cs typeface="Segoe UI"/>
              </a:rPr>
              <a:t>PT Mitsubishi Motors Krama Yudha Sales Indonesia</a:t>
            </a:r>
          </a:p>
          <a:p>
            <a:pPr algn="ctr">
              <a:lnSpc>
                <a:spcPct val="150000"/>
              </a:lnSpc>
            </a:pPr>
            <a:r>
              <a:rPr lang="sv-SE" b="1">
                <a:solidFill>
                  <a:sysClr val="windowText" lastClr="000000"/>
                </a:solidFill>
                <a:cs typeface="Segoe UI"/>
              </a:rPr>
              <a:t>(MMKSI)​</a:t>
            </a:r>
            <a:endParaRPr lang="en-US" b="1">
              <a:solidFill>
                <a:sysClr val="windowText" lastClr="000000"/>
              </a:solidFill>
              <a:cs typeface="Segoe UI"/>
            </a:endParaRPr>
          </a:p>
          <a:p>
            <a:pPr algn="ctr">
              <a:lnSpc>
                <a:spcPct val="150000"/>
              </a:lnSpc>
              <a:spcBef>
                <a:spcPts val="488"/>
              </a:spcBef>
            </a:pPr>
            <a:r>
              <a:rPr lang="en-US" sz="1400" b="1">
                <a:solidFill>
                  <a:sysClr val="windowText" lastClr="000000"/>
                </a:solidFill>
                <a:cs typeface="Segoe UI"/>
              </a:rPr>
              <a:t>Attn:</a:t>
            </a:r>
          </a:p>
          <a:p>
            <a:pPr algn="ctr">
              <a:spcBef>
                <a:spcPts val="488"/>
              </a:spcBef>
            </a:pPr>
            <a:r>
              <a:rPr lang="en-US" sz="1400" b="1">
                <a:solidFill>
                  <a:sysClr val="windowText" lastClr="000000"/>
                </a:solidFill>
                <a:cs typeface="Segoe UI"/>
              </a:rPr>
              <a:t>Mr. Takahiko Sato (Director – Finance)</a:t>
            </a:r>
          </a:p>
          <a:p>
            <a:pPr algn="ctr">
              <a:spcBef>
                <a:spcPts val="488"/>
              </a:spcBef>
            </a:pPr>
            <a:r>
              <a:rPr lang="en-US" sz="1400" b="1">
                <a:solidFill>
                  <a:sysClr val="windowText" lastClr="000000"/>
                </a:solidFill>
                <a:cs typeface="Segoe UI"/>
              </a:rPr>
              <a:t>Mr. Jumpei Oki (EGM – Finance)</a:t>
            </a:r>
          </a:p>
          <a:p>
            <a:pPr algn="ctr">
              <a:spcBef>
                <a:spcPts val="488"/>
              </a:spcBef>
            </a:pPr>
            <a:r>
              <a:rPr lang="en-US" sz="1400" b="1">
                <a:solidFill>
                  <a:sysClr val="windowText" lastClr="000000"/>
                </a:solidFill>
                <a:cs typeface="Segoe UI"/>
              </a:rPr>
              <a:t>Mr. </a:t>
            </a:r>
            <a:r>
              <a:rPr lang="en-US" sz="1400" b="1" err="1">
                <a:solidFill>
                  <a:sysClr val="windowText" lastClr="000000"/>
                </a:solidFill>
                <a:cs typeface="Segoe UI"/>
              </a:rPr>
              <a:t>Sapto</a:t>
            </a:r>
            <a:r>
              <a:rPr lang="en-US" sz="1400" b="1">
                <a:solidFill>
                  <a:sysClr val="windowText" lastClr="000000"/>
                </a:solidFill>
                <a:cs typeface="Segoe UI"/>
              </a:rPr>
              <a:t> H. Ary B. (Dept head – IT)</a:t>
            </a:r>
          </a:p>
        </p:txBody>
      </p:sp>
      <p:pic>
        <p:nvPicPr>
          <p:cNvPr id="2" name="Picture 1" descr="A picture containing graphics, graphic design, design&#10;&#10;Description automatically generated">
            <a:extLst>
              <a:ext uri="{FF2B5EF4-FFF2-40B4-BE49-F238E27FC236}">
                <a16:creationId xmlns:a16="http://schemas.microsoft.com/office/drawing/2014/main" id="{76EA4559-B1A5-7B2C-4362-54C54E5CACB5}"/>
              </a:ext>
            </a:extLst>
          </p:cNvPr>
          <p:cNvPicPr>
            <a:picLocks noChangeAspect="1"/>
          </p:cNvPicPr>
          <p:nvPr/>
        </p:nvPicPr>
        <p:blipFill rotWithShape="1">
          <a:blip r:embed="rId4">
            <a:alphaModFix amt="20000"/>
            <a:extLst>
              <a:ext uri="{28A0092B-C50C-407E-A947-70E740481C1C}">
                <a14:useLocalDpi xmlns:a14="http://schemas.microsoft.com/office/drawing/2010/main" val="0"/>
              </a:ext>
            </a:extLst>
          </a:blip>
          <a:srcRect r="65068"/>
          <a:stretch/>
        </p:blipFill>
        <p:spPr>
          <a:xfrm>
            <a:off x="90284" y="725570"/>
            <a:ext cx="5449138" cy="5371035"/>
          </a:xfrm>
          <a:prstGeom prst="rect">
            <a:avLst/>
          </a:prstGeom>
        </p:spPr>
      </p:pic>
    </p:spTree>
    <p:extLst>
      <p:ext uri="{BB962C8B-B14F-4D97-AF65-F5344CB8AC3E}">
        <p14:creationId xmlns:p14="http://schemas.microsoft.com/office/powerpoint/2010/main" val="155988736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CE0EF-A0CF-5427-1141-63B06A6E5FB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772B306-D5AD-F7D2-C354-D97D88266E66}"/>
              </a:ext>
            </a:extLst>
          </p:cNvPr>
          <p:cNvSpPr>
            <a:spLocks noGrp="1"/>
          </p:cNvSpPr>
          <p:nvPr>
            <p:ph type="sldNum" sz="quarter" idx="12"/>
          </p:nvPr>
        </p:nvSpPr>
        <p:spPr/>
        <p:txBody>
          <a:bodyPr/>
          <a:lstStyle/>
          <a:p>
            <a:r>
              <a:rPr lang="en-GB"/>
              <a:t> Page </a:t>
            </a:r>
            <a:fld id="{7A555EF9-59E7-4D74-815B-7A20869232EE}" type="slidenum">
              <a:rPr lang="en-GB" smtClean="0"/>
              <a:pPr/>
              <a:t>2</a:t>
            </a:fld>
            <a:endParaRPr lang="en-GB"/>
          </a:p>
        </p:txBody>
      </p:sp>
      <p:sp>
        <p:nvSpPr>
          <p:cNvPr id="25" name="Title 24">
            <a:extLst>
              <a:ext uri="{FF2B5EF4-FFF2-40B4-BE49-F238E27FC236}">
                <a16:creationId xmlns:a16="http://schemas.microsoft.com/office/drawing/2014/main" id="{5B0B8E93-D82D-B8E3-B377-882D740EB6E5}"/>
              </a:ext>
            </a:extLst>
          </p:cNvPr>
          <p:cNvSpPr>
            <a:spLocks noGrp="1"/>
          </p:cNvSpPr>
          <p:nvPr>
            <p:ph type="title" idx="4294967295"/>
          </p:nvPr>
        </p:nvSpPr>
        <p:spPr>
          <a:xfrm>
            <a:off x="560439" y="293839"/>
            <a:ext cx="9113400" cy="540000"/>
          </a:xfrm>
          <a:prstGeom prst="rect">
            <a:avLst/>
          </a:prstGeom>
        </p:spPr>
        <p:txBody>
          <a:bodyPr/>
          <a:lstStyle/>
          <a:p>
            <a:r>
              <a:rPr lang="en-GB">
                <a:latin typeface="Helvetica Neue" panose="02000503000000020004"/>
              </a:rPr>
              <a:t>Table of Content</a:t>
            </a:r>
            <a:endParaRPr lang="en-US">
              <a:latin typeface="Helvetica Neue" panose="02000503000000020004"/>
            </a:endParaRPr>
          </a:p>
        </p:txBody>
      </p:sp>
      <p:grpSp>
        <p:nvGrpSpPr>
          <p:cNvPr id="2" name="Group 1">
            <a:extLst>
              <a:ext uri="{FF2B5EF4-FFF2-40B4-BE49-F238E27FC236}">
                <a16:creationId xmlns:a16="http://schemas.microsoft.com/office/drawing/2014/main" id="{2E611C47-F922-7133-6B2B-04B96EA2D2CC}"/>
              </a:ext>
            </a:extLst>
          </p:cNvPr>
          <p:cNvGrpSpPr/>
          <p:nvPr/>
        </p:nvGrpSpPr>
        <p:grpSpPr>
          <a:xfrm>
            <a:off x="692935" y="1241471"/>
            <a:ext cx="2115686" cy="4754466"/>
            <a:chOff x="762651" y="1663253"/>
            <a:chExt cx="1881086" cy="2024394"/>
          </a:xfrm>
          <a:solidFill>
            <a:schemeClr val="accent5">
              <a:lumMod val="40000"/>
              <a:lumOff val="60000"/>
            </a:schemeClr>
          </a:solidFill>
        </p:grpSpPr>
        <p:sp>
          <p:nvSpPr>
            <p:cNvPr id="9" name="Rectangle 8">
              <a:extLst>
                <a:ext uri="{FF2B5EF4-FFF2-40B4-BE49-F238E27FC236}">
                  <a16:creationId xmlns:a16="http://schemas.microsoft.com/office/drawing/2014/main" id="{C5FB231B-21E7-BBFC-8F98-E9CEFBCC5306}"/>
                </a:ext>
              </a:extLst>
            </p:cNvPr>
            <p:cNvSpPr/>
            <p:nvPr/>
          </p:nvSpPr>
          <p:spPr>
            <a:xfrm>
              <a:off x="767193" y="1663253"/>
              <a:ext cx="1876544" cy="20243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TextBox 9">
              <a:extLst>
                <a:ext uri="{FF2B5EF4-FFF2-40B4-BE49-F238E27FC236}">
                  <a16:creationId xmlns:a16="http://schemas.microsoft.com/office/drawing/2014/main" id="{F36913BC-5D94-21DA-59FA-746FED3F1AC2}"/>
                </a:ext>
              </a:extLst>
            </p:cNvPr>
            <p:cNvSpPr txBox="1"/>
            <p:nvPr/>
          </p:nvSpPr>
          <p:spPr>
            <a:xfrm>
              <a:off x="762651" y="1725307"/>
              <a:ext cx="1862350" cy="201780"/>
            </a:xfrm>
            <a:prstGeom prst="rect">
              <a:avLst/>
            </a:prstGeom>
            <a:grpFill/>
          </p:spPr>
          <p:txBody>
            <a:bodyPr wrap="square" lIns="74295" tIns="37148" rIns="74295" bIns="37148" rtlCol="0" anchor="t">
              <a:spAutoFit/>
            </a:bodyPr>
            <a:lstStyle/>
            <a:p>
              <a:pPr algn="ctr"/>
              <a:r>
                <a:rPr lang="en-US" sz="1400" b="1"/>
                <a:t>1. </a:t>
              </a:r>
            </a:p>
            <a:p>
              <a:pPr algn="ctr"/>
              <a:r>
                <a:rPr lang="en-US" sz="1400" b="1"/>
                <a:t>Executive Summary</a:t>
              </a:r>
            </a:p>
          </p:txBody>
        </p:sp>
        <p:sp>
          <p:nvSpPr>
            <p:cNvPr id="13" name="TextBox 12">
              <a:extLst>
                <a:ext uri="{FF2B5EF4-FFF2-40B4-BE49-F238E27FC236}">
                  <a16:creationId xmlns:a16="http://schemas.microsoft.com/office/drawing/2014/main" id="{CC2E7E12-82F5-99CA-F453-55F8AA13F558}"/>
                </a:ext>
              </a:extLst>
            </p:cNvPr>
            <p:cNvSpPr txBox="1"/>
            <p:nvPr/>
          </p:nvSpPr>
          <p:spPr>
            <a:xfrm>
              <a:off x="803823" y="2056924"/>
              <a:ext cx="1830546" cy="575490"/>
            </a:xfrm>
            <a:prstGeom prst="rect">
              <a:avLst/>
            </a:prstGeom>
            <a:grpFill/>
          </p:spPr>
          <p:txBody>
            <a:bodyPr wrap="square" rtlCol="0">
              <a:spAutoFit/>
            </a:bodyPr>
            <a:lstStyle/>
            <a:p>
              <a:pPr marL="228303" indent="-228303">
                <a:lnSpc>
                  <a:spcPct val="150000"/>
                </a:lnSpc>
              </a:pPr>
              <a:r>
                <a:rPr lang="en-US" sz="1400"/>
                <a:t>1.1 Background</a:t>
              </a:r>
            </a:p>
            <a:p>
              <a:pPr marL="228303" indent="-228303">
                <a:lnSpc>
                  <a:spcPct val="150000"/>
                </a:lnSpc>
              </a:pPr>
              <a:r>
                <a:rPr lang="en-US" sz="1400"/>
                <a:t>1.2 Objective</a:t>
              </a:r>
            </a:p>
            <a:p>
              <a:pPr marL="228303" indent="-228303">
                <a:lnSpc>
                  <a:spcPct val="150000"/>
                </a:lnSpc>
              </a:pPr>
              <a:r>
                <a:rPr lang="en-US" sz="1400"/>
                <a:t>1.3 Benefit</a:t>
              </a:r>
            </a:p>
            <a:p>
              <a:pPr marL="228303" indent="-228303">
                <a:lnSpc>
                  <a:spcPct val="150000"/>
                </a:lnSpc>
              </a:pPr>
              <a:r>
                <a:rPr lang="en-US" sz="1400"/>
                <a:t>1.4 Commercial Overview</a:t>
              </a:r>
            </a:p>
          </p:txBody>
        </p:sp>
        <p:cxnSp>
          <p:nvCxnSpPr>
            <p:cNvPr id="17" name="Straight Connector 16">
              <a:extLst>
                <a:ext uri="{FF2B5EF4-FFF2-40B4-BE49-F238E27FC236}">
                  <a16:creationId xmlns:a16="http://schemas.microsoft.com/office/drawing/2014/main" id="{F9ECD504-8DEB-970E-5AF5-D8F3CB5E4114}"/>
                </a:ext>
              </a:extLst>
            </p:cNvPr>
            <p:cNvCxnSpPr>
              <a:cxnSpLocks/>
            </p:cNvCxnSpPr>
            <p:nvPr/>
          </p:nvCxnSpPr>
          <p:spPr>
            <a:xfrm>
              <a:off x="810492" y="2001636"/>
              <a:ext cx="1789945" cy="0"/>
            </a:xfrm>
            <a:prstGeom prst="line">
              <a:avLst/>
            </a:prstGeom>
            <a:grpFill/>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671CD4AA-6A1F-14D5-A2BD-24FB1490A4CC}"/>
              </a:ext>
            </a:extLst>
          </p:cNvPr>
          <p:cNvGrpSpPr/>
          <p:nvPr/>
        </p:nvGrpSpPr>
        <p:grpSpPr>
          <a:xfrm>
            <a:off x="2910445" y="1244992"/>
            <a:ext cx="2271011" cy="4754466"/>
            <a:chOff x="5139522" y="1658867"/>
            <a:chExt cx="1954171" cy="2015101"/>
          </a:xfrm>
        </p:grpSpPr>
        <p:sp>
          <p:nvSpPr>
            <p:cNvPr id="8" name="Rectangle 7">
              <a:extLst>
                <a:ext uri="{FF2B5EF4-FFF2-40B4-BE49-F238E27FC236}">
                  <a16:creationId xmlns:a16="http://schemas.microsoft.com/office/drawing/2014/main" id="{456238D7-F821-F817-D495-9F88598368CC}"/>
                </a:ext>
              </a:extLst>
            </p:cNvPr>
            <p:cNvSpPr/>
            <p:nvPr/>
          </p:nvSpPr>
          <p:spPr>
            <a:xfrm>
              <a:off x="5139522" y="1658867"/>
              <a:ext cx="1922922" cy="201510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1">
              <a:extLst>
                <a:ext uri="{FF2B5EF4-FFF2-40B4-BE49-F238E27FC236}">
                  <a16:creationId xmlns:a16="http://schemas.microsoft.com/office/drawing/2014/main" id="{F9ADC317-2207-2628-4F79-3AEEDA1C2A2A}"/>
                </a:ext>
              </a:extLst>
            </p:cNvPr>
            <p:cNvSpPr txBox="1"/>
            <p:nvPr/>
          </p:nvSpPr>
          <p:spPr>
            <a:xfrm>
              <a:off x="5202227" y="1710963"/>
              <a:ext cx="1891466" cy="286786"/>
            </a:xfrm>
            <a:prstGeom prst="rect">
              <a:avLst/>
            </a:prstGeom>
            <a:noFill/>
          </p:spPr>
          <p:txBody>
            <a:bodyPr wrap="square" lIns="74295" tIns="37148" rIns="74295" bIns="37148" rtlCol="0" anchor="t">
              <a:spAutoFit/>
            </a:bodyPr>
            <a:lstStyle/>
            <a:p>
              <a:pPr algn="ctr"/>
              <a:r>
                <a:rPr lang="en-US" sz="1400" b="1"/>
                <a:t>2.</a:t>
              </a:r>
            </a:p>
            <a:p>
              <a:pPr algn="ctr"/>
              <a:r>
                <a:rPr lang="en-US" sz="1400" b="1"/>
                <a:t>Requirement and Propose Solution</a:t>
              </a:r>
            </a:p>
          </p:txBody>
        </p:sp>
        <p:sp>
          <p:nvSpPr>
            <p:cNvPr id="15" name="TextBox 14">
              <a:extLst>
                <a:ext uri="{FF2B5EF4-FFF2-40B4-BE49-F238E27FC236}">
                  <a16:creationId xmlns:a16="http://schemas.microsoft.com/office/drawing/2014/main" id="{50ED7F12-6A13-1B63-6047-65941F954B0D}"/>
                </a:ext>
              </a:extLst>
            </p:cNvPr>
            <p:cNvSpPr txBox="1"/>
            <p:nvPr/>
          </p:nvSpPr>
          <p:spPr>
            <a:xfrm>
              <a:off x="5182432" y="2058416"/>
              <a:ext cx="1882842" cy="873961"/>
            </a:xfrm>
            <a:prstGeom prst="rect">
              <a:avLst/>
            </a:prstGeom>
            <a:noFill/>
          </p:spPr>
          <p:txBody>
            <a:bodyPr wrap="square" lIns="91440" tIns="45720" rIns="91440" bIns="45720" rtlCol="0" anchor="t">
              <a:spAutoFit/>
            </a:bodyPr>
            <a:lstStyle/>
            <a:p>
              <a:pPr marL="284163" indent="-284163">
                <a:lnSpc>
                  <a:spcPct val="150000"/>
                </a:lnSpc>
              </a:pPr>
              <a:r>
                <a:rPr lang="en-US" sz="1400"/>
                <a:t>2.1 Functional Requirement</a:t>
              </a:r>
            </a:p>
            <a:p>
              <a:pPr marL="284163" indent="-284163">
                <a:lnSpc>
                  <a:spcPct val="150000"/>
                </a:lnSpc>
              </a:pPr>
              <a:r>
                <a:rPr lang="en-US" sz="1400"/>
                <a:t>2.2 Non-functional Requirement</a:t>
              </a:r>
            </a:p>
            <a:p>
              <a:pPr marL="284163" indent="-284163">
                <a:lnSpc>
                  <a:spcPct val="150000"/>
                </a:lnSpc>
              </a:pPr>
              <a:r>
                <a:rPr lang="en-US" sz="1400"/>
                <a:t>2.3 System Architecture</a:t>
              </a:r>
            </a:p>
            <a:p>
              <a:pPr marL="227965" indent="-227965">
                <a:lnSpc>
                  <a:spcPct val="150000"/>
                </a:lnSpc>
                <a:spcBef>
                  <a:spcPts val="488"/>
                </a:spcBef>
              </a:pPr>
              <a:endParaRPr lang="en-US" sz="1400"/>
            </a:p>
          </p:txBody>
        </p:sp>
        <p:cxnSp>
          <p:nvCxnSpPr>
            <p:cNvPr id="19" name="Straight Connector 18">
              <a:extLst>
                <a:ext uri="{FF2B5EF4-FFF2-40B4-BE49-F238E27FC236}">
                  <a16:creationId xmlns:a16="http://schemas.microsoft.com/office/drawing/2014/main" id="{6C53A1CC-B1E4-22C0-6861-5D35605654EC}"/>
                </a:ext>
              </a:extLst>
            </p:cNvPr>
            <p:cNvCxnSpPr>
              <a:cxnSpLocks/>
            </p:cNvCxnSpPr>
            <p:nvPr/>
          </p:nvCxnSpPr>
          <p:spPr>
            <a:xfrm>
              <a:off x="5264260" y="1997749"/>
              <a:ext cx="1767401"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BFA049ED-79D5-E640-DF10-144EA7B067CF}"/>
              </a:ext>
            </a:extLst>
          </p:cNvPr>
          <p:cNvGrpSpPr/>
          <p:nvPr/>
        </p:nvGrpSpPr>
        <p:grpSpPr>
          <a:xfrm>
            <a:off x="5225954" y="1263085"/>
            <a:ext cx="2198139" cy="2353587"/>
            <a:chOff x="7429513" y="1263617"/>
            <a:chExt cx="2095543" cy="2353587"/>
          </a:xfrm>
        </p:grpSpPr>
        <p:sp>
          <p:nvSpPr>
            <p:cNvPr id="3" name="Rectangle 2">
              <a:extLst>
                <a:ext uri="{FF2B5EF4-FFF2-40B4-BE49-F238E27FC236}">
                  <a16:creationId xmlns:a16="http://schemas.microsoft.com/office/drawing/2014/main" id="{48B10A7D-E1C5-5584-C21B-CD441FDA2AB6}"/>
                </a:ext>
              </a:extLst>
            </p:cNvPr>
            <p:cNvSpPr/>
            <p:nvPr/>
          </p:nvSpPr>
          <p:spPr>
            <a:xfrm>
              <a:off x="7438666" y="1263617"/>
              <a:ext cx="2086390" cy="23535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TextBox 3">
              <a:extLst>
                <a:ext uri="{FF2B5EF4-FFF2-40B4-BE49-F238E27FC236}">
                  <a16:creationId xmlns:a16="http://schemas.microsoft.com/office/drawing/2014/main" id="{11101388-6A8D-9E82-F6E2-2185DCACB34C}"/>
                </a:ext>
              </a:extLst>
            </p:cNvPr>
            <p:cNvSpPr txBox="1"/>
            <p:nvPr/>
          </p:nvSpPr>
          <p:spPr>
            <a:xfrm>
              <a:off x="7445227" y="1390517"/>
              <a:ext cx="2078892" cy="508744"/>
            </a:xfrm>
            <a:prstGeom prst="rect">
              <a:avLst/>
            </a:prstGeom>
            <a:noFill/>
          </p:spPr>
          <p:txBody>
            <a:bodyPr wrap="square" lIns="74295" tIns="37148" rIns="74295" bIns="37148" rtlCol="0" anchor="t">
              <a:spAutoFit/>
            </a:bodyPr>
            <a:lstStyle/>
            <a:p>
              <a:pPr algn="ctr"/>
              <a:r>
                <a:rPr lang="en-US" sz="1400" b="1"/>
                <a:t>3. </a:t>
              </a:r>
            </a:p>
            <a:p>
              <a:pPr algn="ctr"/>
              <a:r>
                <a:rPr lang="en-US" sz="1400" b="1"/>
                <a:t>Project Methodology</a:t>
              </a:r>
            </a:p>
          </p:txBody>
        </p:sp>
        <p:sp>
          <p:nvSpPr>
            <p:cNvPr id="20" name="TextBox 19">
              <a:extLst>
                <a:ext uri="{FF2B5EF4-FFF2-40B4-BE49-F238E27FC236}">
                  <a16:creationId xmlns:a16="http://schemas.microsoft.com/office/drawing/2014/main" id="{16BACBCC-8CA3-B0A4-E353-328537CD7D1D}"/>
                </a:ext>
              </a:extLst>
            </p:cNvPr>
            <p:cNvSpPr txBox="1"/>
            <p:nvPr/>
          </p:nvSpPr>
          <p:spPr>
            <a:xfrm>
              <a:off x="7429513" y="2190385"/>
              <a:ext cx="2090132" cy="1398397"/>
            </a:xfrm>
            <a:prstGeom prst="rect">
              <a:avLst/>
            </a:prstGeom>
            <a:noFill/>
          </p:spPr>
          <p:txBody>
            <a:bodyPr wrap="square" lIns="74295" tIns="37148" rIns="74295" bIns="37148" rtlCol="0" anchor="t">
              <a:spAutoFit/>
            </a:bodyPr>
            <a:lstStyle/>
            <a:p>
              <a:pPr marL="284163" indent="-284163">
                <a:lnSpc>
                  <a:spcPct val="150000"/>
                </a:lnSpc>
              </a:pPr>
              <a:r>
                <a:rPr lang="en-US" sz="1400" kern="100">
                  <a:latin typeface="Calibri" panose="020F0502020204030204" pitchFamily="34" charset="0"/>
                  <a:ea typeface="DengXian" panose="02010600030101010101" pitchFamily="2" charset="-122"/>
                  <a:cs typeface="Times New Roman" panose="02020603050405020304" pitchFamily="18" charset="0"/>
                </a:rPr>
                <a:t>3.1  Project Approach</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346075" indent="-346075">
                <a:lnSpc>
                  <a:spcPct val="150000"/>
                </a:lnSpc>
              </a:pPr>
              <a:r>
                <a:rPr lang="en-US" sz="1400"/>
                <a:t>3.2 </a:t>
              </a:r>
              <a:r>
                <a:rPr lang="en-US" sz="1400" kern="100">
                  <a:latin typeface="Calibri" panose="020F0502020204030204" pitchFamily="34" charset="0"/>
                  <a:ea typeface="DengXian" panose="02010600030101010101" pitchFamily="2" charset="-122"/>
                  <a:cs typeface="Times New Roman" panose="02020603050405020304" pitchFamily="18" charset="0"/>
                </a:rPr>
                <a:t>Project Event</a:t>
              </a:r>
            </a:p>
            <a:p>
              <a:pPr marL="346075" indent="-346075">
                <a:lnSpc>
                  <a:spcPct val="150000"/>
                </a:lnSpc>
              </a:pPr>
              <a:r>
                <a:rPr lang="en-US" sz="1400" kern="100">
                  <a:latin typeface="Calibri" panose="020F0502020204030204" pitchFamily="34" charset="0"/>
                  <a:ea typeface="DengXian" panose="02010600030101010101" pitchFamily="2" charset="-122"/>
                  <a:cs typeface="Times New Roman" panose="02020603050405020304" pitchFamily="18" charset="0"/>
                </a:rPr>
                <a:t>3.3 Project Phase/Timeline</a:t>
              </a:r>
              <a:endParaRPr lang="en-US" sz="1400"/>
            </a:p>
            <a:p>
              <a:pPr marL="227965" indent="-227965">
                <a:lnSpc>
                  <a:spcPct val="150000"/>
                </a:lnSpc>
                <a:spcBef>
                  <a:spcPts val="488"/>
                </a:spcBef>
              </a:pPr>
              <a:endParaRPr lang="en-US" sz="1400"/>
            </a:p>
          </p:txBody>
        </p:sp>
        <p:cxnSp>
          <p:nvCxnSpPr>
            <p:cNvPr id="21" name="Straight Connector 20">
              <a:extLst>
                <a:ext uri="{FF2B5EF4-FFF2-40B4-BE49-F238E27FC236}">
                  <a16:creationId xmlns:a16="http://schemas.microsoft.com/office/drawing/2014/main" id="{3D301605-9B11-21E0-48F4-4A81D8065253}"/>
                </a:ext>
              </a:extLst>
            </p:cNvPr>
            <p:cNvCxnSpPr>
              <a:cxnSpLocks/>
            </p:cNvCxnSpPr>
            <p:nvPr/>
          </p:nvCxnSpPr>
          <p:spPr>
            <a:xfrm>
              <a:off x="7519218" y="2088340"/>
              <a:ext cx="19182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856391AC-A7D2-D1CB-6193-1ADD08BE2A9E}"/>
              </a:ext>
            </a:extLst>
          </p:cNvPr>
          <p:cNvGrpSpPr/>
          <p:nvPr/>
        </p:nvGrpSpPr>
        <p:grpSpPr>
          <a:xfrm>
            <a:off x="7422324" y="3638984"/>
            <a:ext cx="2220688" cy="2360473"/>
            <a:chOff x="7347696" y="3675012"/>
            <a:chExt cx="2176423" cy="2649587"/>
          </a:xfrm>
        </p:grpSpPr>
        <p:sp>
          <p:nvSpPr>
            <p:cNvPr id="26" name="Rectangle 25">
              <a:extLst>
                <a:ext uri="{FF2B5EF4-FFF2-40B4-BE49-F238E27FC236}">
                  <a16:creationId xmlns:a16="http://schemas.microsoft.com/office/drawing/2014/main" id="{B4FEC82D-EE4C-90D4-9E2C-48DC57AFD959}"/>
                </a:ext>
              </a:extLst>
            </p:cNvPr>
            <p:cNvSpPr/>
            <p:nvPr/>
          </p:nvSpPr>
          <p:spPr>
            <a:xfrm>
              <a:off x="7438666" y="3675012"/>
              <a:ext cx="2085453" cy="26495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TextBox 26">
              <a:extLst>
                <a:ext uri="{FF2B5EF4-FFF2-40B4-BE49-F238E27FC236}">
                  <a16:creationId xmlns:a16="http://schemas.microsoft.com/office/drawing/2014/main" id="{B868E216-2779-B72E-A2B9-03D65ED98928}"/>
                </a:ext>
              </a:extLst>
            </p:cNvPr>
            <p:cNvSpPr txBox="1"/>
            <p:nvPr/>
          </p:nvSpPr>
          <p:spPr>
            <a:xfrm>
              <a:off x="7347696" y="3844600"/>
              <a:ext cx="2102319" cy="567873"/>
            </a:xfrm>
            <a:prstGeom prst="rect">
              <a:avLst/>
            </a:prstGeom>
            <a:noFill/>
          </p:spPr>
          <p:txBody>
            <a:bodyPr wrap="square" lIns="74295" tIns="37148" rIns="74295" bIns="37148" rtlCol="0" anchor="t">
              <a:spAutoFit/>
            </a:bodyPr>
            <a:lstStyle/>
            <a:p>
              <a:pPr algn="ctr"/>
              <a:r>
                <a:rPr lang="en-US" sz="1400" b="1"/>
                <a:t>6.</a:t>
              </a:r>
            </a:p>
            <a:p>
              <a:pPr algn="ctr"/>
              <a:r>
                <a:rPr lang="en-US" sz="1400" b="1"/>
                <a:t>Approval</a:t>
              </a:r>
            </a:p>
          </p:txBody>
        </p:sp>
      </p:grpSp>
      <p:sp>
        <p:nvSpPr>
          <p:cNvPr id="30" name="Footer Placeholder 4">
            <a:extLst>
              <a:ext uri="{FF2B5EF4-FFF2-40B4-BE49-F238E27FC236}">
                <a16:creationId xmlns:a16="http://schemas.microsoft.com/office/drawing/2014/main" id="{B18B9500-5A1F-261C-2A6B-681A8FC8589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pSp>
        <p:nvGrpSpPr>
          <p:cNvPr id="14" name="Group 13">
            <a:extLst>
              <a:ext uri="{FF2B5EF4-FFF2-40B4-BE49-F238E27FC236}">
                <a16:creationId xmlns:a16="http://schemas.microsoft.com/office/drawing/2014/main" id="{CE3D4C38-0A24-C490-3FAF-9E527C2F7E29}"/>
              </a:ext>
            </a:extLst>
          </p:cNvPr>
          <p:cNvGrpSpPr/>
          <p:nvPr/>
        </p:nvGrpSpPr>
        <p:grpSpPr>
          <a:xfrm>
            <a:off x="7519811" y="1263085"/>
            <a:ext cx="2120915" cy="2353586"/>
            <a:chOff x="7438666" y="1263617"/>
            <a:chExt cx="2086390" cy="2353587"/>
          </a:xfrm>
        </p:grpSpPr>
        <p:sp>
          <p:nvSpPr>
            <p:cNvPr id="16" name="Rectangle 15">
              <a:extLst>
                <a:ext uri="{FF2B5EF4-FFF2-40B4-BE49-F238E27FC236}">
                  <a16:creationId xmlns:a16="http://schemas.microsoft.com/office/drawing/2014/main" id="{3972FF9E-54EB-9E72-B2D4-A87EF81002A5}"/>
                </a:ext>
              </a:extLst>
            </p:cNvPr>
            <p:cNvSpPr/>
            <p:nvPr/>
          </p:nvSpPr>
          <p:spPr>
            <a:xfrm>
              <a:off x="7438666" y="1263617"/>
              <a:ext cx="2086390" cy="23535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8" name="TextBox 17">
              <a:extLst>
                <a:ext uri="{FF2B5EF4-FFF2-40B4-BE49-F238E27FC236}">
                  <a16:creationId xmlns:a16="http://schemas.microsoft.com/office/drawing/2014/main" id="{699DABA4-D32C-3717-A95B-13CF2C107345}"/>
                </a:ext>
              </a:extLst>
            </p:cNvPr>
            <p:cNvSpPr txBox="1"/>
            <p:nvPr/>
          </p:nvSpPr>
          <p:spPr>
            <a:xfrm>
              <a:off x="7445227" y="1390517"/>
              <a:ext cx="2078892" cy="721352"/>
            </a:xfrm>
            <a:prstGeom prst="rect">
              <a:avLst/>
            </a:prstGeom>
            <a:noFill/>
          </p:spPr>
          <p:txBody>
            <a:bodyPr wrap="square" lIns="74295" tIns="37148" rIns="74295" bIns="37148" rtlCol="0" anchor="t">
              <a:spAutoFit/>
            </a:bodyPr>
            <a:lstStyle/>
            <a:p>
              <a:pPr algn="ctr"/>
              <a:r>
                <a:rPr lang="en-US" sz="1400" b="1"/>
                <a:t>4. </a:t>
              </a:r>
            </a:p>
            <a:p>
              <a:pPr algn="ctr"/>
              <a:r>
                <a:rPr lang="en-US" sz="1400" b="1"/>
                <a:t>Project Organization Structure</a:t>
              </a:r>
            </a:p>
          </p:txBody>
        </p:sp>
        <p:sp>
          <p:nvSpPr>
            <p:cNvPr id="23" name="TextBox 22">
              <a:extLst>
                <a:ext uri="{FF2B5EF4-FFF2-40B4-BE49-F238E27FC236}">
                  <a16:creationId xmlns:a16="http://schemas.microsoft.com/office/drawing/2014/main" id="{F45EB70C-DBE9-163B-818F-9E3A63D42EBB}"/>
                </a:ext>
              </a:extLst>
            </p:cNvPr>
            <p:cNvSpPr txBox="1"/>
            <p:nvPr/>
          </p:nvSpPr>
          <p:spPr>
            <a:xfrm>
              <a:off x="7519218" y="2221776"/>
              <a:ext cx="1918210" cy="752066"/>
            </a:xfrm>
            <a:prstGeom prst="rect">
              <a:avLst/>
            </a:prstGeom>
            <a:noFill/>
          </p:spPr>
          <p:txBody>
            <a:bodyPr wrap="square" lIns="74295" tIns="37148" rIns="74295" bIns="37148" rtlCol="0" anchor="t">
              <a:spAutoFit/>
            </a:bodyPr>
            <a:lstStyle/>
            <a:p>
              <a:pPr marL="227965" indent="-227965">
                <a:lnSpc>
                  <a:spcPct val="150000"/>
                </a:lnSpc>
              </a:pPr>
              <a:r>
                <a:rPr lang="en-US" sz="1400"/>
                <a:t>4.1 Project Organization</a:t>
              </a:r>
            </a:p>
            <a:p>
              <a:pPr marL="227965" indent="-227965">
                <a:lnSpc>
                  <a:spcPct val="150000"/>
                </a:lnSpc>
                <a:spcBef>
                  <a:spcPts val="488"/>
                </a:spcBef>
              </a:pPr>
              <a:endParaRPr lang="en-US" sz="1400"/>
            </a:p>
          </p:txBody>
        </p:sp>
        <p:cxnSp>
          <p:nvCxnSpPr>
            <p:cNvPr id="24" name="Straight Connector 23">
              <a:extLst>
                <a:ext uri="{FF2B5EF4-FFF2-40B4-BE49-F238E27FC236}">
                  <a16:creationId xmlns:a16="http://schemas.microsoft.com/office/drawing/2014/main" id="{4ECAA2BD-D09F-2799-7095-8EF02C26E5C6}"/>
                </a:ext>
              </a:extLst>
            </p:cNvPr>
            <p:cNvCxnSpPr>
              <a:cxnSpLocks/>
            </p:cNvCxnSpPr>
            <p:nvPr/>
          </p:nvCxnSpPr>
          <p:spPr>
            <a:xfrm>
              <a:off x="7519218" y="2069064"/>
              <a:ext cx="19182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63D2BFD-5322-9434-7F09-7CEC0E7DF3F6}"/>
              </a:ext>
            </a:extLst>
          </p:cNvPr>
          <p:cNvGrpSpPr/>
          <p:nvPr/>
        </p:nvGrpSpPr>
        <p:grpSpPr>
          <a:xfrm>
            <a:off x="5230754" y="3645870"/>
            <a:ext cx="2187663" cy="2648331"/>
            <a:chOff x="7429513" y="1263617"/>
            <a:chExt cx="2095543" cy="2648331"/>
          </a:xfrm>
        </p:grpSpPr>
        <p:sp>
          <p:nvSpPr>
            <p:cNvPr id="35" name="Rectangle 34">
              <a:extLst>
                <a:ext uri="{FF2B5EF4-FFF2-40B4-BE49-F238E27FC236}">
                  <a16:creationId xmlns:a16="http://schemas.microsoft.com/office/drawing/2014/main" id="{180DDBF1-7AFD-638C-F9AB-53FBDE95A945}"/>
                </a:ext>
              </a:extLst>
            </p:cNvPr>
            <p:cNvSpPr/>
            <p:nvPr/>
          </p:nvSpPr>
          <p:spPr>
            <a:xfrm>
              <a:off x="7438666" y="1263617"/>
              <a:ext cx="2086390" cy="23535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TextBox 35">
              <a:extLst>
                <a:ext uri="{FF2B5EF4-FFF2-40B4-BE49-F238E27FC236}">
                  <a16:creationId xmlns:a16="http://schemas.microsoft.com/office/drawing/2014/main" id="{C707A21F-712D-BA7B-37C8-8AAFB60F50D3}"/>
                </a:ext>
              </a:extLst>
            </p:cNvPr>
            <p:cNvSpPr txBox="1"/>
            <p:nvPr/>
          </p:nvSpPr>
          <p:spPr>
            <a:xfrm>
              <a:off x="7445227" y="1390517"/>
              <a:ext cx="2078892" cy="508744"/>
            </a:xfrm>
            <a:prstGeom prst="rect">
              <a:avLst/>
            </a:prstGeom>
            <a:noFill/>
          </p:spPr>
          <p:txBody>
            <a:bodyPr wrap="square" lIns="74295" tIns="37148" rIns="74295" bIns="37148" rtlCol="0" anchor="t">
              <a:spAutoFit/>
            </a:bodyPr>
            <a:lstStyle/>
            <a:p>
              <a:pPr algn="ctr"/>
              <a:r>
                <a:rPr lang="en-US" sz="1400" b="1"/>
                <a:t>5. </a:t>
              </a:r>
            </a:p>
            <a:p>
              <a:pPr algn="ctr"/>
              <a:r>
                <a:rPr lang="en-US" sz="1400" b="1"/>
                <a:t>Commercial</a:t>
              </a:r>
            </a:p>
          </p:txBody>
        </p:sp>
        <p:sp>
          <p:nvSpPr>
            <p:cNvPr id="37" name="TextBox 36">
              <a:extLst>
                <a:ext uri="{FF2B5EF4-FFF2-40B4-BE49-F238E27FC236}">
                  <a16:creationId xmlns:a16="http://schemas.microsoft.com/office/drawing/2014/main" id="{4834E503-3CD1-C7C1-F8D4-2A302CC61B5B}"/>
                </a:ext>
              </a:extLst>
            </p:cNvPr>
            <p:cNvSpPr txBox="1"/>
            <p:nvPr/>
          </p:nvSpPr>
          <p:spPr>
            <a:xfrm>
              <a:off x="7429513" y="2190385"/>
              <a:ext cx="2090132" cy="1721563"/>
            </a:xfrm>
            <a:prstGeom prst="rect">
              <a:avLst/>
            </a:prstGeom>
            <a:noFill/>
          </p:spPr>
          <p:txBody>
            <a:bodyPr wrap="square" lIns="74295" tIns="37148" rIns="74295" bIns="37148" rtlCol="0" anchor="t">
              <a:spAutoFit/>
            </a:bodyPr>
            <a:lstStyle/>
            <a:p>
              <a:pPr marL="284163" indent="-284163">
                <a:lnSpc>
                  <a:spcPct val="150000"/>
                </a:lnSpc>
              </a:pPr>
              <a:r>
                <a:rPr lang="en-US" sz="1400" kern="100">
                  <a:latin typeface="Calibri" panose="020F0502020204030204" pitchFamily="34" charset="0"/>
                  <a:ea typeface="DengXian" panose="02010600030101010101" pitchFamily="2" charset="-122"/>
                  <a:cs typeface="Times New Roman" panose="02020603050405020304" pitchFamily="18" charset="0"/>
                </a:rPr>
                <a:t>5.1  Implementation Fee</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346075" indent="-346075">
                <a:lnSpc>
                  <a:spcPct val="150000"/>
                </a:lnSpc>
              </a:pPr>
              <a:r>
                <a:rPr lang="en-US" sz="1400"/>
                <a:t>5.2 </a:t>
              </a:r>
              <a:r>
                <a:rPr lang="en-US" sz="1400" kern="100">
                  <a:latin typeface="Calibri" panose="020F0502020204030204" pitchFamily="34" charset="0"/>
                  <a:ea typeface="DengXian" panose="02010600030101010101" pitchFamily="2" charset="-122"/>
                  <a:cs typeface="Times New Roman" panose="02020603050405020304" pitchFamily="18" charset="0"/>
                </a:rPr>
                <a:t>Operation Fee</a:t>
              </a:r>
            </a:p>
            <a:p>
              <a:pPr marL="346075" indent="-346075">
                <a:lnSpc>
                  <a:spcPct val="150000"/>
                </a:lnSpc>
              </a:pPr>
              <a:r>
                <a:rPr lang="en-US" sz="1400"/>
                <a:t>5.3 Four Years TCO</a:t>
              </a:r>
            </a:p>
            <a:p>
              <a:pPr marL="346075" indent="-346075">
                <a:lnSpc>
                  <a:spcPct val="150000"/>
                </a:lnSpc>
              </a:pPr>
              <a:r>
                <a:rPr lang="en-US" sz="1400"/>
                <a:t>5.4 General Term Condition</a:t>
              </a:r>
            </a:p>
            <a:p>
              <a:pPr marL="227965" indent="-227965">
                <a:lnSpc>
                  <a:spcPct val="150000"/>
                </a:lnSpc>
                <a:spcBef>
                  <a:spcPts val="488"/>
                </a:spcBef>
              </a:pPr>
              <a:endParaRPr lang="en-US" sz="1400"/>
            </a:p>
          </p:txBody>
        </p:sp>
        <p:cxnSp>
          <p:nvCxnSpPr>
            <p:cNvPr id="38" name="Straight Connector 37">
              <a:extLst>
                <a:ext uri="{FF2B5EF4-FFF2-40B4-BE49-F238E27FC236}">
                  <a16:creationId xmlns:a16="http://schemas.microsoft.com/office/drawing/2014/main" id="{D3DAB7CA-97A7-AE6C-BF9A-2E3C1E7068E3}"/>
                </a:ext>
              </a:extLst>
            </p:cNvPr>
            <p:cNvCxnSpPr>
              <a:cxnSpLocks/>
            </p:cNvCxnSpPr>
            <p:nvPr/>
          </p:nvCxnSpPr>
          <p:spPr>
            <a:xfrm>
              <a:off x="7519218" y="2088340"/>
              <a:ext cx="19182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03E1D2A-8E4B-3D7E-B88C-0A50B8BA4F44}"/>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369788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diagram of a person sitting at a computer&#10;&#10;AI-generated content may be incorrect.">
            <a:extLst>
              <a:ext uri="{FF2B5EF4-FFF2-40B4-BE49-F238E27FC236}">
                <a16:creationId xmlns:a16="http://schemas.microsoft.com/office/drawing/2014/main" id="{A7BF0725-10F6-0445-3E8C-2CA736E58A38}"/>
              </a:ext>
            </a:extLst>
          </p:cNvPr>
          <p:cNvPicPr>
            <a:picLocks noGrp="1" noChangeAspect="1"/>
          </p:cNvPicPr>
          <p:nvPr>
            <p:ph idx="1"/>
          </p:nvPr>
        </p:nvPicPr>
        <p:blipFill>
          <a:blip r:embed="rId3"/>
          <a:stretch>
            <a:fillRect/>
          </a:stretch>
        </p:blipFill>
        <p:spPr>
          <a:xfrm>
            <a:off x="496210" y="3391"/>
            <a:ext cx="9382807" cy="6263408"/>
          </a:xfrm>
          <a:prstGeom prst="rect">
            <a:avLst/>
          </a:prstGeom>
        </p:spPr>
      </p:pic>
      <p:sp>
        <p:nvSpPr>
          <p:cNvPr id="2" name="TextBox 1">
            <a:extLst>
              <a:ext uri="{FF2B5EF4-FFF2-40B4-BE49-F238E27FC236}">
                <a16:creationId xmlns:a16="http://schemas.microsoft.com/office/drawing/2014/main" id="{4A462A44-CB3E-EF19-4283-DD3359B2E32A}"/>
              </a:ext>
            </a:extLst>
          </p:cNvPr>
          <p:cNvSpPr txBox="1"/>
          <p:nvPr/>
        </p:nvSpPr>
        <p:spPr>
          <a:xfrm>
            <a:off x="8697763" y="63052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1087006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FA42-E8FD-51A0-8E95-76212620B2FF}"/>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296BBFC-4CEF-C3F0-B597-C1CEB576C3F1}"/>
              </a:ext>
            </a:extLst>
          </p:cNvPr>
          <p:cNvSpPr>
            <a:spLocks noGrp="1"/>
          </p:cNvSpPr>
          <p:nvPr>
            <p:ph type="sldNum" sz="quarter" idx="12"/>
          </p:nvPr>
        </p:nvSpPr>
        <p:spPr>
          <a:xfrm>
            <a:off x="8936100" y="6345107"/>
            <a:ext cx="606897" cy="261610"/>
          </a:xfrm>
        </p:spPr>
        <p:txBody>
          <a:bodyPr/>
          <a:lstStyle/>
          <a:p>
            <a:r>
              <a:rPr lang="en-GB"/>
              <a:t> Page </a:t>
            </a:r>
            <a:fld id="{7A555EF9-59E7-4D74-815B-7A20869232EE}" type="slidenum">
              <a:rPr lang="en-GB" smtClean="0"/>
              <a:pPr/>
              <a:t>4</a:t>
            </a:fld>
            <a:endParaRPr lang="en-GB"/>
          </a:p>
        </p:txBody>
      </p:sp>
      <p:sp>
        <p:nvSpPr>
          <p:cNvPr id="25" name="Title 24">
            <a:extLst>
              <a:ext uri="{FF2B5EF4-FFF2-40B4-BE49-F238E27FC236}">
                <a16:creationId xmlns:a16="http://schemas.microsoft.com/office/drawing/2014/main" id="{9C5DCFC5-ED3A-3FA0-0B6D-C6000F759D07}"/>
              </a:ext>
            </a:extLst>
          </p:cNvPr>
          <p:cNvSpPr>
            <a:spLocks noGrp="1"/>
          </p:cNvSpPr>
          <p:nvPr>
            <p:ph type="title" idx="4294967295"/>
          </p:nvPr>
        </p:nvSpPr>
        <p:spPr>
          <a:xfrm>
            <a:off x="560439" y="293839"/>
            <a:ext cx="9113400" cy="540000"/>
          </a:xfrm>
          <a:prstGeom prst="rect">
            <a:avLst/>
          </a:prstGeom>
        </p:spPr>
        <p:txBody>
          <a:bodyPr/>
          <a:lstStyle/>
          <a:p>
            <a:r>
              <a:rPr lang="en-GB">
                <a:latin typeface="Helvetica Neue" panose="02000503000000020004"/>
              </a:rPr>
              <a:t>1. Executive Summary</a:t>
            </a:r>
            <a:endParaRPr lang="en-US">
              <a:latin typeface="Helvetica Neue" panose="02000503000000020004"/>
            </a:endParaRPr>
          </a:p>
        </p:txBody>
      </p:sp>
      <p:sp>
        <p:nvSpPr>
          <p:cNvPr id="2" name="TextBox 1">
            <a:extLst>
              <a:ext uri="{FF2B5EF4-FFF2-40B4-BE49-F238E27FC236}">
                <a16:creationId xmlns:a16="http://schemas.microsoft.com/office/drawing/2014/main" id="{D666A029-C0ED-203C-B29F-69733FD38E41}"/>
              </a:ext>
            </a:extLst>
          </p:cNvPr>
          <p:cNvSpPr txBox="1"/>
          <p:nvPr/>
        </p:nvSpPr>
        <p:spPr>
          <a:xfrm>
            <a:off x="760610" y="968976"/>
            <a:ext cx="6336659" cy="382092"/>
          </a:xfrm>
          <a:prstGeom prst="rect">
            <a:avLst/>
          </a:prstGeom>
          <a:noFill/>
        </p:spPr>
        <p:txBody>
          <a:bodyPr wrap="square" rtlCol="0">
            <a:spAutoFit/>
          </a:bodyPr>
          <a:lstStyle/>
          <a:p>
            <a:pPr algn="just">
              <a:lnSpc>
                <a:spcPct val="150000"/>
              </a:lnSpc>
            </a:pPr>
            <a:r>
              <a:rPr lang="en-US" sz="1400" b="1"/>
              <a:t>1.1 Background</a:t>
            </a:r>
          </a:p>
        </p:txBody>
      </p:sp>
      <p:sp>
        <p:nvSpPr>
          <p:cNvPr id="7" name="Footer Placeholder 4">
            <a:extLst>
              <a:ext uri="{FF2B5EF4-FFF2-40B4-BE49-F238E27FC236}">
                <a16:creationId xmlns:a16="http://schemas.microsoft.com/office/drawing/2014/main" id="{8D9C79E1-2C8A-5D2A-9DFA-21A515473EEF}"/>
              </a:ext>
            </a:extLst>
          </p:cNvPr>
          <p:cNvSpPr>
            <a:spLocks noGrp="1"/>
          </p:cNvSpPr>
          <p:nvPr>
            <p:ph type="ftr" sz="quarter" idx="11"/>
          </p:nvPr>
        </p:nvSpPr>
        <p:spPr>
          <a:xfrm>
            <a:off x="3521355" y="6305262"/>
            <a:ext cx="2863284" cy="261610"/>
          </a:xfrm>
        </p:spPr>
        <p:txBody>
          <a:bodyPr/>
          <a:lstStyle/>
          <a:p>
            <a:r>
              <a:rPr lang="en-US" i="1">
                <a:solidFill>
                  <a:srgbClr val="7F7F7F"/>
                </a:solidFill>
              </a:rPr>
              <a:t>Confidential - MMKSI and BSI Internal Use Only</a:t>
            </a:r>
          </a:p>
        </p:txBody>
      </p:sp>
      <p:sp>
        <p:nvSpPr>
          <p:cNvPr id="13" name="TextBox 12">
            <a:extLst>
              <a:ext uri="{FF2B5EF4-FFF2-40B4-BE49-F238E27FC236}">
                <a16:creationId xmlns:a16="http://schemas.microsoft.com/office/drawing/2014/main" id="{8CA12A73-B5C3-3F71-08E5-5CD84885846C}"/>
              </a:ext>
            </a:extLst>
          </p:cNvPr>
          <p:cNvSpPr txBox="1"/>
          <p:nvPr/>
        </p:nvSpPr>
        <p:spPr>
          <a:xfrm>
            <a:off x="777401" y="1304047"/>
            <a:ext cx="8782387" cy="984885"/>
          </a:xfrm>
          <a:prstGeom prst="rect">
            <a:avLst/>
          </a:prstGeom>
          <a:noFill/>
        </p:spPr>
        <p:txBody>
          <a:bodyPr wrap="square" lIns="91440" tIns="45720" rIns="91440" bIns="45720" rtlCol="0" anchor="t">
            <a:spAutoFit/>
          </a:bodyPr>
          <a:lstStyle/>
          <a:p>
            <a:r>
              <a:rPr lang="en-US" sz="1400">
                <a:ea typeface="+mn-lt"/>
                <a:cs typeface="+mn-lt"/>
              </a:rPr>
              <a:t>Currently, MMKSI’s HRD Processes are largely managed using Excel, covering form creation, evaluation execution, and result aggregation. This manual approach leads to inefficiencies, high administrative effort, and challenges in maintaining data consistency.</a:t>
            </a:r>
            <a:endParaRPr lang="en-US" sz="1400">
              <a:ea typeface="Calibri"/>
              <a:cs typeface="Calibri"/>
            </a:endParaRPr>
          </a:p>
          <a:p>
            <a:endParaRPr lang="en-US" sz="1400" b="1">
              <a:ea typeface="+mn-lt"/>
              <a:cs typeface="+mn-lt"/>
            </a:endParaRPr>
          </a:p>
        </p:txBody>
      </p:sp>
      <p:sp>
        <p:nvSpPr>
          <p:cNvPr id="3" name="Rectangle 2">
            <a:extLst>
              <a:ext uri="{FF2B5EF4-FFF2-40B4-BE49-F238E27FC236}">
                <a16:creationId xmlns:a16="http://schemas.microsoft.com/office/drawing/2014/main" id="{424A129B-3161-8422-55BC-83B78640DFF9}"/>
              </a:ext>
            </a:extLst>
          </p:cNvPr>
          <p:cNvSpPr>
            <a:spLocks noChangeArrowheads="1"/>
          </p:cNvSpPr>
          <p:nvPr/>
        </p:nvSpPr>
        <p:spPr bwMode="auto">
          <a:xfrm>
            <a:off x="760607" y="2439298"/>
            <a:ext cx="878238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buFont typeface="Arial"/>
              <a:buChar char="•"/>
            </a:pPr>
            <a:r>
              <a:rPr lang="en-US" sz="1400" b="1">
                <a:ea typeface="+mn-lt"/>
                <a:cs typeface="+mn-lt"/>
              </a:rPr>
              <a:t>Digitize </a:t>
            </a:r>
            <a:r>
              <a:rPr kumimoji="0" lang="en-US" sz="1400" b="1" i="0" u="none" strike="noStrike" cap="none" normalizeH="0" baseline="0">
                <a:ln>
                  <a:noFill/>
                </a:ln>
                <a:effectLst/>
                <a:ea typeface="+mn-lt"/>
                <a:cs typeface="+mn-lt"/>
              </a:rPr>
              <a:t>and </a:t>
            </a:r>
            <a:r>
              <a:rPr lang="en-US" sz="1400" b="1">
                <a:ea typeface="+mn-lt"/>
                <a:cs typeface="+mn-lt"/>
              </a:rPr>
              <a:t>streamline</a:t>
            </a:r>
            <a:r>
              <a:rPr lang="en-US" sz="1400">
                <a:ea typeface="+mn-lt"/>
                <a:cs typeface="+mn-lt"/>
              </a:rPr>
              <a:t> the current Excel-based HR processes into a centralized system </a:t>
            </a:r>
          </a:p>
          <a:p>
            <a:pPr marL="285750" indent="-285750" defTabSz="914400">
              <a:buFont typeface="Arial"/>
              <a:buChar char="•"/>
            </a:pPr>
            <a:r>
              <a:rPr lang="en-US" sz="1400">
                <a:ea typeface="+mn-lt"/>
                <a:cs typeface="+mn-lt"/>
              </a:rPr>
              <a:t>Provide </a:t>
            </a:r>
            <a:r>
              <a:rPr kumimoji="0" lang="en-US" sz="1400" b="0" i="0" u="none" strike="noStrike" cap="none" normalizeH="0" baseline="0">
                <a:ln>
                  <a:noFill/>
                </a:ln>
                <a:effectLst/>
                <a:ea typeface="+mn-lt"/>
                <a:cs typeface="+mn-lt"/>
              </a:rPr>
              <a:t>a </a:t>
            </a:r>
            <a:r>
              <a:rPr kumimoji="0" lang="en-US" sz="1400" b="1" i="0" u="none" strike="noStrike" cap="none" normalizeH="0" baseline="0">
                <a:ln>
                  <a:noFill/>
                </a:ln>
                <a:effectLst/>
                <a:ea typeface="+mn-lt"/>
                <a:cs typeface="+mn-lt"/>
              </a:rPr>
              <a:t>flexible </a:t>
            </a:r>
            <a:r>
              <a:rPr lang="en-US" sz="1400" b="1">
                <a:ea typeface="+mn-lt"/>
                <a:cs typeface="+mn-lt"/>
              </a:rPr>
              <a:t>and configurable system</a:t>
            </a:r>
            <a:r>
              <a:rPr lang="en-US" sz="1400">
                <a:ea typeface="+mn-lt"/>
                <a:cs typeface="+mn-lt"/>
              </a:rPr>
              <a:t> </a:t>
            </a:r>
            <a:r>
              <a:rPr kumimoji="0" lang="en-US" sz="1400" b="0" i="0" u="none" strike="noStrike" cap="none" normalizeH="0" baseline="0">
                <a:ln>
                  <a:noFill/>
                </a:ln>
                <a:effectLst/>
                <a:ea typeface="+mn-lt"/>
                <a:cs typeface="+mn-lt"/>
              </a:rPr>
              <a:t>that can adapt to changing evaluation methods </a:t>
            </a:r>
            <a:endParaRPr lang="en-US" sz="1400">
              <a:ea typeface="+mn-lt"/>
              <a:cs typeface="+mn-lt"/>
            </a:endParaRPr>
          </a:p>
          <a:p>
            <a:pPr marL="285750" indent="-285750" defTabSz="914400">
              <a:buFont typeface="Arial"/>
              <a:buChar char="•"/>
            </a:pPr>
            <a:r>
              <a:rPr lang="en-US" sz="1400">
                <a:ea typeface="+mn-lt"/>
                <a:cs typeface="+mn-lt"/>
              </a:rPr>
              <a:t>Reduce </a:t>
            </a:r>
            <a:r>
              <a:rPr lang="en-US" sz="1400" b="1">
                <a:ea typeface="+mn-lt"/>
                <a:cs typeface="+mn-lt"/>
              </a:rPr>
              <a:t>manual effort </a:t>
            </a:r>
            <a:r>
              <a:rPr kumimoji="0" lang="en-US" sz="1400" b="1" i="0" u="none" strike="noStrike" cap="none" normalizeH="0" baseline="0">
                <a:ln>
                  <a:noFill/>
                </a:ln>
                <a:effectLst/>
                <a:ea typeface="+mn-lt"/>
                <a:cs typeface="+mn-lt"/>
              </a:rPr>
              <a:t>and </a:t>
            </a:r>
            <a:r>
              <a:rPr lang="en-US" sz="1400" b="1">
                <a:ea typeface="+mn-lt"/>
                <a:cs typeface="+mn-lt"/>
              </a:rPr>
              <a:t>administrative workload</a:t>
            </a:r>
            <a:r>
              <a:rPr lang="en-US" sz="1400">
                <a:ea typeface="+mn-lt"/>
                <a:cs typeface="+mn-lt"/>
              </a:rPr>
              <a:t> in HR operations </a:t>
            </a:r>
          </a:p>
          <a:p>
            <a:pPr marL="285750" indent="-285750" defTabSz="914400">
              <a:buFont typeface="Arial"/>
              <a:buChar char="•"/>
            </a:pPr>
            <a:r>
              <a:rPr lang="en-US" sz="1400">
                <a:ea typeface="+mn-lt"/>
                <a:cs typeface="+mn-lt"/>
              </a:rPr>
              <a:t>Establish </a:t>
            </a:r>
            <a:r>
              <a:rPr kumimoji="0" lang="en-US" sz="1400" b="0" i="0" u="none" strike="noStrike" cap="none" normalizeH="0" baseline="0">
                <a:ln>
                  <a:noFill/>
                </a:ln>
                <a:effectLst/>
                <a:ea typeface="+mn-lt"/>
                <a:cs typeface="+mn-lt"/>
              </a:rPr>
              <a:t>a </a:t>
            </a:r>
            <a:r>
              <a:rPr lang="en-US" sz="1400" b="1">
                <a:ea typeface="+mn-lt"/>
                <a:cs typeface="+mn-lt"/>
              </a:rPr>
              <a:t>scalable and sustainable HR </a:t>
            </a:r>
            <a:r>
              <a:rPr kumimoji="0" lang="en-US" sz="1400" b="1" i="0" u="none" strike="noStrike" cap="none" normalizeH="0" baseline="0">
                <a:ln>
                  <a:noFill/>
                </a:ln>
                <a:effectLst/>
                <a:ea typeface="+mn-lt"/>
                <a:cs typeface="+mn-lt"/>
              </a:rPr>
              <a:t>system</a:t>
            </a:r>
            <a:r>
              <a:rPr kumimoji="0" lang="en-US" sz="1400" b="0" i="0" u="none" strike="noStrike" cap="none" normalizeH="0" baseline="0">
                <a:ln>
                  <a:noFill/>
                </a:ln>
                <a:effectLst/>
                <a:ea typeface="+mn-lt"/>
                <a:cs typeface="+mn-lt"/>
              </a:rPr>
              <a:t> </a:t>
            </a:r>
            <a:r>
              <a:rPr lang="en-US" sz="1400">
                <a:ea typeface="+mn-lt"/>
                <a:cs typeface="+mn-lt"/>
              </a:rPr>
              <a:t>to support long-term business needs</a:t>
            </a:r>
            <a:endParaRPr lang="en-US" sz="1400">
              <a:ea typeface="Calibri" panose="020F0502020204030204"/>
              <a:cs typeface="Calibri" panose="020F0502020204030204"/>
            </a:endParaRPr>
          </a:p>
        </p:txBody>
      </p:sp>
      <p:sp>
        <p:nvSpPr>
          <p:cNvPr id="4" name="TextBox 3">
            <a:extLst>
              <a:ext uri="{FF2B5EF4-FFF2-40B4-BE49-F238E27FC236}">
                <a16:creationId xmlns:a16="http://schemas.microsoft.com/office/drawing/2014/main" id="{C1F88581-5090-501D-202A-666D88433001}"/>
              </a:ext>
            </a:extLst>
          </p:cNvPr>
          <p:cNvSpPr txBox="1"/>
          <p:nvPr/>
        </p:nvSpPr>
        <p:spPr>
          <a:xfrm>
            <a:off x="760609" y="2097886"/>
            <a:ext cx="6336659" cy="382092"/>
          </a:xfrm>
          <a:prstGeom prst="rect">
            <a:avLst/>
          </a:prstGeom>
          <a:noFill/>
        </p:spPr>
        <p:txBody>
          <a:bodyPr wrap="square" rtlCol="0">
            <a:spAutoFit/>
          </a:bodyPr>
          <a:lstStyle/>
          <a:p>
            <a:pPr algn="just">
              <a:lnSpc>
                <a:spcPct val="150000"/>
              </a:lnSpc>
            </a:pPr>
            <a:r>
              <a:rPr lang="en-US" sz="1400" b="1"/>
              <a:t>1.2 Objective</a:t>
            </a:r>
          </a:p>
        </p:txBody>
      </p:sp>
      <p:sp>
        <p:nvSpPr>
          <p:cNvPr id="9" name="TextBox 8">
            <a:extLst>
              <a:ext uri="{FF2B5EF4-FFF2-40B4-BE49-F238E27FC236}">
                <a16:creationId xmlns:a16="http://schemas.microsoft.com/office/drawing/2014/main" id="{98C247E4-E0E4-EAAC-7235-EFAC8ED51BFE}"/>
              </a:ext>
            </a:extLst>
          </p:cNvPr>
          <p:cNvSpPr txBox="1"/>
          <p:nvPr/>
        </p:nvSpPr>
        <p:spPr>
          <a:xfrm>
            <a:off x="749721" y="3512299"/>
            <a:ext cx="6336659" cy="382092"/>
          </a:xfrm>
          <a:prstGeom prst="rect">
            <a:avLst/>
          </a:prstGeom>
          <a:noFill/>
        </p:spPr>
        <p:txBody>
          <a:bodyPr wrap="square" rtlCol="0">
            <a:spAutoFit/>
          </a:bodyPr>
          <a:lstStyle/>
          <a:p>
            <a:pPr algn="just">
              <a:lnSpc>
                <a:spcPct val="150000"/>
              </a:lnSpc>
            </a:pPr>
            <a:r>
              <a:rPr lang="en-US" sz="1400" b="1"/>
              <a:t>1.3 Benefit</a:t>
            </a:r>
          </a:p>
        </p:txBody>
      </p:sp>
      <p:sp>
        <p:nvSpPr>
          <p:cNvPr id="10" name="TextBox 9">
            <a:extLst>
              <a:ext uri="{FF2B5EF4-FFF2-40B4-BE49-F238E27FC236}">
                <a16:creationId xmlns:a16="http://schemas.microsoft.com/office/drawing/2014/main" id="{C9CAD8AF-8A39-FD41-6908-10006EA45C37}"/>
              </a:ext>
            </a:extLst>
          </p:cNvPr>
          <p:cNvSpPr txBox="1"/>
          <p:nvPr/>
        </p:nvSpPr>
        <p:spPr>
          <a:xfrm>
            <a:off x="749721" y="3856559"/>
            <a:ext cx="7756009" cy="1169551"/>
          </a:xfrm>
          <a:prstGeom prst="rect">
            <a:avLst/>
          </a:prstGeom>
          <a:noFill/>
        </p:spPr>
        <p:txBody>
          <a:bodyPr wrap="square" lIns="91440" tIns="45720" rIns="91440" bIns="45720" anchor="t">
            <a:spAutoFit/>
          </a:bodyPr>
          <a:lstStyle/>
          <a:p>
            <a:pPr marL="285750" indent="-285750">
              <a:buFont typeface="Arial"/>
              <a:buChar char="•"/>
              <a:tabLst>
                <a:tab pos="173038" algn="l"/>
              </a:tabLst>
            </a:pPr>
            <a:r>
              <a:rPr lang="en-US" sz="1400" b="1" kern="100">
                <a:ea typeface="+mn-lt"/>
                <a:cs typeface="+mn-lt"/>
              </a:rPr>
              <a:t>Reduced dependency on manual Excel processes</a:t>
            </a:r>
            <a:r>
              <a:rPr lang="en-US" sz="1400" kern="100">
                <a:ea typeface="+mn-lt"/>
                <a:cs typeface="+mn-lt"/>
              </a:rPr>
              <a:t>, improving efficiency and accuracy </a:t>
            </a:r>
            <a:endParaRPr lang="en-US" sz="1400"/>
          </a:p>
          <a:p>
            <a:pPr marL="285750" indent="-285750">
              <a:buFont typeface="Arial"/>
              <a:buChar char="•"/>
              <a:tabLst>
                <a:tab pos="173038" algn="l"/>
              </a:tabLst>
            </a:pPr>
            <a:r>
              <a:rPr lang="en-US" sz="1400" b="1" kern="100">
                <a:ea typeface="+mn-lt"/>
                <a:cs typeface="+mn-lt"/>
              </a:rPr>
              <a:t>Lower long-term cost and effort</a:t>
            </a:r>
            <a:r>
              <a:rPr lang="en-US" sz="1400" kern="100">
                <a:ea typeface="+mn-lt"/>
                <a:cs typeface="+mn-lt"/>
              </a:rPr>
              <a:t> through a configurable and adaptable system </a:t>
            </a:r>
            <a:endParaRPr lang="en-US" sz="1400"/>
          </a:p>
          <a:p>
            <a:pPr marL="285750" indent="-285750">
              <a:buFont typeface="Arial"/>
              <a:buChar char="•"/>
              <a:tabLst>
                <a:tab pos="173038" algn="l"/>
              </a:tabLst>
            </a:pPr>
            <a:r>
              <a:rPr lang="en-US" sz="1400" b="1" kern="100">
                <a:ea typeface="+mn-lt"/>
                <a:cs typeface="+mn-lt"/>
              </a:rPr>
              <a:t>Consistent and reliable HR data</a:t>
            </a:r>
            <a:r>
              <a:rPr lang="en-US" sz="1400" kern="100">
                <a:ea typeface="+mn-lt"/>
                <a:cs typeface="+mn-lt"/>
              </a:rPr>
              <a:t> as a single source of truth </a:t>
            </a:r>
            <a:endParaRPr lang="en-US" sz="1400"/>
          </a:p>
          <a:p>
            <a:pPr marL="285750" indent="-285750">
              <a:buFont typeface="Arial"/>
              <a:buChar char="•"/>
              <a:tabLst>
                <a:tab pos="173038" algn="l"/>
              </a:tabLst>
            </a:pPr>
            <a:r>
              <a:rPr lang="en-US" sz="1400" b="1" kern="100">
                <a:ea typeface="+mn-lt"/>
                <a:cs typeface="+mn-lt"/>
              </a:rPr>
              <a:t>Improved process control and visibility</a:t>
            </a:r>
            <a:r>
              <a:rPr lang="en-US" sz="1400" kern="100">
                <a:ea typeface="+mn-lt"/>
                <a:cs typeface="+mn-lt"/>
              </a:rPr>
              <a:t> across evaluation and HR activities </a:t>
            </a:r>
            <a:endParaRPr lang="en-US" sz="1400"/>
          </a:p>
          <a:p>
            <a:pPr marL="285750" indent="-285750">
              <a:buFont typeface="Arial"/>
              <a:buChar char="•"/>
              <a:tabLst>
                <a:tab pos="173038" algn="l"/>
              </a:tabLst>
            </a:pPr>
            <a:r>
              <a:rPr lang="en-US" sz="1400" b="1" kern="100">
                <a:ea typeface="+mn-lt"/>
                <a:cs typeface="+mn-lt"/>
              </a:rPr>
              <a:t>Scalable solution</a:t>
            </a:r>
            <a:r>
              <a:rPr lang="en-US" sz="1400" kern="100">
                <a:ea typeface="+mn-lt"/>
                <a:cs typeface="+mn-lt"/>
              </a:rPr>
              <a:t> that supports future organizational changes</a:t>
            </a:r>
            <a:endParaRPr lang="en-US" sz="1400"/>
          </a:p>
        </p:txBody>
      </p:sp>
      <p:sp>
        <p:nvSpPr>
          <p:cNvPr id="11" name="TextBox 10">
            <a:extLst>
              <a:ext uri="{FF2B5EF4-FFF2-40B4-BE49-F238E27FC236}">
                <a16:creationId xmlns:a16="http://schemas.microsoft.com/office/drawing/2014/main" id="{58BA5AAE-65C7-B714-7F99-AF4EDFD9AFBB}"/>
              </a:ext>
            </a:extLst>
          </p:cNvPr>
          <p:cNvSpPr txBox="1"/>
          <p:nvPr/>
        </p:nvSpPr>
        <p:spPr>
          <a:xfrm>
            <a:off x="749721" y="5107172"/>
            <a:ext cx="6336659" cy="382092"/>
          </a:xfrm>
          <a:prstGeom prst="rect">
            <a:avLst/>
          </a:prstGeom>
          <a:noFill/>
        </p:spPr>
        <p:txBody>
          <a:bodyPr wrap="square" rtlCol="0">
            <a:spAutoFit/>
          </a:bodyPr>
          <a:lstStyle/>
          <a:p>
            <a:pPr algn="just">
              <a:lnSpc>
                <a:spcPct val="150000"/>
              </a:lnSpc>
            </a:pPr>
            <a:r>
              <a:rPr lang="en-US" sz="1400" b="1"/>
              <a:t>1.4 Commercial Overview</a:t>
            </a:r>
          </a:p>
        </p:txBody>
      </p:sp>
      <p:sp>
        <p:nvSpPr>
          <p:cNvPr id="12" name="TextBox 11">
            <a:extLst>
              <a:ext uri="{FF2B5EF4-FFF2-40B4-BE49-F238E27FC236}">
                <a16:creationId xmlns:a16="http://schemas.microsoft.com/office/drawing/2014/main" id="{7D9B87D0-8D35-5F5B-179E-45E2A3026FF7}"/>
              </a:ext>
            </a:extLst>
          </p:cNvPr>
          <p:cNvSpPr txBox="1"/>
          <p:nvPr/>
        </p:nvSpPr>
        <p:spPr>
          <a:xfrm>
            <a:off x="1112722" y="5455862"/>
            <a:ext cx="8111740" cy="523220"/>
          </a:xfrm>
          <a:prstGeom prst="rect">
            <a:avLst/>
          </a:prstGeom>
          <a:noFill/>
        </p:spPr>
        <p:txBody>
          <a:bodyPr wrap="square">
            <a:spAutoFit/>
          </a:bodyPr>
          <a:lstStyle/>
          <a:p>
            <a:pPr marR="0">
              <a:spcAft>
                <a:spcPts val="800"/>
              </a:spcAft>
            </a:pPr>
            <a:r>
              <a:rPr lang="en-US" sz="1400" kern="100">
                <a:effectLst/>
                <a:ea typeface="DengXian" panose="02010600030101010101" pitchFamily="2" charset="-122"/>
                <a:cs typeface="Times New Roman" panose="02020603050405020304" pitchFamily="18" charset="0"/>
              </a:rPr>
              <a:t>Implementation Fee (IDR)	: </a:t>
            </a:r>
            <a:r>
              <a:rPr lang="en-US" sz="1400" b="1" u="sng"/>
              <a:t>1,920,000,000</a:t>
            </a:r>
            <a:br>
              <a:rPr lang="en-US" sz="1400" kern="100">
                <a:effectLst/>
                <a:ea typeface="DengXian" panose="02010600030101010101" pitchFamily="2" charset="-122"/>
                <a:cs typeface="Times New Roman" panose="02020603050405020304" pitchFamily="18" charset="0"/>
              </a:rPr>
            </a:br>
            <a:r>
              <a:rPr lang="en-US" sz="1400" kern="100">
                <a:effectLst/>
                <a:ea typeface="DengXian" panose="02010600030101010101" pitchFamily="2" charset="-122"/>
                <a:cs typeface="Times New Roman" panose="02020603050405020304" pitchFamily="18" charset="0"/>
              </a:rPr>
              <a:t>FY26 </a:t>
            </a:r>
            <a:r>
              <a:rPr lang="en-US" sz="1400" kern="100">
                <a:ea typeface="DengXian" panose="02010600030101010101" pitchFamily="2" charset="-122"/>
                <a:cs typeface="Times New Roman" panose="02020603050405020304" pitchFamily="18" charset="0"/>
              </a:rPr>
              <a:t>Operation Fee (IDR)		:    </a:t>
            </a:r>
            <a:r>
              <a:rPr lang="en-US" sz="1400" b="1" u="sng"/>
              <a:t>135,000,000</a:t>
            </a:r>
            <a:endParaRPr lang="en-US" sz="1400" kern="100">
              <a:effectLst/>
              <a:ea typeface="DengXia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A969AB19-5598-E6A9-94E9-220FFAC3F555}"/>
              </a:ext>
            </a:extLst>
          </p:cNvPr>
          <p:cNvSpPr txBox="1"/>
          <p:nvPr/>
        </p:nvSpPr>
        <p:spPr>
          <a:xfrm>
            <a:off x="8697763" y="604109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764692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6D99C-4330-F636-2E0E-5D49D2015B7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4820446-DA43-EFD3-B01E-696DA2AD5733}"/>
              </a:ext>
            </a:extLst>
          </p:cNvPr>
          <p:cNvSpPr>
            <a:spLocks noGrp="1"/>
          </p:cNvSpPr>
          <p:nvPr>
            <p:ph type="sldNum" sz="quarter" idx="12"/>
          </p:nvPr>
        </p:nvSpPr>
        <p:spPr/>
        <p:txBody>
          <a:bodyPr/>
          <a:lstStyle/>
          <a:p>
            <a:r>
              <a:rPr lang="en-GB"/>
              <a:t> Page </a:t>
            </a:r>
            <a:fld id="{7A555EF9-59E7-4D74-815B-7A20869232EE}" type="slidenum">
              <a:rPr lang="en-GB" smtClean="0"/>
              <a:pPr/>
              <a:t>5</a:t>
            </a:fld>
            <a:endParaRPr lang="en-GB"/>
          </a:p>
        </p:txBody>
      </p:sp>
      <p:sp>
        <p:nvSpPr>
          <p:cNvPr id="25" name="Title 24">
            <a:extLst>
              <a:ext uri="{FF2B5EF4-FFF2-40B4-BE49-F238E27FC236}">
                <a16:creationId xmlns:a16="http://schemas.microsoft.com/office/drawing/2014/main" id="{D7E540DE-14C4-7792-5FD4-1FF39A13EF91}"/>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2. Requirement &amp; Propose Solution</a:t>
            </a:r>
            <a:endParaRPr lang="en-US">
              <a:latin typeface="Helvetica Neue" panose="02000503000000020004"/>
            </a:endParaRPr>
          </a:p>
        </p:txBody>
      </p:sp>
      <p:sp>
        <p:nvSpPr>
          <p:cNvPr id="7" name="Footer Placeholder 4">
            <a:extLst>
              <a:ext uri="{FF2B5EF4-FFF2-40B4-BE49-F238E27FC236}">
                <a16:creationId xmlns:a16="http://schemas.microsoft.com/office/drawing/2014/main" id="{903E84EF-9943-43D2-3B3E-ACA912D486B0}"/>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4" name="Table 3">
            <a:extLst>
              <a:ext uri="{FF2B5EF4-FFF2-40B4-BE49-F238E27FC236}">
                <a16:creationId xmlns:a16="http://schemas.microsoft.com/office/drawing/2014/main" id="{88EA92DB-0DA1-D1C5-4BA4-FCBBA18B2AF6}"/>
              </a:ext>
            </a:extLst>
          </p:cNvPr>
          <p:cNvGraphicFramePr>
            <a:graphicFrameLocks noGrp="1"/>
          </p:cNvGraphicFramePr>
          <p:nvPr>
            <p:extLst>
              <p:ext uri="{D42A27DB-BD31-4B8C-83A1-F6EECF244321}">
                <p14:modId xmlns:p14="http://schemas.microsoft.com/office/powerpoint/2010/main" val="1370717149"/>
              </p:ext>
            </p:extLst>
          </p:nvPr>
        </p:nvGraphicFramePr>
        <p:xfrm>
          <a:off x="812155" y="2137232"/>
          <a:ext cx="8765253" cy="3479800"/>
        </p:xfrm>
        <a:graphic>
          <a:graphicData uri="http://schemas.openxmlformats.org/drawingml/2006/table">
            <a:tbl>
              <a:tblPr firstRow="1" bandRow="1">
                <a:tableStyleId>{5C22544A-7EE6-4342-B048-85BDC9FD1C3A}</a:tableStyleId>
              </a:tblPr>
              <a:tblGrid>
                <a:gridCol w="1682190">
                  <a:extLst>
                    <a:ext uri="{9D8B030D-6E8A-4147-A177-3AD203B41FA5}">
                      <a16:colId xmlns:a16="http://schemas.microsoft.com/office/drawing/2014/main" val="4144313062"/>
                    </a:ext>
                  </a:extLst>
                </a:gridCol>
                <a:gridCol w="1894775">
                  <a:extLst>
                    <a:ext uri="{9D8B030D-6E8A-4147-A177-3AD203B41FA5}">
                      <a16:colId xmlns:a16="http://schemas.microsoft.com/office/drawing/2014/main" val="115139022"/>
                    </a:ext>
                  </a:extLst>
                </a:gridCol>
                <a:gridCol w="2824174">
                  <a:extLst>
                    <a:ext uri="{9D8B030D-6E8A-4147-A177-3AD203B41FA5}">
                      <a16:colId xmlns:a16="http://schemas.microsoft.com/office/drawing/2014/main" val="3329258466"/>
                    </a:ext>
                  </a:extLst>
                </a:gridCol>
                <a:gridCol w="2364114">
                  <a:extLst>
                    <a:ext uri="{9D8B030D-6E8A-4147-A177-3AD203B41FA5}">
                      <a16:colId xmlns:a16="http://schemas.microsoft.com/office/drawing/2014/main" val="2666873609"/>
                    </a:ext>
                  </a:extLst>
                </a:gridCol>
              </a:tblGrid>
              <a:tr h="370840">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tc>
                <a:extLst>
                  <a:ext uri="{0D108BD9-81ED-4DB2-BD59-A6C34878D82A}">
                    <a16:rowId xmlns:a16="http://schemas.microsoft.com/office/drawing/2014/main" val="2494071978"/>
                  </a:ext>
                </a:extLst>
              </a:tr>
              <a:tr h="0">
                <a:tc>
                  <a:txBody>
                    <a:bodyPr/>
                    <a:lstStyle/>
                    <a:p>
                      <a:pPr marL="0" marR="0" algn="ctr">
                        <a:lnSpc>
                          <a:spcPct val="100000"/>
                        </a:lnSpc>
                        <a:spcAft>
                          <a:spcPts val="0"/>
                        </a:spcAft>
                        <a:buNone/>
                      </a:pPr>
                      <a:r>
                        <a:rPr lang="en-US" sz="1200" b="1" kern="100">
                          <a:effectLst/>
                          <a:latin typeface="+mn-lt"/>
                          <a:ea typeface="DengXian" panose="02010600030101010101" pitchFamily="2" charset="-122"/>
                          <a:cs typeface="Arial" panose="020B0604020202020204" pitchFamily="34" charset="0"/>
                        </a:rPr>
                        <a:t>Performance Evaluation</a:t>
                      </a:r>
                    </a:p>
                  </a:txBody>
                  <a:tcPr marL="68580" marR="68580" marT="0" marB="0"/>
                </a:tc>
                <a:tc>
                  <a:txBody>
                    <a:bodyPr/>
                    <a:lstStyle/>
                    <a:p>
                      <a:pPr marL="0" marR="0" indent="0" algn="l">
                        <a:lnSpc>
                          <a:spcPct val="100000"/>
                        </a:lnSpc>
                        <a:spcAft>
                          <a:spcPts val="0"/>
                        </a:spcAft>
                        <a:buFont typeface="Arial" panose="020B0604020202020204" pitchFamily="34" charset="0"/>
                        <a:buNone/>
                      </a:pPr>
                      <a:r>
                        <a:rPr lang="en-US" sz="1200" i="0">
                          <a:latin typeface="+mn-lt"/>
                        </a:rPr>
                        <a:t>Misaligned and inconsistent performance evaluations</a:t>
                      </a:r>
                      <a:endParaRPr lang="en-US" sz="1200" i="0" kern="100">
                        <a:effectLst/>
                        <a:latin typeface="+mn-lt"/>
                        <a:ea typeface="DengXian"/>
                        <a:cs typeface="Arial" panose="020B0604020202020204" pitchFamily="34" charset="0"/>
                      </a:endParaRPr>
                    </a:p>
                    <a:p>
                      <a:pPr marL="0" marR="0" algn="l">
                        <a:lnSpc>
                          <a:spcPct val="100000"/>
                        </a:lnSpc>
                        <a:spcAft>
                          <a:spcPts val="0"/>
                        </a:spcAft>
                        <a:buNone/>
                      </a:pPr>
                      <a:endParaRPr lang="en-US" sz="1200" kern="100">
                        <a:effectLst/>
                        <a:latin typeface="+mn-lt"/>
                        <a:ea typeface="DengXian"/>
                        <a:cs typeface="Arial" panose="020B0604020202020204" pitchFamily="34" charset="0"/>
                      </a:endParaRPr>
                    </a:p>
                  </a:txBody>
                  <a:tcPr marL="68580" marR="68580" marT="0" marB="0"/>
                </a:tc>
                <a:tc>
                  <a:txBody>
                    <a:bodyPr/>
                    <a:lstStyle/>
                    <a:p>
                      <a:pPr marL="0" marR="0" algn="l">
                        <a:lnSpc>
                          <a:spcPct val="100000"/>
                        </a:lnSpc>
                        <a:spcAft>
                          <a:spcPts val="0"/>
                        </a:spcAft>
                        <a:buNone/>
                      </a:pPr>
                      <a:r>
                        <a:rPr lang="en-US" sz="1200" kern="100">
                          <a:effectLst/>
                          <a:latin typeface="+mn-lt"/>
                          <a:ea typeface="DengXian" panose="02010600030101010101" pitchFamily="2" charset="-122"/>
                          <a:cs typeface="Arial" panose="020B0604020202020204" pitchFamily="34" charset="0"/>
                        </a:rPr>
                        <a:t>Provide a system function that enable </a:t>
                      </a:r>
                      <a:r>
                        <a:rPr lang="en-US" sz="1200" b="1" kern="100">
                          <a:effectLst/>
                          <a:latin typeface="+mn-lt"/>
                          <a:ea typeface="DengXian" panose="02010600030101010101" pitchFamily="2" charset="-122"/>
                          <a:cs typeface="Arial" panose="020B0604020202020204" pitchFamily="34" charset="0"/>
                        </a:rPr>
                        <a:t>structured and end-to-end</a:t>
                      </a:r>
                      <a:r>
                        <a:rPr lang="en-US" sz="1200" kern="100">
                          <a:effectLst/>
                          <a:latin typeface="+mn-lt"/>
                          <a:ea typeface="DengXian" panose="02010600030101010101" pitchFamily="2" charset="-122"/>
                          <a:cs typeface="Arial" panose="020B0604020202020204" pitchFamily="34" charset="0"/>
                        </a:rPr>
                        <a:t> Performance Evaluation process starting from individual KPI planning that align with company goals.</a:t>
                      </a:r>
                    </a:p>
                    <a:p>
                      <a:pPr marL="0" marR="0" algn="l">
                        <a:lnSpc>
                          <a:spcPct val="100000"/>
                        </a:lnSpc>
                        <a:spcAft>
                          <a:spcPts val="0"/>
                        </a:spcAft>
                        <a:buNone/>
                      </a:pPr>
                      <a:endParaRPr lang="en-US" sz="120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indent="0" algn="l">
                        <a:lnSpc>
                          <a:spcPct val="100000"/>
                        </a:lnSpc>
                        <a:spcAft>
                          <a:spcPts val="0"/>
                        </a:spcAft>
                        <a:buFont typeface="Arial" panose="020B0604020202020204" pitchFamily="34" charset="0"/>
                        <a:buNone/>
                      </a:pPr>
                      <a:r>
                        <a:rPr lang="en-US" sz="1200">
                          <a:latin typeface="+mn-lt"/>
                          <a:cs typeface="Arial" panose="020B0604020202020204" pitchFamily="34" charset="0"/>
                        </a:rPr>
                        <a:t>Operational efficiency to support Data-driven decisions.</a:t>
                      </a:r>
                      <a:endParaRPr lang="en-US" sz="1200" kern="100">
                        <a:effectLst/>
                        <a:latin typeface="+mn-lt"/>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212780037"/>
                  </a:ext>
                </a:extLst>
              </a:tr>
              <a:tr h="0">
                <a:tc>
                  <a:txBody>
                    <a:bodyPr/>
                    <a:lstStyle/>
                    <a:p>
                      <a:pPr marL="0" marR="0" algn="ctr">
                        <a:lnSpc>
                          <a:spcPct val="100000"/>
                        </a:lnSpc>
                        <a:spcAft>
                          <a:spcPts val="0"/>
                        </a:spcAft>
                        <a:buNone/>
                      </a:pPr>
                      <a:r>
                        <a:rPr lang="en-US" sz="1200" b="1" kern="100">
                          <a:effectLst/>
                          <a:latin typeface="+mn-lt"/>
                          <a:ea typeface="DengXian" panose="02010600030101010101" pitchFamily="2" charset="-122"/>
                          <a:cs typeface="Arial" panose="020B0604020202020204" pitchFamily="34" charset="0"/>
                        </a:rPr>
                        <a:t>Logbook</a:t>
                      </a:r>
                    </a:p>
                  </a:txBody>
                  <a:tcPr marL="68580" marR="68580" marT="0" marB="0"/>
                </a:tc>
                <a:tc>
                  <a:txBody>
                    <a:bodyPr/>
                    <a:lstStyle/>
                    <a:p>
                      <a:pPr marL="0" indent="0">
                        <a:lnSpc>
                          <a:spcPct val="100000"/>
                        </a:lnSpc>
                        <a:buFont typeface="Arial" panose="020B0604020202020204" pitchFamily="34" charset="0"/>
                        <a:buNone/>
                      </a:pPr>
                      <a:r>
                        <a:rPr lang="en-US" sz="1200" i="0">
                          <a:latin typeface="+mn-lt"/>
                          <a:cs typeface="Arial" panose="020B0604020202020204" pitchFamily="34" charset="0"/>
                        </a:rPr>
                        <a:t>Inefficient, error-prone logbook management.</a:t>
                      </a:r>
                    </a:p>
                  </a:txBody>
                  <a:tcPr marL="68580" marR="68580" marT="0" marB="0"/>
                </a:tc>
                <a:tc>
                  <a:txBody>
                    <a:bodyPr/>
                    <a:lstStyle/>
                    <a:p>
                      <a:pPr marL="0" marR="0" indent="0">
                        <a:lnSpc>
                          <a:spcPct val="100000"/>
                        </a:lnSpc>
                        <a:spcAft>
                          <a:spcPts val="0"/>
                        </a:spcAft>
                        <a:buNone/>
                      </a:pPr>
                      <a:r>
                        <a:rPr lang="en-US" sz="1200" b="0" i="0" u="none" strike="noStrike" kern="100" noProof="0">
                          <a:effectLst/>
                          <a:latin typeface="+mn-lt"/>
                          <a:cs typeface="Arial" panose="020B0604020202020204" pitchFamily="34" charset="0"/>
                        </a:rPr>
                        <a:t>Implement a centralized Logbook &amp; Competency Management System that enables </a:t>
                      </a:r>
                      <a:r>
                        <a:rPr lang="en-US" sz="1200" b="1" i="0" u="none" strike="noStrike" kern="100" noProof="0">
                          <a:effectLst/>
                          <a:latin typeface="+mn-lt"/>
                          <a:cs typeface="Arial" panose="020B0604020202020204" pitchFamily="34" charset="0"/>
                        </a:rPr>
                        <a:t>structured competency tracking, automated data capture, and real-time visibility</a:t>
                      </a:r>
                      <a:r>
                        <a:rPr lang="en-US" sz="1200" b="0" i="0" u="none" strike="noStrike" kern="100" noProof="0">
                          <a:effectLst/>
                          <a:latin typeface="+mn-lt"/>
                          <a:cs typeface="Arial" panose="020B0604020202020204" pitchFamily="34" charset="0"/>
                        </a:rPr>
                        <a:t> across employees and departments.</a:t>
                      </a:r>
                    </a:p>
                    <a:p>
                      <a:pPr marL="0" marR="0" indent="0">
                        <a:lnSpc>
                          <a:spcPct val="100000"/>
                        </a:lnSpc>
                        <a:spcAft>
                          <a:spcPts val="0"/>
                        </a:spcAft>
                        <a:buNone/>
                      </a:pPr>
                      <a:endParaRPr lang="en-US" sz="120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lvl="0" indent="0">
                        <a:lnSpc>
                          <a:spcPct val="100000"/>
                        </a:lnSpc>
                        <a:spcAft>
                          <a:spcPts val="0"/>
                        </a:spcAft>
                        <a:buNone/>
                      </a:pPr>
                      <a:r>
                        <a:rPr lang="en-US" sz="1200" b="0" i="0" u="none" strike="noStrike" kern="100" noProof="0">
                          <a:effectLst/>
                          <a:latin typeface="+mn-lt"/>
                          <a:ea typeface="Calibri"/>
                          <a:cs typeface="Arial" panose="020B0604020202020204" pitchFamily="34" charset="0"/>
                        </a:rPr>
                        <a:t>Drive operational efficiency with automated processes, ensure accurate and consistent competency data, and enable real-time insights for faster, more informed decision-making.</a:t>
                      </a:r>
                      <a:endParaRPr lang="en-US" sz="1200">
                        <a:latin typeface="+mn-lt"/>
                        <a:ea typeface="Calibri"/>
                        <a:cs typeface="Arial" panose="020B0604020202020204" pitchFamily="34" charset="0"/>
                      </a:endParaRPr>
                    </a:p>
                  </a:txBody>
                  <a:tcPr marL="68580" marR="68580" marT="0" marB="0"/>
                </a:tc>
                <a:extLst>
                  <a:ext uri="{0D108BD9-81ED-4DB2-BD59-A6C34878D82A}">
                    <a16:rowId xmlns:a16="http://schemas.microsoft.com/office/drawing/2014/main" val="3768642797"/>
                  </a:ext>
                </a:extLst>
              </a:tr>
              <a:tr h="0">
                <a:tc>
                  <a:txBody>
                    <a:bodyPr/>
                    <a:lstStyle/>
                    <a:p>
                      <a:pPr marL="0" marR="0" algn="ctr">
                        <a:lnSpc>
                          <a:spcPct val="100000"/>
                        </a:lnSpc>
                        <a:spcAft>
                          <a:spcPts val="0"/>
                        </a:spcAft>
                        <a:buNone/>
                      </a:pPr>
                      <a:r>
                        <a:rPr lang="en-US" sz="1200" b="1" kern="100">
                          <a:effectLst/>
                          <a:latin typeface="+mn-lt"/>
                          <a:ea typeface="DengXian" panose="02010600030101010101" pitchFamily="2" charset="-122"/>
                          <a:cs typeface="Arial" panose="020B0604020202020204" pitchFamily="34" charset="0"/>
                        </a:rPr>
                        <a:t>Promotion</a:t>
                      </a:r>
                    </a:p>
                  </a:txBody>
                  <a:tcPr marL="68580" marR="68580" marT="0" marB="0"/>
                </a:tc>
                <a:tc>
                  <a:txBody>
                    <a:bodyPr/>
                    <a:lstStyle/>
                    <a:p>
                      <a:pPr marL="0" indent="0">
                        <a:lnSpc>
                          <a:spcPct val="100000"/>
                        </a:lnSpc>
                        <a:buFont typeface="Arial" panose="020B0604020202020204" pitchFamily="34" charset="0"/>
                        <a:buNone/>
                      </a:pPr>
                      <a:r>
                        <a:rPr lang="en-US" sz="1200" i="0">
                          <a:latin typeface="+mn-lt"/>
                        </a:rPr>
                        <a:t>Manual, fragmented promotion process having lacking transparency, consistency, and data traceability.</a:t>
                      </a:r>
                      <a:endParaRPr lang="en-US" sz="1200" i="0">
                        <a:latin typeface="+mn-lt"/>
                        <a:cs typeface="Arial" panose="020B0604020202020204" pitchFamily="34" charset="0"/>
                      </a:endParaRPr>
                    </a:p>
                  </a:txBody>
                  <a:tcPr marL="68580" marR="68580" marT="0" marB="0"/>
                </a:tc>
                <a:tc>
                  <a:txBody>
                    <a:bodyPr/>
                    <a:lstStyle/>
                    <a:p>
                      <a:pPr marL="0" indent="0">
                        <a:lnSpc>
                          <a:spcPct val="100000"/>
                        </a:lnSpc>
                        <a:buFont typeface="Arial" panose="020B0604020202020204" pitchFamily="34" charset="0"/>
                        <a:buNone/>
                      </a:pPr>
                      <a:r>
                        <a:rPr lang="en-US" sz="1200" b="1">
                          <a:latin typeface="+mn-lt"/>
                          <a:cs typeface="Arial" panose="020B0604020202020204" pitchFamily="34" charset="0"/>
                        </a:rPr>
                        <a:t>Centralized data</a:t>
                      </a:r>
                      <a:r>
                        <a:rPr lang="en-US" sz="1200" b="0">
                          <a:latin typeface="+mn-lt"/>
                          <a:cs typeface="Arial" panose="020B0604020202020204" pitchFamily="34" charset="0"/>
                        </a:rPr>
                        <a:t> which </a:t>
                      </a:r>
                      <a:r>
                        <a:rPr lang="en-US" sz="1200">
                          <a:latin typeface="+mn-lt"/>
                          <a:cs typeface="Arial" panose="020B0604020202020204" pitchFamily="34" charset="0"/>
                        </a:rPr>
                        <a:t> automatically pulls in real-time employee metrics (performance scores, tenure, attendance) into a single evaluation profile. </a:t>
                      </a:r>
                    </a:p>
                    <a:p>
                      <a:pPr marL="0" indent="0">
                        <a:lnSpc>
                          <a:spcPct val="100000"/>
                        </a:lnSpc>
                        <a:buFont typeface="Arial" panose="020B0604020202020204" pitchFamily="34" charset="0"/>
                        <a:buNone/>
                      </a:pPr>
                      <a:endParaRPr lang="en-US" sz="1200">
                        <a:latin typeface="+mn-lt"/>
                        <a:cs typeface="Arial" panose="020B0604020202020204" pitchFamily="34" charset="0"/>
                      </a:endParaRPr>
                    </a:p>
                  </a:txBody>
                  <a:tcPr marL="68580" marR="68580" marT="0" marB="0"/>
                </a:tc>
                <a:tc>
                  <a:txBody>
                    <a:bodyPr/>
                    <a:lstStyle/>
                    <a:p>
                      <a:pPr marL="0" indent="0">
                        <a:lnSpc>
                          <a:spcPct val="100000"/>
                        </a:lnSpc>
                        <a:buFont typeface="Arial" panose="020B0604020202020204" pitchFamily="34" charset="0"/>
                        <a:buNone/>
                      </a:pPr>
                      <a:r>
                        <a:rPr lang="en-US" sz="1200">
                          <a:latin typeface="+mn-lt"/>
                          <a:cs typeface="Arial" panose="020B0604020202020204" pitchFamily="34" charset="0"/>
                        </a:rPr>
                        <a:t>Provides a clear, documented audit trail of the entire decision-making process for compliance and employee feedback.</a:t>
                      </a:r>
                    </a:p>
                  </a:txBody>
                  <a:tcPr marL="68580" marR="68580" marT="0" marB="0"/>
                </a:tc>
                <a:extLst>
                  <a:ext uri="{0D108BD9-81ED-4DB2-BD59-A6C34878D82A}">
                    <a16:rowId xmlns:a16="http://schemas.microsoft.com/office/drawing/2014/main" val="1440738745"/>
                  </a:ext>
                </a:extLst>
              </a:tr>
            </a:tbl>
          </a:graphicData>
        </a:graphic>
      </p:graphicFrame>
      <p:sp>
        <p:nvSpPr>
          <p:cNvPr id="3" name="TextBox 2">
            <a:extLst>
              <a:ext uri="{FF2B5EF4-FFF2-40B4-BE49-F238E27FC236}">
                <a16:creationId xmlns:a16="http://schemas.microsoft.com/office/drawing/2014/main" id="{FBEFEE9E-9CF4-780A-A551-DA45F2B13DB7}"/>
              </a:ext>
            </a:extLst>
          </p:cNvPr>
          <p:cNvSpPr txBox="1"/>
          <p:nvPr/>
        </p:nvSpPr>
        <p:spPr>
          <a:xfrm>
            <a:off x="812155" y="1214241"/>
            <a:ext cx="8656396" cy="738664"/>
          </a:xfrm>
          <a:prstGeom prst="rect">
            <a:avLst/>
          </a:prstGeom>
          <a:noFill/>
        </p:spPr>
        <p:txBody>
          <a:bodyPr wrap="square">
            <a:spAutoFit/>
          </a:bodyPr>
          <a:lstStyle/>
          <a:p>
            <a:pPr algn="just"/>
            <a:r>
              <a:rPr lang="en-US" sz="1400"/>
              <a:t>BSI proposes the implementation of a new HRD system designed with a strong focus on usability, process alignment, and scalability. The solution will be configured based on validated HRD pain point, requirements and best practices to ensure long-term value and adaptability.</a:t>
            </a:r>
            <a:r>
              <a:rPr lang="en-US" sz="1400" b="1"/>
              <a:t> </a:t>
            </a:r>
            <a:endParaRPr lang="en-US" sz="1100" b="1"/>
          </a:p>
        </p:txBody>
      </p:sp>
      <p:sp>
        <p:nvSpPr>
          <p:cNvPr id="2" name="TextBox 1">
            <a:extLst>
              <a:ext uri="{FF2B5EF4-FFF2-40B4-BE49-F238E27FC236}">
                <a16:creationId xmlns:a16="http://schemas.microsoft.com/office/drawing/2014/main" id="{5F2BE8E1-287D-A608-B944-BA6F36C79E56}"/>
              </a:ext>
            </a:extLst>
          </p:cNvPr>
          <p:cNvSpPr txBox="1"/>
          <p:nvPr/>
        </p:nvSpPr>
        <p:spPr>
          <a:xfrm>
            <a:off x="777195" y="932902"/>
            <a:ext cx="2579552" cy="307777"/>
          </a:xfrm>
          <a:prstGeom prst="rect">
            <a:avLst/>
          </a:prstGeom>
          <a:noFill/>
        </p:spPr>
        <p:txBody>
          <a:bodyPr wrap="none" rtlCol="0">
            <a:spAutoFit/>
          </a:bodyPr>
          <a:lstStyle/>
          <a:p>
            <a:r>
              <a:rPr lang="en-US" sz="1400" b="1">
                <a:latin typeface="Helvetica Neue" panose="02000503000000020004"/>
              </a:rPr>
              <a:t>2.1. Functional Requirement</a:t>
            </a:r>
          </a:p>
        </p:txBody>
      </p:sp>
      <p:sp>
        <p:nvSpPr>
          <p:cNvPr id="5" name="TextBox 4">
            <a:extLst>
              <a:ext uri="{FF2B5EF4-FFF2-40B4-BE49-F238E27FC236}">
                <a16:creationId xmlns:a16="http://schemas.microsoft.com/office/drawing/2014/main" id="{71F1B9FE-897C-2EC5-A5B6-34DC7008588B}"/>
              </a:ext>
            </a:extLst>
          </p:cNvPr>
          <p:cNvSpPr txBox="1"/>
          <p:nvPr/>
        </p:nvSpPr>
        <p:spPr>
          <a:xfrm>
            <a:off x="777195" y="5617032"/>
            <a:ext cx="8656396" cy="307777"/>
          </a:xfrm>
          <a:prstGeom prst="rect">
            <a:avLst/>
          </a:prstGeom>
          <a:noFill/>
        </p:spPr>
        <p:txBody>
          <a:bodyPr wrap="square">
            <a:spAutoFit/>
          </a:bodyPr>
          <a:lstStyle/>
          <a:p>
            <a:pPr algn="just"/>
            <a:r>
              <a:rPr lang="en-US" sz="1400" i="1"/>
              <a:t>*) Detail Requirement provided in Appendix.</a:t>
            </a:r>
            <a:endParaRPr lang="en-US" sz="1100" b="1" i="1"/>
          </a:p>
        </p:txBody>
      </p:sp>
      <p:sp>
        <p:nvSpPr>
          <p:cNvPr id="8" name="TextBox 7">
            <a:extLst>
              <a:ext uri="{FF2B5EF4-FFF2-40B4-BE49-F238E27FC236}">
                <a16:creationId xmlns:a16="http://schemas.microsoft.com/office/drawing/2014/main" id="{71D4C7B6-9996-D260-2D48-0684DCEB1695}"/>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51351196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62EA-ECDB-9230-D993-E4142949770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43779A2-809F-9CE0-E7CB-091C26144B73}"/>
              </a:ext>
            </a:extLst>
          </p:cNvPr>
          <p:cNvSpPr>
            <a:spLocks noGrp="1"/>
          </p:cNvSpPr>
          <p:nvPr>
            <p:ph type="sldNum" sz="quarter" idx="12"/>
          </p:nvPr>
        </p:nvSpPr>
        <p:spPr/>
        <p:txBody>
          <a:bodyPr/>
          <a:lstStyle/>
          <a:p>
            <a:r>
              <a:rPr lang="en-GB"/>
              <a:t> Page </a:t>
            </a:r>
            <a:fld id="{7A555EF9-59E7-4D74-815B-7A20869232EE}" type="slidenum">
              <a:rPr lang="en-GB" smtClean="0"/>
              <a:pPr/>
              <a:t>6</a:t>
            </a:fld>
            <a:endParaRPr lang="en-GB"/>
          </a:p>
        </p:txBody>
      </p:sp>
      <p:sp>
        <p:nvSpPr>
          <p:cNvPr id="25" name="Title 24">
            <a:extLst>
              <a:ext uri="{FF2B5EF4-FFF2-40B4-BE49-F238E27FC236}">
                <a16:creationId xmlns:a16="http://schemas.microsoft.com/office/drawing/2014/main" id="{2F89BE4B-EFC3-5F22-A0CE-3CA4A21F4EFC}"/>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2. Requirement &amp; Propose Solution</a:t>
            </a:r>
            <a:endParaRPr lang="en-US">
              <a:latin typeface="Helvetica Neue" panose="02000503000000020004"/>
            </a:endParaRPr>
          </a:p>
        </p:txBody>
      </p:sp>
      <p:sp>
        <p:nvSpPr>
          <p:cNvPr id="7" name="Footer Placeholder 4">
            <a:extLst>
              <a:ext uri="{FF2B5EF4-FFF2-40B4-BE49-F238E27FC236}">
                <a16:creationId xmlns:a16="http://schemas.microsoft.com/office/drawing/2014/main" id="{80009E95-95A4-7B9E-79F1-BB3A6236ABD5}"/>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2" name="Table 1">
            <a:extLst>
              <a:ext uri="{FF2B5EF4-FFF2-40B4-BE49-F238E27FC236}">
                <a16:creationId xmlns:a16="http://schemas.microsoft.com/office/drawing/2014/main" id="{36FE2F44-D34C-E9A4-C006-F3A6150620E3}"/>
              </a:ext>
            </a:extLst>
          </p:cNvPr>
          <p:cNvGraphicFramePr>
            <a:graphicFrameLocks noGrp="1"/>
          </p:cNvGraphicFramePr>
          <p:nvPr>
            <p:extLst>
              <p:ext uri="{D42A27DB-BD31-4B8C-83A1-F6EECF244321}">
                <p14:modId xmlns:p14="http://schemas.microsoft.com/office/powerpoint/2010/main" val="3504250439"/>
              </p:ext>
            </p:extLst>
          </p:nvPr>
        </p:nvGraphicFramePr>
        <p:xfrm>
          <a:off x="812155" y="1386859"/>
          <a:ext cx="8765253" cy="4262121"/>
        </p:xfrm>
        <a:graphic>
          <a:graphicData uri="http://schemas.openxmlformats.org/drawingml/2006/table">
            <a:tbl>
              <a:tblPr firstRow="1" bandRow="1">
                <a:tableStyleId>{5C22544A-7EE6-4342-B048-85BDC9FD1C3A}</a:tableStyleId>
              </a:tblPr>
              <a:tblGrid>
                <a:gridCol w="1433205">
                  <a:extLst>
                    <a:ext uri="{9D8B030D-6E8A-4147-A177-3AD203B41FA5}">
                      <a16:colId xmlns:a16="http://schemas.microsoft.com/office/drawing/2014/main" val="39164821"/>
                    </a:ext>
                  </a:extLst>
                </a:gridCol>
                <a:gridCol w="2418080">
                  <a:extLst>
                    <a:ext uri="{9D8B030D-6E8A-4147-A177-3AD203B41FA5}">
                      <a16:colId xmlns:a16="http://schemas.microsoft.com/office/drawing/2014/main" val="1113904390"/>
                    </a:ext>
                  </a:extLst>
                </a:gridCol>
                <a:gridCol w="2722880">
                  <a:extLst>
                    <a:ext uri="{9D8B030D-6E8A-4147-A177-3AD203B41FA5}">
                      <a16:colId xmlns:a16="http://schemas.microsoft.com/office/drawing/2014/main" val="3929712902"/>
                    </a:ext>
                  </a:extLst>
                </a:gridCol>
                <a:gridCol w="2191088">
                  <a:extLst>
                    <a:ext uri="{9D8B030D-6E8A-4147-A177-3AD203B41FA5}">
                      <a16:colId xmlns:a16="http://schemas.microsoft.com/office/drawing/2014/main" val="711725237"/>
                    </a:ext>
                  </a:extLst>
                </a:gridCol>
              </a:tblGrid>
              <a:tr h="250839">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tc>
                <a:extLst>
                  <a:ext uri="{0D108BD9-81ED-4DB2-BD59-A6C34878D82A}">
                    <a16:rowId xmlns:a16="http://schemas.microsoft.com/office/drawing/2014/main" val="546604770"/>
                  </a:ext>
                </a:extLst>
              </a:tr>
              <a:tr h="1066498">
                <a:tc>
                  <a:txBody>
                    <a:bodyPr/>
                    <a:lstStyle/>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Manpower Planning</a:t>
                      </a:r>
                    </a:p>
                  </a:txBody>
                  <a:tcPr marL="68580" marR="68580" marT="0" marB="0"/>
                </a:tc>
                <a:tc>
                  <a:txBody>
                    <a:bodyPr/>
                    <a:lstStyle/>
                    <a:p>
                      <a:pPr marL="0" indent="0">
                        <a:buFont typeface="Arial" panose="020B0604020202020204" pitchFamily="34" charset="0"/>
                        <a:buNone/>
                      </a:pPr>
                      <a:r>
                        <a:rPr lang="en-US" sz="1200" i="0">
                          <a:latin typeface="+mn-lt"/>
                          <a:cs typeface="Arial" panose="020B0604020202020204" pitchFamily="34" charset="0"/>
                        </a:rPr>
                        <a:t>Relying on informal communication channels for staffing requests makes it difficult to consolidate company needs and accurately visualize department staffing levels or turnover rates.</a:t>
                      </a:r>
                    </a:p>
                    <a:p>
                      <a:pPr marL="0" indent="0">
                        <a:buFont typeface="Arial" panose="020B0604020202020204" pitchFamily="34" charset="0"/>
                        <a:buNone/>
                      </a:pPr>
                      <a:endParaRPr lang="en-US" sz="1200" i="0">
                        <a:latin typeface="+mn-lt"/>
                        <a:cs typeface="Arial" panose="020B0604020202020204" pitchFamily="34" charset="0"/>
                      </a:endParaRPr>
                    </a:p>
                  </a:txBody>
                  <a:tcPr marL="68580" marR="68580" marT="0" marB="0"/>
                </a:tc>
                <a:tc>
                  <a:txBody>
                    <a:bodyPr/>
                    <a:lstStyle/>
                    <a:p>
                      <a:pPr rtl="0"/>
                      <a:r>
                        <a:rPr lang="en-US" sz="1200" b="0" i="0" kern="1200">
                          <a:solidFill>
                            <a:schemeClr val="dk1"/>
                          </a:solidFill>
                          <a:effectLst/>
                          <a:latin typeface="+mn-lt"/>
                          <a:ea typeface="+mn-ea"/>
                          <a:cs typeface="Arial" panose="020B0604020202020204" pitchFamily="34" charset="0"/>
                        </a:rPr>
                        <a:t>Implementing a </a:t>
                      </a:r>
                      <a:r>
                        <a:rPr lang="en-US" sz="1200" b="1" i="0" kern="1200">
                          <a:solidFill>
                            <a:schemeClr val="dk1"/>
                          </a:solidFill>
                          <a:effectLst/>
                          <a:latin typeface="+mn-lt"/>
                          <a:ea typeface="+mn-ea"/>
                          <a:cs typeface="Arial" panose="020B0604020202020204" pitchFamily="34" charset="0"/>
                        </a:rPr>
                        <a:t>standardized, system-based workflow</a:t>
                      </a:r>
                      <a:r>
                        <a:rPr lang="en-US" sz="1200" b="0" i="0" kern="1200">
                          <a:solidFill>
                            <a:schemeClr val="dk1"/>
                          </a:solidFill>
                          <a:effectLst/>
                          <a:latin typeface="+mn-lt"/>
                          <a:ea typeface="+mn-ea"/>
                          <a:cs typeface="Arial" panose="020B0604020202020204" pitchFamily="34" charset="0"/>
                        </a:rPr>
                        <a:t> streamlines </a:t>
                      </a:r>
                      <a:r>
                        <a:rPr lang="en-US" sz="1200" b="1" i="0" kern="1200">
                          <a:solidFill>
                            <a:schemeClr val="dk1"/>
                          </a:solidFill>
                          <a:effectLst/>
                          <a:latin typeface="+mn-lt"/>
                          <a:ea typeface="+mn-ea"/>
                          <a:cs typeface="Arial" panose="020B0604020202020204" pitchFamily="34" charset="0"/>
                        </a:rPr>
                        <a:t>headcount requests</a:t>
                      </a:r>
                      <a:r>
                        <a:rPr lang="en-US" sz="1200" b="0" i="0" kern="1200">
                          <a:solidFill>
                            <a:schemeClr val="dk1"/>
                          </a:solidFill>
                          <a:effectLst/>
                          <a:latin typeface="+mn-lt"/>
                          <a:ea typeface="+mn-ea"/>
                          <a:cs typeface="Arial" panose="020B0604020202020204" pitchFamily="34" charset="0"/>
                        </a:rPr>
                        <a:t> through structured forms with approval routing. </a:t>
                      </a:r>
                      <a:endParaRPr lang="en-US" sz="1200" i="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indent="0">
                        <a:lnSpc>
                          <a:spcPct val="115000"/>
                        </a:lnSpc>
                        <a:spcAft>
                          <a:spcPts val="0"/>
                        </a:spcAft>
                        <a:buFont typeface="Arial" panose="020B0604020202020204" pitchFamily="34" charset="0"/>
                        <a:buNone/>
                      </a:pPr>
                      <a:r>
                        <a:rPr lang="en-US" sz="1200" i="0">
                          <a:latin typeface="+mn-lt"/>
                          <a:cs typeface="Arial" panose="020B0604020202020204" pitchFamily="34" charset="0"/>
                        </a:rPr>
                        <a:t>Establishing a single source of truth eliminates messy spreadsheets, ensuring HR, management, and department heads are perfectly aligned on the exact same data.</a:t>
                      </a:r>
                      <a:endParaRPr lang="en-US" sz="1200" i="0" kern="100">
                        <a:effectLst/>
                        <a:latin typeface="+mn-lt"/>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957879188"/>
                  </a:ext>
                </a:extLst>
              </a:tr>
              <a:tr h="1656100">
                <a:tc>
                  <a:txBody>
                    <a:bodyPr/>
                    <a:lstStyle/>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Training Management</a:t>
                      </a:r>
                    </a:p>
                  </a:txBody>
                  <a:tcPr marL="68580" marR="68580" marT="0" marB="0"/>
                </a:tc>
                <a:tc>
                  <a:txBody>
                    <a:bodyPr/>
                    <a:lstStyle/>
                    <a:p>
                      <a:pPr marL="0" indent="0">
                        <a:buFont typeface="Arial" panose="020B0604020202020204" pitchFamily="34" charset="0"/>
                        <a:buNone/>
                      </a:pPr>
                      <a:r>
                        <a:rPr lang="en-US" sz="1200" i="0">
                          <a:latin typeface="+mn-lt"/>
                          <a:cs typeface="Arial" panose="020B0604020202020204" pitchFamily="34" charset="0"/>
                        </a:rPr>
                        <a:t>Manual training process and tedious administrative tasks. Additionally scattered paper-based records make it highly difficult to map employee competency gaps and track critical training statuses.</a:t>
                      </a:r>
                    </a:p>
                  </a:txBody>
                  <a:tcPr marL="68580" marR="68580" marT="0" marB="0"/>
                </a:tc>
                <a:tc>
                  <a:txBody>
                    <a:bodyPr/>
                    <a:lstStyle/>
                    <a:p>
                      <a:pPr rtl="0"/>
                      <a:r>
                        <a:rPr lang="en-US" sz="1200" b="0" i="0" kern="1200">
                          <a:solidFill>
                            <a:schemeClr val="dk1"/>
                          </a:solidFill>
                          <a:effectLst/>
                          <a:latin typeface="+mn-lt"/>
                          <a:ea typeface="+mn-ea"/>
                          <a:cs typeface="Arial" panose="020B0604020202020204" pitchFamily="34" charset="0"/>
                        </a:rPr>
                        <a:t>A </a:t>
                      </a:r>
                      <a:r>
                        <a:rPr lang="en-US" sz="1200" b="1" i="0" kern="1200">
                          <a:solidFill>
                            <a:schemeClr val="dk1"/>
                          </a:solidFill>
                          <a:effectLst/>
                          <a:latin typeface="+mn-lt"/>
                          <a:ea typeface="+mn-ea"/>
                          <a:cs typeface="Arial" panose="020B0604020202020204" pitchFamily="34" charset="0"/>
                        </a:rPr>
                        <a:t>centralized digital platform</a:t>
                      </a:r>
                      <a:r>
                        <a:rPr lang="en-US" sz="1200" b="0" i="0" kern="1200">
                          <a:solidFill>
                            <a:schemeClr val="dk1"/>
                          </a:solidFill>
                          <a:effectLst/>
                          <a:latin typeface="+mn-lt"/>
                          <a:ea typeface="+mn-ea"/>
                          <a:cs typeface="Arial" panose="020B0604020202020204" pitchFamily="34" charset="0"/>
                        </a:rPr>
                        <a:t> streamlines HR operations, </a:t>
                      </a:r>
                      <a:r>
                        <a:rPr lang="en-US" sz="1200" b="1" i="0" kern="1200">
                          <a:solidFill>
                            <a:schemeClr val="dk1"/>
                          </a:solidFill>
                          <a:effectLst/>
                          <a:latin typeface="+mn-lt"/>
                          <a:ea typeface="+mn-ea"/>
                          <a:cs typeface="Arial" panose="020B0604020202020204" pitchFamily="34" charset="0"/>
                        </a:rPr>
                        <a:t>housing all training histories</a:t>
                      </a:r>
                      <a:r>
                        <a:rPr lang="en-US" sz="1200" b="0" i="0" kern="1200">
                          <a:solidFill>
                            <a:schemeClr val="dk1"/>
                          </a:solidFill>
                          <a:effectLst/>
                          <a:latin typeface="+mn-lt"/>
                          <a:ea typeface="+mn-ea"/>
                          <a:cs typeface="Arial" panose="020B0604020202020204" pitchFamily="34" charset="0"/>
                        </a:rPr>
                        <a:t>, transitioning evaluations entirely online, and </a:t>
                      </a:r>
                      <a:r>
                        <a:rPr lang="en-US" sz="1200" b="1" i="0" kern="1200">
                          <a:solidFill>
                            <a:schemeClr val="dk1"/>
                          </a:solidFill>
                          <a:effectLst/>
                          <a:latin typeface="+mn-lt"/>
                          <a:ea typeface="+mn-ea"/>
                          <a:cs typeface="Arial" panose="020B0604020202020204" pitchFamily="34" charset="0"/>
                        </a:rPr>
                        <a:t>linking training modules to performance logs</a:t>
                      </a:r>
                      <a:r>
                        <a:rPr lang="en-US" sz="1200" b="0" i="0" kern="1200">
                          <a:solidFill>
                            <a:schemeClr val="dk1"/>
                          </a:solidFill>
                          <a:effectLst/>
                          <a:latin typeface="+mn-lt"/>
                          <a:ea typeface="+mn-ea"/>
                          <a:cs typeface="Arial" panose="020B0604020202020204" pitchFamily="34" charset="0"/>
                        </a:rPr>
                        <a:t> allows the system to automatically calculate scores and suggest tailor courses to relevant employee</a:t>
                      </a:r>
                    </a:p>
                    <a:p>
                      <a:pPr rtl="0"/>
                      <a:endParaRPr lang="en-US" sz="1200" b="0" i="0" kern="1200">
                        <a:solidFill>
                          <a:schemeClr val="dk1"/>
                        </a:solidFill>
                        <a:effectLst/>
                        <a:latin typeface="+mn-lt"/>
                        <a:ea typeface="+mn-ea"/>
                        <a:cs typeface="Arial" panose="020B0604020202020204" pitchFamily="34" charset="0"/>
                      </a:endParaRPr>
                    </a:p>
                  </a:txBody>
                  <a:tcPr marL="68580" marR="68580" marT="0" marB="0"/>
                </a:tc>
                <a:tc>
                  <a:txBody>
                    <a:bodyPr/>
                    <a:lstStyle/>
                    <a:p>
                      <a:pPr marL="0" indent="0">
                        <a:buFont typeface="Arial" panose="020B0604020202020204" pitchFamily="34" charset="0"/>
                        <a:buNone/>
                      </a:pPr>
                      <a:r>
                        <a:rPr lang="en-US" sz="1200" i="0">
                          <a:latin typeface="+mn-lt"/>
                          <a:cs typeface="Arial" panose="020B0604020202020204" pitchFamily="34" charset="0"/>
                        </a:rPr>
                        <a:t>The system frees HR to focus on strategic talent development and curriculum planning. It also providing management with real-time visibility into overall training effectiveness. </a:t>
                      </a:r>
                      <a:endParaRPr lang="en-US" sz="1200" b="0" i="0">
                        <a:latin typeface="+mn-lt"/>
                        <a:cs typeface="Arial" panose="020B0604020202020204" pitchFamily="34" charset="0"/>
                      </a:endParaRPr>
                    </a:p>
                  </a:txBody>
                  <a:tcPr marL="68580" marR="68580" marT="0" marB="0"/>
                </a:tc>
                <a:extLst>
                  <a:ext uri="{0D108BD9-81ED-4DB2-BD59-A6C34878D82A}">
                    <a16:rowId xmlns:a16="http://schemas.microsoft.com/office/drawing/2014/main" val="1883718269"/>
                  </a:ext>
                </a:extLst>
              </a:tr>
              <a:tr h="1075022">
                <a:tc>
                  <a:txBody>
                    <a:bodyPr/>
                    <a:lstStyle/>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Master Data Configuration</a:t>
                      </a:r>
                    </a:p>
                  </a:txBody>
                  <a:tcPr marL="68580" marR="68580" marT="0" marB="0"/>
                </a:tc>
                <a:tc>
                  <a:txBody>
                    <a:bodyPr/>
                    <a:lstStyle/>
                    <a:p>
                      <a:pPr marL="0" indent="0">
                        <a:buFont typeface="Arial" panose="020B0604020202020204" pitchFamily="34" charset="0"/>
                        <a:buNone/>
                      </a:pPr>
                      <a:r>
                        <a:rPr lang="en-US" sz="1200" i="0">
                          <a:latin typeface="+mn-lt"/>
                          <a:cs typeface="Arial" panose="020B0604020202020204" pitchFamily="34" charset="0"/>
                        </a:rPr>
                        <a:t>Utilize Excel spreadsheet in storing data introduces a significant risk of data discrepancies and mismatched data information</a:t>
                      </a:r>
                    </a:p>
                  </a:txBody>
                  <a:tcPr marL="68580" marR="68580" marT="0" marB="0"/>
                </a:tc>
                <a:tc>
                  <a:txBody>
                    <a:bodyPr/>
                    <a:lstStyle/>
                    <a:p>
                      <a:pPr rtl="0"/>
                      <a:r>
                        <a:rPr lang="en-US" sz="1200" b="0" i="0" kern="1200">
                          <a:solidFill>
                            <a:schemeClr val="dk1"/>
                          </a:solidFill>
                          <a:effectLst/>
                          <a:latin typeface="+mn-lt"/>
                          <a:ea typeface="+mn-ea"/>
                          <a:cs typeface="Arial" panose="020B0604020202020204" pitchFamily="34" charset="0"/>
                        </a:rPr>
                        <a:t>Implementing a </a:t>
                      </a:r>
                      <a:r>
                        <a:rPr lang="en-US" sz="1200" b="1" i="0" kern="1200">
                          <a:solidFill>
                            <a:schemeClr val="dk1"/>
                          </a:solidFill>
                          <a:effectLst/>
                          <a:latin typeface="+mn-lt"/>
                          <a:ea typeface="+mn-ea"/>
                          <a:cs typeface="Arial" panose="020B0604020202020204" pitchFamily="34" charset="0"/>
                        </a:rPr>
                        <a:t>centralized, secure database establishes as single source of truth</a:t>
                      </a:r>
                      <a:r>
                        <a:rPr lang="en-US" sz="1200" b="0" i="0" kern="1200">
                          <a:solidFill>
                            <a:schemeClr val="dk1"/>
                          </a:solidFill>
                          <a:effectLst/>
                          <a:latin typeface="+mn-lt"/>
                          <a:ea typeface="+mn-ea"/>
                          <a:cs typeface="Arial" panose="020B0604020202020204" pitchFamily="34" charset="0"/>
                        </a:rPr>
                        <a:t> for all organizational and employee records. </a:t>
                      </a:r>
                      <a:endParaRPr lang="en-US" sz="1200" i="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indent="0">
                        <a:buFont typeface="Arial" panose="020B0604020202020204" pitchFamily="34" charset="0"/>
                        <a:buNone/>
                      </a:pPr>
                      <a:r>
                        <a:rPr lang="en-US" sz="1200">
                          <a:latin typeface="+mn-lt"/>
                          <a:cs typeface="Arial" panose="020B0604020202020204" pitchFamily="34" charset="0"/>
                        </a:rPr>
                        <a:t>Ensures all future modules you build on top (Promotion, Recruitment, Performance) will pull from 100% accurate, real-time data.</a:t>
                      </a:r>
                    </a:p>
                  </a:txBody>
                  <a:tcPr marL="68580" marR="68580" marT="0" marB="0"/>
                </a:tc>
                <a:extLst>
                  <a:ext uri="{0D108BD9-81ED-4DB2-BD59-A6C34878D82A}">
                    <a16:rowId xmlns:a16="http://schemas.microsoft.com/office/drawing/2014/main" val="1599145005"/>
                  </a:ext>
                </a:extLst>
              </a:tr>
            </a:tbl>
          </a:graphicData>
        </a:graphic>
      </p:graphicFrame>
      <p:sp>
        <p:nvSpPr>
          <p:cNvPr id="3" name="TextBox 2">
            <a:extLst>
              <a:ext uri="{FF2B5EF4-FFF2-40B4-BE49-F238E27FC236}">
                <a16:creationId xmlns:a16="http://schemas.microsoft.com/office/drawing/2014/main" id="{AAF3EB1B-0F82-6361-974F-F96792E379E7}"/>
              </a:ext>
            </a:extLst>
          </p:cNvPr>
          <p:cNvSpPr txBox="1"/>
          <p:nvPr/>
        </p:nvSpPr>
        <p:spPr>
          <a:xfrm>
            <a:off x="777195" y="932902"/>
            <a:ext cx="2579552" cy="307777"/>
          </a:xfrm>
          <a:prstGeom prst="rect">
            <a:avLst/>
          </a:prstGeom>
          <a:noFill/>
        </p:spPr>
        <p:txBody>
          <a:bodyPr wrap="none" rtlCol="0">
            <a:spAutoFit/>
          </a:bodyPr>
          <a:lstStyle/>
          <a:p>
            <a:r>
              <a:rPr lang="en-US" sz="1400" b="1">
                <a:latin typeface="Helvetica Neue" panose="02000503000000020004"/>
              </a:rPr>
              <a:t>2.1. Functional Requirement</a:t>
            </a:r>
          </a:p>
        </p:txBody>
      </p:sp>
      <p:sp>
        <p:nvSpPr>
          <p:cNvPr id="4" name="TextBox 3">
            <a:extLst>
              <a:ext uri="{FF2B5EF4-FFF2-40B4-BE49-F238E27FC236}">
                <a16:creationId xmlns:a16="http://schemas.microsoft.com/office/drawing/2014/main" id="{F33A0C07-1BE3-EBBB-6FDA-66AFDB0F9F69}"/>
              </a:ext>
            </a:extLst>
          </p:cNvPr>
          <p:cNvSpPr txBox="1"/>
          <p:nvPr/>
        </p:nvSpPr>
        <p:spPr>
          <a:xfrm>
            <a:off x="812155" y="5648980"/>
            <a:ext cx="8656396" cy="307777"/>
          </a:xfrm>
          <a:prstGeom prst="rect">
            <a:avLst/>
          </a:prstGeom>
          <a:noFill/>
        </p:spPr>
        <p:txBody>
          <a:bodyPr wrap="square">
            <a:spAutoFit/>
          </a:bodyPr>
          <a:lstStyle/>
          <a:p>
            <a:pPr algn="just"/>
            <a:r>
              <a:rPr lang="en-US" sz="1400" i="1"/>
              <a:t>*) Detail Requirement provided in Appendix.</a:t>
            </a:r>
            <a:endParaRPr lang="en-US" sz="1100" b="1" i="1"/>
          </a:p>
        </p:txBody>
      </p:sp>
      <p:sp>
        <p:nvSpPr>
          <p:cNvPr id="5" name="TextBox 4">
            <a:extLst>
              <a:ext uri="{FF2B5EF4-FFF2-40B4-BE49-F238E27FC236}">
                <a16:creationId xmlns:a16="http://schemas.microsoft.com/office/drawing/2014/main" id="{A9C2EF7A-EEB4-A303-238C-AAE21E63D6BF}"/>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707190141"/>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6995-82BE-AE78-EC00-0AD10B4E3A3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990DC3F-476D-6B57-CD3B-CAA8AFC26647}"/>
              </a:ext>
            </a:extLst>
          </p:cNvPr>
          <p:cNvSpPr>
            <a:spLocks noGrp="1"/>
          </p:cNvSpPr>
          <p:nvPr>
            <p:ph type="sldNum" sz="quarter" idx="12"/>
          </p:nvPr>
        </p:nvSpPr>
        <p:spPr/>
        <p:txBody>
          <a:bodyPr/>
          <a:lstStyle/>
          <a:p>
            <a:r>
              <a:rPr lang="en-GB"/>
              <a:t> Page </a:t>
            </a:r>
            <a:fld id="{7A555EF9-59E7-4D74-815B-7A20869232EE}" type="slidenum">
              <a:rPr lang="en-GB" smtClean="0"/>
              <a:pPr/>
              <a:t>7</a:t>
            </a:fld>
            <a:endParaRPr lang="en-GB"/>
          </a:p>
        </p:txBody>
      </p:sp>
      <p:sp>
        <p:nvSpPr>
          <p:cNvPr id="25" name="Title 24">
            <a:extLst>
              <a:ext uri="{FF2B5EF4-FFF2-40B4-BE49-F238E27FC236}">
                <a16:creationId xmlns:a16="http://schemas.microsoft.com/office/drawing/2014/main" id="{3636C66C-43A6-B51D-63EA-BF4057544868}"/>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2. Requirement &amp; Propose Solution</a:t>
            </a:r>
            <a:endParaRPr lang="en-US">
              <a:latin typeface="Helvetica Neue" panose="02000503000000020004"/>
            </a:endParaRPr>
          </a:p>
        </p:txBody>
      </p:sp>
      <p:sp>
        <p:nvSpPr>
          <p:cNvPr id="7" name="Footer Placeholder 4">
            <a:extLst>
              <a:ext uri="{FF2B5EF4-FFF2-40B4-BE49-F238E27FC236}">
                <a16:creationId xmlns:a16="http://schemas.microsoft.com/office/drawing/2014/main" id="{1889D4A5-6F45-52F3-76FF-2E153844DF23}"/>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2" name="Table 1">
            <a:extLst>
              <a:ext uri="{FF2B5EF4-FFF2-40B4-BE49-F238E27FC236}">
                <a16:creationId xmlns:a16="http://schemas.microsoft.com/office/drawing/2014/main" id="{07A05FF6-30CE-06A1-8816-B84A9B82C1FB}"/>
              </a:ext>
            </a:extLst>
          </p:cNvPr>
          <p:cNvGraphicFramePr>
            <a:graphicFrameLocks noGrp="1"/>
          </p:cNvGraphicFramePr>
          <p:nvPr>
            <p:extLst>
              <p:ext uri="{D42A27DB-BD31-4B8C-83A1-F6EECF244321}">
                <p14:modId xmlns:p14="http://schemas.microsoft.com/office/powerpoint/2010/main" val="3498109636"/>
              </p:ext>
            </p:extLst>
          </p:nvPr>
        </p:nvGraphicFramePr>
        <p:xfrm>
          <a:off x="812155" y="1356379"/>
          <a:ext cx="8765253" cy="3932073"/>
        </p:xfrm>
        <a:graphic>
          <a:graphicData uri="http://schemas.openxmlformats.org/drawingml/2006/table">
            <a:tbl>
              <a:tblPr firstRow="1" bandRow="1">
                <a:tableStyleId>{5C22544A-7EE6-4342-B048-85BDC9FD1C3A}</a:tableStyleId>
              </a:tblPr>
              <a:tblGrid>
                <a:gridCol w="1341765">
                  <a:extLst>
                    <a:ext uri="{9D8B030D-6E8A-4147-A177-3AD203B41FA5}">
                      <a16:colId xmlns:a16="http://schemas.microsoft.com/office/drawing/2014/main" val="39164821"/>
                    </a:ext>
                  </a:extLst>
                </a:gridCol>
                <a:gridCol w="2695260">
                  <a:extLst>
                    <a:ext uri="{9D8B030D-6E8A-4147-A177-3AD203B41FA5}">
                      <a16:colId xmlns:a16="http://schemas.microsoft.com/office/drawing/2014/main" val="1113904390"/>
                    </a:ext>
                  </a:extLst>
                </a:gridCol>
                <a:gridCol w="2364114">
                  <a:extLst>
                    <a:ext uri="{9D8B030D-6E8A-4147-A177-3AD203B41FA5}">
                      <a16:colId xmlns:a16="http://schemas.microsoft.com/office/drawing/2014/main" val="3929712902"/>
                    </a:ext>
                  </a:extLst>
                </a:gridCol>
                <a:gridCol w="2364114">
                  <a:extLst>
                    <a:ext uri="{9D8B030D-6E8A-4147-A177-3AD203B41FA5}">
                      <a16:colId xmlns:a16="http://schemas.microsoft.com/office/drawing/2014/main" val="711725237"/>
                    </a:ext>
                  </a:extLst>
                </a:gridCol>
              </a:tblGrid>
              <a:tr h="238849">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546604770"/>
                  </a:ext>
                </a:extLst>
              </a:tr>
              <a:tr h="0">
                <a:tc>
                  <a:txBody>
                    <a:bodyPr/>
                    <a:lstStyle/>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Job Profiling</a:t>
                      </a:r>
                    </a:p>
                  </a:txBody>
                  <a:tcPr marL="68580" marR="68580" marT="0" marB="0"/>
                </a:tc>
                <a:tc>
                  <a:txBody>
                    <a:bodyPr/>
                    <a:lstStyle/>
                    <a:p>
                      <a:pPr marL="0" indent="0">
                        <a:buFont typeface="Arial" panose="020B0604020202020204" pitchFamily="34" charset="0"/>
                        <a:buNone/>
                      </a:pPr>
                      <a:r>
                        <a:rPr lang="en-US" sz="1200" i="0">
                          <a:latin typeface="+mn-lt"/>
                          <a:cs typeface="Arial" panose="020B0604020202020204" pitchFamily="34" charset="0"/>
                        </a:rPr>
                        <a:t>The lack of a job posting system often results in inconsistent branding, fonts, and layouts across public-facing job postings.</a:t>
                      </a:r>
                    </a:p>
                    <a:p>
                      <a:pPr marL="0" indent="0">
                        <a:buFont typeface="Arial" panose="020B0604020202020204" pitchFamily="34" charset="0"/>
                        <a:buNone/>
                      </a:pPr>
                      <a:endParaRPr lang="en-US" sz="1200" i="0">
                        <a:latin typeface="+mn-lt"/>
                        <a:cs typeface="Arial" panose="020B0604020202020204" pitchFamily="34" charset="0"/>
                      </a:endParaRPr>
                    </a:p>
                    <a:p>
                      <a:pPr marL="0" indent="0">
                        <a:buFont typeface="Arial" panose="020B0604020202020204" pitchFamily="34" charset="0"/>
                        <a:buNone/>
                      </a:pPr>
                      <a:r>
                        <a:rPr lang="en-US" sz="1200" i="0">
                          <a:latin typeface="+mn-lt"/>
                          <a:cs typeface="Arial" panose="020B0604020202020204" pitchFamily="34" charset="0"/>
                        </a:rPr>
                        <a:t>Furthermore, the difficulty of manually tracking these postings often leaves filled or expired roles active on the website, confusing potential candidates.</a:t>
                      </a:r>
                    </a:p>
                    <a:p>
                      <a:pPr marL="0" indent="0">
                        <a:buFont typeface="Arial" panose="020B0604020202020204" pitchFamily="34" charset="0"/>
                        <a:buNone/>
                      </a:pPr>
                      <a:endParaRPr lang="en-US" sz="1200" i="0">
                        <a:latin typeface="+mn-lt"/>
                        <a:cs typeface="Arial" panose="020B0604020202020204" pitchFamily="34" charset="0"/>
                      </a:endParaRPr>
                    </a:p>
                  </a:txBody>
                  <a:tcPr marL="68580" marR="68580" marT="0" marB="0"/>
                </a:tc>
                <a:tc>
                  <a:txBody>
                    <a:bodyPr/>
                    <a:lstStyle/>
                    <a:p>
                      <a:pPr marL="0" marR="0" indent="0">
                        <a:lnSpc>
                          <a:spcPct val="115000"/>
                        </a:lnSpc>
                        <a:spcAft>
                          <a:spcPts val="0"/>
                        </a:spcAft>
                        <a:buFont typeface="Arial" panose="020B0604020202020204" pitchFamily="34" charset="0"/>
                        <a:buNone/>
                      </a:pPr>
                      <a:r>
                        <a:rPr lang="en-US" sz="1200" i="0">
                          <a:latin typeface="+mn-lt"/>
                          <a:cs typeface="Arial" panose="020B0604020202020204" pitchFamily="34" charset="0"/>
                        </a:rPr>
                        <a:t>Utilizing pre-configured templates and automated schedule to automatically maintain consistent corporate branding and automatically taking them down once application deadlines pass or quotas are met.</a:t>
                      </a:r>
                      <a:endParaRPr lang="en-US" sz="1200" i="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indent="0">
                        <a:buFont typeface="Arial" panose="020B0604020202020204" pitchFamily="34" charset="0"/>
                        <a:buNone/>
                      </a:pPr>
                      <a:r>
                        <a:rPr lang="en-US" sz="1200" i="0">
                          <a:latin typeface="+mn-lt"/>
                          <a:cs typeface="Arial" panose="020B0604020202020204" pitchFamily="34" charset="0"/>
                        </a:rPr>
                        <a:t>Ensuring guaranteed brand consistency creates a highly professional and uniform look for all open roles</a:t>
                      </a:r>
                    </a:p>
                    <a:p>
                      <a:pPr marL="0" indent="0">
                        <a:buFont typeface="Arial" panose="020B0604020202020204" pitchFamily="34" charset="0"/>
                        <a:buNone/>
                      </a:pPr>
                      <a:endParaRPr lang="en-US" sz="1200" i="0">
                        <a:latin typeface="+mn-lt"/>
                        <a:cs typeface="Arial" panose="020B0604020202020204" pitchFamily="34" charset="0"/>
                      </a:endParaRPr>
                    </a:p>
                    <a:p>
                      <a:pPr marL="0" indent="0">
                        <a:buFont typeface="Arial" panose="020B0604020202020204" pitchFamily="34" charset="0"/>
                        <a:buNone/>
                      </a:pPr>
                      <a:r>
                        <a:rPr lang="en-US" sz="1200" i="0">
                          <a:latin typeface="+mn-lt"/>
                          <a:cs typeface="Arial" panose="020B0604020202020204" pitchFamily="34" charset="0"/>
                        </a:rPr>
                        <a:t>Automated significantly improving the browsing experience for potential applicants.</a:t>
                      </a:r>
                    </a:p>
                  </a:txBody>
                  <a:tcPr marL="68580" marR="68580" marT="0" marB="0"/>
                </a:tc>
                <a:extLst>
                  <a:ext uri="{0D108BD9-81ED-4DB2-BD59-A6C34878D82A}">
                    <a16:rowId xmlns:a16="http://schemas.microsoft.com/office/drawing/2014/main" val="1120366538"/>
                  </a:ext>
                </a:extLst>
              </a:tr>
              <a:tr h="0">
                <a:tc>
                  <a:txBody>
                    <a:bodyPr/>
                    <a:lstStyle/>
                    <a:p>
                      <a:pPr marL="0" marR="0" algn="ctr">
                        <a:lnSpc>
                          <a:spcPct val="114000"/>
                        </a:lnSpc>
                        <a:spcAft>
                          <a:spcPts val="0"/>
                        </a:spcAft>
                        <a:buNone/>
                      </a:pPr>
                      <a:r>
                        <a:rPr lang="en-US" sz="1200" b="1" kern="100">
                          <a:effectLst/>
                          <a:latin typeface="+mn-lt"/>
                          <a:ea typeface="DengXian" panose="02010600030101010101" pitchFamily="2" charset="-122"/>
                          <a:cs typeface="Arial" panose="020B0604020202020204" pitchFamily="34" charset="0"/>
                        </a:rPr>
                        <a:t>Recruitment</a:t>
                      </a:r>
                    </a:p>
                  </a:txBody>
                  <a:tcPr marL="68580" marR="68580" marT="0" marB="0"/>
                </a:tc>
                <a:tc>
                  <a:txBody>
                    <a:bodyPr/>
                    <a:lstStyle/>
                    <a:p>
                      <a:pPr marL="0" indent="0">
                        <a:lnSpc>
                          <a:spcPct val="114000"/>
                        </a:lnSpc>
                        <a:buFont typeface="Arial" panose="020B0604020202020204" pitchFamily="34" charset="0"/>
                        <a:buNone/>
                      </a:pPr>
                      <a:r>
                        <a:rPr lang="en-US" sz="1200" i="0">
                          <a:latin typeface="+mn-lt"/>
                          <a:cs typeface="Arial" panose="020B0604020202020204" pitchFamily="34" charset="0"/>
                        </a:rPr>
                        <a:t>Disconnected candidate data sources and a fragmented recruitment results in the loss of top talent. </a:t>
                      </a:r>
                    </a:p>
                    <a:p>
                      <a:pPr marL="0" indent="0">
                        <a:lnSpc>
                          <a:spcPct val="114000"/>
                        </a:lnSpc>
                        <a:buFont typeface="Arial" panose="020B0604020202020204" pitchFamily="34" charset="0"/>
                        <a:buNone/>
                      </a:pPr>
                      <a:endParaRPr lang="en-US" sz="1200" i="0">
                        <a:latin typeface="+mn-lt"/>
                        <a:cs typeface="Arial" panose="020B0604020202020204" pitchFamily="34" charset="0"/>
                      </a:endParaRPr>
                    </a:p>
                    <a:p>
                      <a:pPr marL="0" indent="0">
                        <a:lnSpc>
                          <a:spcPct val="114000"/>
                        </a:lnSpc>
                        <a:buFont typeface="Arial" panose="020B0604020202020204" pitchFamily="34" charset="0"/>
                        <a:buNone/>
                      </a:pPr>
                      <a:r>
                        <a:rPr lang="en-US" sz="1200" i="0">
                          <a:latin typeface="+mn-lt"/>
                          <a:cs typeface="Arial" panose="020B0604020202020204" pitchFamily="34" charset="0"/>
                        </a:rPr>
                        <a:t>This problem also create significant risks with Personal Data Protection (PDP) standards and internal company compliance policies.</a:t>
                      </a:r>
                    </a:p>
                    <a:p>
                      <a:pPr marL="0" indent="0">
                        <a:lnSpc>
                          <a:spcPct val="114000"/>
                        </a:lnSpc>
                        <a:buFont typeface="Arial" panose="020B0604020202020204" pitchFamily="34" charset="0"/>
                        <a:buNone/>
                      </a:pPr>
                      <a:endParaRPr lang="en-US" sz="1200" i="0">
                        <a:latin typeface="+mn-lt"/>
                        <a:cs typeface="Arial" panose="020B0604020202020204" pitchFamily="34" charset="0"/>
                      </a:endParaRPr>
                    </a:p>
                  </a:txBody>
                  <a:tcPr marL="68580" marR="68580" marT="0" marB="0"/>
                </a:tc>
                <a:tc>
                  <a:txBody>
                    <a:bodyPr/>
                    <a:lstStyle/>
                    <a:p>
                      <a:pPr marL="0" marR="0" indent="0">
                        <a:lnSpc>
                          <a:spcPct val="114000"/>
                        </a:lnSpc>
                        <a:spcAft>
                          <a:spcPts val="0"/>
                        </a:spcAft>
                        <a:buFont typeface="Arial" panose="020B0604020202020204" pitchFamily="34" charset="0"/>
                        <a:buNone/>
                      </a:pPr>
                      <a:r>
                        <a:rPr lang="en-US" sz="1200" i="0">
                          <a:latin typeface="+mn-lt"/>
                          <a:cs typeface="Arial" panose="020B0604020202020204" pitchFamily="34" charset="0"/>
                        </a:rPr>
                        <a:t>Implementing an integrated recruitment management system which streamlines the entire end-to-end hiring process</a:t>
                      </a:r>
                      <a:endParaRPr lang="en-US" sz="1200" i="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lvl="0" indent="0">
                        <a:lnSpc>
                          <a:spcPct val="114000"/>
                        </a:lnSpc>
                        <a:spcAft>
                          <a:spcPts val="0"/>
                        </a:spcAft>
                        <a:buNone/>
                      </a:pPr>
                      <a:r>
                        <a:rPr lang="en-US" sz="1200" i="0">
                          <a:latin typeface="+mn-lt"/>
                          <a:cs typeface="Arial" panose="020B0604020202020204" pitchFamily="34" charset="0"/>
                        </a:rPr>
                        <a:t>Optimizing the recruitment process significantly increases cost efficiency when sourcing potential candidates.</a:t>
                      </a:r>
                      <a:endParaRPr lang="en-US" sz="1200" i="0">
                        <a:latin typeface="+mn-lt"/>
                        <a:ea typeface="Calibri"/>
                        <a:cs typeface="Arial" panose="020B0604020202020204" pitchFamily="34" charset="0"/>
                      </a:endParaRPr>
                    </a:p>
                  </a:txBody>
                  <a:tcPr marL="68580" marR="68580" marT="0" marB="0"/>
                </a:tc>
                <a:extLst>
                  <a:ext uri="{0D108BD9-81ED-4DB2-BD59-A6C34878D82A}">
                    <a16:rowId xmlns:a16="http://schemas.microsoft.com/office/drawing/2014/main" val="1225067371"/>
                  </a:ext>
                </a:extLst>
              </a:tr>
            </a:tbl>
          </a:graphicData>
        </a:graphic>
      </p:graphicFrame>
      <p:sp>
        <p:nvSpPr>
          <p:cNvPr id="3" name="TextBox 2">
            <a:extLst>
              <a:ext uri="{FF2B5EF4-FFF2-40B4-BE49-F238E27FC236}">
                <a16:creationId xmlns:a16="http://schemas.microsoft.com/office/drawing/2014/main" id="{6E0BB5DC-842F-6DDD-6423-0ED0E003BD4D}"/>
              </a:ext>
            </a:extLst>
          </p:cNvPr>
          <p:cNvSpPr txBox="1"/>
          <p:nvPr/>
        </p:nvSpPr>
        <p:spPr>
          <a:xfrm>
            <a:off x="777195" y="5501621"/>
            <a:ext cx="8656396" cy="307777"/>
          </a:xfrm>
          <a:prstGeom prst="rect">
            <a:avLst/>
          </a:prstGeom>
          <a:noFill/>
        </p:spPr>
        <p:txBody>
          <a:bodyPr wrap="square">
            <a:spAutoFit/>
          </a:bodyPr>
          <a:lstStyle/>
          <a:p>
            <a:pPr algn="just"/>
            <a:r>
              <a:rPr lang="en-US" sz="1400" i="1"/>
              <a:t>*) Detail Requirement provided in Appendix.</a:t>
            </a:r>
            <a:endParaRPr lang="en-US" sz="1100" b="1" i="1"/>
          </a:p>
        </p:txBody>
      </p:sp>
      <p:sp>
        <p:nvSpPr>
          <p:cNvPr id="4" name="TextBox 3">
            <a:extLst>
              <a:ext uri="{FF2B5EF4-FFF2-40B4-BE49-F238E27FC236}">
                <a16:creationId xmlns:a16="http://schemas.microsoft.com/office/drawing/2014/main" id="{19FD031B-171D-666B-C8FF-EAFECE09D8B3}"/>
              </a:ext>
            </a:extLst>
          </p:cNvPr>
          <p:cNvSpPr txBox="1"/>
          <p:nvPr/>
        </p:nvSpPr>
        <p:spPr>
          <a:xfrm>
            <a:off x="777195" y="932902"/>
            <a:ext cx="2579552" cy="307777"/>
          </a:xfrm>
          <a:prstGeom prst="rect">
            <a:avLst/>
          </a:prstGeom>
          <a:noFill/>
        </p:spPr>
        <p:txBody>
          <a:bodyPr wrap="none" rtlCol="0">
            <a:spAutoFit/>
          </a:bodyPr>
          <a:lstStyle/>
          <a:p>
            <a:r>
              <a:rPr lang="en-US" sz="1400" b="1">
                <a:latin typeface="Helvetica Neue" panose="02000503000000020004"/>
              </a:rPr>
              <a:t>2.1. Functional Requirement</a:t>
            </a:r>
          </a:p>
        </p:txBody>
      </p:sp>
      <p:sp>
        <p:nvSpPr>
          <p:cNvPr id="5" name="TextBox 4">
            <a:extLst>
              <a:ext uri="{FF2B5EF4-FFF2-40B4-BE49-F238E27FC236}">
                <a16:creationId xmlns:a16="http://schemas.microsoft.com/office/drawing/2014/main" id="{B3E7FBFE-B88A-0197-AAF9-6FC3B64B6903}"/>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3161586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6E9A-5175-5115-9E4C-70F7979036D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D394444-E1EE-4AEE-DF89-F227DD0C057A}"/>
              </a:ext>
            </a:extLst>
          </p:cNvPr>
          <p:cNvSpPr>
            <a:spLocks noGrp="1"/>
          </p:cNvSpPr>
          <p:nvPr>
            <p:ph type="sldNum" sz="quarter" idx="12"/>
          </p:nvPr>
        </p:nvSpPr>
        <p:spPr/>
        <p:txBody>
          <a:bodyPr/>
          <a:lstStyle/>
          <a:p>
            <a:r>
              <a:rPr lang="en-GB"/>
              <a:t> Page </a:t>
            </a:r>
            <a:fld id="{7A555EF9-59E7-4D74-815B-7A20869232EE}" type="slidenum">
              <a:rPr lang="en-GB" smtClean="0"/>
              <a:pPr/>
              <a:t>8</a:t>
            </a:fld>
            <a:endParaRPr lang="en-GB"/>
          </a:p>
        </p:txBody>
      </p:sp>
      <p:sp>
        <p:nvSpPr>
          <p:cNvPr id="7" name="Footer Placeholder 4">
            <a:extLst>
              <a:ext uri="{FF2B5EF4-FFF2-40B4-BE49-F238E27FC236}">
                <a16:creationId xmlns:a16="http://schemas.microsoft.com/office/drawing/2014/main" id="{3C78AEFC-4CA1-700C-44C2-DC79AD904B39}"/>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4" name="Table 3">
            <a:extLst>
              <a:ext uri="{FF2B5EF4-FFF2-40B4-BE49-F238E27FC236}">
                <a16:creationId xmlns:a16="http://schemas.microsoft.com/office/drawing/2014/main" id="{570E4BBC-6EBC-1AD0-D6C4-1437D34E33D2}"/>
              </a:ext>
            </a:extLst>
          </p:cNvPr>
          <p:cNvGraphicFramePr>
            <a:graphicFrameLocks noGrp="1"/>
          </p:cNvGraphicFramePr>
          <p:nvPr>
            <p:extLst>
              <p:ext uri="{D42A27DB-BD31-4B8C-83A1-F6EECF244321}">
                <p14:modId xmlns:p14="http://schemas.microsoft.com/office/powerpoint/2010/main" val="2448569153"/>
              </p:ext>
            </p:extLst>
          </p:nvPr>
        </p:nvGraphicFramePr>
        <p:xfrm>
          <a:off x="785088" y="1349689"/>
          <a:ext cx="8837952" cy="3428524"/>
        </p:xfrm>
        <a:graphic>
          <a:graphicData uri="http://schemas.openxmlformats.org/drawingml/2006/table">
            <a:tbl>
              <a:tblPr firstRow="1" bandRow="1">
                <a:tableStyleId>{5C22544A-7EE6-4342-B048-85BDC9FD1C3A}</a:tableStyleId>
              </a:tblPr>
              <a:tblGrid>
                <a:gridCol w="1876832">
                  <a:extLst>
                    <a:ext uri="{9D8B030D-6E8A-4147-A177-3AD203B41FA5}">
                      <a16:colId xmlns:a16="http://schemas.microsoft.com/office/drawing/2014/main" val="4144313062"/>
                    </a:ext>
                  </a:extLst>
                </a:gridCol>
                <a:gridCol w="3331152">
                  <a:extLst>
                    <a:ext uri="{9D8B030D-6E8A-4147-A177-3AD203B41FA5}">
                      <a16:colId xmlns:a16="http://schemas.microsoft.com/office/drawing/2014/main" val="115139022"/>
                    </a:ext>
                  </a:extLst>
                </a:gridCol>
                <a:gridCol w="3629968">
                  <a:extLst>
                    <a:ext uri="{9D8B030D-6E8A-4147-A177-3AD203B41FA5}">
                      <a16:colId xmlns:a16="http://schemas.microsoft.com/office/drawing/2014/main" val="3329258466"/>
                    </a:ext>
                  </a:extLst>
                </a:gridCol>
              </a:tblGrid>
              <a:tr h="328134">
                <a:tc>
                  <a:txBody>
                    <a:bodyPr/>
                    <a:lstStyle/>
                    <a:p>
                      <a:pPr marL="0" marR="0">
                        <a:lnSpc>
                          <a:spcPct val="115000"/>
                        </a:lnSpc>
                        <a:spcAft>
                          <a:spcPts val="800"/>
                        </a:spcAft>
                        <a:buNone/>
                      </a:pPr>
                      <a:r>
                        <a:rPr lang="en-US" sz="12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Non‑Functional Area</a:t>
                      </a:r>
                      <a:endParaRPr lang="en-US" sz="18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Non‑Functional Requirement Description</a:t>
                      </a:r>
                      <a:endParaRPr lang="en-US" sz="18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Solution Provision</a:t>
                      </a:r>
                      <a:endParaRPr lang="en-US" sz="18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94071978"/>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Usability &amp; User Experience</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be easy to use, intuitive, and require minimal training to ensure high adoption by HR users, managers, and employees.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provides a user‑centric interface with simplified navigation, role‑based screens, and consistent user experience across all HR modules.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26620821"/>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Availability &amp; Reliability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be reliably accessible during business hours with minimal system downtime to support critical HR operations.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is deployed on a stable infrastructure with high availability configuration and defined maintenance windows.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42005188"/>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Performance</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respond quickly for daily HR operations such as evaluations, approvals, and reporting, even during peak usage periods.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is designed to support concurrent users with optimized processing and response time for core HR activities.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009630"/>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Scalability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support future growth in number of employees, organizational changes, and additional HR processes without major redesign.</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uses a modular and scalable architecture that can accommodate organizational growth and additional functionalities.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43817313"/>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Security &amp; Data Protection</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protect sensitive employee data and ensure access is strictly controlled according to user roles.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enforces role‑based access control, secure authentication, and data protection mechanisms aligned with corporate security standards.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40726022"/>
                  </a:ext>
                </a:extLst>
              </a:tr>
            </a:tbl>
          </a:graphicData>
        </a:graphic>
      </p:graphicFrame>
      <p:sp>
        <p:nvSpPr>
          <p:cNvPr id="5" name="TextBox 4">
            <a:extLst>
              <a:ext uri="{FF2B5EF4-FFF2-40B4-BE49-F238E27FC236}">
                <a16:creationId xmlns:a16="http://schemas.microsoft.com/office/drawing/2014/main" id="{E5A375D1-EE07-3BFC-5333-5F70F1D938A0}"/>
              </a:ext>
            </a:extLst>
          </p:cNvPr>
          <p:cNvSpPr txBox="1"/>
          <p:nvPr/>
        </p:nvSpPr>
        <p:spPr>
          <a:xfrm>
            <a:off x="785088" y="932902"/>
            <a:ext cx="2986715" cy="307777"/>
          </a:xfrm>
          <a:prstGeom prst="rect">
            <a:avLst/>
          </a:prstGeom>
          <a:noFill/>
        </p:spPr>
        <p:txBody>
          <a:bodyPr wrap="none" rtlCol="0">
            <a:spAutoFit/>
          </a:bodyPr>
          <a:lstStyle/>
          <a:p>
            <a:r>
              <a:rPr lang="en-US" sz="1400" b="1">
                <a:latin typeface="Helvetica Neue" panose="02000503000000020004"/>
              </a:rPr>
              <a:t>2.2. Non-Functional Requirement</a:t>
            </a:r>
          </a:p>
        </p:txBody>
      </p:sp>
      <p:sp>
        <p:nvSpPr>
          <p:cNvPr id="8" name="Title 24">
            <a:extLst>
              <a:ext uri="{FF2B5EF4-FFF2-40B4-BE49-F238E27FC236}">
                <a16:creationId xmlns:a16="http://schemas.microsoft.com/office/drawing/2014/main" id="{9790AF86-9004-A192-AFF3-59A459FFF437}"/>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2. Requirement &amp; Propose Solution</a:t>
            </a:r>
            <a:endParaRPr lang="en-US">
              <a:latin typeface="Helvetica Neue" panose="02000503000000020004"/>
            </a:endParaRPr>
          </a:p>
        </p:txBody>
      </p:sp>
      <p:sp>
        <p:nvSpPr>
          <p:cNvPr id="2" name="TextBox 1">
            <a:extLst>
              <a:ext uri="{FF2B5EF4-FFF2-40B4-BE49-F238E27FC236}">
                <a16:creationId xmlns:a16="http://schemas.microsoft.com/office/drawing/2014/main" id="{62CFE551-AD09-AABD-5080-88E91153E8FD}"/>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969527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3BCAC-00B9-9A00-23B1-DF9E405AABD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901CCB9-E91B-BA2F-96B9-6CF536FAFDB1}"/>
              </a:ext>
            </a:extLst>
          </p:cNvPr>
          <p:cNvSpPr>
            <a:spLocks noGrp="1"/>
          </p:cNvSpPr>
          <p:nvPr>
            <p:ph type="sldNum" sz="quarter" idx="12"/>
          </p:nvPr>
        </p:nvSpPr>
        <p:spPr/>
        <p:txBody>
          <a:bodyPr/>
          <a:lstStyle/>
          <a:p>
            <a:r>
              <a:rPr lang="en-GB"/>
              <a:t> Page </a:t>
            </a:r>
            <a:fld id="{7A555EF9-59E7-4D74-815B-7A20869232EE}" type="slidenum">
              <a:rPr lang="en-GB" smtClean="0"/>
              <a:pPr/>
              <a:t>9</a:t>
            </a:fld>
            <a:endParaRPr lang="en-GB"/>
          </a:p>
        </p:txBody>
      </p:sp>
      <p:sp>
        <p:nvSpPr>
          <p:cNvPr id="7" name="Footer Placeholder 4">
            <a:extLst>
              <a:ext uri="{FF2B5EF4-FFF2-40B4-BE49-F238E27FC236}">
                <a16:creationId xmlns:a16="http://schemas.microsoft.com/office/drawing/2014/main" id="{BB9646FD-459A-796E-DBAF-EA11FCEDB0C0}"/>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5" name="Table 4">
            <a:extLst>
              <a:ext uri="{FF2B5EF4-FFF2-40B4-BE49-F238E27FC236}">
                <a16:creationId xmlns:a16="http://schemas.microsoft.com/office/drawing/2014/main" id="{93E34F64-C6A9-4074-FC5A-D6ABC4875457}"/>
              </a:ext>
            </a:extLst>
          </p:cNvPr>
          <p:cNvGraphicFramePr>
            <a:graphicFrameLocks noGrp="1"/>
          </p:cNvGraphicFramePr>
          <p:nvPr>
            <p:extLst>
              <p:ext uri="{D42A27DB-BD31-4B8C-83A1-F6EECF244321}">
                <p14:modId xmlns:p14="http://schemas.microsoft.com/office/powerpoint/2010/main" val="1157073525"/>
              </p:ext>
            </p:extLst>
          </p:nvPr>
        </p:nvGraphicFramePr>
        <p:xfrm>
          <a:off x="777195" y="1329369"/>
          <a:ext cx="8765805" cy="2956375"/>
        </p:xfrm>
        <a:graphic>
          <a:graphicData uri="http://schemas.openxmlformats.org/drawingml/2006/table">
            <a:tbl>
              <a:tblPr firstRow="1" bandRow="1">
                <a:tableStyleId>{5C22544A-7EE6-4342-B048-85BDC9FD1C3A}</a:tableStyleId>
              </a:tblPr>
              <a:tblGrid>
                <a:gridCol w="1905045">
                  <a:extLst>
                    <a:ext uri="{9D8B030D-6E8A-4147-A177-3AD203B41FA5}">
                      <a16:colId xmlns:a16="http://schemas.microsoft.com/office/drawing/2014/main" val="1857494709"/>
                    </a:ext>
                  </a:extLst>
                </a:gridCol>
                <a:gridCol w="3260425">
                  <a:extLst>
                    <a:ext uri="{9D8B030D-6E8A-4147-A177-3AD203B41FA5}">
                      <a16:colId xmlns:a16="http://schemas.microsoft.com/office/drawing/2014/main" val="1723393837"/>
                    </a:ext>
                  </a:extLst>
                </a:gridCol>
                <a:gridCol w="3600335">
                  <a:extLst>
                    <a:ext uri="{9D8B030D-6E8A-4147-A177-3AD203B41FA5}">
                      <a16:colId xmlns:a16="http://schemas.microsoft.com/office/drawing/2014/main" val="914243676"/>
                    </a:ext>
                  </a:extLst>
                </a:gridCol>
              </a:tblGrid>
              <a:tr h="265751">
                <a:tc>
                  <a:txBody>
                    <a:bodyPr/>
                    <a:lstStyle/>
                    <a:p>
                      <a:pPr marL="0" marR="0">
                        <a:lnSpc>
                          <a:spcPct val="115000"/>
                        </a:lnSpc>
                        <a:spcAft>
                          <a:spcPts val="800"/>
                        </a:spcAft>
                        <a:buNone/>
                      </a:pPr>
                      <a:r>
                        <a:rPr lang="en-US" sz="12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Non‑Functional Area</a:t>
                      </a:r>
                      <a:endParaRPr lang="en-US" sz="18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Non‑Functional Requirement Description</a:t>
                      </a:r>
                      <a:endParaRPr lang="en-US" sz="18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Solution Provision</a:t>
                      </a:r>
                      <a:endParaRPr lang="en-US" sz="18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77910410"/>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Auditability &amp; Compliance</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provide audit trails and approval logs to support internal governance, compliance, and review processes.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records all key actions, approvals, and changes with timestamped audit logs accessible to authorized users.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45939339"/>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Configurability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be configurable to support policy changes, workflow adjustments, and organizational structure updates without custom development.</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allows authorized HR administrators to configure workflows, evaluation stages, forms, and approval hierarchies.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40533310"/>
                  </a:ext>
                </a:extLst>
              </a:tr>
              <a:tr h="54867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Integration Capability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be able to integrate with existing HR, payroll, and communication systems to ensure data consistency.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supports integration with HR master data, recruitment microsites, notification services, and other enterprise systems.</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00478268"/>
                  </a:ext>
                </a:extLst>
              </a:tr>
              <a:tr h="0">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Reporting &amp; Visibility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must provide clear dashboards and reports to support monitoring, decision‑making, and management review.</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solution delivers role‑based dashboards and exportable reports for HR, management, and BOD visibility.</a:t>
                      </a:r>
                      <a:endParaRPr lang="en-US"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3901872"/>
                  </a:ext>
                </a:extLst>
              </a:tr>
            </a:tbl>
          </a:graphicData>
        </a:graphic>
      </p:graphicFrame>
      <p:sp>
        <p:nvSpPr>
          <p:cNvPr id="8" name="Title 24">
            <a:extLst>
              <a:ext uri="{FF2B5EF4-FFF2-40B4-BE49-F238E27FC236}">
                <a16:creationId xmlns:a16="http://schemas.microsoft.com/office/drawing/2014/main" id="{B5EA3B4B-2CD2-A264-3ADF-6820B89B7ACB}"/>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2. Requirement &amp; Propose Solution</a:t>
            </a:r>
            <a:endParaRPr lang="en-US">
              <a:latin typeface="Helvetica Neue" panose="02000503000000020004"/>
            </a:endParaRPr>
          </a:p>
        </p:txBody>
      </p:sp>
      <p:sp>
        <p:nvSpPr>
          <p:cNvPr id="9" name="TextBox 8">
            <a:extLst>
              <a:ext uri="{FF2B5EF4-FFF2-40B4-BE49-F238E27FC236}">
                <a16:creationId xmlns:a16="http://schemas.microsoft.com/office/drawing/2014/main" id="{9B820E79-1B9A-4E5C-8C66-49C764A143EF}"/>
              </a:ext>
            </a:extLst>
          </p:cNvPr>
          <p:cNvSpPr txBox="1"/>
          <p:nvPr/>
        </p:nvSpPr>
        <p:spPr>
          <a:xfrm>
            <a:off x="777195" y="932902"/>
            <a:ext cx="2986715" cy="307777"/>
          </a:xfrm>
          <a:prstGeom prst="rect">
            <a:avLst/>
          </a:prstGeom>
          <a:noFill/>
        </p:spPr>
        <p:txBody>
          <a:bodyPr wrap="none" rtlCol="0">
            <a:spAutoFit/>
          </a:bodyPr>
          <a:lstStyle/>
          <a:p>
            <a:r>
              <a:rPr lang="en-US" sz="1400" b="1">
                <a:latin typeface="Helvetica Neue" panose="02000503000000020004"/>
              </a:rPr>
              <a:t>2.2. Non-Functional Requirement</a:t>
            </a:r>
          </a:p>
        </p:txBody>
      </p:sp>
      <p:sp>
        <p:nvSpPr>
          <p:cNvPr id="2" name="TextBox 1">
            <a:extLst>
              <a:ext uri="{FF2B5EF4-FFF2-40B4-BE49-F238E27FC236}">
                <a16:creationId xmlns:a16="http://schemas.microsoft.com/office/drawing/2014/main" id="{AE2C794B-5B22-8602-C81F-A3B6D85106C6}"/>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3470839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B79EC-5A5C-CFD6-224C-5AD731ED719F}"/>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A449E11-78D0-FCBF-B0E2-F0CC21B0FE9A}"/>
              </a:ext>
            </a:extLst>
          </p:cNvPr>
          <p:cNvSpPr>
            <a:spLocks noGrp="1"/>
          </p:cNvSpPr>
          <p:nvPr>
            <p:ph type="sldNum" sz="quarter" idx="12"/>
          </p:nvPr>
        </p:nvSpPr>
        <p:spPr/>
        <p:txBody>
          <a:bodyPr/>
          <a:lstStyle/>
          <a:p>
            <a:r>
              <a:rPr lang="en-GB"/>
              <a:t> Page </a:t>
            </a:r>
            <a:fld id="{7A555EF9-59E7-4D74-815B-7A20869232EE}" type="slidenum">
              <a:rPr lang="en-GB" smtClean="0"/>
              <a:pPr/>
              <a:t>10</a:t>
            </a:fld>
            <a:endParaRPr lang="en-GB"/>
          </a:p>
        </p:txBody>
      </p:sp>
      <p:sp>
        <p:nvSpPr>
          <p:cNvPr id="7" name="Footer Placeholder 4">
            <a:extLst>
              <a:ext uri="{FF2B5EF4-FFF2-40B4-BE49-F238E27FC236}">
                <a16:creationId xmlns:a16="http://schemas.microsoft.com/office/drawing/2014/main" id="{FB1E27E3-7ACA-1689-7995-232D6F7CE47B}"/>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pic>
        <p:nvPicPr>
          <p:cNvPr id="5" name="Picture 4">
            <a:extLst>
              <a:ext uri="{FF2B5EF4-FFF2-40B4-BE49-F238E27FC236}">
                <a16:creationId xmlns:a16="http://schemas.microsoft.com/office/drawing/2014/main" id="{DA2E8426-4459-38A8-1F7F-EC843E411656}"/>
              </a:ext>
            </a:extLst>
          </p:cNvPr>
          <p:cNvPicPr>
            <a:picLocks noChangeAspect="1"/>
          </p:cNvPicPr>
          <p:nvPr/>
        </p:nvPicPr>
        <p:blipFill>
          <a:blip r:embed="rId2"/>
          <a:stretch>
            <a:fillRect/>
          </a:stretch>
        </p:blipFill>
        <p:spPr>
          <a:xfrm>
            <a:off x="793882" y="1345504"/>
            <a:ext cx="5826850" cy="5130095"/>
          </a:xfrm>
          <a:prstGeom prst="rect">
            <a:avLst/>
          </a:prstGeom>
          <a:ln>
            <a:solidFill>
              <a:schemeClr val="tx1"/>
            </a:solidFill>
          </a:ln>
        </p:spPr>
      </p:pic>
      <p:pic>
        <p:nvPicPr>
          <p:cNvPr id="8" name="Picture 7">
            <a:extLst>
              <a:ext uri="{FF2B5EF4-FFF2-40B4-BE49-F238E27FC236}">
                <a16:creationId xmlns:a16="http://schemas.microsoft.com/office/drawing/2014/main" id="{B72D41D9-BFC8-4D01-D46D-ED084283A3F9}"/>
              </a:ext>
            </a:extLst>
          </p:cNvPr>
          <p:cNvPicPr>
            <a:picLocks noChangeAspect="1"/>
          </p:cNvPicPr>
          <p:nvPr/>
        </p:nvPicPr>
        <p:blipFill>
          <a:blip r:embed="rId3"/>
          <a:stretch>
            <a:fillRect/>
          </a:stretch>
        </p:blipFill>
        <p:spPr>
          <a:xfrm>
            <a:off x="6801061" y="1945668"/>
            <a:ext cx="2895600" cy="4175760"/>
          </a:xfrm>
          <a:prstGeom prst="rect">
            <a:avLst/>
          </a:prstGeom>
        </p:spPr>
      </p:pic>
      <p:sp>
        <p:nvSpPr>
          <p:cNvPr id="9" name="TextBox 8">
            <a:extLst>
              <a:ext uri="{FF2B5EF4-FFF2-40B4-BE49-F238E27FC236}">
                <a16:creationId xmlns:a16="http://schemas.microsoft.com/office/drawing/2014/main" id="{710D7318-DBC0-5496-911D-081AC308B1C8}"/>
              </a:ext>
            </a:extLst>
          </p:cNvPr>
          <p:cNvSpPr txBox="1"/>
          <p:nvPr/>
        </p:nvSpPr>
        <p:spPr>
          <a:xfrm>
            <a:off x="770258" y="940969"/>
            <a:ext cx="2327625" cy="307777"/>
          </a:xfrm>
          <a:prstGeom prst="rect">
            <a:avLst/>
          </a:prstGeom>
          <a:noFill/>
        </p:spPr>
        <p:txBody>
          <a:bodyPr wrap="none" rtlCol="0">
            <a:spAutoFit/>
          </a:bodyPr>
          <a:lstStyle/>
          <a:p>
            <a:r>
              <a:rPr lang="en-US" sz="1400" b="1">
                <a:latin typeface="Helvetica Neue" panose="02000503000000020004"/>
              </a:rPr>
              <a:t>2.3. System Architecture</a:t>
            </a:r>
          </a:p>
        </p:txBody>
      </p:sp>
      <p:sp>
        <p:nvSpPr>
          <p:cNvPr id="10" name="Title 24">
            <a:extLst>
              <a:ext uri="{FF2B5EF4-FFF2-40B4-BE49-F238E27FC236}">
                <a16:creationId xmlns:a16="http://schemas.microsoft.com/office/drawing/2014/main" id="{26D1F930-62D6-3C73-C68C-179803420592}"/>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2. Requirement &amp; Propose Solution</a:t>
            </a:r>
            <a:endParaRPr lang="en-US">
              <a:latin typeface="Helvetica Neue" panose="02000503000000020004"/>
            </a:endParaRPr>
          </a:p>
        </p:txBody>
      </p:sp>
      <p:sp>
        <p:nvSpPr>
          <p:cNvPr id="11" name="TextBox 10">
            <a:extLst>
              <a:ext uri="{FF2B5EF4-FFF2-40B4-BE49-F238E27FC236}">
                <a16:creationId xmlns:a16="http://schemas.microsoft.com/office/drawing/2014/main" id="{B4257FE4-CBF7-0B4E-4BAD-9F3490E721C0}"/>
              </a:ext>
            </a:extLst>
          </p:cNvPr>
          <p:cNvSpPr txBox="1"/>
          <p:nvPr/>
        </p:nvSpPr>
        <p:spPr>
          <a:xfrm>
            <a:off x="6746240" y="1345504"/>
            <a:ext cx="3005243" cy="600164"/>
          </a:xfrm>
          <a:prstGeom prst="rect">
            <a:avLst/>
          </a:prstGeom>
          <a:noFill/>
        </p:spPr>
        <p:txBody>
          <a:bodyPr wrap="square" rtlCol="0">
            <a:spAutoFit/>
          </a:bodyPr>
          <a:lstStyle/>
          <a:p>
            <a:r>
              <a:rPr lang="en-US" sz="1100"/>
              <a:t>System architecture on this project will use existing environment implemented on MMKSI HRM system with the following specification:</a:t>
            </a:r>
          </a:p>
        </p:txBody>
      </p:sp>
      <p:sp>
        <p:nvSpPr>
          <p:cNvPr id="2" name="TextBox 1">
            <a:extLst>
              <a:ext uri="{FF2B5EF4-FFF2-40B4-BE49-F238E27FC236}">
                <a16:creationId xmlns:a16="http://schemas.microsoft.com/office/drawing/2014/main" id="{2E8CD9F5-8C97-730D-FC50-CEFC51CEDB0A}"/>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925236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B4AC53-E4DE-DDFE-694F-A803AB2F1AC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E80E359-EAF5-517E-F9CF-849B3D4AB45A}"/>
              </a:ext>
            </a:extLst>
          </p:cNvPr>
          <p:cNvSpPr>
            <a:spLocks noGrp="1"/>
          </p:cNvSpPr>
          <p:nvPr>
            <p:ph type="sldNum" sz="quarter" idx="12"/>
          </p:nvPr>
        </p:nvSpPr>
        <p:spPr/>
        <p:txBody>
          <a:bodyPr/>
          <a:lstStyle/>
          <a:p>
            <a:r>
              <a:rPr lang="en-GB"/>
              <a:t> Page </a:t>
            </a:r>
            <a:fld id="{7A555EF9-59E7-4D74-815B-7A20869232EE}" type="slidenum">
              <a:rPr lang="en-GB" smtClean="0"/>
              <a:pPr/>
              <a:t>11</a:t>
            </a:fld>
            <a:endParaRPr lang="en-GB"/>
          </a:p>
        </p:txBody>
      </p:sp>
      <p:sp>
        <p:nvSpPr>
          <p:cNvPr id="7" name="Footer Placeholder 4">
            <a:extLst>
              <a:ext uri="{FF2B5EF4-FFF2-40B4-BE49-F238E27FC236}">
                <a16:creationId xmlns:a16="http://schemas.microsoft.com/office/drawing/2014/main" id="{1253FA9B-0857-E7D1-56A4-8F5AF5F40C6B}"/>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pic>
        <p:nvPicPr>
          <p:cNvPr id="5" name="Picture 4">
            <a:extLst>
              <a:ext uri="{FF2B5EF4-FFF2-40B4-BE49-F238E27FC236}">
                <a16:creationId xmlns:a16="http://schemas.microsoft.com/office/drawing/2014/main" id="{313187D6-86E3-95F6-BF65-1FF2E54C6126}"/>
              </a:ext>
            </a:extLst>
          </p:cNvPr>
          <p:cNvPicPr>
            <a:picLocks noChangeAspect="1"/>
          </p:cNvPicPr>
          <p:nvPr/>
        </p:nvPicPr>
        <p:blipFill>
          <a:blip r:embed="rId2"/>
          <a:stretch>
            <a:fillRect/>
          </a:stretch>
        </p:blipFill>
        <p:spPr>
          <a:xfrm>
            <a:off x="793882" y="1345504"/>
            <a:ext cx="5826850" cy="5130095"/>
          </a:xfrm>
          <a:prstGeom prst="rect">
            <a:avLst/>
          </a:prstGeom>
          <a:ln>
            <a:solidFill>
              <a:schemeClr val="tx1"/>
            </a:solidFill>
          </a:ln>
        </p:spPr>
      </p:pic>
      <p:pic>
        <p:nvPicPr>
          <p:cNvPr id="8" name="Picture 7">
            <a:extLst>
              <a:ext uri="{FF2B5EF4-FFF2-40B4-BE49-F238E27FC236}">
                <a16:creationId xmlns:a16="http://schemas.microsoft.com/office/drawing/2014/main" id="{C90EBA91-C66A-7E72-4C29-6C65B6BEA6FC}"/>
              </a:ext>
            </a:extLst>
          </p:cNvPr>
          <p:cNvPicPr>
            <a:picLocks noChangeAspect="1"/>
          </p:cNvPicPr>
          <p:nvPr/>
        </p:nvPicPr>
        <p:blipFill>
          <a:blip r:embed="rId3"/>
          <a:stretch>
            <a:fillRect/>
          </a:stretch>
        </p:blipFill>
        <p:spPr>
          <a:xfrm>
            <a:off x="6801061" y="1945668"/>
            <a:ext cx="2895600" cy="4175760"/>
          </a:xfrm>
          <a:prstGeom prst="rect">
            <a:avLst/>
          </a:prstGeom>
        </p:spPr>
      </p:pic>
      <p:sp>
        <p:nvSpPr>
          <p:cNvPr id="9" name="TextBox 8">
            <a:extLst>
              <a:ext uri="{FF2B5EF4-FFF2-40B4-BE49-F238E27FC236}">
                <a16:creationId xmlns:a16="http://schemas.microsoft.com/office/drawing/2014/main" id="{C4744022-3000-23A5-59EC-B0B6DA0A1862}"/>
              </a:ext>
            </a:extLst>
          </p:cNvPr>
          <p:cNvSpPr txBox="1"/>
          <p:nvPr/>
        </p:nvSpPr>
        <p:spPr>
          <a:xfrm>
            <a:off x="770258" y="940969"/>
            <a:ext cx="2327625" cy="307777"/>
          </a:xfrm>
          <a:prstGeom prst="rect">
            <a:avLst/>
          </a:prstGeom>
          <a:noFill/>
        </p:spPr>
        <p:txBody>
          <a:bodyPr wrap="none" rtlCol="0">
            <a:spAutoFit/>
          </a:bodyPr>
          <a:lstStyle/>
          <a:p>
            <a:r>
              <a:rPr lang="en-US" sz="1400" b="1">
                <a:latin typeface="Helvetica Neue" panose="02000503000000020004"/>
              </a:rPr>
              <a:t>2.3. System Architecture</a:t>
            </a:r>
          </a:p>
        </p:txBody>
      </p:sp>
      <p:sp>
        <p:nvSpPr>
          <p:cNvPr id="10" name="Title 24">
            <a:extLst>
              <a:ext uri="{FF2B5EF4-FFF2-40B4-BE49-F238E27FC236}">
                <a16:creationId xmlns:a16="http://schemas.microsoft.com/office/drawing/2014/main" id="{4B2B8870-F9B7-175A-284C-420D3CF9465C}"/>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2. Requirement &amp; Propose Solution</a:t>
            </a:r>
            <a:endParaRPr lang="en-US">
              <a:latin typeface="Helvetica Neue" panose="02000503000000020004"/>
            </a:endParaRPr>
          </a:p>
        </p:txBody>
      </p:sp>
      <p:sp>
        <p:nvSpPr>
          <p:cNvPr id="11" name="TextBox 10">
            <a:extLst>
              <a:ext uri="{FF2B5EF4-FFF2-40B4-BE49-F238E27FC236}">
                <a16:creationId xmlns:a16="http://schemas.microsoft.com/office/drawing/2014/main" id="{FD69CFA5-08E1-9E0E-EE55-75C80238A25F}"/>
              </a:ext>
            </a:extLst>
          </p:cNvPr>
          <p:cNvSpPr txBox="1"/>
          <p:nvPr/>
        </p:nvSpPr>
        <p:spPr>
          <a:xfrm>
            <a:off x="6746240" y="1345504"/>
            <a:ext cx="3005243" cy="600164"/>
          </a:xfrm>
          <a:prstGeom prst="rect">
            <a:avLst/>
          </a:prstGeom>
          <a:noFill/>
        </p:spPr>
        <p:txBody>
          <a:bodyPr wrap="square" rtlCol="0">
            <a:spAutoFit/>
          </a:bodyPr>
          <a:lstStyle/>
          <a:p>
            <a:r>
              <a:rPr lang="en-US" sz="1100"/>
              <a:t>System architecture on this project will use existing environment implemented on MMKSI HRM system with the following specification:</a:t>
            </a:r>
          </a:p>
        </p:txBody>
      </p:sp>
      <p:sp>
        <p:nvSpPr>
          <p:cNvPr id="2" name="TextBox 1">
            <a:extLst>
              <a:ext uri="{FF2B5EF4-FFF2-40B4-BE49-F238E27FC236}">
                <a16:creationId xmlns:a16="http://schemas.microsoft.com/office/drawing/2014/main" id="{A15F42C0-54D5-4AD5-97EA-6FF917804E28}"/>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1657733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28EB-38A3-6652-B159-0CB4B30A087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3CDB112-AF72-456E-E1AE-31511F99C335}"/>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2" name="Slide Number Placeholder 5">
            <a:extLst>
              <a:ext uri="{FF2B5EF4-FFF2-40B4-BE49-F238E27FC236}">
                <a16:creationId xmlns:a16="http://schemas.microsoft.com/office/drawing/2014/main" id="{49F17AFD-58E4-F58A-D0FD-A9B981EF76BC}"/>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12</a:t>
            </a:fld>
            <a:endParaRPr lang="en-GB"/>
          </a:p>
        </p:txBody>
      </p:sp>
      <p:sp>
        <p:nvSpPr>
          <p:cNvPr id="5" name="Footer Placeholder 4">
            <a:extLst>
              <a:ext uri="{FF2B5EF4-FFF2-40B4-BE49-F238E27FC236}">
                <a16:creationId xmlns:a16="http://schemas.microsoft.com/office/drawing/2014/main" id="{06BF1418-840E-3636-F6BC-60BB16CC2609}"/>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E4B53F9A-93C7-A76D-60D1-B4CF7C966278}"/>
              </a:ext>
            </a:extLst>
          </p:cNvPr>
          <p:cNvSpPr txBox="1"/>
          <p:nvPr/>
        </p:nvSpPr>
        <p:spPr>
          <a:xfrm>
            <a:off x="754779" y="894323"/>
            <a:ext cx="3264522" cy="327397"/>
          </a:xfrm>
          <a:prstGeom prst="rect">
            <a:avLst/>
          </a:prstGeom>
          <a:noFill/>
        </p:spPr>
        <p:txBody>
          <a:bodyPr wrap="square">
            <a:spAutoFit/>
          </a:bodyPr>
          <a:lstStyle/>
          <a:p>
            <a:pPr marR="0" lvl="0">
              <a:lnSpc>
                <a:spcPct val="115000"/>
              </a:lnSpc>
              <a:tabLst>
                <a:tab pos="228600" algn="l"/>
              </a:tabLst>
            </a:pPr>
            <a:r>
              <a:rPr lang="en-US" sz="1400" b="1" kern="100">
                <a:latin typeface="Helvetica Neue" panose="02000503000000020004"/>
                <a:ea typeface="DengXian" panose="02010600030101010101" pitchFamily="2" charset="-122"/>
                <a:cs typeface="Times New Roman" panose="02020603050405020304" pitchFamily="18" charset="0"/>
              </a:rPr>
              <a:t>3</a:t>
            </a:r>
            <a:r>
              <a:rPr lang="en-US" sz="1400" b="1" kern="100">
                <a:effectLst/>
                <a:latin typeface="Helvetica Neue" panose="02000503000000020004"/>
                <a:ea typeface="DengXian" panose="02010600030101010101" pitchFamily="2" charset="-122"/>
                <a:cs typeface="Times New Roman" panose="02020603050405020304" pitchFamily="18" charset="0"/>
              </a:rPr>
              <a:t>.1 Project Approach</a:t>
            </a:r>
          </a:p>
        </p:txBody>
      </p:sp>
      <p:pic>
        <p:nvPicPr>
          <p:cNvPr id="15" name="Picture 14">
            <a:extLst>
              <a:ext uri="{FF2B5EF4-FFF2-40B4-BE49-F238E27FC236}">
                <a16:creationId xmlns:a16="http://schemas.microsoft.com/office/drawing/2014/main" id="{77BB83D8-7A36-2453-6C53-3CD5C4678B9E}"/>
              </a:ext>
            </a:extLst>
          </p:cNvPr>
          <p:cNvPicPr>
            <a:picLocks noChangeAspect="1"/>
          </p:cNvPicPr>
          <p:nvPr/>
        </p:nvPicPr>
        <p:blipFill>
          <a:blip r:embed="rId2">
            <a:extLst>
              <a:ext uri="{28A0092B-C50C-407E-A947-70E740481C1C}">
                <a14:useLocalDpi xmlns:a14="http://schemas.microsoft.com/office/drawing/2010/main" val="0"/>
              </a:ext>
            </a:extLst>
          </a:blip>
          <a:srcRect b="27482"/>
          <a:stretch>
            <a:fillRect/>
          </a:stretch>
        </p:blipFill>
        <p:spPr>
          <a:xfrm>
            <a:off x="1063189" y="1513575"/>
            <a:ext cx="7511851" cy="2992398"/>
          </a:xfrm>
          <a:prstGeom prst="rect">
            <a:avLst/>
          </a:prstGeom>
        </p:spPr>
      </p:pic>
      <p:sp>
        <p:nvSpPr>
          <p:cNvPr id="6" name="TextBox 5">
            <a:extLst>
              <a:ext uri="{FF2B5EF4-FFF2-40B4-BE49-F238E27FC236}">
                <a16:creationId xmlns:a16="http://schemas.microsoft.com/office/drawing/2014/main" id="{B119750A-DE2E-9BBD-6E6E-40884E5ECF3B}"/>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130177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D87A-A4DF-4732-DFF5-3220587983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EAAAE6-3569-EB20-CDAA-D6AEEB19C5D7}"/>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2" name="Slide Number Placeholder 5">
            <a:extLst>
              <a:ext uri="{FF2B5EF4-FFF2-40B4-BE49-F238E27FC236}">
                <a16:creationId xmlns:a16="http://schemas.microsoft.com/office/drawing/2014/main" id="{C1EBD3A7-D284-33DA-B808-D7A5991F93BB}"/>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13</a:t>
            </a:fld>
            <a:endParaRPr lang="en-GB"/>
          </a:p>
        </p:txBody>
      </p:sp>
      <p:sp>
        <p:nvSpPr>
          <p:cNvPr id="5" name="Footer Placeholder 4">
            <a:extLst>
              <a:ext uri="{FF2B5EF4-FFF2-40B4-BE49-F238E27FC236}">
                <a16:creationId xmlns:a16="http://schemas.microsoft.com/office/drawing/2014/main" id="{D984C52F-B0D6-976C-4CC7-E5BB8BC6FA52}"/>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16167D2F-89A3-587F-1210-88B537DF3272}"/>
              </a:ext>
            </a:extLst>
          </p:cNvPr>
          <p:cNvSpPr txBox="1"/>
          <p:nvPr/>
        </p:nvSpPr>
        <p:spPr>
          <a:xfrm>
            <a:off x="754779" y="894323"/>
            <a:ext cx="3264522" cy="327397"/>
          </a:xfrm>
          <a:prstGeom prst="rect">
            <a:avLst/>
          </a:prstGeom>
          <a:noFill/>
        </p:spPr>
        <p:txBody>
          <a:bodyPr wrap="square" lIns="91440" tIns="45720" rIns="91440" bIns="45720" anchor="t">
            <a:spAutoFit/>
          </a:bodyPr>
          <a:lstStyle/>
          <a:p>
            <a:pPr>
              <a:lnSpc>
                <a:spcPct val="115000"/>
              </a:lnSpc>
              <a:tabLst>
                <a:tab pos="228600" algn="l"/>
              </a:tabLst>
            </a:pPr>
            <a:r>
              <a:rPr lang="en-US" sz="1400" b="1" kern="100">
                <a:latin typeface="Helvetica Neue" panose="02000503000000020004"/>
                <a:ea typeface="DengXian"/>
                <a:cs typeface="Times New Roman"/>
              </a:rPr>
              <a:t>3.2. Project Event</a:t>
            </a:r>
            <a:endParaRPr lang="en-US" sz="1400" b="1" kern="100">
              <a:effectLst/>
              <a:latin typeface="Helvetica Neue" panose="02000503000000020004"/>
              <a:ea typeface="DengXian" panose="02010600030101010101" pitchFamily="2" charset="-122"/>
              <a:cs typeface="Times New Roman" panose="02020603050405020304" pitchFamily="18" charset="0"/>
            </a:endParaRPr>
          </a:p>
        </p:txBody>
      </p:sp>
      <p:sp>
        <p:nvSpPr>
          <p:cNvPr id="7" name="Rectangle 6">
            <a:extLst>
              <a:ext uri="{FF2B5EF4-FFF2-40B4-BE49-F238E27FC236}">
                <a16:creationId xmlns:a16="http://schemas.microsoft.com/office/drawing/2014/main" id="{37C43AB0-C2EE-3AC7-2607-AD7B4AE9EBAD}"/>
              </a:ext>
            </a:extLst>
          </p:cNvPr>
          <p:cNvSpPr/>
          <p:nvPr/>
        </p:nvSpPr>
        <p:spPr>
          <a:xfrm>
            <a:off x="1156773" y="1578310"/>
            <a:ext cx="1305844" cy="441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ea typeface="Calibri"/>
                <a:cs typeface="Calibri"/>
              </a:rPr>
              <a:t>Pre PI Planning</a:t>
            </a:r>
            <a:endParaRPr lang="en-US" sz="1400"/>
          </a:p>
        </p:txBody>
      </p:sp>
      <p:sp>
        <p:nvSpPr>
          <p:cNvPr id="8" name="Rectangle 7">
            <a:extLst>
              <a:ext uri="{FF2B5EF4-FFF2-40B4-BE49-F238E27FC236}">
                <a16:creationId xmlns:a16="http://schemas.microsoft.com/office/drawing/2014/main" id="{FF3337BE-BDFB-B0B9-5A38-2A81A618EDA3}"/>
              </a:ext>
            </a:extLst>
          </p:cNvPr>
          <p:cNvSpPr/>
          <p:nvPr/>
        </p:nvSpPr>
        <p:spPr>
          <a:xfrm>
            <a:off x="2784085" y="1597915"/>
            <a:ext cx="1490081" cy="431339"/>
          </a:xfrm>
          <a:prstGeom prst="rect">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ea typeface="Calibri"/>
                <a:cs typeface="Calibri"/>
              </a:rPr>
              <a:t>PI Planning</a:t>
            </a:r>
            <a:endParaRPr lang="en-US">
              <a:solidFill>
                <a:schemeClr val="tx1"/>
              </a:solidFill>
            </a:endParaRPr>
          </a:p>
        </p:txBody>
      </p:sp>
      <p:sp>
        <p:nvSpPr>
          <p:cNvPr id="9" name="Rectangle: Rounded Corners 8">
            <a:extLst>
              <a:ext uri="{FF2B5EF4-FFF2-40B4-BE49-F238E27FC236}">
                <a16:creationId xmlns:a16="http://schemas.microsoft.com/office/drawing/2014/main" id="{B0B06A9F-1D02-5660-E24D-0F9A726689E3}"/>
              </a:ext>
            </a:extLst>
          </p:cNvPr>
          <p:cNvSpPr/>
          <p:nvPr/>
        </p:nvSpPr>
        <p:spPr>
          <a:xfrm>
            <a:off x="4684570" y="1576543"/>
            <a:ext cx="3891857" cy="133629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2C5B076-9336-0DB5-BD8A-447EAEBCB97B}"/>
              </a:ext>
            </a:extLst>
          </p:cNvPr>
          <p:cNvSpPr txBox="1"/>
          <p:nvPr/>
        </p:nvSpPr>
        <p:spPr>
          <a:xfrm>
            <a:off x="4652953" y="1653208"/>
            <a:ext cx="172340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Iterations 1</a:t>
            </a:r>
            <a:endParaRPr lang="en-US" sz="1400"/>
          </a:p>
        </p:txBody>
      </p:sp>
      <p:sp>
        <p:nvSpPr>
          <p:cNvPr id="11" name="Rectangle 10">
            <a:extLst>
              <a:ext uri="{FF2B5EF4-FFF2-40B4-BE49-F238E27FC236}">
                <a16:creationId xmlns:a16="http://schemas.microsoft.com/office/drawing/2014/main" id="{02BAAF7A-F7A2-437E-151A-BE159FF72D05}"/>
              </a:ext>
            </a:extLst>
          </p:cNvPr>
          <p:cNvSpPr/>
          <p:nvPr/>
        </p:nvSpPr>
        <p:spPr>
          <a:xfrm>
            <a:off x="4780645" y="1961220"/>
            <a:ext cx="3597762" cy="24959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FFFFFF"/>
                </a:solidFill>
                <a:ea typeface="Calibri"/>
                <a:cs typeface="Calibri"/>
              </a:rPr>
              <a:t>Daily Stand Up</a:t>
            </a:r>
            <a:endParaRPr lang="en-US" sz="1000">
              <a:solidFill>
                <a:srgbClr val="FFFFFF"/>
              </a:solidFill>
            </a:endParaRPr>
          </a:p>
        </p:txBody>
      </p:sp>
      <p:sp>
        <p:nvSpPr>
          <p:cNvPr id="12" name="Rectangle 11">
            <a:extLst>
              <a:ext uri="{FF2B5EF4-FFF2-40B4-BE49-F238E27FC236}">
                <a16:creationId xmlns:a16="http://schemas.microsoft.com/office/drawing/2014/main" id="{257386DE-CF1A-FBD3-0FEE-F654892EEE57}"/>
              </a:ext>
            </a:extLst>
          </p:cNvPr>
          <p:cNvSpPr/>
          <p:nvPr/>
        </p:nvSpPr>
        <p:spPr>
          <a:xfrm>
            <a:off x="4779463" y="2323350"/>
            <a:ext cx="717494" cy="343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Iteration</a:t>
            </a:r>
            <a:br>
              <a:rPr lang="en-US" sz="1000">
                <a:ea typeface="Calibri"/>
                <a:cs typeface="Calibri"/>
              </a:rPr>
            </a:br>
            <a:r>
              <a:rPr lang="en-US" sz="1000">
                <a:ea typeface="Calibri"/>
                <a:cs typeface="Calibri"/>
              </a:rPr>
              <a:t>Planning</a:t>
            </a:r>
          </a:p>
        </p:txBody>
      </p:sp>
      <p:sp>
        <p:nvSpPr>
          <p:cNvPr id="13" name="Rectangle 12">
            <a:extLst>
              <a:ext uri="{FF2B5EF4-FFF2-40B4-BE49-F238E27FC236}">
                <a16:creationId xmlns:a16="http://schemas.microsoft.com/office/drawing/2014/main" id="{A45A95A3-5FD6-6E2B-1E6B-82CCBFD939AB}"/>
              </a:ext>
            </a:extLst>
          </p:cNvPr>
          <p:cNvSpPr/>
          <p:nvPr/>
        </p:nvSpPr>
        <p:spPr>
          <a:xfrm>
            <a:off x="5661341" y="2323349"/>
            <a:ext cx="883806" cy="343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ea typeface="Calibri"/>
                <a:cs typeface="Calibri"/>
              </a:rPr>
              <a:t>Backlog Refinement</a:t>
            </a:r>
          </a:p>
        </p:txBody>
      </p:sp>
      <p:sp>
        <p:nvSpPr>
          <p:cNvPr id="14" name="Arrow: Right 13">
            <a:extLst>
              <a:ext uri="{FF2B5EF4-FFF2-40B4-BE49-F238E27FC236}">
                <a16:creationId xmlns:a16="http://schemas.microsoft.com/office/drawing/2014/main" id="{9CD779CB-BAF1-B5E4-CC81-FF989165C258}"/>
              </a:ext>
            </a:extLst>
          </p:cNvPr>
          <p:cNvSpPr/>
          <p:nvPr/>
        </p:nvSpPr>
        <p:spPr>
          <a:xfrm>
            <a:off x="5504896" y="2431185"/>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940F212-D04F-6B2C-5EE7-FD25A52F4458}"/>
              </a:ext>
            </a:extLst>
          </p:cNvPr>
          <p:cNvSpPr/>
          <p:nvPr/>
        </p:nvSpPr>
        <p:spPr>
          <a:xfrm>
            <a:off x="6723447" y="2330801"/>
            <a:ext cx="696024" cy="313701"/>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ea typeface="Calibri"/>
                <a:cs typeface="Calibri"/>
              </a:rPr>
              <a:t>Iteration Review</a:t>
            </a:r>
          </a:p>
        </p:txBody>
      </p:sp>
      <p:sp>
        <p:nvSpPr>
          <p:cNvPr id="16" name="Rectangle 15">
            <a:extLst>
              <a:ext uri="{FF2B5EF4-FFF2-40B4-BE49-F238E27FC236}">
                <a16:creationId xmlns:a16="http://schemas.microsoft.com/office/drawing/2014/main" id="{5987896A-15AE-28EC-DF28-3B633F4E754F}"/>
              </a:ext>
            </a:extLst>
          </p:cNvPr>
          <p:cNvSpPr/>
          <p:nvPr/>
        </p:nvSpPr>
        <p:spPr>
          <a:xfrm>
            <a:off x="7588831" y="2339430"/>
            <a:ext cx="833269" cy="303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Iteration Retro</a:t>
            </a:r>
          </a:p>
        </p:txBody>
      </p:sp>
      <p:sp>
        <p:nvSpPr>
          <p:cNvPr id="17" name="Arrow: Right 16">
            <a:extLst>
              <a:ext uri="{FF2B5EF4-FFF2-40B4-BE49-F238E27FC236}">
                <a16:creationId xmlns:a16="http://schemas.microsoft.com/office/drawing/2014/main" id="{80080F6D-3675-7B20-5AB3-1DB232466831}"/>
              </a:ext>
            </a:extLst>
          </p:cNvPr>
          <p:cNvSpPr/>
          <p:nvPr/>
        </p:nvSpPr>
        <p:spPr>
          <a:xfrm>
            <a:off x="6542438" y="2420793"/>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2D4A229E-FD34-201F-F91C-8A7C6FD1EC70}"/>
              </a:ext>
            </a:extLst>
          </p:cNvPr>
          <p:cNvSpPr/>
          <p:nvPr/>
        </p:nvSpPr>
        <p:spPr>
          <a:xfrm>
            <a:off x="7413305" y="2420792"/>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2AE62E46-C10D-F910-B883-26E5CCE7BD62}"/>
              </a:ext>
            </a:extLst>
          </p:cNvPr>
          <p:cNvSpPr/>
          <p:nvPr/>
        </p:nvSpPr>
        <p:spPr>
          <a:xfrm>
            <a:off x="4686633" y="4647794"/>
            <a:ext cx="3891857" cy="151605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4AF630-B540-FA72-C107-E6798FF4C84A}"/>
              </a:ext>
            </a:extLst>
          </p:cNvPr>
          <p:cNvSpPr txBox="1"/>
          <p:nvPr/>
        </p:nvSpPr>
        <p:spPr>
          <a:xfrm>
            <a:off x="4765519" y="468321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Release Preparation</a:t>
            </a:r>
            <a:endParaRPr lang="en-US" sz="1400"/>
          </a:p>
        </p:txBody>
      </p:sp>
      <p:sp>
        <p:nvSpPr>
          <p:cNvPr id="34" name="Rectangle 33">
            <a:extLst>
              <a:ext uri="{FF2B5EF4-FFF2-40B4-BE49-F238E27FC236}">
                <a16:creationId xmlns:a16="http://schemas.microsoft.com/office/drawing/2014/main" id="{6AA606C4-EED5-DE94-FFEF-90E56086561F}"/>
              </a:ext>
            </a:extLst>
          </p:cNvPr>
          <p:cNvSpPr/>
          <p:nvPr/>
        </p:nvSpPr>
        <p:spPr>
          <a:xfrm>
            <a:off x="5699470" y="4990281"/>
            <a:ext cx="592887" cy="3286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Code</a:t>
            </a:r>
            <a:br>
              <a:rPr lang="en-US" sz="1000">
                <a:ea typeface="Calibri"/>
                <a:cs typeface="Calibri"/>
              </a:rPr>
            </a:br>
            <a:r>
              <a:rPr lang="en-US" sz="1000">
                <a:ea typeface="Calibri"/>
                <a:cs typeface="Calibri"/>
              </a:rPr>
              <a:t>Review</a:t>
            </a:r>
          </a:p>
        </p:txBody>
      </p:sp>
      <p:sp>
        <p:nvSpPr>
          <p:cNvPr id="35" name="Rectangle 34">
            <a:extLst>
              <a:ext uri="{FF2B5EF4-FFF2-40B4-BE49-F238E27FC236}">
                <a16:creationId xmlns:a16="http://schemas.microsoft.com/office/drawing/2014/main" id="{91BB927B-451B-9F4F-8766-A5230D47BD8C}"/>
              </a:ext>
            </a:extLst>
          </p:cNvPr>
          <p:cNvSpPr/>
          <p:nvPr/>
        </p:nvSpPr>
        <p:spPr>
          <a:xfrm>
            <a:off x="6622397" y="5013633"/>
            <a:ext cx="797386" cy="3114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Regression</a:t>
            </a:r>
            <a:br>
              <a:rPr lang="en-US" sz="1000">
                <a:ea typeface="Calibri"/>
                <a:cs typeface="Calibri"/>
              </a:rPr>
            </a:br>
            <a:r>
              <a:rPr lang="en-US" sz="1000">
                <a:ea typeface="Calibri"/>
                <a:cs typeface="Calibri"/>
              </a:rPr>
              <a:t>Test</a:t>
            </a:r>
          </a:p>
        </p:txBody>
      </p:sp>
      <p:sp>
        <p:nvSpPr>
          <p:cNvPr id="36" name="Rectangle 35">
            <a:extLst>
              <a:ext uri="{FF2B5EF4-FFF2-40B4-BE49-F238E27FC236}">
                <a16:creationId xmlns:a16="http://schemas.microsoft.com/office/drawing/2014/main" id="{5A4A2B80-86A4-F99F-0DC6-1167CA8D602B}"/>
              </a:ext>
            </a:extLst>
          </p:cNvPr>
          <p:cNvSpPr/>
          <p:nvPr/>
        </p:nvSpPr>
        <p:spPr>
          <a:xfrm>
            <a:off x="7706745" y="5060664"/>
            <a:ext cx="504162" cy="2940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VAPT</a:t>
            </a:r>
          </a:p>
        </p:txBody>
      </p:sp>
      <p:sp>
        <p:nvSpPr>
          <p:cNvPr id="37" name="Arrow: Right 36">
            <a:extLst>
              <a:ext uri="{FF2B5EF4-FFF2-40B4-BE49-F238E27FC236}">
                <a16:creationId xmlns:a16="http://schemas.microsoft.com/office/drawing/2014/main" id="{C585370F-4857-DAD2-6D1B-44A65B9FFEE8}"/>
              </a:ext>
            </a:extLst>
          </p:cNvPr>
          <p:cNvSpPr/>
          <p:nvPr/>
        </p:nvSpPr>
        <p:spPr>
          <a:xfrm>
            <a:off x="5440616" y="5064277"/>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611C742-A1B7-378A-EB46-0E384982599B}"/>
              </a:ext>
            </a:extLst>
          </p:cNvPr>
          <p:cNvSpPr/>
          <p:nvPr/>
        </p:nvSpPr>
        <p:spPr>
          <a:xfrm>
            <a:off x="4851632" y="4999860"/>
            <a:ext cx="530303" cy="31546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ea typeface="Calibri"/>
                <a:cs typeface="Calibri"/>
              </a:rPr>
              <a:t>UAT</a:t>
            </a:r>
            <a:endParaRPr lang="en-US" sz="1400">
              <a:solidFill>
                <a:schemeClr val="tx1"/>
              </a:solidFill>
            </a:endParaRPr>
          </a:p>
        </p:txBody>
      </p:sp>
      <p:sp>
        <p:nvSpPr>
          <p:cNvPr id="38" name="Arrow: Right 37">
            <a:extLst>
              <a:ext uri="{FF2B5EF4-FFF2-40B4-BE49-F238E27FC236}">
                <a16:creationId xmlns:a16="http://schemas.microsoft.com/office/drawing/2014/main" id="{EC3D1043-BAF0-A724-75A4-6C2ACFABA4AD}"/>
              </a:ext>
            </a:extLst>
          </p:cNvPr>
          <p:cNvSpPr/>
          <p:nvPr/>
        </p:nvSpPr>
        <p:spPr>
          <a:xfrm>
            <a:off x="6346025" y="5064276"/>
            <a:ext cx="187166"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E66E4E6-B0C4-718D-A929-06788DB018B8}"/>
              </a:ext>
            </a:extLst>
          </p:cNvPr>
          <p:cNvSpPr/>
          <p:nvPr/>
        </p:nvSpPr>
        <p:spPr>
          <a:xfrm>
            <a:off x="6695210" y="5656268"/>
            <a:ext cx="549013" cy="3154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ea typeface="Calibri"/>
                <a:cs typeface="Calibri"/>
              </a:rPr>
              <a:t>CAB 2</a:t>
            </a:r>
          </a:p>
        </p:txBody>
      </p:sp>
      <p:sp>
        <p:nvSpPr>
          <p:cNvPr id="39" name="Arrow: Right 38">
            <a:extLst>
              <a:ext uri="{FF2B5EF4-FFF2-40B4-BE49-F238E27FC236}">
                <a16:creationId xmlns:a16="http://schemas.microsoft.com/office/drawing/2014/main" id="{0DD0C815-4B35-A38B-5E81-08152A778E19}"/>
              </a:ext>
            </a:extLst>
          </p:cNvPr>
          <p:cNvSpPr/>
          <p:nvPr/>
        </p:nvSpPr>
        <p:spPr>
          <a:xfrm>
            <a:off x="7478066" y="5064275"/>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598ADA5-183E-B2D8-CAE8-346754B6FDA5}"/>
              </a:ext>
            </a:extLst>
          </p:cNvPr>
          <p:cNvSpPr/>
          <p:nvPr/>
        </p:nvSpPr>
        <p:spPr>
          <a:xfrm>
            <a:off x="1224910" y="5844572"/>
            <a:ext cx="245079" cy="175056"/>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6BEC0E9-3500-D635-915B-62B175DC9162}"/>
              </a:ext>
            </a:extLst>
          </p:cNvPr>
          <p:cNvSpPr txBox="1"/>
          <p:nvPr/>
        </p:nvSpPr>
        <p:spPr>
          <a:xfrm>
            <a:off x="1564847" y="5743826"/>
            <a:ext cx="18604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Calibri"/>
                <a:cs typeface="Calibri"/>
              </a:rPr>
              <a:t>Event that need MMKSI Key Users involvement</a:t>
            </a:r>
          </a:p>
        </p:txBody>
      </p:sp>
      <p:sp>
        <p:nvSpPr>
          <p:cNvPr id="22" name="Rectangle 21">
            <a:extLst>
              <a:ext uri="{FF2B5EF4-FFF2-40B4-BE49-F238E27FC236}">
                <a16:creationId xmlns:a16="http://schemas.microsoft.com/office/drawing/2014/main" id="{27799268-8FD8-6AE5-DC80-091B52D9746C}"/>
              </a:ext>
            </a:extLst>
          </p:cNvPr>
          <p:cNvSpPr/>
          <p:nvPr/>
        </p:nvSpPr>
        <p:spPr>
          <a:xfrm>
            <a:off x="7500765" y="5652959"/>
            <a:ext cx="925793" cy="337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Remediation</a:t>
            </a:r>
          </a:p>
        </p:txBody>
      </p:sp>
      <p:sp>
        <p:nvSpPr>
          <p:cNvPr id="23" name="Arrow: Down 22">
            <a:extLst>
              <a:ext uri="{FF2B5EF4-FFF2-40B4-BE49-F238E27FC236}">
                <a16:creationId xmlns:a16="http://schemas.microsoft.com/office/drawing/2014/main" id="{1C4A861E-AE1F-5772-0C2C-6D1DD715D82D}"/>
              </a:ext>
            </a:extLst>
          </p:cNvPr>
          <p:cNvSpPr/>
          <p:nvPr/>
        </p:nvSpPr>
        <p:spPr>
          <a:xfrm>
            <a:off x="8059663" y="5416293"/>
            <a:ext cx="190236" cy="188251"/>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E95B3D5-BCF0-10B8-00FD-84C165B38D6B}"/>
              </a:ext>
            </a:extLst>
          </p:cNvPr>
          <p:cNvSpPr/>
          <p:nvPr/>
        </p:nvSpPr>
        <p:spPr>
          <a:xfrm>
            <a:off x="4861655" y="5647598"/>
            <a:ext cx="1598677" cy="3361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ea typeface="Calibri"/>
                <a:cs typeface="Calibri"/>
              </a:rPr>
              <a:t>        Deployment</a:t>
            </a:r>
            <a:endParaRPr lang="en-US" sz="1600"/>
          </a:p>
        </p:txBody>
      </p:sp>
      <p:sp>
        <p:nvSpPr>
          <p:cNvPr id="25" name="TextBox 24">
            <a:extLst>
              <a:ext uri="{FF2B5EF4-FFF2-40B4-BE49-F238E27FC236}">
                <a16:creationId xmlns:a16="http://schemas.microsoft.com/office/drawing/2014/main" id="{29DB6A33-F8EB-8091-40AB-C7C530CFBB40}"/>
              </a:ext>
            </a:extLst>
          </p:cNvPr>
          <p:cNvSpPr txBox="1"/>
          <p:nvPr/>
        </p:nvSpPr>
        <p:spPr>
          <a:xfrm>
            <a:off x="1149793" y="3729593"/>
            <a:ext cx="313287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Notes:</a:t>
            </a:r>
          </a:p>
          <a:p>
            <a:r>
              <a:rPr lang="en-US" sz="1400">
                <a:ea typeface="Calibri"/>
                <a:cs typeface="Calibri"/>
              </a:rPr>
              <a:t>PI: Program Increment</a:t>
            </a:r>
          </a:p>
          <a:p>
            <a:r>
              <a:rPr lang="en-US" sz="1400">
                <a:ea typeface="Calibri"/>
                <a:cs typeface="Calibri"/>
              </a:rPr>
              <a:t>CAB: Change Advisory Board</a:t>
            </a:r>
            <a:br>
              <a:rPr lang="en-US" sz="1400">
                <a:ea typeface="Calibri"/>
                <a:cs typeface="Calibri"/>
              </a:rPr>
            </a:br>
            <a:r>
              <a:rPr lang="en-US" sz="1400">
                <a:ea typeface="Calibri"/>
                <a:cs typeface="Calibri"/>
              </a:rPr>
              <a:t>VAPT: Vulnerability Assessment and Penetration Testing</a:t>
            </a:r>
            <a:endParaRPr lang="en-US" sz="1400"/>
          </a:p>
        </p:txBody>
      </p:sp>
      <p:pic>
        <p:nvPicPr>
          <p:cNvPr id="26" name="Graphic 25" descr="Upload with solid fill">
            <a:extLst>
              <a:ext uri="{FF2B5EF4-FFF2-40B4-BE49-F238E27FC236}">
                <a16:creationId xmlns:a16="http://schemas.microsoft.com/office/drawing/2014/main" id="{1B3FE3BE-4942-64A9-A3BD-9D2BB0E1FD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78581" y="5729887"/>
            <a:ext cx="434261" cy="365181"/>
          </a:xfrm>
          <a:prstGeom prst="rect">
            <a:avLst/>
          </a:prstGeom>
        </p:spPr>
      </p:pic>
      <p:sp>
        <p:nvSpPr>
          <p:cNvPr id="27" name="Arrow: Left 26">
            <a:extLst>
              <a:ext uri="{FF2B5EF4-FFF2-40B4-BE49-F238E27FC236}">
                <a16:creationId xmlns:a16="http://schemas.microsoft.com/office/drawing/2014/main" id="{8E1885FD-78B0-D561-501F-2C76A88A47F7}"/>
              </a:ext>
            </a:extLst>
          </p:cNvPr>
          <p:cNvSpPr/>
          <p:nvPr/>
        </p:nvSpPr>
        <p:spPr>
          <a:xfrm>
            <a:off x="7269587" y="5726113"/>
            <a:ext cx="191705" cy="182700"/>
          </a:xfrm>
          <a:prstGeom prst="lef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Left 27">
            <a:extLst>
              <a:ext uri="{FF2B5EF4-FFF2-40B4-BE49-F238E27FC236}">
                <a16:creationId xmlns:a16="http://schemas.microsoft.com/office/drawing/2014/main" id="{EAD279EF-20F3-497E-5BFD-9C87F276B202}"/>
              </a:ext>
            </a:extLst>
          </p:cNvPr>
          <p:cNvSpPr/>
          <p:nvPr/>
        </p:nvSpPr>
        <p:spPr>
          <a:xfrm>
            <a:off x="6481834" y="5726113"/>
            <a:ext cx="191705" cy="182700"/>
          </a:xfrm>
          <a:prstGeom prst="lef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D2F0EA78-79CB-DCE8-50F0-316D7C2BCC85}"/>
              </a:ext>
            </a:extLst>
          </p:cNvPr>
          <p:cNvSpPr/>
          <p:nvPr/>
        </p:nvSpPr>
        <p:spPr>
          <a:xfrm>
            <a:off x="2488007" y="1686888"/>
            <a:ext cx="272090" cy="250323"/>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DFF2A1EA-C36D-B23E-FD8E-813FCB84BCFB}"/>
              </a:ext>
            </a:extLst>
          </p:cNvPr>
          <p:cNvSpPr/>
          <p:nvPr/>
        </p:nvSpPr>
        <p:spPr>
          <a:xfrm>
            <a:off x="4300186" y="1713030"/>
            <a:ext cx="272090" cy="250323"/>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C631A06D-7145-4019-C531-BFCAB468E3B4}"/>
              </a:ext>
            </a:extLst>
          </p:cNvPr>
          <p:cNvSpPr/>
          <p:nvPr/>
        </p:nvSpPr>
        <p:spPr>
          <a:xfrm>
            <a:off x="4678297" y="3101240"/>
            <a:ext cx="3891857" cy="133629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CD1C7A04-3AF9-E60F-4751-4F97C7C59240}"/>
              </a:ext>
            </a:extLst>
          </p:cNvPr>
          <p:cNvSpPr txBox="1"/>
          <p:nvPr/>
        </p:nvSpPr>
        <p:spPr>
          <a:xfrm>
            <a:off x="4646680" y="3177905"/>
            <a:ext cx="172340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Iterations (n)</a:t>
            </a:r>
            <a:endParaRPr lang="en-US" sz="1400"/>
          </a:p>
        </p:txBody>
      </p:sp>
      <p:sp>
        <p:nvSpPr>
          <p:cNvPr id="46" name="Rectangle 45">
            <a:extLst>
              <a:ext uri="{FF2B5EF4-FFF2-40B4-BE49-F238E27FC236}">
                <a16:creationId xmlns:a16="http://schemas.microsoft.com/office/drawing/2014/main" id="{C5DECF53-BD30-2C3F-F758-72FF0BA4B468}"/>
              </a:ext>
            </a:extLst>
          </p:cNvPr>
          <p:cNvSpPr/>
          <p:nvPr/>
        </p:nvSpPr>
        <p:spPr>
          <a:xfrm>
            <a:off x="4774372" y="3485917"/>
            <a:ext cx="3597762" cy="24959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FFFFFF"/>
                </a:solidFill>
                <a:ea typeface="Calibri"/>
                <a:cs typeface="Calibri"/>
              </a:rPr>
              <a:t>Daily Stand Up</a:t>
            </a:r>
            <a:endParaRPr lang="en-US" sz="1000">
              <a:solidFill>
                <a:srgbClr val="FFFFFF"/>
              </a:solidFill>
            </a:endParaRPr>
          </a:p>
        </p:txBody>
      </p:sp>
      <p:sp>
        <p:nvSpPr>
          <p:cNvPr id="47" name="Rectangle 46">
            <a:extLst>
              <a:ext uri="{FF2B5EF4-FFF2-40B4-BE49-F238E27FC236}">
                <a16:creationId xmlns:a16="http://schemas.microsoft.com/office/drawing/2014/main" id="{0C30C322-BDB1-0BE5-842D-6D147749A9EB}"/>
              </a:ext>
            </a:extLst>
          </p:cNvPr>
          <p:cNvSpPr/>
          <p:nvPr/>
        </p:nvSpPr>
        <p:spPr>
          <a:xfrm>
            <a:off x="4773190" y="3848047"/>
            <a:ext cx="717494" cy="343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Iteration</a:t>
            </a:r>
            <a:br>
              <a:rPr lang="en-US" sz="1000">
                <a:ea typeface="Calibri"/>
                <a:cs typeface="Calibri"/>
              </a:rPr>
            </a:br>
            <a:r>
              <a:rPr lang="en-US" sz="1000">
                <a:ea typeface="Calibri"/>
                <a:cs typeface="Calibri"/>
              </a:rPr>
              <a:t>Planning</a:t>
            </a:r>
          </a:p>
        </p:txBody>
      </p:sp>
      <p:sp>
        <p:nvSpPr>
          <p:cNvPr id="48" name="Rectangle 47">
            <a:extLst>
              <a:ext uri="{FF2B5EF4-FFF2-40B4-BE49-F238E27FC236}">
                <a16:creationId xmlns:a16="http://schemas.microsoft.com/office/drawing/2014/main" id="{30DF357A-EB4A-35E3-82C8-939478A391F6}"/>
              </a:ext>
            </a:extLst>
          </p:cNvPr>
          <p:cNvSpPr/>
          <p:nvPr/>
        </p:nvSpPr>
        <p:spPr>
          <a:xfrm>
            <a:off x="5655068" y="3848046"/>
            <a:ext cx="883806" cy="343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ea typeface="Calibri"/>
                <a:cs typeface="Calibri"/>
              </a:rPr>
              <a:t>Backlog Refinement</a:t>
            </a:r>
          </a:p>
        </p:txBody>
      </p:sp>
      <p:sp>
        <p:nvSpPr>
          <p:cNvPr id="49" name="Arrow: Right 48">
            <a:extLst>
              <a:ext uri="{FF2B5EF4-FFF2-40B4-BE49-F238E27FC236}">
                <a16:creationId xmlns:a16="http://schemas.microsoft.com/office/drawing/2014/main" id="{495877AE-37A6-40E0-0A7B-BCD621201CE1}"/>
              </a:ext>
            </a:extLst>
          </p:cNvPr>
          <p:cNvSpPr/>
          <p:nvPr/>
        </p:nvSpPr>
        <p:spPr>
          <a:xfrm>
            <a:off x="5498623" y="3955882"/>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B41C26C-B31A-93D1-9BD7-EAC45EDBAED2}"/>
              </a:ext>
            </a:extLst>
          </p:cNvPr>
          <p:cNvSpPr/>
          <p:nvPr/>
        </p:nvSpPr>
        <p:spPr>
          <a:xfrm>
            <a:off x="6717174" y="3855498"/>
            <a:ext cx="696024" cy="313701"/>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ea typeface="Calibri"/>
                <a:cs typeface="Calibri"/>
              </a:rPr>
              <a:t>Iteration Review</a:t>
            </a:r>
          </a:p>
        </p:txBody>
      </p:sp>
      <p:sp>
        <p:nvSpPr>
          <p:cNvPr id="51" name="Rectangle 50">
            <a:extLst>
              <a:ext uri="{FF2B5EF4-FFF2-40B4-BE49-F238E27FC236}">
                <a16:creationId xmlns:a16="http://schemas.microsoft.com/office/drawing/2014/main" id="{A8F5D9FA-AB8B-0C3B-F103-F4EEA3E26A5C}"/>
              </a:ext>
            </a:extLst>
          </p:cNvPr>
          <p:cNvSpPr/>
          <p:nvPr/>
        </p:nvSpPr>
        <p:spPr>
          <a:xfrm>
            <a:off x="7582558" y="3864127"/>
            <a:ext cx="833269" cy="303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ea typeface="Calibri"/>
                <a:cs typeface="Calibri"/>
              </a:rPr>
              <a:t>Iteration Retro</a:t>
            </a:r>
          </a:p>
        </p:txBody>
      </p:sp>
      <p:sp>
        <p:nvSpPr>
          <p:cNvPr id="52" name="Arrow: Right 51">
            <a:extLst>
              <a:ext uri="{FF2B5EF4-FFF2-40B4-BE49-F238E27FC236}">
                <a16:creationId xmlns:a16="http://schemas.microsoft.com/office/drawing/2014/main" id="{3D1E8B86-A8EF-7EAE-2467-D5F2BF55F9C9}"/>
              </a:ext>
            </a:extLst>
          </p:cNvPr>
          <p:cNvSpPr/>
          <p:nvPr/>
        </p:nvSpPr>
        <p:spPr>
          <a:xfrm>
            <a:off x="6536165" y="3945490"/>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a16="http://schemas.microsoft.com/office/drawing/2014/main" id="{B4827923-445C-1914-487E-EF550E2B5A19}"/>
              </a:ext>
            </a:extLst>
          </p:cNvPr>
          <p:cNvSpPr/>
          <p:nvPr/>
        </p:nvSpPr>
        <p:spPr>
          <a:xfrm>
            <a:off x="7407032" y="3945489"/>
            <a:ext cx="186260" cy="18626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Curved Left 53">
            <a:extLst>
              <a:ext uri="{FF2B5EF4-FFF2-40B4-BE49-F238E27FC236}">
                <a16:creationId xmlns:a16="http://schemas.microsoft.com/office/drawing/2014/main" id="{9927ADF8-6604-FAD5-5540-BD80EAB5D138}"/>
              </a:ext>
            </a:extLst>
          </p:cNvPr>
          <p:cNvSpPr/>
          <p:nvPr/>
        </p:nvSpPr>
        <p:spPr>
          <a:xfrm>
            <a:off x="8581816" y="2820013"/>
            <a:ext cx="227282" cy="352679"/>
          </a:xfrm>
          <a:prstGeom prst="curvedLef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Arrow: Curved Right 54">
            <a:extLst>
              <a:ext uri="{FF2B5EF4-FFF2-40B4-BE49-F238E27FC236}">
                <a16:creationId xmlns:a16="http://schemas.microsoft.com/office/drawing/2014/main" id="{5D158A7F-A13A-F2EF-5E7F-7F15B11E6220}"/>
              </a:ext>
            </a:extLst>
          </p:cNvPr>
          <p:cNvSpPr/>
          <p:nvPr/>
        </p:nvSpPr>
        <p:spPr>
          <a:xfrm>
            <a:off x="4429042" y="4427400"/>
            <a:ext cx="217201" cy="339650"/>
          </a:xfrm>
          <a:prstGeom prst="curved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0EE479F9-ECA4-4342-1DB8-C2F9E097CFCB}"/>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357291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04A8A2-7CB4-1371-A13C-D64FD2A9514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F0229F4-4BD9-2B61-7246-7FFB72398398}"/>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6" name="TextBox 5">
            <a:extLst>
              <a:ext uri="{FF2B5EF4-FFF2-40B4-BE49-F238E27FC236}">
                <a16:creationId xmlns:a16="http://schemas.microsoft.com/office/drawing/2014/main" id="{F2F4A3E5-DA4F-492F-D1D6-49FA7D5857C7}"/>
              </a:ext>
            </a:extLst>
          </p:cNvPr>
          <p:cNvSpPr txBox="1"/>
          <p:nvPr/>
        </p:nvSpPr>
        <p:spPr>
          <a:xfrm>
            <a:off x="754779" y="1201400"/>
            <a:ext cx="8484772" cy="307777"/>
          </a:xfrm>
          <a:prstGeom prst="rect">
            <a:avLst/>
          </a:prstGeom>
          <a:noFill/>
        </p:spPr>
        <p:txBody>
          <a:bodyPr wrap="square">
            <a:spAutoFit/>
          </a:bodyPr>
          <a:lstStyle/>
          <a:p>
            <a:r>
              <a:rPr lang="en-US" sz="1400"/>
              <a:t>The project phase outlines the key timeline and milestones for successful completion.</a:t>
            </a:r>
          </a:p>
        </p:txBody>
      </p:sp>
      <p:sp>
        <p:nvSpPr>
          <p:cNvPr id="2" name="Slide Number Placeholder 5">
            <a:extLst>
              <a:ext uri="{FF2B5EF4-FFF2-40B4-BE49-F238E27FC236}">
                <a16:creationId xmlns:a16="http://schemas.microsoft.com/office/drawing/2014/main" id="{269F51B1-9DF7-66D9-E5F6-5795A1C27B2F}"/>
              </a:ext>
            </a:extLst>
          </p:cNvPr>
          <p:cNvSpPr>
            <a:spLocks noGrp="1"/>
          </p:cNvSpPr>
          <p:nvPr>
            <p:ph type="sldNum" sz="quarter" idx="12"/>
          </p:nvPr>
        </p:nvSpPr>
        <p:spPr>
          <a:xfrm>
            <a:off x="9052560" y="6426243"/>
            <a:ext cx="606897" cy="261610"/>
          </a:xfrm>
        </p:spPr>
        <p:txBody>
          <a:bodyPr/>
          <a:lstStyle/>
          <a:p>
            <a:r>
              <a:rPr lang="en-GB"/>
              <a:t> Page </a:t>
            </a:r>
            <a:fld id="{7A555EF9-59E7-4D74-815B-7A20869232EE}" type="slidenum">
              <a:rPr lang="en-GB" smtClean="0"/>
              <a:pPr/>
              <a:t>14</a:t>
            </a:fld>
            <a:endParaRPr lang="en-GB"/>
          </a:p>
        </p:txBody>
      </p:sp>
      <p:sp>
        <p:nvSpPr>
          <p:cNvPr id="5" name="Footer Placeholder 4">
            <a:extLst>
              <a:ext uri="{FF2B5EF4-FFF2-40B4-BE49-F238E27FC236}">
                <a16:creationId xmlns:a16="http://schemas.microsoft.com/office/drawing/2014/main" id="{3BBE023D-9110-2BFE-5860-04E141760E7D}"/>
              </a:ext>
            </a:extLst>
          </p:cNvPr>
          <p:cNvSpPr>
            <a:spLocks noGrp="1"/>
          </p:cNvSpPr>
          <p:nvPr>
            <p:ph type="ftr" sz="quarter" idx="11"/>
          </p:nvPr>
        </p:nvSpPr>
        <p:spPr>
          <a:xfrm>
            <a:off x="3642566" y="6522486"/>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49C16645-BD6C-9D0B-2932-77BBE1B35CA7}"/>
              </a:ext>
            </a:extLst>
          </p:cNvPr>
          <p:cNvSpPr txBox="1"/>
          <p:nvPr/>
        </p:nvSpPr>
        <p:spPr>
          <a:xfrm>
            <a:off x="754779" y="874003"/>
            <a:ext cx="3264522" cy="327397"/>
          </a:xfrm>
          <a:prstGeom prst="rect">
            <a:avLst/>
          </a:prstGeom>
          <a:noFill/>
        </p:spPr>
        <p:txBody>
          <a:bodyPr wrap="square" lIns="91440" tIns="45720" rIns="91440" bIns="45720" anchor="t">
            <a:spAutoFit/>
          </a:bodyPr>
          <a:lstStyle/>
          <a:p>
            <a:pPr marR="0" lvl="0">
              <a:lnSpc>
                <a:spcPct val="115000"/>
              </a:lnSpc>
              <a:tabLst>
                <a:tab pos="228600" algn="l"/>
              </a:tabLst>
            </a:pPr>
            <a:r>
              <a:rPr lang="en-US" sz="1400" b="1" kern="100">
                <a:latin typeface="Helvetica Neue" panose="02000503000000020004"/>
                <a:ea typeface="DengXian"/>
                <a:cs typeface="Times New Roman"/>
              </a:rPr>
              <a:t>3.3</a:t>
            </a:r>
            <a:r>
              <a:rPr lang="en-US" sz="1400" b="1" kern="100">
                <a:effectLst/>
                <a:latin typeface="Helvetica Neue" panose="02000503000000020004"/>
                <a:ea typeface="DengXian"/>
                <a:cs typeface="Times New Roman"/>
              </a:rPr>
              <a:t> Project Phase</a:t>
            </a:r>
            <a:r>
              <a:rPr lang="en-US" sz="1400" b="1" kern="100">
                <a:latin typeface="Helvetica Neue" panose="02000503000000020004"/>
                <a:ea typeface="DengXian"/>
                <a:cs typeface="Times New Roman"/>
              </a:rPr>
              <a:t>/Timeline</a:t>
            </a:r>
            <a:endParaRPr lang="en-US" sz="1400" b="1" kern="100">
              <a:effectLst/>
              <a:latin typeface="Helvetica Neue" panose="02000503000000020004"/>
              <a:ea typeface="DengXian"/>
              <a:cs typeface="Times New Roman"/>
            </a:endParaRPr>
          </a:p>
        </p:txBody>
      </p:sp>
      <p:graphicFrame>
        <p:nvGraphicFramePr>
          <p:cNvPr id="7" name="Table 6">
            <a:extLst>
              <a:ext uri="{FF2B5EF4-FFF2-40B4-BE49-F238E27FC236}">
                <a16:creationId xmlns:a16="http://schemas.microsoft.com/office/drawing/2014/main" id="{AD9C4A95-B77B-9622-93E8-E3EA0A0BE0A2}"/>
              </a:ext>
            </a:extLst>
          </p:cNvPr>
          <p:cNvGraphicFramePr>
            <a:graphicFrameLocks noGrp="1"/>
          </p:cNvGraphicFramePr>
          <p:nvPr>
            <p:extLst>
              <p:ext uri="{D42A27DB-BD31-4B8C-83A1-F6EECF244321}">
                <p14:modId xmlns:p14="http://schemas.microsoft.com/office/powerpoint/2010/main" val="2139624009"/>
              </p:ext>
            </p:extLst>
          </p:nvPr>
        </p:nvGraphicFramePr>
        <p:xfrm>
          <a:off x="717150" y="1512951"/>
          <a:ext cx="8706134" cy="3095214"/>
        </p:xfrm>
        <a:graphic>
          <a:graphicData uri="http://schemas.openxmlformats.org/drawingml/2006/table">
            <a:tbl>
              <a:tblPr firstRow="1" bandRow="1">
                <a:tableStyleId>{5C22544A-7EE6-4342-B048-85BDC9FD1C3A}</a:tableStyleId>
              </a:tblPr>
              <a:tblGrid>
                <a:gridCol w="1093906">
                  <a:extLst>
                    <a:ext uri="{9D8B030D-6E8A-4147-A177-3AD203B41FA5}">
                      <a16:colId xmlns:a16="http://schemas.microsoft.com/office/drawing/2014/main" val="1356380221"/>
                    </a:ext>
                  </a:extLst>
                </a:gridCol>
                <a:gridCol w="543396">
                  <a:extLst>
                    <a:ext uri="{9D8B030D-6E8A-4147-A177-3AD203B41FA5}">
                      <a16:colId xmlns:a16="http://schemas.microsoft.com/office/drawing/2014/main" val="1725432079"/>
                    </a:ext>
                  </a:extLst>
                </a:gridCol>
                <a:gridCol w="543396">
                  <a:extLst>
                    <a:ext uri="{9D8B030D-6E8A-4147-A177-3AD203B41FA5}">
                      <a16:colId xmlns:a16="http://schemas.microsoft.com/office/drawing/2014/main" val="1643854621"/>
                    </a:ext>
                  </a:extLst>
                </a:gridCol>
                <a:gridCol w="544285">
                  <a:extLst>
                    <a:ext uri="{9D8B030D-6E8A-4147-A177-3AD203B41FA5}">
                      <a16:colId xmlns:a16="http://schemas.microsoft.com/office/drawing/2014/main" val="649724865"/>
                    </a:ext>
                  </a:extLst>
                </a:gridCol>
                <a:gridCol w="544285">
                  <a:extLst>
                    <a:ext uri="{9D8B030D-6E8A-4147-A177-3AD203B41FA5}">
                      <a16:colId xmlns:a16="http://schemas.microsoft.com/office/drawing/2014/main" val="1999753441"/>
                    </a:ext>
                  </a:extLst>
                </a:gridCol>
                <a:gridCol w="544285">
                  <a:extLst>
                    <a:ext uri="{9D8B030D-6E8A-4147-A177-3AD203B41FA5}">
                      <a16:colId xmlns:a16="http://schemas.microsoft.com/office/drawing/2014/main" val="1869165440"/>
                    </a:ext>
                  </a:extLst>
                </a:gridCol>
                <a:gridCol w="544285">
                  <a:extLst>
                    <a:ext uri="{9D8B030D-6E8A-4147-A177-3AD203B41FA5}">
                      <a16:colId xmlns:a16="http://schemas.microsoft.com/office/drawing/2014/main" val="4252642086"/>
                    </a:ext>
                  </a:extLst>
                </a:gridCol>
                <a:gridCol w="542925">
                  <a:extLst>
                    <a:ext uri="{9D8B030D-6E8A-4147-A177-3AD203B41FA5}">
                      <a16:colId xmlns:a16="http://schemas.microsoft.com/office/drawing/2014/main" val="1894501557"/>
                    </a:ext>
                  </a:extLst>
                </a:gridCol>
                <a:gridCol w="542925">
                  <a:extLst>
                    <a:ext uri="{9D8B030D-6E8A-4147-A177-3AD203B41FA5}">
                      <a16:colId xmlns:a16="http://schemas.microsoft.com/office/drawing/2014/main" val="269243068"/>
                    </a:ext>
                  </a:extLst>
                </a:gridCol>
                <a:gridCol w="543741">
                  <a:extLst>
                    <a:ext uri="{9D8B030D-6E8A-4147-A177-3AD203B41FA5}">
                      <a16:colId xmlns:a16="http://schemas.microsoft.com/office/drawing/2014/main" val="827453330"/>
                    </a:ext>
                  </a:extLst>
                </a:gridCol>
                <a:gridCol w="543741">
                  <a:extLst>
                    <a:ext uri="{9D8B030D-6E8A-4147-A177-3AD203B41FA5}">
                      <a16:colId xmlns:a16="http://schemas.microsoft.com/office/drawing/2014/main" val="2046877725"/>
                    </a:ext>
                  </a:extLst>
                </a:gridCol>
                <a:gridCol w="543741">
                  <a:extLst>
                    <a:ext uri="{9D8B030D-6E8A-4147-A177-3AD203B41FA5}">
                      <a16:colId xmlns:a16="http://schemas.microsoft.com/office/drawing/2014/main" val="3320751739"/>
                    </a:ext>
                  </a:extLst>
                </a:gridCol>
                <a:gridCol w="543741">
                  <a:extLst>
                    <a:ext uri="{9D8B030D-6E8A-4147-A177-3AD203B41FA5}">
                      <a16:colId xmlns:a16="http://schemas.microsoft.com/office/drawing/2014/main" val="536136962"/>
                    </a:ext>
                  </a:extLst>
                </a:gridCol>
                <a:gridCol w="543741">
                  <a:extLst>
                    <a:ext uri="{9D8B030D-6E8A-4147-A177-3AD203B41FA5}">
                      <a16:colId xmlns:a16="http://schemas.microsoft.com/office/drawing/2014/main" val="640445890"/>
                    </a:ext>
                  </a:extLst>
                </a:gridCol>
                <a:gridCol w="543741">
                  <a:extLst>
                    <a:ext uri="{9D8B030D-6E8A-4147-A177-3AD203B41FA5}">
                      <a16:colId xmlns:a16="http://schemas.microsoft.com/office/drawing/2014/main" val="3822093147"/>
                    </a:ext>
                  </a:extLst>
                </a:gridCol>
              </a:tblGrid>
              <a:tr h="315505">
                <a:tc rowSpan="2">
                  <a:txBody>
                    <a:bodyPr/>
                    <a:lstStyle/>
                    <a:p>
                      <a:pPr algn="ctr"/>
                      <a:r>
                        <a:rPr lang="en-US" sz="1300"/>
                        <a:t>Apr 26</a:t>
                      </a:r>
                    </a:p>
                  </a:txBody>
                  <a:tcPr marL="74295" marR="74295" marT="37148" marB="37148"/>
                </a:tc>
                <a:tc gridSpan="2">
                  <a:txBody>
                    <a:bodyPr/>
                    <a:lstStyle/>
                    <a:p>
                      <a:pPr algn="ctr"/>
                      <a:r>
                        <a:rPr lang="en-US" sz="1300"/>
                        <a:t>May 26</a:t>
                      </a:r>
                    </a:p>
                  </a:txBody>
                  <a:tcPr marL="45720" marR="45720"/>
                </a:tc>
                <a:tc hMerge="1">
                  <a:txBody>
                    <a:bodyPr/>
                    <a:lstStyle/>
                    <a:p>
                      <a:pPr algn="ctr"/>
                      <a:endParaRPr lang="en-US" sz="1500"/>
                    </a:p>
                  </a:txBody>
                  <a:tcPr marL="74295" marR="74295" marT="37147" marB="37147"/>
                </a:tc>
                <a:tc gridSpan="2">
                  <a:txBody>
                    <a:bodyPr/>
                    <a:lstStyle/>
                    <a:p>
                      <a:pPr algn="ctr"/>
                      <a:r>
                        <a:rPr lang="en-US" sz="1300"/>
                        <a:t>Jun 26</a:t>
                      </a:r>
                    </a:p>
                  </a:txBody>
                  <a:tcPr marL="74295" marR="74295" marT="37148" marB="37148"/>
                </a:tc>
                <a:tc hMerge="1">
                  <a:txBody>
                    <a:bodyPr/>
                    <a:lstStyle/>
                    <a:p>
                      <a:pPr algn="ctr"/>
                      <a:endParaRPr lang="en-US" sz="1300"/>
                    </a:p>
                  </a:txBody>
                  <a:tcPr marL="74295" marR="74295" marT="37147" marB="37147"/>
                </a:tc>
                <a:tc gridSpan="2">
                  <a:txBody>
                    <a:bodyPr/>
                    <a:lstStyle/>
                    <a:p>
                      <a:pPr algn="ctr"/>
                      <a:r>
                        <a:rPr lang="en-US" sz="1300"/>
                        <a:t>Jul 26</a:t>
                      </a:r>
                    </a:p>
                  </a:txBody>
                  <a:tcPr marL="74295" marR="74295" marT="37148" marB="37148"/>
                </a:tc>
                <a:tc hMerge="1">
                  <a:txBody>
                    <a:bodyPr/>
                    <a:lstStyle/>
                    <a:p>
                      <a:pPr algn="ctr"/>
                      <a:endParaRPr lang="en-US" sz="1300"/>
                    </a:p>
                  </a:txBody>
                  <a:tcPr marL="74295" marR="74295" marT="37147" marB="37147"/>
                </a:tc>
                <a:tc gridSpan="2">
                  <a:txBody>
                    <a:bodyPr/>
                    <a:lstStyle/>
                    <a:p>
                      <a:pPr algn="ctr"/>
                      <a:r>
                        <a:rPr lang="en-US" sz="1300"/>
                        <a:t>Aug 26</a:t>
                      </a:r>
                    </a:p>
                  </a:txBody>
                  <a:tcPr marL="74295" marR="74295" marT="37148" marB="37148"/>
                </a:tc>
                <a:tc hMerge="1">
                  <a:txBody>
                    <a:bodyPr/>
                    <a:lstStyle/>
                    <a:p>
                      <a:pPr algn="ctr"/>
                      <a:endParaRPr lang="en-US" sz="1300"/>
                    </a:p>
                  </a:txBody>
                  <a:tcPr marL="74295" marR="74295" marT="37147" marB="37147"/>
                </a:tc>
                <a:tc gridSpan="2">
                  <a:txBody>
                    <a:bodyPr/>
                    <a:lstStyle/>
                    <a:p>
                      <a:pPr algn="ctr"/>
                      <a:r>
                        <a:rPr lang="en-US" sz="1300"/>
                        <a:t>Sep 26</a:t>
                      </a:r>
                    </a:p>
                  </a:txBody>
                  <a:tcPr marL="74295" marR="74295" marT="37148" marB="37148"/>
                </a:tc>
                <a:tc hMerge="1">
                  <a:txBody>
                    <a:bodyPr/>
                    <a:lstStyle/>
                    <a:p>
                      <a:pPr algn="ctr"/>
                      <a:endParaRPr lang="en-US" sz="1300"/>
                    </a:p>
                  </a:txBody>
                  <a:tcPr marL="74295" marR="74295" marT="37147" marB="37147"/>
                </a:tc>
                <a:tc gridSpan="2">
                  <a:txBody>
                    <a:bodyPr/>
                    <a:lstStyle/>
                    <a:p>
                      <a:pPr algn="ctr"/>
                      <a:r>
                        <a:rPr lang="en-US" sz="1300"/>
                        <a:t>Oct 26</a:t>
                      </a:r>
                    </a:p>
                  </a:txBody>
                  <a:tcPr marL="74295" marR="74295" marT="37148" marB="37148"/>
                </a:tc>
                <a:tc hMerge="1">
                  <a:txBody>
                    <a:bodyPr/>
                    <a:lstStyle/>
                    <a:p>
                      <a:pPr algn="ctr"/>
                      <a:endParaRPr lang="en-US" sz="1300"/>
                    </a:p>
                  </a:txBody>
                  <a:tcPr marL="74295" marR="74295" marT="37147" marB="37147"/>
                </a:tc>
                <a:tc gridSpan="2">
                  <a:txBody>
                    <a:bodyPr/>
                    <a:lstStyle/>
                    <a:p>
                      <a:pPr algn="ctr"/>
                      <a:r>
                        <a:rPr lang="en-US" sz="1300"/>
                        <a:t>Nov 26</a:t>
                      </a:r>
                    </a:p>
                  </a:txBody>
                  <a:tcPr marL="74295" marR="74295" marT="37148" marB="37148"/>
                </a:tc>
                <a:tc hMerge="1">
                  <a:txBody>
                    <a:bodyPr/>
                    <a:lstStyle/>
                    <a:p>
                      <a:pPr algn="ctr"/>
                      <a:endParaRPr lang="en-US" sz="1300"/>
                    </a:p>
                  </a:txBody>
                  <a:tcPr marL="74295" marR="74295" marT="37147" marB="37147"/>
                </a:tc>
                <a:extLst>
                  <a:ext uri="{0D108BD9-81ED-4DB2-BD59-A6C34878D82A}">
                    <a16:rowId xmlns:a16="http://schemas.microsoft.com/office/drawing/2014/main" val="1086133718"/>
                  </a:ext>
                </a:extLst>
              </a:tr>
              <a:tr h="329309">
                <a:tc vMerge="1">
                  <a:txBody>
                    <a:bodyPr/>
                    <a:lstStyle/>
                    <a:p>
                      <a:pPr algn="ctr"/>
                      <a:endParaRPr lang="en-US" sz="1300"/>
                    </a:p>
                  </a:txBody>
                  <a:tcPr marL="74295" marR="74295" marT="37148" marB="37148"/>
                </a:tc>
                <a:tc>
                  <a:txBody>
                    <a:bodyPr/>
                    <a:lstStyle/>
                    <a:p>
                      <a:pPr lvl="0" algn="ctr">
                        <a:buNone/>
                      </a:pPr>
                      <a:r>
                        <a:rPr lang="en-US" sz="800"/>
                        <a:t>Iteration</a:t>
                      </a:r>
                      <a:br>
                        <a:rPr lang="en-US" sz="800"/>
                      </a:br>
                      <a:r>
                        <a:rPr lang="en-US" sz="800"/>
                        <a:t>1</a:t>
                      </a:r>
                      <a:endParaRPr lang="en-US"/>
                    </a:p>
                  </a:txBody>
                  <a:tcPr marL="18288" marR="18288" marT="18288" marB="18288"/>
                </a:tc>
                <a:tc>
                  <a:txBody>
                    <a:bodyPr/>
                    <a:lstStyle/>
                    <a:p>
                      <a:pPr lvl="0" algn="ctr">
                        <a:buNone/>
                      </a:pPr>
                      <a:r>
                        <a:rPr lang="en-US" sz="800"/>
                        <a:t>Iteration</a:t>
                      </a:r>
                      <a:br>
                        <a:rPr lang="en-US" sz="800"/>
                      </a:br>
                      <a:r>
                        <a:rPr lang="en-US" sz="800"/>
                        <a:t>2</a:t>
                      </a:r>
                    </a:p>
                  </a:txBody>
                  <a:tcPr marL="74295" marR="74295" marT="18288" marB="18288"/>
                </a:tc>
                <a:tc>
                  <a:txBody>
                    <a:bodyPr/>
                    <a:lstStyle/>
                    <a:p>
                      <a:pPr lvl="0" algn="ctr">
                        <a:buNone/>
                      </a:pPr>
                      <a:r>
                        <a:rPr lang="en-US" sz="800"/>
                        <a:t>Iteration</a:t>
                      </a:r>
                      <a:br>
                        <a:rPr lang="en-US" sz="800"/>
                      </a:br>
                      <a:r>
                        <a:rPr lang="en-US" sz="800"/>
                        <a:t>3</a:t>
                      </a:r>
                    </a:p>
                  </a:txBody>
                  <a:tcPr marL="74295" marR="74295" marT="18288" marB="18288"/>
                </a:tc>
                <a:tc>
                  <a:txBody>
                    <a:bodyPr/>
                    <a:lstStyle/>
                    <a:p>
                      <a:pPr lvl="0" algn="ctr">
                        <a:buNone/>
                      </a:pPr>
                      <a:r>
                        <a:rPr lang="en-US" sz="800"/>
                        <a:t>Iteration</a:t>
                      </a:r>
                      <a:br>
                        <a:rPr lang="en-US" sz="800"/>
                      </a:br>
                      <a:r>
                        <a:rPr lang="en-US" sz="800"/>
                        <a:t>4</a:t>
                      </a:r>
                    </a:p>
                  </a:txBody>
                  <a:tcPr marL="74295" marR="74295" marT="18288" marB="18288"/>
                </a:tc>
                <a:tc>
                  <a:txBody>
                    <a:bodyPr/>
                    <a:lstStyle/>
                    <a:p>
                      <a:pPr lvl="0" algn="ctr">
                        <a:buNone/>
                      </a:pPr>
                      <a:r>
                        <a:rPr lang="en-US" sz="800"/>
                        <a:t>Iteration</a:t>
                      </a:r>
                      <a:br>
                        <a:rPr lang="en-US"/>
                      </a:br>
                      <a:r>
                        <a:rPr lang="en-US" sz="800"/>
                        <a:t>5</a:t>
                      </a:r>
                    </a:p>
                  </a:txBody>
                  <a:tcPr marL="74295" marR="74295" marT="37147" marB="37147"/>
                </a:tc>
                <a:tc>
                  <a:txBody>
                    <a:bodyPr/>
                    <a:lstStyle/>
                    <a:p>
                      <a:pPr lvl="0" algn="ctr">
                        <a:buNone/>
                      </a:pPr>
                      <a:r>
                        <a:rPr lang="en-US" sz="800"/>
                        <a:t>Iteration</a:t>
                      </a:r>
                      <a:br>
                        <a:rPr lang="en-US" sz="800"/>
                      </a:br>
                      <a:r>
                        <a:rPr lang="en-US" sz="800"/>
                        <a:t>6</a:t>
                      </a:r>
                    </a:p>
                  </a:txBody>
                  <a:tcPr marL="74295" marR="74295" marT="37147" marB="37147"/>
                </a:tc>
                <a:tc>
                  <a:txBody>
                    <a:bodyPr/>
                    <a:lstStyle/>
                    <a:p>
                      <a:pPr lvl="0" algn="ctr">
                        <a:buNone/>
                      </a:pPr>
                      <a:r>
                        <a:rPr lang="en-US" sz="800"/>
                        <a:t>Iteration</a:t>
                      </a:r>
                      <a:br>
                        <a:rPr lang="en-US" sz="800"/>
                      </a:br>
                      <a:r>
                        <a:rPr lang="en-US" sz="800"/>
                        <a:t>7</a:t>
                      </a:r>
                    </a:p>
                  </a:txBody>
                  <a:tcPr marL="74295" marR="74295" marT="37148" marB="37148"/>
                </a:tc>
                <a:tc>
                  <a:txBody>
                    <a:bodyPr/>
                    <a:lstStyle/>
                    <a:p>
                      <a:pPr lvl="0" algn="ctr">
                        <a:buNone/>
                      </a:pPr>
                      <a:r>
                        <a:rPr lang="en-US" sz="800"/>
                        <a:t>Iteration</a:t>
                      </a:r>
                      <a:br>
                        <a:rPr lang="en-US"/>
                      </a:br>
                      <a:r>
                        <a:rPr lang="en-US" sz="800"/>
                        <a:t>8</a:t>
                      </a:r>
                    </a:p>
                  </a:txBody>
                  <a:tcPr marL="74295" marR="74295" marT="37147" marB="37147"/>
                </a:tc>
                <a:tc>
                  <a:txBody>
                    <a:bodyPr/>
                    <a:lstStyle/>
                    <a:p>
                      <a:pPr lvl="0" algn="ctr">
                        <a:buNone/>
                      </a:pPr>
                      <a:r>
                        <a:rPr lang="en-US" sz="800"/>
                        <a:t>Iteration</a:t>
                      </a:r>
                      <a:br>
                        <a:rPr lang="en-US" sz="800"/>
                      </a:br>
                      <a:r>
                        <a:rPr lang="en-US" sz="800"/>
                        <a:t>9</a:t>
                      </a:r>
                    </a:p>
                  </a:txBody>
                  <a:tcPr marL="74295" marR="74295" marT="37148" marB="37148"/>
                </a:tc>
                <a:tc>
                  <a:txBody>
                    <a:bodyPr/>
                    <a:lstStyle/>
                    <a:p>
                      <a:pPr lvl="0" algn="ctr">
                        <a:buNone/>
                      </a:pPr>
                      <a:r>
                        <a:rPr lang="en-US" sz="800"/>
                        <a:t>Iteration</a:t>
                      </a:r>
                      <a:br>
                        <a:rPr lang="en-US" sz="800"/>
                      </a:br>
                      <a:r>
                        <a:rPr lang="en-US" sz="800"/>
                        <a:t>10</a:t>
                      </a:r>
                    </a:p>
                  </a:txBody>
                  <a:tcPr marL="74295" marR="74295" marT="37147" marB="37147"/>
                </a:tc>
                <a:tc>
                  <a:txBody>
                    <a:bodyPr/>
                    <a:lstStyle/>
                    <a:p>
                      <a:pPr lvl="0" algn="ctr">
                        <a:buNone/>
                      </a:pPr>
                      <a:r>
                        <a:rPr lang="en-US" sz="800"/>
                        <a:t>Iteration</a:t>
                      </a:r>
                      <a:br>
                        <a:rPr lang="en-US" sz="800"/>
                      </a:br>
                      <a:r>
                        <a:rPr lang="en-US" sz="800"/>
                        <a:t>11</a:t>
                      </a:r>
                    </a:p>
                  </a:txBody>
                  <a:tcPr marL="74295" marR="74295" marT="37148" marB="37148"/>
                </a:tc>
                <a:tc>
                  <a:txBody>
                    <a:bodyPr/>
                    <a:lstStyle/>
                    <a:p>
                      <a:pPr lvl="0" algn="ctr">
                        <a:buNone/>
                      </a:pPr>
                      <a:r>
                        <a:rPr lang="en-US" sz="800"/>
                        <a:t>Iteration</a:t>
                      </a:r>
                      <a:br>
                        <a:rPr lang="en-US" sz="800"/>
                      </a:br>
                      <a:r>
                        <a:rPr lang="en-US" sz="800"/>
                        <a:t>12</a:t>
                      </a:r>
                    </a:p>
                  </a:txBody>
                  <a:tcPr marL="74295" marR="74295" marT="37147" marB="37147"/>
                </a:tc>
                <a:tc>
                  <a:txBody>
                    <a:bodyPr/>
                    <a:lstStyle/>
                    <a:p>
                      <a:pPr lvl="0" algn="ctr">
                        <a:buNone/>
                      </a:pPr>
                      <a:r>
                        <a:rPr lang="en-US" sz="800"/>
                        <a:t>Iteration</a:t>
                      </a:r>
                      <a:br>
                        <a:rPr lang="en-US" sz="800"/>
                      </a:br>
                      <a:r>
                        <a:rPr lang="en-US" sz="800"/>
                        <a:t>13</a:t>
                      </a:r>
                    </a:p>
                  </a:txBody>
                  <a:tcPr marL="74295" marR="74295" marT="37148" marB="37148"/>
                </a:tc>
                <a:tc>
                  <a:txBody>
                    <a:bodyPr/>
                    <a:lstStyle/>
                    <a:p>
                      <a:pPr lvl="0" algn="ctr">
                        <a:buNone/>
                      </a:pPr>
                      <a:r>
                        <a:rPr lang="en-US" sz="800"/>
                        <a:t>Iteration</a:t>
                      </a:r>
                      <a:br>
                        <a:rPr lang="en-US" sz="800"/>
                      </a:br>
                      <a:r>
                        <a:rPr lang="en-US" sz="800"/>
                        <a:t>14</a:t>
                      </a:r>
                    </a:p>
                  </a:txBody>
                  <a:tcPr marL="74295" marR="74295" marT="37147" marB="37147"/>
                </a:tc>
                <a:extLst>
                  <a:ext uri="{0D108BD9-81ED-4DB2-BD59-A6C34878D82A}">
                    <a16:rowId xmlns:a16="http://schemas.microsoft.com/office/drawing/2014/main" val="711029347"/>
                  </a:ext>
                </a:extLst>
              </a:tr>
              <a:tr h="2450400">
                <a:tc>
                  <a:txBody>
                    <a:bodyPr/>
                    <a:lstStyle/>
                    <a:p>
                      <a:endParaRPr lang="en-US" sz="1500"/>
                    </a:p>
                  </a:txBody>
                  <a:tcPr marL="74295" marR="74295" marT="37148" marB="37148"/>
                </a:tc>
                <a:tc>
                  <a:txBody>
                    <a:bodyPr/>
                    <a:lstStyle/>
                    <a:p>
                      <a:endParaRPr lang="en-US" sz="1500"/>
                    </a:p>
                  </a:txBody>
                  <a:tcPr marL="74295" marR="74295" marT="37148" marB="37148">
                    <a:lnR w="0">
                      <a:noFill/>
                    </a:lnR>
                  </a:tcPr>
                </a:tc>
                <a:tc>
                  <a:txBody>
                    <a:bodyPr/>
                    <a:lstStyle/>
                    <a:p>
                      <a:pPr lvl="0">
                        <a:buNone/>
                      </a:pPr>
                      <a:endParaRPr lang="en-US" sz="1500"/>
                    </a:p>
                  </a:txBody>
                  <a:tcPr marL="74295" marR="74295" marT="37147" marB="37147">
                    <a:lnL w="0">
                      <a:noFill/>
                    </a:lnL>
                    <a:lnR w="0">
                      <a:noFill/>
                    </a:lnR>
                  </a:tcPr>
                </a:tc>
                <a:tc>
                  <a:txBody>
                    <a:bodyPr/>
                    <a:lstStyle/>
                    <a:p>
                      <a:endParaRPr lang="en-US" sz="1500"/>
                    </a:p>
                  </a:txBody>
                  <a:tcPr marL="74295" marR="74295" marT="37148" marB="37148">
                    <a:lnL w="0">
                      <a:noFill/>
                    </a:lnL>
                    <a:lnR w="0">
                      <a:noFill/>
                    </a:lnR>
                  </a:tcPr>
                </a:tc>
                <a:tc>
                  <a:txBody>
                    <a:bodyPr/>
                    <a:lstStyle/>
                    <a:p>
                      <a:pPr lvl="0">
                        <a:buNone/>
                      </a:pPr>
                      <a:endParaRPr lang="en-US" sz="1500"/>
                    </a:p>
                  </a:txBody>
                  <a:tcPr marL="74295" marR="74295" marT="37148" marB="37148">
                    <a:lnL w="0">
                      <a:noFill/>
                    </a:lnL>
                    <a:lnR w="0">
                      <a:noFill/>
                    </a:lnR>
                  </a:tcPr>
                </a:tc>
                <a:tc>
                  <a:txBody>
                    <a:bodyPr/>
                    <a:lstStyle/>
                    <a:p>
                      <a:endParaRPr lang="en-US" sz="1500"/>
                    </a:p>
                  </a:txBody>
                  <a:tcPr marL="74295" marR="74295" marT="37148" marB="37148">
                    <a:lnL w="0">
                      <a:noFill/>
                    </a:lnL>
                    <a:lnR w="0">
                      <a:noFill/>
                    </a:lnR>
                  </a:tcPr>
                </a:tc>
                <a:tc>
                  <a:txBody>
                    <a:bodyPr/>
                    <a:lstStyle/>
                    <a:p>
                      <a:pPr lvl="0">
                        <a:buNone/>
                      </a:pPr>
                      <a:endParaRPr lang="en-US" sz="1500"/>
                    </a:p>
                  </a:txBody>
                  <a:tcPr marL="74295" marR="74295" marT="37148" marB="37148">
                    <a:lnL w="0">
                      <a:noFill/>
                    </a:lnL>
                  </a:tcPr>
                </a:tc>
                <a:tc>
                  <a:txBody>
                    <a:bodyPr/>
                    <a:lstStyle/>
                    <a:p>
                      <a:endParaRPr lang="en-US" sz="1500"/>
                    </a:p>
                  </a:txBody>
                  <a:tcPr marL="74295" marR="74295" marT="37148" marB="37148"/>
                </a:tc>
                <a:tc>
                  <a:txBody>
                    <a:bodyPr/>
                    <a:lstStyle/>
                    <a:p>
                      <a:pPr lvl="0">
                        <a:buNone/>
                      </a:pPr>
                      <a:endParaRPr lang="en-US" sz="1500"/>
                    </a:p>
                  </a:txBody>
                  <a:tcPr marL="74295" marR="74295" marT="37148" marB="37148"/>
                </a:tc>
                <a:tc>
                  <a:txBody>
                    <a:bodyPr/>
                    <a:lstStyle/>
                    <a:p>
                      <a:endParaRPr lang="en-US" sz="1500"/>
                    </a:p>
                  </a:txBody>
                  <a:tcPr marL="74295" marR="74295" marT="37148" marB="37148"/>
                </a:tc>
                <a:tc>
                  <a:txBody>
                    <a:bodyPr/>
                    <a:lstStyle/>
                    <a:p>
                      <a:pPr lvl="0">
                        <a:buNone/>
                      </a:pPr>
                      <a:endParaRPr lang="en-US" sz="1500"/>
                    </a:p>
                  </a:txBody>
                  <a:tcPr marL="74295" marR="74295" marT="37148" marB="37148"/>
                </a:tc>
                <a:tc gridSpan="2">
                  <a:txBody>
                    <a:bodyPr/>
                    <a:lstStyle/>
                    <a:p>
                      <a:endParaRPr lang="en-US" sz="1500"/>
                    </a:p>
                  </a:txBody>
                  <a:tcPr marL="74295" marR="74295" marT="37148" marB="37148"/>
                </a:tc>
                <a:tc hMerge="1">
                  <a:txBody>
                    <a:bodyPr/>
                    <a:lstStyle/>
                    <a:p>
                      <a:endParaRPr lang="en-US" sz="1500"/>
                    </a:p>
                  </a:txBody>
                  <a:tcPr marL="74295" marR="74295" marT="37147" marB="37147"/>
                </a:tc>
                <a:tc>
                  <a:txBody>
                    <a:bodyPr/>
                    <a:lstStyle/>
                    <a:p>
                      <a:endParaRPr lang="en-US" sz="1500"/>
                    </a:p>
                  </a:txBody>
                  <a:tcPr marL="74295" marR="74295" marT="37148" marB="37148"/>
                </a:tc>
                <a:tc>
                  <a:txBody>
                    <a:bodyPr/>
                    <a:lstStyle/>
                    <a:p>
                      <a:pPr lvl="0">
                        <a:buNone/>
                      </a:pPr>
                      <a:endParaRPr lang="en-US" sz="1500"/>
                    </a:p>
                  </a:txBody>
                  <a:tcPr marL="74295" marR="74295" marT="37148" marB="37148"/>
                </a:tc>
                <a:extLst>
                  <a:ext uri="{0D108BD9-81ED-4DB2-BD59-A6C34878D82A}">
                    <a16:rowId xmlns:a16="http://schemas.microsoft.com/office/drawing/2014/main" val="688445474"/>
                  </a:ext>
                </a:extLst>
              </a:tr>
            </a:tbl>
          </a:graphicData>
        </a:graphic>
      </p:graphicFrame>
      <p:sp>
        <p:nvSpPr>
          <p:cNvPr id="9" name="Rectangle: Rounded Corners 8">
            <a:extLst>
              <a:ext uri="{FF2B5EF4-FFF2-40B4-BE49-F238E27FC236}">
                <a16:creationId xmlns:a16="http://schemas.microsoft.com/office/drawing/2014/main" id="{D786953C-722B-EFE8-7DBE-0EA53F2A9D55}"/>
              </a:ext>
            </a:extLst>
          </p:cNvPr>
          <p:cNvSpPr/>
          <p:nvPr/>
        </p:nvSpPr>
        <p:spPr>
          <a:xfrm>
            <a:off x="932844" y="2299523"/>
            <a:ext cx="606401" cy="4973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t>Enabler</a:t>
            </a:r>
          </a:p>
        </p:txBody>
      </p:sp>
      <p:sp>
        <p:nvSpPr>
          <p:cNvPr id="14" name="TextBox 13">
            <a:extLst>
              <a:ext uri="{FF2B5EF4-FFF2-40B4-BE49-F238E27FC236}">
                <a16:creationId xmlns:a16="http://schemas.microsoft.com/office/drawing/2014/main" id="{06D0F421-C299-429C-F879-20D957B091B8}"/>
              </a:ext>
            </a:extLst>
          </p:cNvPr>
          <p:cNvSpPr txBox="1"/>
          <p:nvPr/>
        </p:nvSpPr>
        <p:spPr>
          <a:xfrm>
            <a:off x="3734186" y="3844948"/>
            <a:ext cx="1157739" cy="442557"/>
          </a:xfrm>
          <a:prstGeom prst="rect">
            <a:avLst/>
          </a:prstGeom>
          <a:noFill/>
        </p:spPr>
        <p:txBody>
          <a:bodyPr wrap="square" rtlCol="0">
            <a:spAutoFit/>
          </a:bodyPr>
          <a:lstStyle/>
          <a:p>
            <a:r>
              <a:rPr lang="en-US" sz="1138" b="1"/>
              <a:t>Partial Go Live 1  (W4 Jun 26)</a:t>
            </a:r>
          </a:p>
        </p:txBody>
      </p:sp>
      <p:sp>
        <p:nvSpPr>
          <p:cNvPr id="17" name="TextBox 16">
            <a:extLst>
              <a:ext uri="{FF2B5EF4-FFF2-40B4-BE49-F238E27FC236}">
                <a16:creationId xmlns:a16="http://schemas.microsoft.com/office/drawing/2014/main" id="{EF6284EC-8A5B-963E-92B4-AD71D3061BE3}"/>
              </a:ext>
            </a:extLst>
          </p:cNvPr>
          <p:cNvSpPr txBox="1"/>
          <p:nvPr/>
        </p:nvSpPr>
        <p:spPr>
          <a:xfrm>
            <a:off x="8265986" y="3783065"/>
            <a:ext cx="1157738" cy="442557"/>
          </a:xfrm>
          <a:prstGeom prst="rect">
            <a:avLst/>
          </a:prstGeom>
          <a:noFill/>
        </p:spPr>
        <p:txBody>
          <a:bodyPr wrap="square" rtlCol="0">
            <a:spAutoFit/>
          </a:bodyPr>
          <a:lstStyle/>
          <a:p>
            <a:r>
              <a:rPr lang="en-US" sz="1138" b="1"/>
              <a:t>Full Go-Live (W2 Nov 26)</a:t>
            </a:r>
          </a:p>
        </p:txBody>
      </p:sp>
      <p:sp>
        <p:nvSpPr>
          <p:cNvPr id="18" name="TextBox 17">
            <a:extLst>
              <a:ext uri="{FF2B5EF4-FFF2-40B4-BE49-F238E27FC236}">
                <a16:creationId xmlns:a16="http://schemas.microsoft.com/office/drawing/2014/main" id="{96613BDB-6BCB-F0E2-9064-1A7A5955497B}"/>
              </a:ext>
            </a:extLst>
          </p:cNvPr>
          <p:cNvSpPr txBox="1"/>
          <p:nvPr/>
        </p:nvSpPr>
        <p:spPr>
          <a:xfrm>
            <a:off x="735723" y="3818353"/>
            <a:ext cx="2992438" cy="617670"/>
          </a:xfrm>
          <a:prstGeom prst="rect">
            <a:avLst/>
          </a:prstGeom>
          <a:noFill/>
        </p:spPr>
        <p:txBody>
          <a:bodyPr wrap="square" lIns="91440" tIns="45720" rIns="91440" bIns="45720" rtlCol="0" anchor="t">
            <a:spAutoFit/>
          </a:bodyPr>
          <a:lstStyle/>
          <a:p>
            <a:r>
              <a:rPr lang="en-US" sz="1100" b="1"/>
              <a:t>Enabler activities : </a:t>
            </a:r>
            <a:br>
              <a:rPr lang="en-US" sz="1100" b="1"/>
            </a:br>
            <a:r>
              <a:rPr lang="en-US" sz="1100"/>
              <a:t>1. Prepare development environment</a:t>
            </a:r>
          </a:p>
          <a:p>
            <a:r>
              <a:rPr lang="en-US" sz="1100"/>
              <a:t>2. Resources preparation </a:t>
            </a:r>
            <a:endParaRPr lang="en-US" sz="1100">
              <a:ea typeface="Calibri"/>
              <a:cs typeface="Calibri"/>
            </a:endParaRPr>
          </a:p>
        </p:txBody>
      </p:sp>
      <p:sp>
        <p:nvSpPr>
          <p:cNvPr id="19" name="TextBox 18">
            <a:extLst>
              <a:ext uri="{FF2B5EF4-FFF2-40B4-BE49-F238E27FC236}">
                <a16:creationId xmlns:a16="http://schemas.microsoft.com/office/drawing/2014/main" id="{8872AD88-AC99-7D3D-5694-CE6B57A79F6A}"/>
              </a:ext>
            </a:extLst>
          </p:cNvPr>
          <p:cNvSpPr txBox="1"/>
          <p:nvPr/>
        </p:nvSpPr>
        <p:spPr>
          <a:xfrm>
            <a:off x="590009" y="4432681"/>
            <a:ext cx="9152728" cy="2072362"/>
          </a:xfrm>
          <a:prstGeom prst="rect">
            <a:avLst/>
          </a:prstGeom>
          <a:noFill/>
        </p:spPr>
        <p:txBody>
          <a:bodyPr wrap="square" lIns="91440" tIns="45720" rIns="91440" bIns="45720" anchor="t">
            <a:spAutoFit/>
          </a:bodyPr>
          <a:lstStyle/>
          <a:p>
            <a:pPr algn="just" fontAlgn="base">
              <a:lnSpc>
                <a:spcPts val="1036"/>
              </a:lnSpc>
            </a:pPr>
            <a:endParaRPr lang="en-US" sz="1400">
              <a:solidFill>
                <a:srgbClr val="000000"/>
              </a:solidFill>
              <a:ea typeface="Calibri Light"/>
              <a:cs typeface="Calibri Light"/>
            </a:endParaRPr>
          </a:p>
          <a:p>
            <a:pPr marL="288925" indent="-288925" algn="just" fontAlgn="base">
              <a:spcAft>
                <a:spcPts val="200"/>
              </a:spcAft>
              <a:buAutoNum type="alphaLcParenR"/>
            </a:pPr>
            <a:r>
              <a:rPr lang="en-ID" sz="1400">
                <a:solidFill>
                  <a:srgbClr val="000000"/>
                </a:solidFill>
              </a:rPr>
              <a:t>Key User Training will be provided for training activity </a:t>
            </a:r>
          </a:p>
          <a:p>
            <a:pPr marL="288925" indent="-288925" algn="just" fontAlgn="base">
              <a:spcAft>
                <a:spcPts val="200"/>
              </a:spcAft>
              <a:buAutoNum type="alphaLcParenR"/>
            </a:pPr>
            <a:r>
              <a:rPr lang="en-ID" sz="1400">
                <a:solidFill>
                  <a:srgbClr val="000000"/>
                </a:solidFill>
              </a:rPr>
              <a:t>This timeline can be more shorten or become longer, depends on scope items review result on each iteration time (2 Weeks). ​</a:t>
            </a:r>
          </a:p>
          <a:p>
            <a:pPr marL="288925" indent="-288925" algn="just" fontAlgn="base">
              <a:spcAft>
                <a:spcPts val="200"/>
              </a:spcAft>
              <a:buAutoNum type="alphaLcParenR"/>
            </a:pPr>
            <a:r>
              <a:rPr lang="en-ID" sz="1400">
                <a:solidFill>
                  <a:srgbClr val="000000"/>
                </a:solidFill>
                <a:ea typeface="Calibri Light"/>
                <a:cs typeface="Calibri Light"/>
              </a:rPr>
              <a:t>Any adjustment on priority based on MMKSI request is welcome within agile methods, while scope remains controlled.</a:t>
            </a:r>
          </a:p>
          <a:p>
            <a:pPr marL="278130" indent="-278130" algn="just" fontAlgn="base">
              <a:spcAft>
                <a:spcPts val="200"/>
              </a:spcAft>
              <a:buFont typeface="+mj-lt"/>
              <a:buAutoNum type="alphaLcParenR"/>
            </a:pPr>
            <a:r>
              <a:rPr lang="en-ID" sz="1400">
                <a:solidFill>
                  <a:srgbClr val="000000"/>
                </a:solidFill>
              </a:rPr>
              <a:t>MMKSI will review product backlog incremental progress through iteration demo meeting every biweekly.​</a:t>
            </a:r>
            <a:endParaRPr lang="en-ID" sz="1400">
              <a:solidFill>
                <a:srgbClr val="000000"/>
              </a:solidFill>
              <a:ea typeface="Calibri Light"/>
              <a:cs typeface="Calibri Light"/>
            </a:endParaRPr>
          </a:p>
          <a:p>
            <a:pPr marL="278130" indent="-278130" algn="just" fontAlgn="base">
              <a:spcAft>
                <a:spcPts val="200"/>
              </a:spcAft>
              <a:buFont typeface="+mj-lt"/>
              <a:buAutoNum type="alphaLcParenR"/>
            </a:pPr>
            <a:r>
              <a:rPr lang="en-ID" sz="1400">
                <a:solidFill>
                  <a:srgbClr val="000000"/>
                </a:solidFill>
              </a:rPr>
              <a:t>PDCA review must be conducted during operation after partial 1</a:t>
            </a:r>
            <a:r>
              <a:rPr lang="en-ID" sz="1400" baseline="30000">
                <a:solidFill>
                  <a:srgbClr val="000000"/>
                </a:solidFill>
              </a:rPr>
              <a:t>st</a:t>
            </a:r>
            <a:r>
              <a:rPr lang="en-ID" sz="1400">
                <a:solidFill>
                  <a:srgbClr val="000000"/>
                </a:solidFill>
              </a:rPr>
              <a:t> go live.</a:t>
            </a:r>
            <a:endParaRPr lang="en-ID" sz="1400">
              <a:solidFill>
                <a:srgbClr val="000000"/>
              </a:solidFill>
              <a:ea typeface="Calibri Light"/>
              <a:cs typeface="Calibri Light"/>
            </a:endParaRPr>
          </a:p>
          <a:p>
            <a:pPr marL="278130" indent="-278130" algn="just" fontAlgn="base">
              <a:spcAft>
                <a:spcPts val="200"/>
              </a:spcAft>
              <a:buFont typeface="+mj-lt"/>
              <a:buAutoNum type="alphaLcParenR"/>
            </a:pPr>
            <a:r>
              <a:rPr lang="en-ID" sz="1400">
                <a:solidFill>
                  <a:srgbClr val="000000"/>
                </a:solidFill>
              </a:rPr>
              <a:t>Every new potential improvement (output from PDCA Result) can be put as additional product backlog and put on development chain activity based on decision from MMKSI to absorb it or not.​</a:t>
            </a:r>
          </a:p>
        </p:txBody>
      </p:sp>
      <p:sp>
        <p:nvSpPr>
          <p:cNvPr id="8" name="Rectangle: Rounded Corners 7">
            <a:extLst>
              <a:ext uri="{FF2B5EF4-FFF2-40B4-BE49-F238E27FC236}">
                <a16:creationId xmlns:a16="http://schemas.microsoft.com/office/drawing/2014/main" id="{26EE3F58-3463-BA69-06CB-15BA75C8CD44}"/>
              </a:ext>
            </a:extLst>
          </p:cNvPr>
          <p:cNvSpPr/>
          <p:nvPr/>
        </p:nvSpPr>
        <p:spPr>
          <a:xfrm>
            <a:off x="1684466" y="2295334"/>
            <a:ext cx="7228530" cy="14120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47F25D7-1CDE-1BA6-1194-DE83D5388805}"/>
              </a:ext>
            </a:extLst>
          </p:cNvPr>
          <p:cNvSpPr/>
          <p:nvPr/>
        </p:nvSpPr>
        <p:spPr>
          <a:xfrm>
            <a:off x="5076077" y="2515079"/>
            <a:ext cx="1071857" cy="1186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ea typeface="Calibri" panose="020F0502020204030204"/>
                <a:cs typeface="Calibri" panose="020F0502020204030204"/>
              </a:rPr>
              <a:t>Development 3</a:t>
            </a:r>
            <a:r>
              <a:rPr lang="en-US" sz="1000" baseline="30000">
                <a:ea typeface="Calibri" panose="020F0502020204030204"/>
                <a:cs typeface="Calibri" panose="020F0502020204030204"/>
              </a:rPr>
              <a:t>rd</a:t>
            </a:r>
            <a:r>
              <a:rPr lang="en-US" sz="1000">
                <a:ea typeface="Calibri" panose="020F0502020204030204"/>
                <a:cs typeface="Calibri" panose="020F0502020204030204"/>
              </a:rPr>
              <a:t> Backlogs:</a:t>
            </a:r>
            <a:br>
              <a:rPr lang="en-US" sz="1100">
                <a:ea typeface="Calibri" panose="020F0502020204030204"/>
                <a:cs typeface="Calibri" panose="020F0502020204030204"/>
              </a:rPr>
            </a:br>
            <a:r>
              <a:rPr lang="en-US" sz="1000">
                <a:ea typeface="Calibri" panose="020F0502020204030204"/>
                <a:cs typeface="Calibri" panose="020F0502020204030204"/>
              </a:rPr>
              <a:t>Training Management</a:t>
            </a:r>
          </a:p>
        </p:txBody>
      </p:sp>
      <p:sp>
        <p:nvSpPr>
          <p:cNvPr id="12" name="Rectangle: Rounded Corners 11">
            <a:extLst>
              <a:ext uri="{FF2B5EF4-FFF2-40B4-BE49-F238E27FC236}">
                <a16:creationId xmlns:a16="http://schemas.microsoft.com/office/drawing/2014/main" id="{7F2D2ADE-A740-A549-DBF9-2A85024F3501}"/>
              </a:ext>
            </a:extLst>
          </p:cNvPr>
          <p:cNvSpPr/>
          <p:nvPr/>
        </p:nvSpPr>
        <p:spPr>
          <a:xfrm>
            <a:off x="1821863" y="2511742"/>
            <a:ext cx="2121365" cy="1197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50"/>
              <a:t>Development 1</a:t>
            </a:r>
            <a:r>
              <a:rPr lang="en-US" sz="1050" baseline="30000"/>
              <a:t>st</a:t>
            </a:r>
            <a:r>
              <a:rPr lang="en-US" sz="1050"/>
              <a:t> Backlogs :</a:t>
            </a:r>
          </a:p>
          <a:p>
            <a:pPr marL="172720" indent="-172720">
              <a:buAutoNum type="arabicPeriod"/>
            </a:pPr>
            <a:r>
              <a:rPr lang="en-US" sz="1050"/>
              <a:t>Master Data configuration</a:t>
            </a:r>
            <a:endParaRPr lang="en-US" sz="1050">
              <a:ea typeface="Calibri"/>
              <a:cs typeface="Calibri"/>
            </a:endParaRPr>
          </a:p>
          <a:p>
            <a:pPr marL="173038" indent="-173038">
              <a:buAutoNum type="arabicPeriod"/>
            </a:pPr>
            <a:r>
              <a:rPr lang="en-US" sz="1050"/>
              <a:t>Performance Evaluation</a:t>
            </a:r>
            <a:endParaRPr lang="en-US" sz="1050">
              <a:ea typeface="Calibri" panose="020F0502020204030204"/>
              <a:cs typeface="Calibri" panose="020F0502020204030204"/>
            </a:endParaRPr>
          </a:p>
          <a:p>
            <a:pPr marL="173038" indent="-173038">
              <a:buAutoNum type="arabicPeriod"/>
            </a:pPr>
            <a:r>
              <a:rPr lang="en-US" sz="1050"/>
              <a:t>Master data migration</a:t>
            </a:r>
          </a:p>
          <a:p>
            <a:pPr marL="173038" indent="-173038">
              <a:buAutoNum type="arabicPeriod"/>
            </a:pPr>
            <a:r>
              <a:rPr lang="en-US" sz="1050">
                <a:ea typeface="Calibri" panose="020F0502020204030204"/>
                <a:cs typeface="Calibri" panose="020F0502020204030204"/>
              </a:rPr>
              <a:t>Training Activity</a:t>
            </a:r>
          </a:p>
          <a:p>
            <a:pPr marL="173038" indent="-173038">
              <a:buAutoNum type="arabicPeriod"/>
            </a:pPr>
            <a:r>
              <a:rPr lang="en-US" sz="1050">
                <a:ea typeface="Calibri" panose="020F0502020204030204"/>
                <a:cs typeface="Calibri" panose="020F0502020204030204"/>
              </a:rPr>
              <a:t>Partial Go Live with limited access using VPN</a:t>
            </a:r>
          </a:p>
        </p:txBody>
      </p:sp>
      <p:sp>
        <p:nvSpPr>
          <p:cNvPr id="15" name="Rectangle: Rounded Corners 14">
            <a:extLst>
              <a:ext uri="{FF2B5EF4-FFF2-40B4-BE49-F238E27FC236}">
                <a16:creationId xmlns:a16="http://schemas.microsoft.com/office/drawing/2014/main" id="{5307B6E3-8050-F0DD-7AAA-380C310893A5}"/>
              </a:ext>
            </a:extLst>
          </p:cNvPr>
          <p:cNvSpPr/>
          <p:nvPr/>
        </p:nvSpPr>
        <p:spPr>
          <a:xfrm>
            <a:off x="6187886" y="2509399"/>
            <a:ext cx="2078099" cy="1186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t>Development 4</a:t>
            </a:r>
            <a:r>
              <a:rPr lang="en-US" sz="1000" baseline="30000"/>
              <a:t>th</a:t>
            </a:r>
            <a:r>
              <a:rPr lang="en-US" sz="1000"/>
              <a:t> Backlogs:</a:t>
            </a:r>
          </a:p>
          <a:p>
            <a:pPr marL="172720" indent="-172720">
              <a:buAutoNum type="arabicPeriod"/>
            </a:pPr>
            <a:r>
              <a:rPr lang="en-US" sz="1000"/>
              <a:t>Man-Power Planning (MPP)</a:t>
            </a:r>
            <a:endParaRPr lang="en-US" sz="1000">
              <a:ea typeface="Calibri" panose="020F0502020204030204"/>
              <a:cs typeface="Calibri" panose="020F0502020204030204"/>
            </a:endParaRPr>
          </a:p>
          <a:p>
            <a:pPr marL="172720" indent="-172720">
              <a:buAutoNum type="arabicPeriod"/>
            </a:pPr>
            <a:r>
              <a:rPr lang="en-US" sz="1000"/>
              <a:t>Recruitment</a:t>
            </a:r>
            <a:endParaRPr lang="en-US" sz="1000">
              <a:ea typeface="Calibri" panose="020F0502020204030204"/>
              <a:cs typeface="Calibri" panose="020F0502020204030204"/>
            </a:endParaRPr>
          </a:p>
        </p:txBody>
      </p:sp>
      <p:sp>
        <p:nvSpPr>
          <p:cNvPr id="20" name="Rectangle: Rounded Corners 19">
            <a:extLst>
              <a:ext uri="{FF2B5EF4-FFF2-40B4-BE49-F238E27FC236}">
                <a16:creationId xmlns:a16="http://schemas.microsoft.com/office/drawing/2014/main" id="{C48AA0A8-ED9E-2144-05A5-BACBECD29E2A}"/>
              </a:ext>
            </a:extLst>
          </p:cNvPr>
          <p:cNvSpPr/>
          <p:nvPr/>
        </p:nvSpPr>
        <p:spPr>
          <a:xfrm>
            <a:off x="3983227" y="2511224"/>
            <a:ext cx="1068578" cy="1197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50">
                <a:ea typeface="Calibri" panose="020F0502020204030204"/>
                <a:cs typeface="Calibri" panose="020F0502020204030204"/>
              </a:rPr>
              <a:t>Development 2n</a:t>
            </a:r>
            <a:r>
              <a:rPr lang="en-US" sz="1050" baseline="30000">
                <a:ea typeface="Calibri" panose="020F0502020204030204"/>
                <a:cs typeface="Calibri" panose="020F0502020204030204"/>
              </a:rPr>
              <a:t>d</a:t>
            </a:r>
            <a:r>
              <a:rPr lang="en-US" sz="1050">
                <a:ea typeface="Calibri" panose="020F0502020204030204"/>
                <a:cs typeface="Calibri" panose="020F0502020204030204"/>
              </a:rPr>
              <a:t> Backlogs:</a:t>
            </a:r>
          </a:p>
          <a:p>
            <a:r>
              <a:rPr lang="en-US" sz="1050">
                <a:ea typeface="Calibri" panose="020F0502020204030204"/>
                <a:cs typeface="Calibri" panose="020F0502020204030204"/>
              </a:rPr>
              <a:t>Logbook Promotion</a:t>
            </a:r>
          </a:p>
        </p:txBody>
      </p:sp>
      <p:sp>
        <p:nvSpPr>
          <p:cNvPr id="10" name="TextBox 9">
            <a:extLst>
              <a:ext uri="{FF2B5EF4-FFF2-40B4-BE49-F238E27FC236}">
                <a16:creationId xmlns:a16="http://schemas.microsoft.com/office/drawing/2014/main" id="{E4B9F51E-7AAF-6B46-2E65-6C1C8F10F845}"/>
              </a:ext>
            </a:extLst>
          </p:cNvPr>
          <p:cNvSpPr txBox="1"/>
          <p:nvPr/>
        </p:nvSpPr>
        <p:spPr>
          <a:xfrm>
            <a:off x="1744626" y="2298449"/>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ea typeface="Calibri"/>
                <a:cs typeface="Calibri"/>
              </a:rPr>
              <a:t>Development Iteration</a:t>
            </a:r>
            <a:endParaRPr lang="en-US" sz="1000" b="1"/>
          </a:p>
        </p:txBody>
      </p:sp>
      <p:sp>
        <p:nvSpPr>
          <p:cNvPr id="22" name="TextBox 21">
            <a:extLst>
              <a:ext uri="{FF2B5EF4-FFF2-40B4-BE49-F238E27FC236}">
                <a16:creationId xmlns:a16="http://schemas.microsoft.com/office/drawing/2014/main" id="{0C3C4A54-1948-17D3-7C3D-51149A96DC32}"/>
              </a:ext>
            </a:extLst>
          </p:cNvPr>
          <p:cNvSpPr txBox="1"/>
          <p:nvPr/>
        </p:nvSpPr>
        <p:spPr>
          <a:xfrm>
            <a:off x="3870891" y="4361944"/>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Calibri"/>
                <a:cs typeface="Calibri"/>
              </a:rPr>
              <a:t>Start Operation Partial Go live 1</a:t>
            </a:r>
          </a:p>
        </p:txBody>
      </p:sp>
      <p:sp>
        <p:nvSpPr>
          <p:cNvPr id="23" name="Arrow: Right 22">
            <a:extLst>
              <a:ext uri="{FF2B5EF4-FFF2-40B4-BE49-F238E27FC236}">
                <a16:creationId xmlns:a16="http://schemas.microsoft.com/office/drawing/2014/main" id="{407F90AE-444A-049B-AEFF-DC8BB9E854F2}"/>
              </a:ext>
            </a:extLst>
          </p:cNvPr>
          <p:cNvSpPr/>
          <p:nvPr/>
        </p:nvSpPr>
        <p:spPr>
          <a:xfrm>
            <a:off x="3959174" y="4233922"/>
            <a:ext cx="5599920" cy="245018"/>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A999A01-4660-21C0-AFCD-F541F361E58E}"/>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
        <p:nvSpPr>
          <p:cNvPr id="24" name="Rectangle: Rounded Corners 23">
            <a:extLst>
              <a:ext uri="{FF2B5EF4-FFF2-40B4-BE49-F238E27FC236}">
                <a16:creationId xmlns:a16="http://schemas.microsoft.com/office/drawing/2014/main" id="{7CBE7C36-A483-BDE2-CB02-049876057D70}"/>
              </a:ext>
            </a:extLst>
          </p:cNvPr>
          <p:cNvSpPr/>
          <p:nvPr/>
        </p:nvSpPr>
        <p:spPr>
          <a:xfrm>
            <a:off x="8307662" y="2544669"/>
            <a:ext cx="571643" cy="11516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900">
              <a:ea typeface="Calibri" panose="020F0502020204030204"/>
              <a:cs typeface="Calibri" panose="020F0502020204030204"/>
            </a:endParaRPr>
          </a:p>
        </p:txBody>
      </p:sp>
      <p:sp>
        <p:nvSpPr>
          <p:cNvPr id="25" name="TextBox 24">
            <a:extLst>
              <a:ext uri="{FF2B5EF4-FFF2-40B4-BE49-F238E27FC236}">
                <a16:creationId xmlns:a16="http://schemas.microsoft.com/office/drawing/2014/main" id="{2174E1BE-846C-E929-3CDA-64CA7CFB187A}"/>
              </a:ext>
            </a:extLst>
          </p:cNvPr>
          <p:cNvSpPr txBox="1"/>
          <p:nvPr/>
        </p:nvSpPr>
        <p:spPr>
          <a:xfrm>
            <a:off x="8220114" y="2770180"/>
            <a:ext cx="826699" cy="784830"/>
          </a:xfrm>
          <a:prstGeom prst="rect">
            <a:avLst/>
          </a:prstGeom>
          <a:noFill/>
        </p:spPr>
        <p:txBody>
          <a:bodyPr wrap="square" rtlCol="0">
            <a:spAutoFit/>
          </a:bodyPr>
          <a:lstStyle/>
          <a:p>
            <a:r>
              <a:rPr lang="en-US" sz="900">
                <a:solidFill>
                  <a:schemeClr val="bg1"/>
                </a:solidFill>
              </a:rPr>
              <a:t>Go live and Preparation:</a:t>
            </a:r>
            <a:br>
              <a:rPr lang="en-US" sz="900">
                <a:solidFill>
                  <a:schemeClr val="bg1"/>
                </a:solidFill>
              </a:rPr>
            </a:br>
            <a:r>
              <a:rPr lang="en-US" sz="900">
                <a:solidFill>
                  <a:schemeClr val="bg1"/>
                </a:solidFill>
              </a:rPr>
              <a:t>1. VAPT</a:t>
            </a:r>
          </a:p>
          <a:p>
            <a:r>
              <a:rPr lang="en-US" sz="900">
                <a:solidFill>
                  <a:schemeClr val="bg1"/>
                </a:solidFill>
              </a:rPr>
              <a:t>2. Training</a:t>
            </a:r>
          </a:p>
          <a:p>
            <a:r>
              <a:rPr lang="en-US" sz="900">
                <a:solidFill>
                  <a:schemeClr val="bg1"/>
                </a:solidFill>
              </a:rPr>
              <a:t>3. Release</a:t>
            </a:r>
          </a:p>
        </p:txBody>
      </p:sp>
      <p:pic>
        <p:nvPicPr>
          <p:cNvPr id="16" name="Graphic 15" descr="Badge New with solid fill">
            <a:extLst>
              <a:ext uri="{FF2B5EF4-FFF2-40B4-BE49-F238E27FC236}">
                <a16:creationId xmlns:a16="http://schemas.microsoft.com/office/drawing/2014/main" id="{65BC379F-8AEE-C531-FDAA-62675C72B2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92210" y="3539369"/>
            <a:ext cx="356257" cy="317302"/>
          </a:xfrm>
          <a:prstGeom prst="rect">
            <a:avLst/>
          </a:prstGeom>
        </p:spPr>
      </p:pic>
      <p:pic>
        <p:nvPicPr>
          <p:cNvPr id="13" name="Graphic 12" descr="Badge New with solid fill">
            <a:extLst>
              <a:ext uri="{FF2B5EF4-FFF2-40B4-BE49-F238E27FC236}">
                <a16:creationId xmlns:a16="http://schemas.microsoft.com/office/drawing/2014/main" id="{62C83676-76D4-6C72-C253-9D8E94AEF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7685" y="3537715"/>
            <a:ext cx="356257" cy="317302"/>
          </a:xfrm>
          <a:prstGeom prst="rect">
            <a:avLst/>
          </a:prstGeom>
        </p:spPr>
      </p:pic>
    </p:spTree>
    <p:extLst>
      <p:ext uri="{BB962C8B-B14F-4D97-AF65-F5344CB8AC3E}">
        <p14:creationId xmlns:p14="http://schemas.microsoft.com/office/powerpoint/2010/main" val="2160348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4A8A2-7CB4-1371-A13C-D64FD2A95145}"/>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26EE3F58-3463-BA69-06CB-15BA75C8CD44}"/>
              </a:ext>
            </a:extLst>
          </p:cNvPr>
          <p:cNvSpPr/>
          <p:nvPr/>
        </p:nvSpPr>
        <p:spPr>
          <a:xfrm>
            <a:off x="2297316" y="2507898"/>
            <a:ext cx="5873181" cy="11473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4" name="Title 1">
            <a:extLst>
              <a:ext uri="{FF2B5EF4-FFF2-40B4-BE49-F238E27FC236}">
                <a16:creationId xmlns:a16="http://schemas.microsoft.com/office/drawing/2014/main" id="{DF0229F4-4BD9-2B61-7246-7FFB72398398}"/>
              </a:ext>
            </a:extLst>
          </p:cNvPr>
          <p:cNvSpPr txBox="1">
            <a:spLocks/>
          </p:cNvSpPr>
          <p:nvPr/>
        </p:nvSpPr>
        <p:spPr>
          <a:xfrm>
            <a:off x="1399071" y="809264"/>
            <a:ext cx="7436592" cy="438750"/>
          </a:xfrm>
          <a:prstGeom prst="rect">
            <a:avLst/>
          </a:prstGeom>
          <a:noFill/>
        </p:spPr>
        <p:txBody>
          <a:bodyPr vert="horz" lIns="175500" tIns="37148" rIns="74295" bIns="37148"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sz="2275">
                <a:latin typeface="Helvetica Neue" panose="02000503000000020004"/>
              </a:rPr>
              <a:t>3. Project Methodology</a:t>
            </a:r>
            <a:endParaRPr lang="en-ID" sz="2275">
              <a:latin typeface="Helvetica Neue" panose="02000503000000020004"/>
            </a:endParaRPr>
          </a:p>
        </p:txBody>
      </p:sp>
      <p:sp>
        <p:nvSpPr>
          <p:cNvPr id="6" name="TextBox 5">
            <a:extLst>
              <a:ext uri="{FF2B5EF4-FFF2-40B4-BE49-F238E27FC236}">
                <a16:creationId xmlns:a16="http://schemas.microsoft.com/office/drawing/2014/main" id="{F2F4A3E5-DA4F-492F-D1D6-49FA7D5857C7}"/>
              </a:ext>
            </a:extLst>
          </p:cNvPr>
          <p:cNvSpPr txBox="1"/>
          <p:nvPr/>
        </p:nvSpPr>
        <p:spPr>
          <a:xfrm>
            <a:off x="1541946" y="1619076"/>
            <a:ext cx="6893877" cy="267446"/>
          </a:xfrm>
          <a:prstGeom prst="rect">
            <a:avLst/>
          </a:prstGeom>
          <a:noFill/>
        </p:spPr>
        <p:txBody>
          <a:bodyPr wrap="square">
            <a:spAutoFit/>
          </a:bodyPr>
          <a:lstStyle/>
          <a:p>
            <a:r>
              <a:rPr lang="en-US" sz="1138"/>
              <a:t>The project phase outlines the key timeline and milestones for successful completion.</a:t>
            </a:r>
          </a:p>
        </p:txBody>
      </p:sp>
      <p:sp>
        <p:nvSpPr>
          <p:cNvPr id="2" name="Slide Number Placeholder 5">
            <a:extLst>
              <a:ext uri="{FF2B5EF4-FFF2-40B4-BE49-F238E27FC236}">
                <a16:creationId xmlns:a16="http://schemas.microsoft.com/office/drawing/2014/main" id="{269F51B1-9DF7-66D9-E5F6-5795A1C27B2F}"/>
              </a:ext>
            </a:extLst>
          </p:cNvPr>
          <p:cNvSpPr>
            <a:spLocks noGrp="1"/>
          </p:cNvSpPr>
          <p:nvPr>
            <p:ph type="sldNum" sz="quarter" idx="12"/>
          </p:nvPr>
        </p:nvSpPr>
        <p:spPr>
          <a:xfrm>
            <a:off x="8264677" y="5839734"/>
            <a:ext cx="512321" cy="261610"/>
          </a:xfrm>
        </p:spPr>
        <p:txBody>
          <a:bodyPr/>
          <a:lstStyle/>
          <a:p>
            <a:r>
              <a:rPr lang="en-GB"/>
              <a:t> Page </a:t>
            </a:r>
            <a:fld id="{7A555EF9-59E7-4D74-815B-7A20869232EE}" type="slidenum">
              <a:rPr lang="en-GB" smtClean="0"/>
              <a:pPr/>
              <a:t>15</a:t>
            </a:fld>
            <a:endParaRPr lang="en-GB"/>
          </a:p>
        </p:txBody>
      </p:sp>
      <p:sp>
        <p:nvSpPr>
          <p:cNvPr id="5" name="Footer Placeholder 4">
            <a:extLst>
              <a:ext uri="{FF2B5EF4-FFF2-40B4-BE49-F238E27FC236}">
                <a16:creationId xmlns:a16="http://schemas.microsoft.com/office/drawing/2014/main" id="{3BBE023D-9110-2BFE-5860-04E141760E7D}"/>
              </a:ext>
            </a:extLst>
          </p:cNvPr>
          <p:cNvSpPr>
            <a:spLocks noGrp="1"/>
          </p:cNvSpPr>
          <p:nvPr>
            <p:ph type="ftr" sz="quarter" idx="11"/>
          </p:nvPr>
        </p:nvSpPr>
        <p:spPr>
          <a:xfrm>
            <a:off x="3619840" y="5917931"/>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49C16645-BD6C-9D0B-2932-77BBE1B35CA7}"/>
              </a:ext>
            </a:extLst>
          </p:cNvPr>
          <p:cNvSpPr txBox="1"/>
          <p:nvPr/>
        </p:nvSpPr>
        <p:spPr>
          <a:xfrm>
            <a:off x="1541946" y="1353066"/>
            <a:ext cx="2652424" cy="259303"/>
          </a:xfrm>
          <a:prstGeom prst="rect">
            <a:avLst/>
          </a:prstGeom>
          <a:noFill/>
        </p:spPr>
        <p:txBody>
          <a:bodyPr wrap="square" lIns="74295" tIns="37148" rIns="74295" bIns="37148" anchor="t">
            <a:spAutoFit/>
          </a:bodyPr>
          <a:lstStyle/>
          <a:p>
            <a:pPr>
              <a:lnSpc>
                <a:spcPct val="115000"/>
              </a:lnSpc>
              <a:tabLst>
                <a:tab pos="185738" algn="l"/>
              </a:tabLst>
            </a:pPr>
            <a:r>
              <a:rPr lang="en-US" sz="1138" b="1" kern="100">
                <a:latin typeface="Helvetica Neue" panose="02000503000000020004"/>
                <a:ea typeface="DengXian"/>
                <a:cs typeface="Times New Roman"/>
              </a:rPr>
              <a:t>3.3 Project Phase/Timeline</a:t>
            </a:r>
          </a:p>
        </p:txBody>
      </p:sp>
      <p:graphicFrame>
        <p:nvGraphicFramePr>
          <p:cNvPr id="7" name="Table 6">
            <a:extLst>
              <a:ext uri="{FF2B5EF4-FFF2-40B4-BE49-F238E27FC236}">
                <a16:creationId xmlns:a16="http://schemas.microsoft.com/office/drawing/2014/main" id="{AD9C4A95-B77B-9622-93E8-E3EA0A0BE0A2}"/>
              </a:ext>
            </a:extLst>
          </p:cNvPr>
          <p:cNvGraphicFramePr>
            <a:graphicFrameLocks noGrp="1"/>
          </p:cNvGraphicFramePr>
          <p:nvPr/>
        </p:nvGraphicFramePr>
        <p:xfrm>
          <a:off x="1511372" y="1872210"/>
          <a:ext cx="7073739" cy="2521024"/>
        </p:xfrm>
        <a:graphic>
          <a:graphicData uri="http://schemas.openxmlformats.org/drawingml/2006/table">
            <a:tbl>
              <a:tblPr firstRow="1" bandRow="1">
                <a:tableStyleId>{5C22544A-7EE6-4342-B048-85BDC9FD1C3A}</a:tableStyleId>
              </a:tblPr>
              <a:tblGrid>
                <a:gridCol w="888799">
                  <a:extLst>
                    <a:ext uri="{9D8B030D-6E8A-4147-A177-3AD203B41FA5}">
                      <a16:colId xmlns:a16="http://schemas.microsoft.com/office/drawing/2014/main" val="1356380221"/>
                    </a:ext>
                  </a:extLst>
                </a:gridCol>
                <a:gridCol w="441509">
                  <a:extLst>
                    <a:ext uri="{9D8B030D-6E8A-4147-A177-3AD203B41FA5}">
                      <a16:colId xmlns:a16="http://schemas.microsoft.com/office/drawing/2014/main" val="1725432079"/>
                    </a:ext>
                  </a:extLst>
                </a:gridCol>
                <a:gridCol w="441509">
                  <a:extLst>
                    <a:ext uri="{9D8B030D-6E8A-4147-A177-3AD203B41FA5}">
                      <a16:colId xmlns:a16="http://schemas.microsoft.com/office/drawing/2014/main" val="1643854621"/>
                    </a:ext>
                  </a:extLst>
                </a:gridCol>
                <a:gridCol w="442232">
                  <a:extLst>
                    <a:ext uri="{9D8B030D-6E8A-4147-A177-3AD203B41FA5}">
                      <a16:colId xmlns:a16="http://schemas.microsoft.com/office/drawing/2014/main" val="649724865"/>
                    </a:ext>
                  </a:extLst>
                </a:gridCol>
                <a:gridCol w="442232">
                  <a:extLst>
                    <a:ext uri="{9D8B030D-6E8A-4147-A177-3AD203B41FA5}">
                      <a16:colId xmlns:a16="http://schemas.microsoft.com/office/drawing/2014/main" val="1999753441"/>
                    </a:ext>
                  </a:extLst>
                </a:gridCol>
                <a:gridCol w="442232">
                  <a:extLst>
                    <a:ext uri="{9D8B030D-6E8A-4147-A177-3AD203B41FA5}">
                      <a16:colId xmlns:a16="http://schemas.microsoft.com/office/drawing/2014/main" val="1869165440"/>
                    </a:ext>
                  </a:extLst>
                </a:gridCol>
                <a:gridCol w="442232">
                  <a:extLst>
                    <a:ext uri="{9D8B030D-6E8A-4147-A177-3AD203B41FA5}">
                      <a16:colId xmlns:a16="http://schemas.microsoft.com/office/drawing/2014/main" val="4252642086"/>
                    </a:ext>
                  </a:extLst>
                </a:gridCol>
                <a:gridCol w="441127">
                  <a:extLst>
                    <a:ext uri="{9D8B030D-6E8A-4147-A177-3AD203B41FA5}">
                      <a16:colId xmlns:a16="http://schemas.microsoft.com/office/drawing/2014/main" val="1894501557"/>
                    </a:ext>
                  </a:extLst>
                </a:gridCol>
                <a:gridCol w="441127">
                  <a:extLst>
                    <a:ext uri="{9D8B030D-6E8A-4147-A177-3AD203B41FA5}">
                      <a16:colId xmlns:a16="http://schemas.microsoft.com/office/drawing/2014/main" val="269243068"/>
                    </a:ext>
                  </a:extLst>
                </a:gridCol>
                <a:gridCol w="441790">
                  <a:extLst>
                    <a:ext uri="{9D8B030D-6E8A-4147-A177-3AD203B41FA5}">
                      <a16:colId xmlns:a16="http://schemas.microsoft.com/office/drawing/2014/main" val="827453330"/>
                    </a:ext>
                  </a:extLst>
                </a:gridCol>
                <a:gridCol w="441790">
                  <a:extLst>
                    <a:ext uri="{9D8B030D-6E8A-4147-A177-3AD203B41FA5}">
                      <a16:colId xmlns:a16="http://schemas.microsoft.com/office/drawing/2014/main" val="2046877725"/>
                    </a:ext>
                  </a:extLst>
                </a:gridCol>
                <a:gridCol w="441790">
                  <a:extLst>
                    <a:ext uri="{9D8B030D-6E8A-4147-A177-3AD203B41FA5}">
                      <a16:colId xmlns:a16="http://schemas.microsoft.com/office/drawing/2014/main" val="3320751739"/>
                    </a:ext>
                  </a:extLst>
                </a:gridCol>
                <a:gridCol w="441790">
                  <a:extLst>
                    <a:ext uri="{9D8B030D-6E8A-4147-A177-3AD203B41FA5}">
                      <a16:colId xmlns:a16="http://schemas.microsoft.com/office/drawing/2014/main" val="536136962"/>
                    </a:ext>
                  </a:extLst>
                </a:gridCol>
                <a:gridCol w="441790">
                  <a:extLst>
                    <a:ext uri="{9D8B030D-6E8A-4147-A177-3AD203B41FA5}">
                      <a16:colId xmlns:a16="http://schemas.microsoft.com/office/drawing/2014/main" val="640445890"/>
                    </a:ext>
                  </a:extLst>
                </a:gridCol>
                <a:gridCol w="441790">
                  <a:extLst>
                    <a:ext uri="{9D8B030D-6E8A-4147-A177-3AD203B41FA5}">
                      <a16:colId xmlns:a16="http://schemas.microsoft.com/office/drawing/2014/main" val="3822093147"/>
                    </a:ext>
                  </a:extLst>
                </a:gridCol>
              </a:tblGrid>
              <a:tr h="256348">
                <a:tc rowSpan="2">
                  <a:txBody>
                    <a:bodyPr/>
                    <a:lstStyle/>
                    <a:p>
                      <a:pPr algn="ctr"/>
                      <a:r>
                        <a:rPr lang="en-US" sz="1100"/>
                        <a:t>Apr 26</a:t>
                      </a:r>
                    </a:p>
                  </a:txBody>
                  <a:tcPr marL="60365" marR="60365" marT="30183" marB="30183"/>
                </a:tc>
                <a:tc gridSpan="2">
                  <a:txBody>
                    <a:bodyPr/>
                    <a:lstStyle/>
                    <a:p>
                      <a:pPr algn="ctr"/>
                      <a:r>
                        <a:rPr lang="en-US" sz="1100"/>
                        <a:t>May 26</a:t>
                      </a:r>
                    </a:p>
                  </a:txBody>
                  <a:tcPr marL="37148" marR="37148" marT="37148" marB="37148"/>
                </a:tc>
                <a:tc hMerge="1">
                  <a:txBody>
                    <a:bodyPr/>
                    <a:lstStyle/>
                    <a:p>
                      <a:pPr algn="ctr"/>
                      <a:endParaRPr lang="en-US" sz="1500"/>
                    </a:p>
                  </a:txBody>
                  <a:tcPr marL="74295" marR="74295" marT="37147" marB="37147"/>
                </a:tc>
                <a:tc gridSpan="2">
                  <a:txBody>
                    <a:bodyPr/>
                    <a:lstStyle/>
                    <a:p>
                      <a:pPr algn="ctr"/>
                      <a:r>
                        <a:rPr lang="en-US" sz="1100"/>
                        <a:t>Jun 26</a:t>
                      </a:r>
                    </a:p>
                  </a:txBody>
                  <a:tcPr marL="60365" marR="60365" marT="30183" marB="30183"/>
                </a:tc>
                <a:tc hMerge="1">
                  <a:txBody>
                    <a:bodyPr/>
                    <a:lstStyle/>
                    <a:p>
                      <a:pPr algn="ctr"/>
                      <a:endParaRPr lang="en-US" sz="1300"/>
                    </a:p>
                  </a:txBody>
                  <a:tcPr marL="74295" marR="74295" marT="37147" marB="37147"/>
                </a:tc>
                <a:tc gridSpan="2">
                  <a:txBody>
                    <a:bodyPr/>
                    <a:lstStyle/>
                    <a:p>
                      <a:pPr algn="ctr"/>
                      <a:r>
                        <a:rPr lang="en-US" sz="1100"/>
                        <a:t>Jul 26</a:t>
                      </a:r>
                    </a:p>
                  </a:txBody>
                  <a:tcPr marL="60365" marR="60365" marT="30183" marB="30183"/>
                </a:tc>
                <a:tc hMerge="1">
                  <a:txBody>
                    <a:bodyPr/>
                    <a:lstStyle/>
                    <a:p>
                      <a:pPr algn="ctr"/>
                      <a:endParaRPr lang="en-US" sz="1300"/>
                    </a:p>
                  </a:txBody>
                  <a:tcPr marL="74295" marR="74295" marT="37147" marB="37147"/>
                </a:tc>
                <a:tc gridSpan="2">
                  <a:txBody>
                    <a:bodyPr/>
                    <a:lstStyle/>
                    <a:p>
                      <a:pPr algn="ctr"/>
                      <a:r>
                        <a:rPr lang="en-US" sz="1100"/>
                        <a:t>Aug 26</a:t>
                      </a:r>
                    </a:p>
                  </a:txBody>
                  <a:tcPr marL="60365" marR="60365" marT="30183" marB="30183"/>
                </a:tc>
                <a:tc hMerge="1">
                  <a:txBody>
                    <a:bodyPr/>
                    <a:lstStyle/>
                    <a:p>
                      <a:pPr algn="ctr"/>
                      <a:endParaRPr lang="en-US" sz="1300"/>
                    </a:p>
                  </a:txBody>
                  <a:tcPr marL="74295" marR="74295" marT="37147" marB="37147"/>
                </a:tc>
                <a:tc gridSpan="2">
                  <a:txBody>
                    <a:bodyPr/>
                    <a:lstStyle/>
                    <a:p>
                      <a:pPr algn="ctr"/>
                      <a:r>
                        <a:rPr lang="en-US" sz="1100"/>
                        <a:t>Sep 26</a:t>
                      </a:r>
                    </a:p>
                  </a:txBody>
                  <a:tcPr marL="60365" marR="60365" marT="30183" marB="30183"/>
                </a:tc>
                <a:tc hMerge="1">
                  <a:txBody>
                    <a:bodyPr/>
                    <a:lstStyle/>
                    <a:p>
                      <a:pPr algn="ctr"/>
                      <a:endParaRPr lang="en-US" sz="1300"/>
                    </a:p>
                  </a:txBody>
                  <a:tcPr marL="74295" marR="74295" marT="37147" marB="37147"/>
                </a:tc>
                <a:tc gridSpan="2">
                  <a:txBody>
                    <a:bodyPr/>
                    <a:lstStyle/>
                    <a:p>
                      <a:pPr algn="ctr"/>
                      <a:r>
                        <a:rPr lang="en-US" sz="1100"/>
                        <a:t>Oct 26</a:t>
                      </a:r>
                    </a:p>
                  </a:txBody>
                  <a:tcPr marL="60365" marR="60365" marT="30183" marB="30183"/>
                </a:tc>
                <a:tc hMerge="1">
                  <a:txBody>
                    <a:bodyPr/>
                    <a:lstStyle/>
                    <a:p>
                      <a:pPr algn="ctr"/>
                      <a:endParaRPr lang="en-US" sz="1300"/>
                    </a:p>
                  </a:txBody>
                  <a:tcPr marL="74295" marR="74295" marT="37147" marB="37147"/>
                </a:tc>
                <a:tc gridSpan="2">
                  <a:txBody>
                    <a:bodyPr/>
                    <a:lstStyle/>
                    <a:p>
                      <a:pPr algn="ctr"/>
                      <a:r>
                        <a:rPr lang="en-US" sz="1100"/>
                        <a:t>Nov 26</a:t>
                      </a:r>
                    </a:p>
                  </a:txBody>
                  <a:tcPr marL="60365" marR="60365" marT="30183" marB="30183"/>
                </a:tc>
                <a:tc hMerge="1">
                  <a:txBody>
                    <a:bodyPr/>
                    <a:lstStyle/>
                    <a:p>
                      <a:pPr algn="ctr"/>
                      <a:endParaRPr lang="en-US" sz="1300"/>
                    </a:p>
                  </a:txBody>
                  <a:tcPr marL="74295" marR="74295" marT="37147" marB="37147"/>
                </a:tc>
                <a:extLst>
                  <a:ext uri="{0D108BD9-81ED-4DB2-BD59-A6C34878D82A}">
                    <a16:rowId xmlns:a16="http://schemas.microsoft.com/office/drawing/2014/main" val="1086133718"/>
                  </a:ext>
                </a:extLst>
              </a:tr>
              <a:tr h="267564">
                <a:tc vMerge="1">
                  <a:txBody>
                    <a:bodyPr/>
                    <a:lstStyle/>
                    <a:p>
                      <a:pPr algn="ctr"/>
                      <a:endParaRPr lang="en-US" sz="1300"/>
                    </a:p>
                  </a:txBody>
                  <a:tcPr marL="74295" marR="74295" marT="37148" marB="37148"/>
                </a:tc>
                <a:tc>
                  <a:txBody>
                    <a:bodyPr/>
                    <a:lstStyle/>
                    <a:p>
                      <a:pPr lvl="0" algn="ctr">
                        <a:buNone/>
                      </a:pPr>
                      <a:r>
                        <a:rPr lang="en-US" sz="700"/>
                        <a:t>Iteration</a:t>
                      </a:r>
                      <a:br>
                        <a:rPr lang="en-US" sz="700"/>
                      </a:br>
                      <a:r>
                        <a:rPr lang="en-US" sz="700"/>
                        <a:t>1</a:t>
                      </a:r>
                      <a:endParaRPr lang="en-US" sz="1500"/>
                    </a:p>
                  </a:txBody>
                  <a:tcPr marL="14859" marR="14859" marT="14859" marB="14859"/>
                </a:tc>
                <a:tc>
                  <a:txBody>
                    <a:bodyPr/>
                    <a:lstStyle/>
                    <a:p>
                      <a:pPr lvl="0" algn="ctr">
                        <a:buNone/>
                      </a:pPr>
                      <a:r>
                        <a:rPr lang="en-US" sz="700"/>
                        <a:t>Iteration</a:t>
                      </a:r>
                      <a:br>
                        <a:rPr lang="en-US" sz="700"/>
                      </a:br>
                      <a:r>
                        <a:rPr lang="en-US" sz="700"/>
                        <a:t>2</a:t>
                      </a:r>
                    </a:p>
                  </a:txBody>
                  <a:tcPr marL="60365" marR="60365" marT="14859" marB="14859"/>
                </a:tc>
                <a:tc>
                  <a:txBody>
                    <a:bodyPr/>
                    <a:lstStyle/>
                    <a:p>
                      <a:pPr lvl="0" algn="ctr">
                        <a:buNone/>
                      </a:pPr>
                      <a:r>
                        <a:rPr lang="en-US" sz="700"/>
                        <a:t>Iteration</a:t>
                      </a:r>
                      <a:br>
                        <a:rPr lang="en-US" sz="700"/>
                      </a:br>
                      <a:r>
                        <a:rPr lang="en-US" sz="700"/>
                        <a:t>3</a:t>
                      </a:r>
                    </a:p>
                  </a:txBody>
                  <a:tcPr marL="60365" marR="60365" marT="14859" marB="14859"/>
                </a:tc>
                <a:tc>
                  <a:txBody>
                    <a:bodyPr/>
                    <a:lstStyle/>
                    <a:p>
                      <a:pPr lvl="0" algn="ctr">
                        <a:buNone/>
                      </a:pPr>
                      <a:r>
                        <a:rPr lang="en-US" sz="700"/>
                        <a:t>Iteration</a:t>
                      </a:r>
                      <a:br>
                        <a:rPr lang="en-US" sz="700"/>
                      </a:br>
                      <a:r>
                        <a:rPr lang="en-US" sz="700"/>
                        <a:t>4</a:t>
                      </a:r>
                    </a:p>
                  </a:txBody>
                  <a:tcPr marL="60365" marR="60365" marT="14859" marB="14859"/>
                </a:tc>
                <a:tc>
                  <a:txBody>
                    <a:bodyPr/>
                    <a:lstStyle/>
                    <a:p>
                      <a:pPr lvl="0" algn="ctr">
                        <a:buNone/>
                      </a:pPr>
                      <a:r>
                        <a:rPr lang="en-US" sz="700"/>
                        <a:t>Iteration</a:t>
                      </a:r>
                      <a:br>
                        <a:rPr lang="en-US" sz="1500"/>
                      </a:br>
                      <a:r>
                        <a:rPr lang="en-US" sz="700"/>
                        <a:t>5</a:t>
                      </a:r>
                    </a:p>
                  </a:txBody>
                  <a:tcPr marL="60365" marR="60365" marT="30182" marB="30182"/>
                </a:tc>
                <a:tc>
                  <a:txBody>
                    <a:bodyPr/>
                    <a:lstStyle/>
                    <a:p>
                      <a:pPr lvl="0" algn="ctr">
                        <a:buNone/>
                      </a:pPr>
                      <a:r>
                        <a:rPr lang="en-US" sz="700"/>
                        <a:t>Iteration</a:t>
                      </a:r>
                      <a:br>
                        <a:rPr lang="en-US" sz="700"/>
                      </a:br>
                      <a:r>
                        <a:rPr lang="en-US" sz="700"/>
                        <a:t>6</a:t>
                      </a:r>
                    </a:p>
                  </a:txBody>
                  <a:tcPr marL="60365" marR="60365" marT="30182" marB="30182"/>
                </a:tc>
                <a:tc>
                  <a:txBody>
                    <a:bodyPr/>
                    <a:lstStyle/>
                    <a:p>
                      <a:pPr lvl="0" algn="ctr">
                        <a:buNone/>
                      </a:pPr>
                      <a:r>
                        <a:rPr lang="en-US" sz="700"/>
                        <a:t>Iteration</a:t>
                      </a:r>
                      <a:br>
                        <a:rPr lang="en-US" sz="700"/>
                      </a:br>
                      <a:r>
                        <a:rPr lang="en-US" sz="700"/>
                        <a:t>7</a:t>
                      </a:r>
                    </a:p>
                  </a:txBody>
                  <a:tcPr marL="60365" marR="60365" marT="30183" marB="30183"/>
                </a:tc>
                <a:tc>
                  <a:txBody>
                    <a:bodyPr/>
                    <a:lstStyle/>
                    <a:p>
                      <a:pPr lvl="0" algn="ctr">
                        <a:buNone/>
                      </a:pPr>
                      <a:r>
                        <a:rPr lang="en-US" sz="700"/>
                        <a:t>Iteration</a:t>
                      </a:r>
                      <a:br>
                        <a:rPr lang="en-US" sz="1500"/>
                      </a:br>
                      <a:r>
                        <a:rPr lang="en-US" sz="700"/>
                        <a:t>8</a:t>
                      </a:r>
                    </a:p>
                  </a:txBody>
                  <a:tcPr marL="60365" marR="60365" marT="30182" marB="30182"/>
                </a:tc>
                <a:tc>
                  <a:txBody>
                    <a:bodyPr/>
                    <a:lstStyle/>
                    <a:p>
                      <a:pPr lvl="0" algn="ctr">
                        <a:buNone/>
                      </a:pPr>
                      <a:r>
                        <a:rPr lang="en-US" sz="700"/>
                        <a:t>Iteration</a:t>
                      </a:r>
                      <a:br>
                        <a:rPr lang="en-US" sz="700"/>
                      </a:br>
                      <a:r>
                        <a:rPr lang="en-US" sz="700"/>
                        <a:t>9</a:t>
                      </a:r>
                    </a:p>
                  </a:txBody>
                  <a:tcPr marL="60365" marR="60365" marT="30183" marB="30183"/>
                </a:tc>
                <a:tc>
                  <a:txBody>
                    <a:bodyPr/>
                    <a:lstStyle/>
                    <a:p>
                      <a:pPr lvl="0" algn="ctr">
                        <a:buNone/>
                      </a:pPr>
                      <a:r>
                        <a:rPr lang="en-US" sz="700"/>
                        <a:t>Iteration</a:t>
                      </a:r>
                      <a:br>
                        <a:rPr lang="en-US" sz="700"/>
                      </a:br>
                      <a:r>
                        <a:rPr lang="en-US" sz="700"/>
                        <a:t>10</a:t>
                      </a:r>
                    </a:p>
                  </a:txBody>
                  <a:tcPr marL="60365" marR="60365" marT="30182" marB="30182"/>
                </a:tc>
                <a:tc>
                  <a:txBody>
                    <a:bodyPr/>
                    <a:lstStyle/>
                    <a:p>
                      <a:pPr lvl="0" algn="ctr">
                        <a:buNone/>
                      </a:pPr>
                      <a:r>
                        <a:rPr lang="en-US" sz="700"/>
                        <a:t>Iteration</a:t>
                      </a:r>
                      <a:br>
                        <a:rPr lang="en-US" sz="700"/>
                      </a:br>
                      <a:r>
                        <a:rPr lang="en-US" sz="700"/>
                        <a:t>11</a:t>
                      </a:r>
                    </a:p>
                  </a:txBody>
                  <a:tcPr marL="60365" marR="60365" marT="30183" marB="30183"/>
                </a:tc>
                <a:tc>
                  <a:txBody>
                    <a:bodyPr/>
                    <a:lstStyle/>
                    <a:p>
                      <a:pPr lvl="0" algn="ctr">
                        <a:buNone/>
                      </a:pPr>
                      <a:r>
                        <a:rPr lang="en-US" sz="700"/>
                        <a:t>Iteration</a:t>
                      </a:r>
                      <a:br>
                        <a:rPr lang="en-US" sz="700"/>
                      </a:br>
                      <a:r>
                        <a:rPr lang="en-US" sz="700"/>
                        <a:t>12</a:t>
                      </a:r>
                    </a:p>
                  </a:txBody>
                  <a:tcPr marL="60365" marR="60365" marT="30182" marB="30182"/>
                </a:tc>
                <a:tc>
                  <a:txBody>
                    <a:bodyPr/>
                    <a:lstStyle/>
                    <a:p>
                      <a:pPr lvl="0" algn="ctr">
                        <a:buNone/>
                      </a:pPr>
                      <a:r>
                        <a:rPr lang="en-US" sz="700"/>
                        <a:t>Iteration</a:t>
                      </a:r>
                      <a:br>
                        <a:rPr lang="en-US" sz="700"/>
                      </a:br>
                      <a:r>
                        <a:rPr lang="en-US" sz="700"/>
                        <a:t>13</a:t>
                      </a:r>
                    </a:p>
                  </a:txBody>
                  <a:tcPr marL="60365" marR="60365" marT="30183" marB="30183"/>
                </a:tc>
                <a:tc>
                  <a:txBody>
                    <a:bodyPr/>
                    <a:lstStyle/>
                    <a:p>
                      <a:pPr lvl="0" algn="ctr">
                        <a:buNone/>
                      </a:pPr>
                      <a:r>
                        <a:rPr lang="en-US" sz="700"/>
                        <a:t>Iteration</a:t>
                      </a:r>
                      <a:br>
                        <a:rPr lang="en-US" sz="700"/>
                      </a:br>
                      <a:r>
                        <a:rPr lang="en-US" sz="700"/>
                        <a:t>14</a:t>
                      </a:r>
                    </a:p>
                  </a:txBody>
                  <a:tcPr marL="60365" marR="60365" marT="30182" marB="30182"/>
                </a:tc>
                <a:extLst>
                  <a:ext uri="{0D108BD9-81ED-4DB2-BD59-A6C34878D82A}">
                    <a16:rowId xmlns:a16="http://schemas.microsoft.com/office/drawing/2014/main" val="711029347"/>
                  </a:ext>
                </a:extLst>
              </a:tr>
              <a:tr h="1990950">
                <a:tc>
                  <a:txBody>
                    <a:bodyPr/>
                    <a:lstStyle/>
                    <a:p>
                      <a:endParaRPr lang="en-US" sz="1200"/>
                    </a:p>
                  </a:txBody>
                  <a:tcPr marL="60365" marR="60365" marT="30183" marB="30183"/>
                </a:tc>
                <a:tc>
                  <a:txBody>
                    <a:bodyPr/>
                    <a:lstStyle/>
                    <a:p>
                      <a:endParaRPr lang="en-US" sz="1200"/>
                    </a:p>
                  </a:txBody>
                  <a:tcPr marL="60365" marR="60365" marT="30183" marB="30183">
                    <a:lnR w="0">
                      <a:noFill/>
                    </a:lnR>
                  </a:tcPr>
                </a:tc>
                <a:tc>
                  <a:txBody>
                    <a:bodyPr/>
                    <a:lstStyle/>
                    <a:p>
                      <a:pPr lvl="0">
                        <a:buNone/>
                      </a:pPr>
                      <a:endParaRPr lang="en-US" sz="1200"/>
                    </a:p>
                  </a:txBody>
                  <a:tcPr marL="60365" marR="60365" marT="30182" marB="30182">
                    <a:lnL w="0">
                      <a:noFill/>
                    </a:lnL>
                    <a:lnR w="0">
                      <a:noFill/>
                    </a:lnR>
                  </a:tcPr>
                </a:tc>
                <a:tc>
                  <a:txBody>
                    <a:bodyPr/>
                    <a:lstStyle/>
                    <a:p>
                      <a:endParaRPr lang="en-US" sz="1200"/>
                    </a:p>
                  </a:txBody>
                  <a:tcPr marL="60365" marR="60365" marT="30183" marB="30183">
                    <a:lnL w="0">
                      <a:noFill/>
                    </a:lnL>
                    <a:lnR w="0">
                      <a:noFill/>
                    </a:lnR>
                  </a:tcPr>
                </a:tc>
                <a:tc>
                  <a:txBody>
                    <a:bodyPr/>
                    <a:lstStyle/>
                    <a:p>
                      <a:pPr lvl="0">
                        <a:buNone/>
                      </a:pPr>
                      <a:endParaRPr lang="en-US" sz="1200"/>
                    </a:p>
                  </a:txBody>
                  <a:tcPr marL="60365" marR="60365" marT="30183" marB="30183">
                    <a:lnL w="0">
                      <a:noFill/>
                    </a:lnL>
                    <a:lnR w="0">
                      <a:noFill/>
                    </a:lnR>
                  </a:tcPr>
                </a:tc>
                <a:tc>
                  <a:txBody>
                    <a:bodyPr/>
                    <a:lstStyle/>
                    <a:p>
                      <a:endParaRPr lang="en-US" sz="1200"/>
                    </a:p>
                  </a:txBody>
                  <a:tcPr marL="60365" marR="60365" marT="30183" marB="30183">
                    <a:lnL w="0">
                      <a:noFill/>
                    </a:lnL>
                    <a:lnR w="0">
                      <a:noFill/>
                    </a:lnR>
                  </a:tcPr>
                </a:tc>
                <a:tc>
                  <a:txBody>
                    <a:bodyPr/>
                    <a:lstStyle/>
                    <a:p>
                      <a:pPr lvl="0">
                        <a:buNone/>
                      </a:pPr>
                      <a:endParaRPr lang="en-US" sz="1200"/>
                    </a:p>
                  </a:txBody>
                  <a:tcPr marL="60365" marR="60365" marT="30183" marB="30183">
                    <a:lnL w="0">
                      <a:noFill/>
                    </a:lnL>
                  </a:tcPr>
                </a:tc>
                <a:tc>
                  <a:txBody>
                    <a:bodyPr/>
                    <a:lstStyle/>
                    <a:p>
                      <a:endParaRPr lang="en-US" sz="1200"/>
                    </a:p>
                  </a:txBody>
                  <a:tcPr marL="60365" marR="60365" marT="30183" marB="30183"/>
                </a:tc>
                <a:tc>
                  <a:txBody>
                    <a:bodyPr/>
                    <a:lstStyle/>
                    <a:p>
                      <a:pPr lvl="0">
                        <a:buNone/>
                      </a:pPr>
                      <a:endParaRPr lang="en-US" sz="1200"/>
                    </a:p>
                  </a:txBody>
                  <a:tcPr marL="60365" marR="60365" marT="30183" marB="30183"/>
                </a:tc>
                <a:tc>
                  <a:txBody>
                    <a:bodyPr/>
                    <a:lstStyle/>
                    <a:p>
                      <a:endParaRPr lang="en-US" sz="1200"/>
                    </a:p>
                  </a:txBody>
                  <a:tcPr marL="60365" marR="60365" marT="30183" marB="30183"/>
                </a:tc>
                <a:tc>
                  <a:txBody>
                    <a:bodyPr/>
                    <a:lstStyle/>
                    <a:p>
                      <a:pPr lvl="0">
                        <a:buNone/>
                      </a:pPr>
                      <a:endParaRPr lang="en-US" sz="1200"/>
                    </a:p>
                  </a:txBody>
                  <a:tcPr marL="60365" marR="60365" marT="30183" marB="30183"/>
                </a:tc>
                <a:tc gridSpan="2">
                  <a:txBody>
                    <a:bodyPr/>
                    <a:lstStyle/>
                    <a:p>
                      <a:endParaRPr lang="en-US" sz="1200"/>
                    </a:p>
                  </a:txBody>
                  <a:tcPr marL="60365" marR="60365" marT="30183" marB="30183"/>
                </a:tc>
                <a:tc hMerge="1">
                  <a:txBody>
                    <a:bodyPr/>
                    <a:lstStyle/>
                    <a:p>
                      <a:endParaRPr lang="en-US" sz="1500"/>
                    </a:p>
                  </a:txBody>
                  <a:tcPr marL="74295" marR="74295" marT="37147" marB="37147"/>
                </a:tc>
                <a:tc>
                  <a:txBody>
                    <a:bodyPr/>
                    <a:lstStyle/>
                    <a:p>
                      <a:endParaRPr lang="en-US" sz="1200"/>
                    </a:p>
                  </a:txBody>
                  <a:tcPr marL="60365" marR="60365" marT="30183" marB="30183"/>
                </a:tc>
                <a:tc>
                  <a:txBody>
                    <a:bodyPr/>
                    <a:lstStyle/>
                    <a:p>
                      <a:pPr lvl="0">
                        <a:buNone/>
                      </a:pPr>
                      <a:endParaRPr lang="en-US" sz="1200"/>
                    </a:p>
                  </a:txBody>
                  <a:tcPr marL="60365" marR="60365" marT="30183" marB="30183"/>
                </a:tc>
                <a:extLst>
                  <a:ext uri="{0D108BD9-81ED-4DB2-BD59-A6C34878D82A}">
                    <a16:rowId xmlns:a16="http://schemas.microsoft.com/office/drawing/2014/main" val="688445474"/>
                  </a:ext>
                </a:extLst>
              </a:tr>
            </a:tbl>
          </a:graphicData>
        </a:graphic>
      </p:graphicFrame>
      <p:sp>
        <p:nvSpPr>
          <p:cNvPr id="9" name="Rectangle: Rounded Corners 8">
            <a:extLst>
              <a:ext uri="{FF2B5EF4-FFF2-40B4-BE49-F238E27FC236}">
                <a16:creationId xmlns:a16="http://schemas.microsoft.com/office/drawing/2014/main" id="{D786953C-722B-EFE8-7DBE-0EA53F2A9D55}"/>
              </a:ext>
            </a:extLst>
          </p:cNvPr>
          <p:cNvSpPr/>
          <p:nvPr/>
        </p:nvSpPr>
        <p:spPr>
          <a:xfrm>
            <a:off x="1686624" y="2511301"/>
            <a:ext cx="492701" cy="4041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731"/>
              <a:t>Enabler</a:t>
            </a:r>
          </a:p>
        </p:txBody>
      </p:sp>
      <p:sp>
        <p:nvSpPr>
          <p:cNvPr id="14" name="TextBox 13">
            <a:extLst>
              <a:ext uri="{FF2B5EF4-FFF2-40B4-BE49-F238E27FC236}">
                <a16:creationId xmlns:a16="http://schemas.microsoft.com/office/drawing/2014/main" id="{06D0F421-C299-429C-F879-20D957B091B8}"/>
              </a:ext>
            </a:extLst>
          </p:cNvPr>
          <p:cNvSpPr txBox="1"/>
          <p:nvPr/>
        </p:nvSpPr>
        <p:spPr>
          <a:xfrm>
            <a:off x="3962715" y="3766958"/>
            <a:ext cx="940663" cy="377026"/>
          </a:xfrm>
          <a:prstGeom prst="rect">
            <a:avLst/>
          </a:prstGeom>
          <a:noFill/>
        </p:spPr>
        <p:txBody>
          <a:bodyPr wrap="square" rtlCol="0">
            <a:spAutoFit/>
          </a:bodyPr>
          <a:lstStyle/>
          <a:p>
            <a:r>
              <a:rPr lang="en-US" sz="925" b="1"/>
              <a:t>Partial Go Live 1  (W4 Jun 26)</a:t>
            </a:r>
          </a:p>
        </p:txBody>
      </p:sp>
      <p:sp>
        <p:nvSpPr>
          <p:cNvPr id="17" name="TextBox 16">
            <a:extLst>
              <a:ext uri="{FF2B5EF4-FFF2-40B4-BE49-F238E27FC236}">
                <a16:creationId xmlns:a16="http://schemas.microsoft.com/office/drawing/2014/main" id="{EF6284EC-8A5B-963E-92B4-AD71D3061BE3}"/>
              </a:ext>
            </a:extLst>
          </p:cNvPr>
          <p:cNvSpPr txBox="1"/>
          <p:nvPr/>
        </p:nvSpPr>
        <p:spPr>
          <a:xfrm>
            <a:off x="8358054" y="3749713"/>
            <a:ext cx="940662" cy="377026"/>
          </a:xfrm>
          <a:prstGeom prst="rect">
            <a:avLst/>
          </a:prstGeom>
          <a:noFill/>
        </p:spPr>
        <p:txBody>
          <a:bodyPr wrap="square" rtlCol="0">
            <a:spAutoFit/>
          </a:bodyPr>
          <a:lstStyle/>
          <a:p>
            <a:r>
              <a:rPr lang="en-US" sz="925" b="1"/>
              <a:t>Full Go-Live (W4 Nov 26)</a:t>
            </a:r>
          </a:p>
        </p:txBody>
      </p:sp>
      <p:sp>
        <p:nvSpPr>
          <p:cNvPr id="18" name="TextBox 17">
            <a:extLst>
              <a:ext uri="{FF2B5EF4-FFF2-40B4-BE49-F238E27FC236}">
                <a16:creationId xmlns:a16="http://schemas.microsoft.com/office/drawing/2014/main" id="{96613BDB-6BCB-F0E2-9064-1A7A5955497B}"/>
              </a:ext>
            </a:extLst>
          </p:cNvPr>
          <p:cNvSpPr txBox="1"/>
          <p:nvPr/>
        </p:nvSpPr>
        <p:spPr>
          <a:xfrm>
            <a:off x="1526462" y="3745349"/>
            <a:ext cx="2431356" cy="487827"/>
          </a:xfrm>
          <a:prstGeom prst="rect">
            <a:avLst/>
          </a:prstGeom>
          <a:noFill/>
        </p:spPr>
        <p:txBody>
          <a:bodyPr wrap="square" lIns="74295" tIns="37148" rIns="74295" bIns="37148" rtlCol="0" anchor="t">
            <a:spAutoFit/>
          </a:bodyPr>
          <a:lstStyle/>
          <a:p>
            <a:r>
              <a:rPr lang="en-US" sz="894" b="1"/>
              <a:t>Enabler activities : </a:t>
            </a:r>
            <a:br>
              <a:rPr lang="en-US" sz="894" b="1"/>
            </a:br>
            <a:r>
              <a:rPr lang="en-US" sz="894"/>
              <a:t>1. Prepare development environment</a:t>
            </a:r>
          </a:p>
          <a:p>
            <a:r>
              <a:rPr lang="en-US" sz="894"/>
              <a:t>2. Resources preparation</a:t>
            </a:r>
            <a:endParaRPr lang="en-US" sz="894">
              <a:ea typeface="Calibri"/>
              <a:cs typeface="Calibri"/>
            </a:endParaRPr>
          </a:p>
        </p:txBody>
      </p:sp>
      <p:sp>
        <p:nvSpPr>
          <p:cNvPr id="19" name="TextBox 18">
            <a:extLst>
              <a:ext uri="{FF2B5EF4-FFF2-40B4-BE49-F238E27FC236}">
                <a16:creationId xmlns:a16="http://schemas.microsoft.com/office/drawing/2014/main" id="{8872AD88-AC99-7D3D-5694-CE6B57A79F6A}"/>
              </a:ext>
            </a:extLst>
          </p:cNvPr>
          <p:cNvSpPr txBox="1"/>
          <p:nvPr/>
        </p:nvSpPr>
        <p:spPr>
          <a:xfrm>
            <a:off x="1408070" y="4244491"/>
            <a:ext cx="7436592" cy="1706750"/>
          </a:xfrm>
          <a:prstGeom prst="rect">
            <a:avLst/>
          </a:prstGeom>
          <a:noFill/>
        </p:spPr>
        <p:txBody>
          <a:bodyPr wrap="square" lIns="74295" tIns="37148" rIns="74295" bIns="37148" anchor="t">
            <a:spAutoFit/>
          </a:bodyPr>
          <a:lstStyle/>
          <a:p>
            <a:pPr algn="just" fontAlgn="base">
              <a:lnSpc>
                <a:spcPts val="842"/>
              </a:lnSpc>
            </a:pPr>
            <a:endParaRPr lang="en-US" sz="1138">
              <a:solidFill>
                <a:srgbClr val="000000"/>
              </a:solidFill>
              <a:ea typeface="Calibri Light"/>
              <a:cs typeface="Calibri Light"/>
            </a:endParaRPr>
          </a:p>
          <a:p>
            <a:pPr marL="234752" indent="-234752" algn="just" fontAlgn="base">
              <a:spcAft>
                <a:spcPts val="163"/>
              </a:spcAft>
              <a:buAutoNum type="alphaLcParenR"/>
            </a:pPr>
            <a:r>
              <a:rPr lang="en-ID" sz="1138">
                <a:solidFill>
                  <a:srgbClr val="000000"/>
                </a:solidFill>
              </a:rPr>
              <a:t>Key User Training will be provided for training activity </a:t>
            </a:r>
          </a:p>
          <a:p>
            <a:pPr marL="234752" indent="-234752" algn="just" fontAlgn="base">
              <a:spcAft>
                <a:spcPts val="163"/>
              </a:spcAft>
              <a:buAutoNum type="alphaLcParenR"/>
            </a:pPr>
            <a:r>
              <a:rPr lang="en-ID" sz="1138">
                <a:solidFill>
                  <a:srgbClr val="000000"/>
                </a:solidFill>
              </a:rPr>
              <a:t>This timeline can be more shorten or become longer, depends on scope items review result on each iteration time (2 Weeks). ​</a:t>
            </a:r>
          </a:p>
          <a:p>
            <a:pPr marL="234752" indent="-234752" algn="just" fontAlgn="base">
              <a:spcAft>
                <a:spcPts val="163"/>
              </a:spcAft>
              <a:buAutoNum type="alphaLcParenR"/>
            </a:pPr>
            <a:r>
              <a:rPr lang="en-ID" sz="1138">
                <a:solidFill>
                  <a:srgbClr val="000000"/>
                </a:solidFill>
                <a:ea typeface="Calibri Light"/>
                <a:cs typeface="Calibri Light"/>
              </a:rPr>
              <a:t>Any adjustment on priority based on MMKSI request is welcome within agile methods, while scope remains controlled.</a:t>
            </a:r>
          </a:p>
          <a:p>
            <a:pPr marL="225981" indent="-225981" algn="just" fontAlgn="base">
              <a:spcAft>
                <a:spcPts val="163"/>
              </a:spcAft>
              <a:buFont typeface="+mj-lt"/>
              <a:buAutoNum type="alphaLcParenR"/>
            </a:pPr>
            <a:r>
              <a:rPr lang="en-ID" sz="1138">
                <a:solidFill>
                  <a:srgbClr val="000000"/>
                </a:solidFill>
              </a:rPr>
              <a:t>MMKSI will review product backlog incremental progress through iteration demo meeting every biweekly.​</a:t>
            </a:r>
            <a:endParaRPr lang="en-ID" sz="1138">
              <a:solidFill>
                <a:srgbClr val="000000"/>
              </a:solidFill>
              <a:ea typeface="Calibri Light"/>
              <a:cs typeface="Calibri Light"/>
            </a:endParaRPr>
          </a:p>
          <a:p>
            <a:pPr marL="225981" indent="-225981" algn="just" fontAlgn="base">
              <a:spcAft>
                <a:spcPts val="163"/>
              </a:spcAft>
              <a:buFont typeface="+mj-lt"/>
              <a:buAutoNum type="alphaLcParenR"/>
            </a:pPr>
            <a:r>
              <a:rPr lang="en-ID" sz="1138">
                <a:solidFill>
                  <a:srgbClr val="000000"/>
                </a:solidFill>
              </a:rPr>
              <a:t>PDCA review must be conducted during operation after partial 1</a:t>
            </a:r>
            <a:r>
              <a:rPr lang="en-ID" sz="1138" baseline="30000">
                <a:solidFill>
                  <a:srgbClr val="000000"/>
                </a:solidFill>
              </a:rPr>
              <a:t>st</a:t>
            </a:r>
            <a:r>
              <a:rPr lang="en-ID" sz="1138">
                <a:solidFill>
                  <a:srgbClr val="000000"/>
                </a:solidFill>
              </a:rPr>
              <a:t> go live.</a:t>
            </a:r>
            <a:endParaRPr lang="en-ID" sz="1138">
              <a:solidFill>
                <a:srgbClr val="000000"/>
              </a:solidFill>
              <a:ea typeface="Calibri Light"/>
              <a:cs typeface="Calibri Light"/>
            </a:endParaRPr>
          </a:p>
          <a:p>
            <a:pPr marL="225981" indent="-225981" algn="just" fontAlgn="base">
              <a:spcAft>
                <a:spcPts val="163"/>
              </a:spcAft>
              <a:buFont typeface="+mj-lt"/>
              <a:buAutoNum type="alphaLcParenR"/>
            </a:pPr>
            <a:r>
              <a:rPr lang="en-ID" sz="1138">
                <a:solidFill>
                  <a:srgbClr val="000000"/>
                </a:solidFill>
              </a:rPr>
              <a:t>Every new potential improvement (output from PDCA Result) can be put as additional product backlog and put on development chain activity based on decision from MMKSI to absorb it or not.​</a:t>
            </a:r>
          </a:p>
        </p:txBody>
      </p:sp>
      <p:sp>
        <p:nvSpPr>
          <p:cNvPr id="12" name="Rectangle: Rounded Corners 11">
            <a:extLst>
              <a:ext uri="{FF2B5EF4-FFF2-40B4-BE49-F238E27FC236}">
                <a16:creationId xmlns:a16="http://schemas.microsoft.com/office/drawing/2014/main" id="{7F2D2ADE-A740-A549-DBF9-2A85024F3501}"/>
              </a:ext>
            </a:extLst>
          </p:cNvPr>
          <p:cNvSpPr/>
          <p:nvPr/>
        </p:nvSpPr>
        <p:spPr>
          <a:xfrm>
            <a:off x="2408952" y="2683728"/>
            <a:ext cx="1235550" cy="9727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731">
                <a:ea typeface="Calibri" panose="020F0502020204030204"/>
                <a:cs typeface="Calibri" panose="020F0502020204030204"/>
              </a:rPr>
              <a:t>Development 1</a:t>
            </a:r>
            <a:r>
              <a:rPr lang="en-US" sz="731" baseline="30000">
                <a:ea typeface="Calibri" panose="020F0502020204030204"/>
                <a:cs typeface="Calibri" panose="020F0502020204030204"/>
              </a:rPr>
              <a:t>st</a:t>
            </a:r>
            <a:r>
              <a:rPr lang="en-US" sz="731">
                <a:ea typeface="Calibri" panose="020F0502020204030204"/>
                <a:cs typeface="Calibri" panose="020F0502020204030204"/>
              </a:rPr>
              <a:t>  Phase:</a:t>
            </a:r>
            <a:endParaRPr lang="en-US" sz="731"/>
          </a:p>
          <a:p>
            <a:pPr marL="140335" indent="-140335">
              <a:buAutoNum type="arabicPeriod"/>
            </a:pPr>
            <a:r>
              <a:rPr lang="en-US" sz="731" b="1"/>
              <a:t>Master Data configuration</a:t>
            </a:r>
            <a:endParaRPr lang="en-US" sz="731" b="1">
              <a:ea typeface="Calibri"/>
              <a:cs typeface="Calibri"/>
            </a:endParaRPr>
          </a:p>
          <a:p>
            <a:pPr marL="140593" indent="-140593">
              <a:buAutoNum type="arabicPeriod"/>
            </a:pPr>
            <a:r>
              <a:rPr lang="en-US" sz="731" b="1"/>
              <a:t>Performance Evaluation (PMF)</a:t>
            </a:r>
          </a:p>
          <a:p>
            <a:pPr marL="140593" indent="-140593">
              <a:buAutoNum type="arabicPeriod"/>
            </a:pPr>
            <a:r>
              <a:rPr lang="en-US" sz="731"/>
              <a:t>Master data migration</a:t>
            </a:r>
          </a:p>
        </p:txBody>
      </p:sp>
      <p:sp>
        <p:nvSpPr>
          <p:cNvPr id="15" name="Rectangle: Rounded Corners 14">
            <a:extLst>
              <a:ext uri="{FF2B5EF4-FFF2-40B4-BE49-F238E27FC236}">
                <a16:creationId xmlns:a16="http://schemas.microsoft.com/office/drawing/2014/main" id="{5307B6E3-8050-F0DD-7AAA-380C310893A5}"/>
              </a:ext>
            </a:extLst>
          </p:cNvPr>
          <p:cNvSpPr/>
          <p:nvPr/>
        </p:nvSpPr>
        <p:spPr>
          <a:xfrm>
            <a:off x="6418626" y="2681824"/>
            <a:ext cx="1688455" cy="9643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813"/>
              <a:t>Development 3</a:t>
            </a:r>
            <a:r>
              <a:rPr lang="en-US" sz="813" baseline="30000"/>
              <a:t>rd</a:t>
            </a:r>
            <a:r>
              <a:rPr lang="en-US" sz="813"/>
              <a:t>  Phase:</a:t>
            </a:r>
          </a:p>
          <a:p>
            <a:pPr marL="140335" indent="-140335">
              <a:buAutoNum type="arabicPeriod"/>
            </a:pPr>
            <a:r>
              <a:rPr lang="en-US" sz="813" b="1"/>
              <a:t>Training</a:t>
            </a:r>
            <a:endParaRPr lang="en-US" sz="813" b="1">
              <a:ea typeface="Calibri" panose="020F0502020204030204"/>
              <a:cs typeface="Calibri" panose="020F0502020204030204"/>
            </a:endParaRPr>
          </a:p>
          <a:p>
            <a:pPr marL="140335" indent="-140335">
              <a:buAutoNum type="arabicPeriod"/>
            </a:pPr>
            <a:r>
              <a:rPr lang="en-US" sz="813" b="1"/>
              <a:t>Recruitment</a:t>
            </a:r>
          </a:p>
          <a:p>
            <a:pPr marL="140335" indent="-140335">
              <a:buAutoNum type="arabicPeriod"/>
            </a:pPr>
            <a:r>
              <a:rPr lang="en-US" sz="813" b="1">
                <a:ea typeface="Calibri" panose="020F0502020204030204"/>
                <a:cs typeface="Calibri" panose="020F0502020204030204"/>
              </a:rPr>
              <a:t>Job Profile</a:t>
            </a:r>
          </a:p>
        </p:txBody>
      </p:sp>
      <p:sp>
        <p:nvSpPr>
          <p:cNvPr id="20" name="Rectangle: Rounded Corners 19">
            <a:extLst>
              <a:ext uri="{FF2B5EF4-FFF2-40B4-BE49-F238E27FC236}">
                <a16:creationId xmlns:a16="http://schemas.microsoft.com/office/drawing/2014/main" id="{C48AA0A8-ED9E-2144-05A5-BACBECD29E2A}"/>
              </a:ext>
            </a:extLst>
          </p:cNvPr>
          <p:cNvSpPr/>
          <p:nvPr/>
        </p:nvSpPr>
        <p:spPr>
          <a:xfrm>
            <a:off x="4148549" y="2683307"/>
            <a:ext cx="1714726" cy="9727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731">
                <a:ea typeface="Calibri" panose="020F0502020204030204"/>
                <a:cs typeface="Calibri" panose="020F0502020204030204"/>
              </a:rPr>
              <a:t>Development 2n</a:t>
            </a:r>
            <a:r>
              <a:rPr lang="en-US" sz="731" baseline="30000">
                <a:ea typeface="Calibri" panose="020F0502020204030204"/>
                <a:cs typeface="Calibri" panose="020F0502020204030204"/>
              </a:rPr>
              <a:t>d</a:t>
            </a:r>
            <a:r>
              <a:rPr lang="en-US" sz="731">
                <a:ea typeface="Calibri" panose="020F0502020204030204"/>
                <a:cs typeface="Calibri" panose="020F0502020204030204"/>
              </a:rPr>
              <a:t> Phase:</a:t>
            </a:r>
          </a:p>
          <a:p>
            <a:pPr marL="185738" indent="-185738">
              <a:buAutoNum type="arabicPeriod"/>
            </a:pPr>
            <a:r>
              <a:rPr lang="en-US" sz="731" b="1">
                <a:ea typeface="Calibri" panose="020F0502020204030204"/>
                <a:cs typeface="Calibri" panose="020F0502020204030204"/>
              </a:rPr>
              <a:t>Manpower Planning (MPP)</a:t>
            </a:r>
          </a:p>
          <a:p>
            <a:pPr marL="185738" indent="-185738">
              <a:buAutoNum type="arabicPeriod"/>
            </a:pPr>
            <a:r>
              <a:rPr lang="en-US" sz="731" b="1">
                <a:ea typeface="Calibri" panose="020F0502020204030204"/>
                <a:cs typeface="Calibri" panose="020F0502020204030204"/>
              </a:rPr>
              <a:t>Promotion</a:t>
            </a:r>
          </a:p>
          <a:p>
            <a:pPr marL="185738" indent="-185738">
              <a:buAutoNum type="arabicPeriod"/>
            </a:pPr>
            <a:r>
              <a:rPr lang="en-US" sz="731" b="1" err="1">
                <a:ea typeface="Calibri" panose="020F0502020204030204"/>
                <a:cs typeface="Calibri" panose="020F0502020204030204"/>
              </a:rPr>
              <a:t>LogBook</a:t>
            </a:r>
            <a:endParaRPr lang="en-US" sz="731" b="1">
              <a:ea typeface="Calibri" panose="020F0502020204030204"/>
              <a:cs typeface="Calibri" panose="020F0502020204030204"/>
            </a:endParaRPr>
          </a:p>
          <a:p>
            <a:pPr marL="185738" indent="-185738">
              <a:buAutoNum type="arabicPeriod"/>
            </a:pPr>
            <a:endParaRPr lang="en-US" sz="731">
              <a:ea typeface="Calibri" panose="020F0502020204030204"/>
              <a:cs typeface="Calibri" panose="020F0502020204030204"/>
            </a:endParaRPr>
          </a:p>
        </p:txBody>
      </p:sp>
      <p:sp>
        <p:nvSpPr>
          <p:cNvPr id="10" name="TextBox 9">
            <a:extLst>
              <a:ext uri="{FF2B5EF4-FFF2-40B4-BE49-F238E27FC236}">
                <a16:creationId xmlns:a16="http://schemas.microsoft.com/office/drawing/2014/main" id="{E4B9F51E-7AAF-6B46-2E65-6C1C8F10F845}"/>
              </a:ext>
            </a:extLst>
          </p:cNvPr>
          <p:cNvSpPr txBox="1"/>
          <p:nvPr/>
        </p:nvSpPr>
        <p:spPr>
          <a:xfrm>
            <a:off x="2346196" y="2510428"/>
            <a:ext cx="2228850" cy="200120"/>
          </a:xfrm>
          <a:prstGeom prst="rect">
            <a:avLst/>
          </a:prstGeom>
          <a:noFill/>
        </p:spPr>
        <p:txBody>
          <a:bodyPr rot="0" spcFirstLastPara="0" vertOverflow="overflow" horzOverflow="overflow" vert="horz" wrap="square" lIns="74295" tIns="37148" rIns="74295" bIns="37148" numCol="1" spcCol="0" rtlCol="0" fromWordArt="0" anchor="t" anchorCtr="0" forceAA="0" compatLnSpc="1">
            <a:prstTxWarp prst="textNoShape">
              <a:avLst/>
            </a:prstTxWarp>
            <a:spAutoFit/>
          </a:bodyPr>
          <a:lstStyle/>
          <a:p>
            <a:r>
              <a:rPr lang="en-US" sz="813" b="1">
                <a:ea typeface="Calibri"/>
                <a:cs typeface="Calibri"/>
              </a:rPr>
              <a:t>Development Iteration</a:t>
            </a:r>
            <a:endParaRPr lang="en-US" sz="813" b="1"/>
          </a:p>
        </p:txBody>
      </p:sp>
      <p:sp>
        <p:nvSpPr>
          <p:cNvPr id="22" name="TextBox 21">
            <a:extLst>
              <a:ext uri="{FF2B5EF4-FFF2-40B4-BE49-F238E27FC236}">
                <a16:creationId xmlns:a16="http://schemas.microsoft.com/office/drawing/2014/main" id="{0C3C4A54-1948-17D3-7C3D-51149A96DC32}"/>
              </a:ext>
            </a:extLst>
          </p:cNvPr>
          <p:cNvSpPr txBox="1"/>
          <p:nvPr/>
        </p:nvSpPr>
        <p:spPr>
          <a:xfrm>
            <a:off x="4073786" y="4187018"/>
            <a:ext cx="2228850" cy="200120"/>
          </a:xfrm>
          <a:prstGeom prst="rect">
            <a:avLst/>
          </a:prstGeom>
          <a:noFill/>
        </p:spPr>
        <p:txBody>
          <a:bodyPr rot="0" spcFirstLastPara="0" vertOverflow="overflow" horzOverflow="overflow" vert="horz" wrap="square" lIns="74295" tIns="37148" rIns="74295" bIns="37148" numCol="1" spcCol="0" rtlCol="0" fromWordArt="0" anchor="t" anchorCtr="0" forceAA="0" compatLnSpc="1">
            <a:prstTxWarp prst="textNoShape">
              <a:avLst/>
            </a:prstTxWarp>
            <a:spAutoFit/>
          </a:bodyPr>
          <a:lstStyle/>
          <a:p>
            <a:r>
              <a:rPr lang="en-US" sz="813">
                <a:ea typeface="Calibri"/>
                <a:cs typeface="Calibri"/>
              </a:rPr>
              <a:t>Start Operation Partial Go live 1</a:t>
            </a:r>
          </a:p>
        </p:txBody>
      </p:sp>
      <p:sp>
        <p:nvSpPr>
          <p:cNvPr id="23" name="Arrow: Right 22">
            <a:extLst>
              <a:ext uri="{FF2B5EF4-FFF2-40B4-BE49-F238E27FC236}">
                <a16:creationId xmlns:a16="http://schemas.microsoft.com/office/drawing/2014/main" id="{407F90AE-444A-049B-AEFF-DC8BB9E854F2}"/>
              </a:ext>
            </a:extLst>
          </p:cNvPr>
          <p:cNvSpPr/>
          <p:nvPr/>
        </p:nvSpPr>
        <p:spPr>
          <a:xfrm>
            <a:off x="4145516" y="4082999"/>
            <a:ext cx="4549935" cy="199077"/>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1" name="TextBox 10">
            <a:extLst>
              <a:ext uri="{FF2B5EF4-FFF2-40B4-BE49-F238E27FC236}">
                <a16:creationId xmlns:a16="http://schemas.microsoft.com/office/drawing/2014/main" id="{AA999A01-4660-21C0-AFCD-F541F361E58E}"/>
              </a:ext>
            </a:extLst>
          </p:cNvPr>
          <p:cNvSpPr txBox="1"/>
          <p:nvPr/>
        </p:nvSpPr>
        <p:spPr>
          <a:xfrm>
            <a:off x="7995620" y="5683408"/>
            <a:ext cx="833004" cy="236393"/>
          </a:xfrm>
          <a:prstGeom prst="rect">
            <a:avLst/>
          </a:prstGeom>
          <a:ln>
            <a:solidFill>
              <a:schemeClr val="tx1"/>
            </a:solidFill>
          </a:ln>
        </p:spPr>
        <p:txBody>
          <a:bodyPr vert="horz" wrap="square" lIns="74295" tIns="37148" rIns="74295" bIns="37148" rtlCol="0" anchor="ctr">
            <a:normAutofit fontScale="97500"/>
          </a:bodyPr>
          <a:lstStyle/>
          <a:p>
            <a:pPr algn="l"/>
            <a:r>
              <a:rPr lang="en-US" sz="813" b="1">
                <a:latin typeface="Aptos" panose="020B0004020202020204" pitchFamily="34" charset="0"/>
              </a:rPr>
              <a:t>BSI</a:t>
            </a:r>
          </a:p>
        </p:txBody>
      </p:sp>
      <p:sp>
        <p:nvSpPr>
          <p:cNvPr id="24" name="Rectangle: Rounded Corners 23">
            <a:extLst>
              <a:ext uri="{FF2B5EF4-FFF2-40B4-BE49-F238E27FC236}">
                <a16:creationId xmlns:a16="http://schemas.microsoft.com/office/drawing/2014/main" id="{7CBE7C36-A483-BDE2-CB02-049876057D70}"/>
              </a:ext>
            </a:extLst>
          </p:cNvPr>
          <p:cNvSpPr/>
          <p:nvPr/>
        </p:nvSpPr>
        <p:spPr>
          <a:xfrm>
            <a:off x="8140944" y="2651666"/>
            <a:ext cx="464460" cy="11018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731">
                <a:solidFill>
                  <a:schemeClr val="bg1"/>
                </a:solidFill>
              </a:rPr>
              <a:t>Go live and Prep.:</a:t>
            </a:r>
            <a:br>
              <a:rPr lang="en-US" sz="731">
                <a:solidFill>
                  <a:schemeClr val="bg1"/>
                </a:solidFill>
              </a:rPr>
            </a:br>
            <a:r>
              <a:rPr lang="en-US" sz="731">
                <a:solidFill>
                  <a:schemeClr val="bg1"/>
                </a:solidFill>
              </a:rPr>
              <a:t>1. UAT</a:t>
            </a:r>
          </a:p>
          <a:p>
            <a:r>
              <a:rPr lang="en-US" sz="731">
                <a:solidFill>
                  <a:schemeClr val="bg1"/>
                </a:solidFill>
              </a:rPr>
              <a:t>2. KUT</a:t>
            </a:r>
          </a:p>
          <a:p>
            <a:r>
              <a:rPr lang="en-US" sz="731">
                <a:solidFill>
                  <a:schemeClr val="bg1"/>
                </a:solidFill>
              </a:rPr>
              <a:t>3. Code Review</a:t>
            </a:r>
          </a:p>
          <a:p>
            <a:r>
              <a:rPr lang="en-US" sz="731">
                <a:solidFill>
                  <a:schemeClr val="bg1"/>
                </a:solidFill>
              </a:rPr>
              <a:t>4. VAPT</a:t>
            </a:r>
          </a:p>
          <a:p>
            <a:r>
              <a:rPr lang="en-US" sz="731">
                <a:solidFill>
                  <a:schemeClr val="bg1"/>
                </a:solidFill>
              </a:rPr>
              <a:t>5. Release</a:t>
            </a:r>
          </a:p>
          <a:p>
            <a:endParaRPr lang="en-US" sz="731">
              <a:ea typeface="Calibri" panose="020F0502020204030204"/>
              <a:cs typeface="Calibri" panose="020F0502020204030204"/>
            </a:endParaRPr>
          </a:p>
        </p:txBody>
      </p:sp>
      <p:pic>
        <p:nvPicPr>
          <p:cNvPr id="16" name="Graphic 15" descr="Badge New with solid fill">
            <a:extLst>
              <a:ext uri="{FF2B5EF4-FFF2-40B4-BE49-F238E27FC236}">
                <a16:creationId xmlns:a16="http://schemas.microsoft.com/office/drawing/2014/main" id="{65BC379F-8AEE-C531-FDAA-62675C72B2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12758" y="3553152"/>
            <a:ext cx="289459" cy="257808"/>
          </a:xfrm>
          <a:prstGeom prst="rect">
            <a:avLst/>
          </a:prstGeom>
        </p:spPr>
      </p:pic>
      <p:sp>
        <p:nvSpPr>
          <p:cNvPr id="26" name="Rectangle: Rounded Corners 25">
            <a:extLst>
              <a:ext uri="{FF2B5EF4-FFF2-40B4-BE49-F238E27FC236}">
                <a16:creationId xmlns:a16="http://schemas.microsoft.com/office/drawing/2014/main" id="{FFFAC77C-FEE1-B0FD-8912-CC33498506A7}"/>
              </a:ext>
            </a:extLst>
          </p:cNvPr>
          <p:cNvSpPr/>
          <p:nvPr/>
        </p:nvSpPr>
        <p:spPr>
          <a:xfrm>
            <a:off x="3666736" y="2701857"/>
            <a:ext cx="464460" cy="935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731">
                <a:solidFill>
                  <a:schemeClr val="bg1"/>
                </a:solidFill>
              </a:rPr>
              <a:t>Go live Prep.:</a:t>
            </a:r>
            <a:br>
              <a:rPr lang="en-US" sz="731">
                <a:solidFill>
                  <a:schemeClr val="bg1"/>
                </a:solidFill>
              </a:rPr>
            </a:br>
            <a:r>
              <a:rPr lang="en-US" sz="731">
                <a:solidFill>
                  <a:schemeClr val="bg1"/>
                </a:solidFill>
              </a:rPr>
              <a:t>1. UAT</a:t>
            </a:r>
          </a:p>
          <a:p>
            <a:r>
              <a:rPr lang="en-US" sz="731">
                <a:solidFill>
                  <a:schemeClr val="bg1"/>
                </a:solidFill>
              </a:rPr>
              <a:t>2. KUT</a:t>
            </a:r>
          </a:p>
          <a:p>
            <a:r>
              <a:rPr lang="en-US" sz="731">
                <a:solidFill>
                  <a:schemeClr val="bg1"/>
                </a:solidFill>
              </a:rPr>
              <a:t>3. Code Review</a:t>
            </a:r>
          </a:p>
          <a:p>
            <a:r>
              <a:rPr lang="en-US" sz="731">
                <a:solidFill>
                  <a:schemeClr val="bg1"/>
                </a:solidFill>
              </a:rPr>
              <a:t>4. Release</a:t>
            </a:r>
          </a:p>
        </p:txBody>
      </p:sp>
      <p:pic>
        <p:nvPicPr>
          <p:cNvPr id="13" name="Graphic 12" descr="Badge New with solid fill">
            <a:extLst>
              <a:ext uri="{FF2B5EF4-FFF2-40B4-BE49-F238E27FC236}">
                <a16:creationId xmlns:a16="http://schemas.microsoft.com/office/drawing/2014/main" id="{62C83676-76D4-6C72-C253-9D8E94AEF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6183" y="3517331"/>
            <a:ext cx="289459" cy="257808"/>
          </a:xfrm>
          <a:prstGeom prst="rect">
            <a:avLst/>
          </a:prstGeom>
        </p:spPr>
      </p:pic>
      <p:sp>
        <p:nvSpPr>
          <p:cNvPr id="27" name="Rectangle: Rounded Corners 26">
            <a:extLst>
              <a:ext uri="{FF2B5EF4-FFF2-40B4-BE49-F238E27FC236}">
                <a16:creationId xmlns:a16="http://schemas.microsoft.com/office/drawing/2014/main" id="{7B9AC2EE-C8B1-4D49-CD11-CEED97C7687F}"/>
              </a:ext>
            </a:extLst>
          </p:cNvPr>
          <p:cNvSpPr/>
          <p:nvPr/>
        </p:nvSpPr>
        <p:spPr>
          <a:xfrm>
            <a:off x="5897138" y="2700517"/>
            <a:ext cx="497391" cy="935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731">
                <a:solidFill>
                  <a:schemeClr val="bg1"/>
                </a:solidFill>
              </a:rPr>
              <a:t>Go live Prep.:</a:t>
            </a:r>
            <a:br>
              <a:rPr lang="en-US" sz="731">
                <a:solidFill>
                  <a:schemeClr val="bg1"/>
                </a:solidFill>
              </a:rPr>
            </a:br>
            <a:r>
              <a:rPr lang="en-US" sz="731">
                <a:solidFill>
                  <a:schemeClr val="bg1"/>
                </a:solidFill>
              </a:rPr>
              <a:t>1. UAT</a:t>
            </a:r>
          </a:p>
          <a:p>
            <a:r>
              <a:rPr lang="en-US" sz="731">
                <a:solidFill>
                  <a:schemeClr val="bg1"/>
                </a:solidFill>
              </a:rPr>
              <a:t>2. KUT</a:t>
            </a:r>
          </a:p>
          <a:p>
            <a:r>
              <a:rPr lang="en-US" sz="731">
                <a:solidFill>
                  <a:schemeClr val="bg1"/>
                </a:solidFill>
              </a:rPr>
              <a:t>3. Code Review</a:t>
            </a:r>
          </a:p>
          <a:p>
            <a:r>
              <a:rPr lang="en-US" sz="731">
                <a:solidFill>
                  <a:schemeClr val="bg1"/>
                </a:solidFill>
              </a:rPr>
              <a:t>4. Release</a:t>
            </a:r>
          </a:p>
        </p:txBody>
      </p:sp>
      <p:sp>
        <p:nvSpPr>
          <p:cNvPr id="28" name="TextBox 27">
            <a:extLst>
              <a:ext uri="{FF2B5EF4-FFF2-40B4-BE49-F238E27FC236}">
                <a16:creationId xmlns:a16="http://schemas.microsoft.com/office/drawing/2014/main" id="{810E6604-EEAA-47AD-EAA2-D8799CAC16DC}"/>
              </a:ext>
            </a:extLst>
          </p:cNvPr>
          <p:cNvSpPr txBox="1"/>
          <p:nvPr/>
        </p:nvSpPr>
        <p:spPr>
          <a:xfrm>
            <a:off x="6239811" y="3750191"/>
            <a:ext cx="940663" cy="377026"/>
          </a:xfrm>
          <a:prstGeom prst="rect">
            <a:avLst/>
          </a:prstGeom>
          <a:noFill/>
        </p:spPr>
        <p:txBody>
          <a:bodyPr wrap="square" rtlCol="0">
            <a:spAutoFit/>
          </a:bodyPr>
          <a:lstStyle/>
          <a:p>
            <a:r>
              <a:rPr lang="en-US" sz="925" b="1"/>
              <a:t>Partial Go Live 2  (W2 Sep 26)</a:t>
            </a:r>
          </a:p>
        </p:txBody>
      </p:sp>
      <p:pic>
        <p:nvPicPr>
          <p:cNvPr id="29" name="Graphic 28" descr="Badge New with solid fill">
            <a:extLst>
              <a:ext uri="{FF2B5EF4-FFF2-40B4-BE49-F238E27FC236}">
                <a16:creationId xmlns:a16="http://schemas.microsoft.com/office/drawing/2014/main" id="{BEB16A80-ACFA-6B54-4461-7054F17A26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3279" y="3500563"/>
            <a:ext cx="289459" cy="257808"/>
          </a:xfrm>
          <a:prstGeom prst="rect">
            <a:avLst/>
          </a:prstGeom>
        </p:spPr>
      </p:pic>
    </p:spTree>
    <p:extLst>
      <p:ext uri="{BB962C8B-B14F-4D97-AF65-F5344CB8AC3E}">
        <p14:creationId xmlns:p14="http://schemas.microsoft.com/office/powerpoint/2010/main" val="392566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7FAA-7AB5-E69A-17E3-6A6072C888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E8C9C90-8CF6-01B2-5237-BEDF2CAD9983}"/>
              </a:ext>
            </a:extLst>
          </p:cNvPr>
          <p:cNvSpPr>
            <a:spLocks noGrp="1"/>
          </p:cNvSpPr>
          <p:nvPr>
            <p:ph type="sldNum" sz="quarter" idx="12"/>
          </p:nvPr>
        </p:nvSpPr>
        <p:spPr/>
        <p:txBody>
          <a:bodyPr/>
          <a:lstStyle/>
          <a:p>
            <a:r>
              <a:rPr lang="en-GB"/>
              <a:t> Page </a:t>
            </a:r>
            <a:fld id="{7A555EF9-59E7-4D74-815B-7A20869232EE}" type="slidenum">
              <a:rPr lang="en-GB" smtClean="0"/>
              <a:pPr/>
              <a:t>16</a:t>
            </a:fld>
            <a:endParaRPr lang="en-GB"/>
          </a:p>
        </p:txBody>
      </p:sp>
      <p:sp>
        <p:nvSpPr>
          <p:cNvPr id="25" name="Title 24">
            <a:extLst>
              <a:ext uri="{FF2B5EF4-FFF2-40B4-BE49-F238E27FC236}">
                <a16:creationId xmlns:a16="http://schemas.microsoft.com/office/drawing/2014/main" id="{D925262C-0C1D-5228-588E-31EC454C3920}"/>
              </a:ext>
            </a:extLst>
          </p:cNvPr>
          <p:cNvSpPr>
            <a:spLocks noGrp="1"/>
          </p:cNvSpPr>
          <p:nvPr>
            <p:ph type="title" idx="4294967295"/>
          </p:nvPr>
        </p:nvSpPr>
        <p:spPr>
          <a:xfrm>
            <a:off x="570599" y="183287"/>
            <a:ext cx="9113400" cy="540000"/>
          </a:xfrm>
          <a:prstGeom prst="rect">
            <a:avLst/>
          </a:prstGeom>
        </p:spPr>
        <p:txBody>
          <a:bodyPr/>
          <a:lstStyle/>
          <a:p>
            <a:r>
              <a:rPr lang="en-GB">
                <a:latin typeface="Helvetica Neue" panose="02000503000000020004"/>
              </a:rPr>
              <a:t>4. </a:t>
            </a:r>
            <a:r>
              <a:rPr lang="en-US">
                <a:latin typeface="Helvetica Neue" panose="02000503000000020004"/>
              </a:rPr>
              <a:t>Project Organization Structure</a:t>
            </a:r>
          </a:p>
        </p:txBody>
      </p:sp>
      <p:sp>
        <p:nvSpPr>
          <p:cNvPr id="7" name="Footer Placeholder 4">
            <a:extLst>
              <a:ext uri="{FF2B5EF4-FFF2-40B4-BE49-F238E27FC236}">
                <a16:creationId xmlns:a16="http://schemas.microsoft.com/office/drawing/2014/main" id="{AE76B8DF-938E-B118-FE3E-B6270A6126ED}"/>
              </a:ext>
            </a:extLst>
          </p:cNvPr>
          <p:cNvSpPr>
            <a:spLocks noGrp="1"/>
          </p:cNvSpPr>
          <p:nvPr>
            <p:ph type="ftr" sz="quarter" idx="11"/>
          </p:nvPr>
        </p:nvSpPr>
        <p:spPr>
          <a:xfrm>
            <a:off x="3521358" y="6470388"/>
            <a:ext cx="2863284" cy="261610"/>
          </a:xfrm>
        </p:spPr>
        <p:txBody>
          <a:bodyPr/>
          <a:lstStyle/>
          <a:p>
            <a:r>
              <a:rPr lang="en-US" i="1">
                <a:solidFill>
                  <a:srgbClr val="7F7F7F"/>
                </a:solidFill>
              </a:rPr>
              <a:t>Confidential - MMKSI and BSI Internal Use Only</a:t>
            </a:r>
          </a:p>
        </p:txBody>
      </p:sp>
      <p:sp>
        <p:nvSpPr>
          <p:cNvPr id="5" name="Rectangle 1">
            <a:extLst>
              <a:ext uri="{FF2B5EF4-FFF2-40B4-BE49-F238E27FC236}">
                <a16:creationId xmlns:a16="http://schemas.microsoft.com/office/drawing/2014/main" id="{C545E62C-7A22-2117-D283-22F73D663F92}"/>
              </a:ext>
            </a:extLst>
          </p:cNvPr>
          <p:cNvSpPr>
            <a:spLocks noChangeArrowheads="1"/>
          </p:cNvSpPr>
          <p:nvPr/>
        </p:nvSpPr>
        <p:spPr bwMode="auto">
          <a:xfrm>
            <a:off x="1504950" y="1121460"/>
            <a:ext cx="117343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9" name="Group 18">
            <a:extLst>
              <a:ext uri="{FF2B5EF4-FFF2-40B4-BE49-F238E27FC236}">
                <a16:creationId xmlns:a16="http://schemas.microsoft.com/office/drawing/2014/main" id="{EB7A5D5C-E7B2-64E8-B1A0-6434E2009170}"/>
              </a:ext>
            </a:extLst>
          </p:cNvPr>
          <p:cNvGrpSpPr/>
          <p:nvPr/>
        </p:nvGrpSpPr>
        <p:grpSpPr>
          <a:xfrm>
            <a:off x="3908144" y="917623"/>
            <a:ext cx="2257068" cy="1248342"/>
            <a:chOff x="3880021" y="1646568"/>
            <a:chExt cx="1800000" cy="756000"/>
          </a:xfrm>
        </p:grpSpPr>
        <p:sp>
          <p:nvSpPr>
            <p:cNvPr id="21" name="TextBox 20">
              <a:extLst>
                <a:ext uri="{FF2B5EF4-FFF2-40B4-BE49-F238E27FC236}">
                  <a16:creationId xmlns:a16="http://schemas.microsoft.com/office/drawing/2014/main" id="{6AE482EC-7C9F-E6AA-D4FE-22ED73850C22}"/>
                </a:ext>
              </a:extLst>
            </p:cNvPr>
            <p:cNvSpPr txBox="1"/>
            <p:nvPr/>
          </p:nvSpPr>
          <p:spPr>
            <a:xfrm>
              <a:off x="3880021" y="1646568"/>
              <a:ext cx="1800000" cy="288000"/>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Steering Committee</a:t>
              </a:r>
            </a:p>
          </p:txBody>
        </p:sp>
        <p:sp>
          <p:nvSpPr>
            <p:cNvPr id="23" name="TextBox 22">
              <a:extLst>
                <a:ext uri="{FF2B5EF4-FFF2-40B4-BE49-F238E27FC236}">
                  <a16:creationId xmlns:a16="http://schemas.microsoft.com/office/drawing/2014/main" id="{BE8DCB31-C4FC-5D98-3AB2-B018E6BD66D2}"/>
                </a:ext>
              </a:extLst>
            </p:cNvPr>
            <p:cNvSpPr txBox="1"/>
            <p:nvPr/>
          </p:nvSpPr>
          <p:spPr>
            <a:xfrm>
              <a:off x="3880021" y="1934568"/>
              <a:ext cx="1800000" cy="468000"/>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tabLst>
                  <a:tab pos="361950" algn="l"/>
                </a:tabLst>
              </a:pPr>
              <a:r>
                <a:rPr lang="en-US" sz="1200">
                  <a:ea typeface="Calibri"/>
                  <a:cs typeface="Calibri"/>
                </a:rPr>
                <a:t>MMKSI: Mr. </a:t>
              </a:r>
              <a:r>
                <a:rPr lang="en-US" sz="1200">
                  <a:latin typeface="Calibri" panose="020F0502020204030204" pitchFamily="34" charset="0"/>
                  <a:ea typeface="Calibri" panose="020F0502020204030204" pitchFamily="34" charset="0"/>
                  <a:cs typeface="Calibri" panose="020F0502020204030204" pitchFamily="34" charset="0"/>
                </a:rPr>
                <a:t>Mr. Takahiko Sato /</a:t>
              </a:r>
              <a:br>
                <a:rPr lang="en-US" sz="1200">
                  <a:latin typeface="Calibri" panose="020F0502020204030204" pitchFamily="34" charset="0"/>
                  <a:ea typeface="Calibri" panose="020F0502020204030204" pitchFamily="34" charset="0"/>
                  <a:cs typeface="Calibri" panose="020F0502020204030204" pitchFamily="34" charset="0"/>
                </a:rPr>
              </a:br>
              <a:r>
                <a:rPr lang="en-US" sz="1200">
                  <a:latin typeface="Calibri" panose="020F0502020204030204" pitchFamily="34" charset="0"/>
                  <a:ea typeface="Calibri" panose="020F0502020204030204" pitchFamily="34" charset="0"/>
                  <a:cs typeface="Calibri" panose="020F0502020204030204" pitchFamily="34" charset="0"/>
                </a:rPr>
                <a:t>               Mr. </a:t>
              </a:r>
              <a:r>
                <a:rPr lang="en-US" sz="1200">
                  <a:ea typeface="Calibri"/>
                  <a:cs typeface="Calibri"/>
                </a:rPr>
                <a:t>Wisnu </a:t>
              </a:r>
              <a:r>
                <a:rPr lang="en-US" sz="1200" err="1">
                  <a:ea typeface="Calibri"/>
                  <a:cs typeface="Calibri"/>
                </a:rPr>
                <a:t>Wardhana</a:t>
              </a:r>
              <a:endParaRPr lang="en-US" sz="1200">
                <a:latin typeface="Calibri" panose="020F0502020204030204" pitchFamily="34" charset="0"/>
                <a:ea typeface="Calibri" panose="020F0502020204030204" pitchFamily="34" charset="0"/>
                <a:cs typeface="Calibri" panose="020F0502020204030204" pitchFamily="34" charset="0"/>
              </a:endParaRPr>
            </a:p>
            <a:p>
              <a:pPr>
                <a:tabLst>
                  <a:tab pos="346075" algn="l"/>
                </a:tabLst>
              </a:pPr>
              <a:r>
                <a:rPr lang="en-US" sz="1200">
                  <a:latin typeface="Calibri"/>
                  <a:ea typeface="Calibri"/>
                  <a:cs typeface="Calibri"/>
                </a:rPr>
                <a:t>BSI: Mr. Takahiro Ataku / </a:t>
              </a:r>
              <a:br>
                <a:rPr lang="en-US" sz="1200">
                  <a:latin typeface="Calibri"/>
                  <a:ea typeface="Calibri"/>
                  <a:cs typeface="Calibri"/>
                </a:rPr>
              </a:br>
              <a:r>
                <a:rPr lang="en-US" sz="1200">
                  <a:latin typeface="Calibri"/>
                  <a:ea typeface="Calibri"/>
                  <a:cs typeface="Calibri"/>
                </a:rPr>
                <a:t>        Ms. Wijayanti Govindaraju</a:t>
              </a:r>
            </a:p>
          </p:txBody>
        </p:sp>
      </p:grpSp>
      <p:grpSp>
        <p:nvGrpSpPr>
          <p:cNvPr id="26" name="Group 25">
            <a:extLst>
              <a:ext uri="{FF2B5EF4-FFF2-40B4-BE49-F238E27FC236}">
                <a16:creationId xmlns:a16="http://schemas.microsoft.com/office/drawing/2014/main" id="{1E3BAAFD-6C12-0090-0EF0-9FB0066D54E3}"/>
              </a:ext>
            </a:extLst>
          </p:cNvPr>
          <p:cNvGrpSpPr/>
          <p:nvPr/>
        </p:nvGrpSpPr>
        <p:grpSpPr>
          <a:xfrm>
            <a:off x="3908144" y="2360300"/>
            <a:ext cx="2257068" cy="858861"/>
            <a:chOff x="3880021" y="1646568"/>
            <a:chExt cx="1620000" cy="1001985"/>
          </a:xfrm>
        </p:grpSpPr>
        <p:sp>
          <p:nvSpPr>
            <p:cNvPr id="27" name="TextBox 26">
              <a:extLst>
                <a:ext uri="{FF2B5EF4-FFF2-40B4-BE49-F238E27FC236}">
                  <a16:creationId xmlns:a16="http://schemas.microsoft.com/office/drawing/2014/main" id="{D602520B-E506-F19E-19A9-E9C5DCF0BAFC}"/>
                </a:ext>
              </a:extLst>
            </p:cNvPr>
            <p:cNvSpPr txBox="1"/>
            <p:nvPr/>
          </p:nvSpPr>
          <p:spPr>
            <a:xfrm>
              <a:off x="3880021" y="1646568"/>
              <a:ext cx="1620000" cy="288000"/>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Project Director</a:t>
              </a:r>
            </a:p>
          </p:txBody>
        </p:sp>
        <p:sp>
          <p:nvSpPr>
            <p:cNvPr id="28" name="TextBox 27">
              <a:extLst>
                <a:ext uri="{FF2B5EF4-FFF2-40B4-BE49-F238E27FC236}">
                  <a16:creationId xmlns:a16="http://schemas.microsoft.com/office/drawing/2014/main" id="{058E1F6C-79AB-BC7F-C864-B1EE3C21C26A}"/>
                </a:ext>
              </a:extLst>
            </p:cNvPr>
            <p:cNvSpPr txBox="1"/>
            <p:nvPr/>
          </p:nvSpPr>
          <p:spPr>
            <a:xfrm>
              <a:off x="3880021" y="1934566"/>
              <a:ext cx="1620000" cy="713987"/>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r>
                <a:rPr lang="en-US" sz="1200">
                  <a:latin typeface="Calibri" panose="020F0502020204030204" pitchFamily="34" charset="0"/>
                  <a:ea typeface="Calibri" panose="020F0502020204030204" pitchFamily="34" charset="0"/>
                  <a:cs typeface="Calibri" panose="020F0502020204030204" pitchFamily="34" charset="0"/>
                </a:rPr>
                <a:t>MMKSI: Mr. Bambang Sugeng / </a:t>
              </a:r>
            </a:p>
            <a:p>
              <a:r>
                <a:rPr lang="en-US" sz="1200">
                  <a:latin typeface="Calibri" panose="020F0502020204030204" pitchFamily="34" charset="0"/>
                  <a:ea typeface="Calibri" panose="020F0502020204030204" pitchFamily="34" charset="0"/>
                  <a:cs typeface="Calibri" panose="020F0502020204030204" pitchFamily="34" charset="0"/>
                </a:rPr>
                <a:t>               Mr. </a:t>
              </a:r>
              <a:r>
                <a:rPr lang="en-US" sz="1200" err="1">
                  <a:solidFill>
                    <a:sysClr val="windowText" lastClr="000000"/>
                  </a:solidFill>
                  <a:cs typeface="Segoe UI"/>
                </a:rPr>
                <a:t>Sapto</a:t>
              </a:r>
              <a:r>
                <a:rPr lang="en-US" sz="1200">
                  <a:solidFill>
                    <a:sysClr val="windowText" lastClr="000000"/>
                  </a:solidFill>
                  <a:cs typeface="Segoe UI"/>
                </a:rPr>
                <a:t> H. Ary B</a:t>
              </a:r>
              <a:br>
                <a:rPr lang="en-US" sz="1200">
                  <a:latin typeface="Calibri" panose="020F0502020204030204" pitchFamily="34" charset="0"/>
                  <a:ea typeface="Calibri" panose="020F0502020204030204" pitchFamily="34" charset="0"/>
                  <a:cs typeface="Calibri" panose="020F0502020204030204" pitchFamily="34" charset="0"/>
                </a:rPr>
              </a:br>
              <a:r>
                <a:rPr lang="en-US" sz="1200">
                  <a:latin typeface="Calibri" panose="020F0502020204030204" pitchFamily="34" charset="0"/>
                  <a:ea typeface="Calibri" panose="020F0502020204030204" pitchFamily="34" charset="0"/>
                  <a:cs typeface="Calibri" panose="020F0502020204030204" pitchFamily="34" charset="0"/>
                </a:rPr>
                <a:t>BSI: Mr. Asra Haryadi </a:t>
              </a:r>
            </a:p>
          </p:txBody>
        </p:sp>
      </p:grpSp>
      <p:cxnSp>
        <p:nvCxnSpPr>
          <p:cNvPr id="29" name="Straight Connector 28">
            <a:extLst>
              <a:ext uri="{FF2B5EF4-FFF2-40B4-BE49-F238E27FC236}">
                <a16:creationId xmlns:a16="http://schemas.microsoft.com/office/drawing/2014/main" id="{6BB9CF25-3E14-04CC-9528-4EED2898F81D}"/>
              </a:ext>
            </a:extLst>
          </p:cNvPr>
          <p:cNvCxnSpPr>
            <a:cxnSpLocks/>
          </p:cNvCxnSpPr>
          <p:nvPr/>
        </p:nvCxnSpPr>
        <p:spPr>
          <a:xfrm>
            <a:off x="5036678" y="2165964"/>
            <a:ext cx="0" cy="194336"/>
          </a:xfrm>
          <a:prstGeom prst="line">
            <a:avLst/>
          </a:prstGeom>
          <a:ln/>
        </p:spPr>
        <p:style>
          <a:lnRef idx="2">
            <a:schemeClr val="dk1"/>
          </a:lnRef>
          <a:fillRef idx="0">
            <a:schemeClr val="dk1"/>
          </a:fillRef>
          <a:effectRef idx="1">
            <a:schemeClr val="dk1"/>
          </a:effectRef>
          <a:fontRef idx="minor">
            <a:schemeClr val="tx1"/>
          </a:fontRef>
        </p:style>
      </p:cxnSp>
      <p:grpSp>
        <p:nvGrpSpPr>
          <p:cNvPr id="30" name="Group 29">
            <a:extLst>
              <a:ext uri="{FF2B5EF4-FFF2-40B4-BE49-F238E27FC236}">
                <a16:creationId xmlns:a16="http://schemas.microsoft.com/office/drawing/2014/main" id="{7EEE425B-887E-F94A-FAE3-9CC435F571B0}"/>
              </a:ext>
            </a:extLst>
          </p:cNvPr>
          <p:cNvGrpSpPr/>
          <p:nvPr/>
        </p:nvGrpSpPr>
        <p:grpSpPr>
          <a:xfrm>
            <a:off x="3805274" y="3435738"/>
            <a:ext cx="2462808" cy="892692"/>
            <a:chOff x="3880021" y="1646568"/>
            <a:chExt cx="1620000" cy="915931"/>
          </a:xfrm>
        </p:grpSpPr>
        <p:sp>
          <p:nvSpPr>
            <p:cNvPr id="31" name="TextBox 30">
              <a:extLst>
                <a:ext uri="{FF2B5EF4-FFF2-40B4-BE49-F238E27FC236}">
                  <a16:creationId xmlns:a16="http://schemas.microsoft.com/office/drawing/2014/main" id="{6B9ADD24-0716-0D6A-83B3-A383CA6BFE97}"/>
                </a:ext>
              </a:extLst>
            </p:cNvPr>
            <p:cNvSpPr txBox="1"/>
            <p:nvPr/>
          </p:nvSpPr>
          <p:spPr>
            <a:xfrm>
              <a:off x="3880021" y="1646568"/>
              <a:ext cx="1620000" cy="288000"/>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Project Manager</a:t>
              </a:r>
            </a:p>
          </p:txBody>
        </p:sp>
        <p:sp>
          <p:nvSpPr>
            <p:cNvPr id="32" name="TextBox 31">
              <a:extLst>
                <a:ext uri="{FF2B5EF4-FFF2-40B4-BE49-F238E27FC236}">
                  <a16:creationId xmlns:a16="http://schemas.microsoft.com/office/drawing/2014/main" id="{6915BC35-EF29-0420-5975-5335CF4B7794}"/>
                </a:ext>
              </a:extLst>
            </p:cNvPr>
            <p:cNvSpPr txBox="1"/>
            <p:nvPr/>
          </p:nvSpPr>
          <p:spPr>
            <a:xfrm>
              <a:off x="3880021" y="1934568"/>
              <a:ext cx="1620000" cy="627931"/>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r>
                <a:rPr lang="en-US" sz="1200">
                  <a:latin typeface="Calibri" panose="020F0502020204030204" pitchFamily="34" charset="0"/>
                  <a:ea typeface="Calibri" panose="020F0502020204030204" pitchFamily="34" charset="0"/>
                  <a:cs typeface="Calibri" panose="020F0502020204030204" pitchFamily="34" charset="0"/>
                </a:rPr>
                <a:t>MMKSI:  Mr. M. Hidayat</a:t>
              </a:r>
            </a:p>
            <a:p>
              <a:r>
                <a:rPr lang="en-US" sz="1200">
                  <a:latin typeface="Calibri" panose="020F0502020204030204" pitchFamily="34" charset="0"/>
                  <a:ea typeface="Calibri" panose="020F0502020204030204" pitchFamily="34" charset="0"/>
                  <a:cs typeface="Calibri" panose="020F0502020204030204" pitchFamily="34" charset="0"/>
                </a:rPr>
                <a:t>BSI: Mr. Budi</a:t>
              </a:r>
              <a:br>
                <a:rPr lang="en-US" sz="1200">
                  <a:latin typeface="Calibri" panose="020F0502020204030204" pitchFamily="34" charset="0"/>
                  <a:ea typeface="Calibri" panose="020F0502020204030204" pitchFamily="34" charset="0"/>
                  <a:cs typeface="Calibri" panose="020F0502020204030204" pitchFamily="34" charset="0"/>
                </a:rPr>
              </a:br>
              <a:r>
                <a:rPr lang="en-US" sz="1200">
                  <a:latin typeface="Calibri" panose="020F0502020204030204" pitchFamily="34" charset="0"/>
                  <a:ea typeface="Calibri" panose="020F0502020204030204" pitchFamily="34" charset="0"/>
                  <a:cs typeface="Calibri" panose="020F0502020204030204" pitchFamily="34" charset="0"/>
                </a:rPr>
                <a:t>ITD: Denni Ferianto</a:t>
              </a:r>
            </a:p>
          </p:txBody>
        </p:sp>
      </p:grpSp>
      <p:cxnSp>
        <p:nvCxnSpPr>
          <p:cNvPr id="33" name="Straight Connector 32">
            <a:extLst>
              <a:ext uri="{FF2B5EF4-FFF2-40B4-BE49-F238E27FC236}">
                <a16:creationId xmlns:a16="http://schemas.microsoft.com/office/drawing/2014/main" id="{29A7C2BD-4B5D-EB86-ED84-DD9E0CB269A2}"/>
              </a:ext>
            </a:extLst>
          </p:cNvPr>
          <p:cNvCxnSpPr>
            <a:cxnSpLocks/>
          </p:cNvCxnSpPr>
          <p:nvPr/>
        </p:nvCxnSpPr>
        <p:spPr>
          <a:xfrm flipV="1">
            <a:off x="5036678" y="3219161"/>
            <a:ext cx="0" cy="216577"/>
          </a:xfrm>
          <a:prstGeom prst="line">
            <a:avLst/>
          </a:prstGeom>
          <a:ln/>
        </p:spPr>
        <p:style>
          <a:lnRef idx="2">
            <a:schemeClr val="dk1"/>
          </a:lnRef>
          <a:fillRef idx="0">
            <a:schemeClr val="dk1"/>
          </a:fillRef>
          <a:effectRef idx="1">
            <a:schemeClr val="dk1"/>
          </a:effectRef>
          <a:fontRef idx="minor">
            <a:schemeClr val="tx1"/>
          </a:fontRef>
        </p:style>
      </p:cxnSp>
      <p:grpSp>
        <p:nvGrpSpPr>
          <p:cNvPr id="34" name="Group 33">
            <a:extLst>
              <a:ext uri="{FF2B5EF4-FFF2-40B4-BE49-F238E27FC236}">
                <a16:creationId xmlns:a16="http://schemas.microsoft.com/office/drawing/2014/main" id="{313E293B-2DA6-D869-36A8-8E51ECEF2A26}"/>
              </a:ext>
            </a:extLst>
          </p:cNvPr>
          <p:cNvGrpSpPr/>
          <p:nvPr/>
        </p:nvGrpSpPr>
        <p:grpSpPr>
          <a:xfrm>
            <a:off x="7110511" y="3569835"/>
            <a:ext cx="2213959" cy="650206"/>
            <a:chOff x="3880021" y="1644006"/>
            <a:chExt cx="1620000" cy="758562"/>
          </a:xfrm>
        </p:grpSpPr>
        <p:sp>
          <p:nvSpPr>
            <p:cNvPr id="35" name="TextBox 34">
              <a:extLst>
                <a:ext uri="{FF2B5EF4-FFF2-40B4-BE49-F238E27FC236}">
                  <a16:creationId xmlns:a16="http://schemas.microsoft.com/office/drawing/2014/main" id="{91803343-9438-1439-8C75-54695AD26295}"/>
                </a:ext>
              </a:extLst>
            </p:cNvPr>
            <p:cNvSpPr txBox="1"/>
            <p:nvPr/>
          </p:nvSpPr>
          <p:spPr>
            <a:xfrm>
              <a:off x="3880021" y="1644006"/>
              <a:ext cx="1620000" cy="288000"/>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Product Management</a:t>
              </a:r>
            </a:p>
          </p:txBody>
        </p:sp>
        <p:sp>
          <p:nvSpPr>
            <p:cNvPr id="36" name="TextBox 35">
              <a:extLst>
                <a:ext uri="{FF2B5EF4-FFF2-40B4-BE49-F238E27FC236}">
                  <a16:creationId xmlns:a16="http://schemas.microsoft.com/office/drawing/2014/main" id="{7AA2F437-24DC-9293-94B7-30CE21F32103}"/>
                </a:ext>
              </a:extLst>
            </p:cNvPr>
            <p:cNvSpPr txBox="1"/>
            <p:nvPr/>
          </p:nvSpPr>
          <p:spPr>
            <a:xfrm>
              <a:off x="3880021" y="1934568"/>
              <a:ext cx="1620000" cy="468000"/>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r>
                <a:rPr lang="en-US" sz="1200">
                  <a:latin typeface="Calibri" panose="020F0502020204030204" pitchFamily="34" charset="0"/>
                  <a:ea typeface="Calibri" panose="020F0502020204030204" pitchFamily="34" charset="0"/>
                  <a:cs typeface="Calibri" panose="020F0502020204030204" pitchFamily="34" charset="0"/>
                </a:rPr>
                <a:t>Product Manager: </a:t>
              </a:r>
              <a:br>
                <a:rPr lang="en-US" sz="1200">
                  <a:latin typeface="Calibri" panose="020F0502020204030204" pitchFamily="34" charset="0"/>
                  <a:ea typeface="Calibri" panose="020F0502020204030204" pitchFamily="34" charset="0"/>
                  <a:cs typeface="Calibri" panose="020F0502020204030204" pitchFamily="34" charset="0"/>
                </a:rPr>
              </a:br>
              <a:r>
                <a:rPr lang="en-US" sz="1200">
                  <a:latin typeface="Calibri" panose="020F0502020204030204" pitchFamily="34" charset="0"/>
                  <a:ea typeface="Calibri" panose="020F0502020204030204" pitchFamily="34" charset="0"/>
                  <a:cs typeface="Calibri" panose="020F0502020204030204" pitchFamily="34" charset="0"/>
                </a:rPr>
                <a:t>Mr. Harli Christian Rizky</a:t>
              </a:r>
            </a:p>
          </p:txBody>
        </p:sp>
      </p:grpSp>
      <p:grpSp>
        <p:nvGrpSpPr>
          <p:cNvPr id="60" name="Group 59">
            <a:extLst>
              <a:ext uri="{FF2B5EF4-FFF2-40B4-BE49-F238E27FC236}">
                <a16:creationId xmlns:a16="http://schemas.microsoft.com/office/drawing/2014/main" id="{C91FEC6D-CCEB-BC76-0A87-79965578F90A}"/>
              </a:ext>
            </a:extLst>
          </p:cNvPr>
          <p:cNvGrpSpPr/>
          <p:nvPr/>
        </p:nvGrpSpPr>
        <p:grpSpPr>
          <a:xfrm>
            <a:off x="661087" y="3391107"/>
            <a:ext cx="2301757" cy="1309330"/>
            <a:chOff x="793396" y="3322148"/>
            <a:chExt cx="1639059" cy="1186585"/>
          </a:xfrm>
        </p:grpSpPr>
        <p:sp>
          <p:nvSpPr>
            <p:cNvPr id="38" name="TextBox 37">
              <a:extLst>
                <a:ext uri="{FF2B5EF4-FFF2-40B4-BE49-F238E27FC236}">
                  <a16:creationId xmlns:a16="http://schemas.microsoft.com/office/drawing/2014/main" id="{EB62FE57-337D-6B2C-0D9D-C78374E86821}"/>
                </a:ext>
              </a:extLst>
            </p:cNvPr>
            <p:cNvSpPr txBox="1"/>
            <p:nvPr/>
          </p:nvSpPr>
          <p:spPr>
            <a:xfrm>
              <a:off x="793396" y="3322148"/>
              <a:ext cx="1639056" cy="252379"/>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Project Support</a:t>
              </a:r>
            </a:p>
          </p:txBody>
        </p:sp>
        <p:sp>
          <p:nvSpPr>
            <p:cNvPr id="39" name="TextBox 38">
              <a:extLst>
                <a:ext uri="{FF2B5EF4-FFF2-40B4-BE49-F238E27FC236}">
                  <a16:creationId xmlns:a16="http://schemas.microsoft.com/office/drawing/2014/main" id="{2CE3C1B3-764C-1DE2-4CC7-AA5FB720B174}"/>
                </a:ext>
              </a:extLst>
            </p:cNvPr>
            <p:cNvSpPr txBox="1"/>
            <p:nvPr/>
          </p:nvSpPr>
          <p:spPr>
            <a:xfrm>
              <a:off x="793397" y="3571371"/>
              <a:ext cx="1639058" cy="937362"/>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r>
                <a:rPr lang="en-US" sz="1200">
                  <a:latin typeface="Calibri" panose="020F0502020204030204" pitchFamily="34" charset="0"/>
                  <a:ea typeface="Calibri" panose="020F0502020204030204" pitchFamily="34" charset="0"/>
                  <a:cs typeface="Calibri" panose="020F0502020204030204" pitchFamily="34" charset="0"/>
                </a:rPr>
                <a:t>PMO: Mr. Tito Tamaro</a:t>
              </a:r>
              <a:br>
                <a:rPr lang="en-US" sz="1200">
                  <a:latin typeface="Calibri" panose="020F0502020204030204" pitchFamily="34" charset="0"/>
                  <a:ea typeface="Calibri" panose="020F0502020204030204" pitchFamily="34" charset="0"/>
                  <a:cs typeface="Calibri" panose="020F0502020204030204" pitchFamily="34" charset="0"/>
                </a:rPr>
              </a:br>
              <a:r>
                <a:rPr lang="en-US" sz="1200">
                  <a:latin typeface="Calibri" panose="020F0502020204030204" pitchFamily="34" charset="0"/>
                  <a:ea typeface="Calibri" panose="020F0502020204030204" pitchFamily="34" charset="0"/>
                  <a:cs typeface="Calibri" panose="020F0502020204030204" pitchFamily="34" charset="0"/>
                </a:rPr>
                <a:t>Sales: Mr. Donnie Adilaksono</a:t>
              </a:r>
            </a:p>
            <a:p>
              <a:r>
                <a:rPr lang="en-US" sz="1200">
                  <a:latin typeface="Calibri" panose="020F0502020204030204" pitchFamily="34" charset="0"/>
                  <a:ea typeface="Calibri" panose="020F0502020204030204" pitchFamily="34" charset="0"/>
                  <a:cs typeface="Calibri" panose="020F0502020204030204" pitchFamily="34" charset="0"/>
                </a:rPr>
                <a:t>Solution Architect</a:t>
              </a:r>
              <a:r>
                <a:rPr lang="en-US" sz="1200" u="sng">
                  <a:latin typeface="Calibri" panose="020F0502020204030204" pitchFamily="34" charset="0"/>
                  <a:ea typeface="Calibri" panose="020F0502020204030204" pitchFamily="34" charset="0"/>
                  <a:cs typeface="Calibri" panose="020F0502020204030204" pitchFamily="34" charset="0"/>
                </a:rPr>
                <a:t>: </a:t>
              </a:r>
              <a:r>
                <a:rPr lang="en-US" sz="1200">
                  <a:latin typeface="Calibri" panose="020F0502020204030204" pitchFamily="34" charset="0"/>
                  <a:ea typeface="Calibri" panose="020F0502020204030204" pitchFamily="34" charset="0"/>
                  <a:cs typeface="Calibri" panose="020F0502020204030204" pitchFamily="34" charset="0"/>
                </a:rPr>
                <a:t>Afif Junihar Fakri</a:t>
              </a:r>
            </a:p>
            <a:p>
              <a:r>
                <a:rPr lang="en-US" sz="1200" u="sng">
                  <a:latin typeface="Calibri" panose="020F0502020204030204" pitchFamily="34" charset="0"/>
                  <a:ea typeface="Calibri" panose="020F0502020204030204" pitchFamily="34" charset="0"/>
                  <a:cs typeface="Calibri" panose="020F0502020204030204" pitchFamily="34" charset="0"/>
                </a:rPr>
                <a:t>Infra team :</a:t>
              </a:r>
              <a:r>
                <a:rPr lang="en-US" sz="1200">
                  <a:latin typeface="Calibri" panose="020F0502020204030204" pitchFamily="34" charset="0"/>
                  <a:ea typeface="Calibri" panose="020F0502020204030204" pitchFamily="34" charset="0"/>
                  <a:cs typeface="Calibri" panose="020F0502020204030204" pitchFamily="34" charset="0"/>
                </a:rPr>
                <a:t> TBC</a:t>
              </a:r>
            </a:p>
          </p:txBody>
        </p:sp>
      </p:grpSp>
      <p:grpSp>
        <p:nvGrpSpPr>
          <p:cNvPr id="43" name="Group 42">
            <a:extLst>
              <a:ext uri="{FF2B5EF4-FFF2-40B4-BE49-F238E27FC236}">
                <a16:creationId xmlns:a16="http://schemas.microsoft.com/office/drawing/2014/main" id="{F1A0A549-D68A-C05D-85D1-457E05CA32D1}"/>
              </a:ext>
            </a:extLst>
          </p:cNvPr>
          <p:cNvGrpSpPr/>
          <p:nvPr/>
        </p:nvGrpSpPr>
        <p:grpSpPr>
          <a:xfrm>
            <a:off x="6426479" y="4938300"/>
            <a:ext cx="1906706" cy="1398007"/>
            <a:chOff x="3880021" y="1604706"/>
            <a:chExt cx="2561133" cy="1923339"/>
          </a:xfrm>
        </p:grpSpPr>
        <p:sp>
          <p:nvSpPr>
            <p:cNvPr id="44" name="TextBox 43">
              <a:extLst>
                <a:ext uri="{FF2B5EF4-FFF2-40B4-BE49-F238E27FC236}">
                  <a16:creationId xmlns:a16="http://schemas.microsoft.com/office/drawing/2014/main" id="{86E0A7B7-0DDE-E213-654C-8528CD01CC22}"/>
                </a:ext>
              </a:extLst>
            </p:cNvPr>
            <p:cNvSpPr txBox="1"/>
            <p:nvPr/>
          </p:nvSpPr>
          <p:spPr>
            <a:xfrm>
              <a:off x="3880021" y="1604706"/>
              <a:ext cx="2561133" cy="396503"/>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Key Users</a:t>
              </a:r>
            </a:p>
          </p:txBody>
        </p:sp>
        <p:sp>
          <p:nvSpPr>
            <p:cNvPr id="45" name="TextBox 44">
              <a:extLst>
                <a:ext uri="{FF2B5EF4-FFF2-40B4-BE49-F238E27FC236}">
                  <a16:creationId xmlns:a16="http://schemas.microsoft.com/office/drawing/2014/main" id="{60FF514B-1197-4B76-1F67-663F68856F51}"/>
                </a:ext>
              </a:extLst>
            </p:cNvPr>
            <p:cNvSpPr txBox="1"/>
            <p:nvPr/>
          </p:nvSpPr>
          <p:spPr>
            <a:xfrm>
              <a:off x="3880021" y="1934570"/>
              <a:ext cx="2561133" cy="1593475"/>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r>
                <a:rPr lang="en-US" sz="1200">
                  <a:latin typeface="Calibri"/>
                  <a:ea typeface="Calibri"/>
                  <a:cs typeface="Calibri"/>
                </a:rPr>
                <a:t>MMKSI HRD:</a:t>
              </a:r>
              <a:br>
                <a:rPr lang="en-US" sz="1200">
                  <a:latin typeface="Calibri"/>
                  <a:ea typeface="Calibri"/>
                  <a:cs typeface="Calibri"/>
                </a:rPr>
              </a:br>
              <a:r>
                <a:rPr lang="en-US" sz="1200">
                  <a:latin typeface="Calibri"/>
                  <a:ea typeface="Calibri"/>
                  <a:cs typeface="Calibri"/>
                </a:rPr>
                <a:t>1. Mr. James Victorio Ade W.</a:t>
              </a:r>
            </a:p>
            <a:p>
              <a:r>
                <a:rPr lang="en-US" sz="1200">
                  <a:latin typeface="Calibri"/>
                  <a:ea typeface="Calibri"/>
                  <a:cs typeface="Calibri"/>
                </a:rPr>
                <a:t>2. Mr. Chrisna Cahya Nugraha</a:t>
              </a:r>
            </a:p>
            <a:p>
              <a:r>
                <a:rPr lang="en-US" sz="1200">
                  <a:latin typeface="Calibri"/>
                  <a:ea typeface="Calibri"/>
                  <a:cs typeface="Calibri"/>
                </a:rPr>
                <a:t>3. Ms. Anggit Nurmalita Sari</a:t>
              </a:r>
            </a:p>
            <a:p>
              <a:r>
                <a:rPr lang="en-US" sz="1200">
                  <a:latin typeface="Calibri"/>
                  <a:ea typeface="Calibri"/>
                  <a:cs typeface="Calibri"/>
                </a:rPr>
                <a:t>4. Ms. Nurul Khalisah</a:t>
              </a:r>
            </a:p>
          </p:txBody>
        </p:sp>
      </p:grpSp>
      <p:grpSp>
        <p:nvGrpSpPr>
          <p:cNvPr id="17" name="Group 16">
            <a:extLst>
              <a:ext uri="{FF2B5EF4-FFF2-40B4-BE49-F238E27FC236}">
                <a16:creationId xmlns:a16="http://schemas.microsoft.com/office/drawing/2014/main" id="{738E794A-9BCD-AD7B-0A68-47A2DB2367CA}"/>
              </a:ext>
            </a:extLst>
          </p:cNvPr>
          <p:cNvGrpSpPr/>
          <p:nvPr/>
        </p:nvGrpSpPr>
        <p:grpSpPr>
          <a:xfrm>
            <a:off x="1754127" y="4917977"/>
            <a:ext cx="2779602" cy="1596478"/>
            <a:chOff x="2385734" y="4467448"/>
            <a:chExt cx="1855282" cy="2049124"/>
          </a:xfrm>
        </p:grpSpPr>
        <p:sp>
          <p:nvSpPr>
            <p:cNvPr id="41" name="TextBox 40">
              <a:extLst>
                <a:ext uri="{FF2B5EF4-FFF2-40B4-BE49-F238E27FC236}">
                  <a16:creationId xmlns:a16="http://schemas.microsoft.com/office/drawing/2014/main" id="{023AF3BD-B0C6-562E-0D5D-F616BA58CA70}"/>
                </a:ext>
              </a:extLst>
            </p:cNvPr>
            <p:cNvSpPr txBox="1"/>
            <p:nvPr/>
          </p:nvSpPr>
          <p:spPr>
            <a:xfrm>
              <a:off x="2385734" y="4467448"/>
              <a:ext cx="1855282" cy="342553"/>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pPr algn="ctr"/>
              <a:r>
                <a:rPr lang="en-US" sz="1200" b="1">
                  <a:latin typeface="Calibri" panose="020F0502020204030204" pitchFamily="34" charset="0"/>
                  <a:ea typeface="Calibri" panose="020F0502020204030204" pitchFamily="34" charset="0"/>
                  <a:cs typeface="Calibri" panose="020F0502020204030204" pitchFamily="34" charset="0"/>
                </a:rPr>
                <a:t>Agile Team</a:t>
              </a:r>
            </a:p>
          </p:txBody>
        </p:sp>
        <p:sp>
          <p:nvSpPr>
            <p:cNvPr id="15" name="TextBox 14">
              <a:extLst>
                <a:ext uri="{FF2B5EF4-FFF2-40B4-BE49-F238E27FC236}">
                  <a16:creationId xmlns:a16="http://schemas.microsoft.com/office/drawing/2014/main" id="{2A63CD2B-E7FB-9887-FCE8-7213A53A1E9A}"/>
                </a:ext>
              </a:extLst>
            </p:cNvPr>
            <p:cNvSpPr txBox="1"/>
            <p:nvPr/>
          </p:nvSpPr>
          <p:spPr>
            <a:xfrm>
              <a:off x="2395010" y="4818119"/>
              <a:ext cx="1846006" cy="1698453"/>
            </a:xfrm>
            <a:prstGeom prst="rect">
              <a:avLst/>
            </a:prstGeom>
          </p:spPr>
          <p:style>
            <a:lnRef idx="2">
              <a:schemeClr val="dk1"/>
            </a:lnRef>
            <a:fillRef idx="1">
              <a:schemeClr val="lt1"/>
            </a:fillRef>
            <a:effectRef idx="0">
              <a:schemeClr val="dk1"/>
            </a:effectRef>
            <a:fontRef idx="minor">
              <a:schemeClr val="dk1"/>
            </a:fontRef>
          </p:style>
          <p:txBody>
            <a:bodyPr wrap="square" lIns="36000" tIns="36000" rIns="36000" bIns="36000" rtlCol="0" anchor="ctr" anchorCtr="1">
              <a:noAutofit/>
            </a:bodyPr>
            <a:lstStyle/>
            <a:p>
              <a:r>
                <a:rPr lang="en-US" sz="1200" u="sng">
                  <a:latin typeface="Calibri" panose="020F0502020204030204" pitchFamily="34" charset="0"/>
                  <a:ea typeface="Calibri" panose="020F0502020204030204" pitchFamily="34" charset="0"/>
                  <a:cs typeface="Calibri" panose="020F0502020204030204" pitchFamily="34" charset="0"/>
                </a:rPr>
                <a:t>Scrum Master</a:t>
              </a:r>
              <a:r>
                <a:rPr lang="en-US" sz="1200">
                  <a:latin typeface="Calibri" panose="020F0502020204030204" pitchFamily="34" charset="0"/>
                  <a:ea typeface="Calibri" panose="020F0502020204030204" pitchFamily="34" charset="0"/>
                  <a:cs typeface="Calibri" panose="020F0502020204030204" pitchFamily="34" charset="0"/>
                </a:rPr>
                <a:t>: Mr. Rakha Agung</a:t>
              </a:r>
            </a:p>
            <a:p>
              <a:r>
                <a:rPr lang="en-US" sz="1200" u="sng">
                  <a:latin typeface="Calibri" panose="020F0502020204030204" pitchFamily="34" charset="0"/>
                  <a:ea typeface="Calibri" panose="020F0502020204030204" pitchFamily="34" charset="0"/>
                  <a:cs typeface="Calibri" panose="020F0502020204030204" pitchFamily="34" charset="0"/>
                </a:rPr>
                <a:t>Product Owner</a:t>
              </a:r>
              <a:r>
                <a:rPr lang="en-US" sz="1200">
                  <a:latin typeface="Calibri" panose="020F0502020204030204" pitchFamily="34" charset="0"/>
                  <a:ea typeface="Calibri" panose="020F0502020204030204" pitchFamily="34" charset="0"/>
                  <a:cs typeface="Calibri" panose="020F0502020204030204" pitchFamily="34" charset="0"/>
                </a:rPr>
                <a:t>: Mr. Andi </a:t>
              </a:r>
              <a:r>
                <a:rPr lang="en-US" sz="1200" err="1">
                  <a:latin typeface="Calibri" panose="020F0502020204030204" pitchFamily="34" charset="0"/>
                  <a:ea typeface="Calibri" panose="020F0502020204030204" pitchFamily="34" charset="0"/>
                  <a:cs typeface="Calibri" panose="020F0502020204030204" pitchFamily="34" charset="0"/>
                </a:rPr>
                <a:t>Darmansyah</a:t>
              </a:r>
              <a:br>
                <a:rPr lang="en-US" sz="1200">
                  <a:latin typeface="Calibri" panose="020F0502020204030204" pitchFamily="34" charset="0"/>
                  <a:ea typeface="Calibri" panose="020F0502020204030204" pitchFamily="34" charset="0"/>
                  <a:cs typeface="Calibri" panose="020F0502020204030204" pitchFamily="34" charset="0"/>
                </a:rPr>
              </a:br>
              <a:r>
                <a:rPr lang="en-US" sz="1200" u="sng">
                  <a:latin typeface="Calibri" panose="020F0502020204030204" pitchFamily="34" charset="0"/>
                  <a:ea typeface="Calibri" panose="020F0502020204030204" pitchFamily="34" charset="0"/>
                  <a:cs typeface="Calibri" panose="020F0502020204030204" pitchFamily="34" charset="0"/>
                </a:rPr>
                <a:t>Developer Lead</a:t>
              </a:r>
              <a:r>
                <a:rPr lang="en-US" sz="1200">
                  <a:latin typeface="Calibri" panose="020F0502020204030204" pitchFamily="34" charset="0"/>
                  <a:ea typeface="Calibri" panose="020F0502020204030204" pitchFamily="34" charset="0"/>
                  <a:cs typeface="Calibri" panose="020F0502020204030204" pitchFamily="34" charset="0"/>
                </a:rPr>
                <a:t>: Bambang Puji Basuki</a:t>
              </a:r>
              <a:br>
                <a:rPr lang="en-US" sz="1200">
                  <a:latin typeface="Calibri" panose="020F0502020204030204" pitchFamily="34" charset="0"/>
                  <a:ea typeface="Calibri" panose="020F0502020204030204" pitchFamily="34" charset="0"/>
                  <a:cs typeface="Calibri" panose="020F0502020204030204" pitchFamily="34" charset="0"/>
                </a:rPr>
              </a:br>
              <a:r>
                <a:rPr lang="en-US" sz="1200" u="sng">
                  <a:latin typeface="Calibri" panose="020F0502020204030204" pitchFamily="34" charset="0"/>
                  <a:ea typeface="Calibri" panose="020F0502020204030204" pitchFamily="34" charset="0"/>
                  <a:cs typeface="Calibri" panose="020F0502020204030204" pitchFamily="34" charset="0"/>
                </a:rPr>
                <a:t>Developer</a:t>
              </a:r>
              <a:r>
                <a:rPr lang="en-US" sz="1200">
                  <a:latin typeface="Calibri" panose="020F0502020204030204" pitchFamily="34" charset="0"/>
                  <a:ea typeface="Calibri" panose="020F0502020204030204" pitchFamily="34" charset="0"/>
                  <a:cs typeface="Calibri" panose="020F0502020204030204" pitchFamily="34" charset="0"/>
                </a:rPr>
                <a:t>: Developer Team</a:t>
              </a:r>
              <a:br>
                <a:rPr lang="en-US" sz="1200">
                  <a:latin typeface="Calibri" panose="020F0502020204030204" pitchFamily="34" charset="0"/>
                  <a:ea typeface="Calibri" panose="020F0502020204030204" pitchFamily="34" charset="0"/>
                  <a:cs typeface="Calibri" panose="020F0502020204030204" pitchFamily="34" charset="0"/>
                </a:rPr>
              </a:br>
              <a:r>
                <a:rPr lang="en-US" sz="1200" u="sng">
                  <a:latin typeface="Calibri" panose="020F0502020204030204" pitchFamily="34" charset="0"/>
                  <a:ea typeface="Calibri" panose="020F0502020204030204" pitchFamily="34" charset="0"/>
                  <a:cs typeface="Calibri" panose="020F0502020204030204" pitchFamily="34" charset="0"/>
                </a:rPr>
                <a:t>UI/UX</a:t>
              </a:r>
              <a:r>
                <a:rPr lang="en-US" sz="1200">
                  <a:latin typeface="Calibri" panose="020F0502020204030204" pitchFamily="34" charset="0"/>
                  <a:ea typeface="Calibri" panose="020F0502020204030204" pitchFamily="34" charset="0"/>
                  <a:cs typeface="Calibri" panose="020F0502020204030204" pitchFamily="34" charset="0"/>
                </a:rPr>
                <a:t>: Mr. </a:t>
              </a:r>
              <a:r>
                <a:rPr lang="en-US" sz="1200" err="1">
                  <a:latin typeface="Calibri" panose="020F0502020204030204" pitchFamily="34" charset="0"/>
                  <a:ea typeface="Calibri" panose="020F0502020204030204" pitchFamily="34" charset="0"/>
                  <a:cs typeface="Calibri" panose="020F0502020204030204" pitchFamily="34" charset="0"/>
                </a:rPr>
                <a:t>Rafiyan</a:t>
              </a:r>
              <a:r>
                <a:rPr lang="en-US" sz="1200">
                  <a:latin typeface="Calibri" panose="020F0502020204030204" pitchFamily="34" charset="0"/>
                  <a:ea typeface="Calibri" panose="020F0502020204030204" pitchFamily="34" charset="0"/>
                  <a:cs typeface="Calibri" panose="020F0502020204030204" pitchFamily="34" charset="0"/>
                </a:rPr>
                <a:t> Dwi Putra</a:t>
              </a:r>
            </a:p>
          </p:txBody>
        </p:sp>
      </p:grpSp>
      <p:sp>
        <p:nvSpPr>
          <p:cNvPr id="67" name="TextBox 66">
            <a:extLst>
              <a:ext uri="{FF2B5EF4-FFF2-40B4-BE49-F238E27FC236}">
                <a16:creationId xmlns:a16="http://schemas.microsoft.com/office/drawing/2014/main" id="{2A10E859-EA2B-1D0F-895D-DE7CA7283346}"/>
              </a:ext>
            </a:extLst>
          </p:cNvPr>
          <p:cNvSpPr txBox="1"/>
          <p:nvPr/>
        </p:nvSpPr>
        <p:spPr>
          <a:xfrm>
            <a:off x="776250" y="939864"/>
            <a:ext cx="3264522" cy="327397"/>
          </a:xfrm>
          <a:prstGeom prst="rect">
            <a:avLst/>
          </a:prstGeom>
          <a:noFill/>
        </p:spPr>
        <p:txBody>
          <a:bodyPr wrap="square">
            <a:spAutoFit/>
          </a:bodyPr>
          <a:lstStyle/>
          <a:p>
            <a:pPr marR="0" lvl="0">
              <a:lnSpc>
                <a:spcPct val="115000"/>
              </a:lnSpc>
              <a:tabLst>
                <a:tab pos="228600" algn="l"/>
              </a:tabLst>
            </a:pPr>
            <a:r>
              <a:rPr lang="en-US" sz="1400" b="1" kern="100">
                <a:effectLst/>
                <a:latin typeface="Helvetica Neue" panose="02000503000000020004"/>
                <a:ea typeface="DengXian" panose="02010600030101010101" pitchFamily="2" charset="-122"/>
                <a:cs typeface="Times New Roman" panose="02020603050405020304" pitchFamily="18" charset="0"/>
              </a:rPr>
              <a:t>4.1 Project Organization</a:t>
            </a:r>
          </a:p>
        </p:txBody>
      </p:sp>
      <p:cxnSp>
        <p:nvCxnSpPr>
          <p:cNvPr id="10" name="Straight Connector 40">
            <a:extLst>
              <a:ext uri="{FF2B5EF4-FFF2-40B4-BE49-F238E27FC236}">
                <a16:creationId xmlns:a16="http://schemas.microsoft.com/office/drawing/2014/main" id="{E154DF66-B1A4-FF66-D913-266E40FDF549}"/>
              </a:ext>
            </a:extLst>
          </p:cNvPr>
          <p:cNvCxnSpPr>
            <a:cxnSpLocks/>
          </p:cNvCxnSpPr>
          <p:nvPr/>
        </p:nvCxnSpPr>
        <p:spPr>
          <a:xfrm rot="16200000" flipH="1">
            <a:off x="5903320" y="3461788"/>
            <a:ext cx="609870" cy="2343154"/>
          </a:xfrm>
          <a:prstGeom prst="bentConnector3">
            <a:avLst>
              <a:gd name="adj1" fmla="val 50000"/>
            </a:avLst>
          </a:prstGeom>
          <a:ln/>
        </p:spPr>
        <p:style>
          <a:lnRef idx="2">
            <a:schemeClr val="dk1"/>
          </a:lnRef>
          <a:fillRef idx="0">
            <a:schemeClr val="dk1"/>
          </a:fillRef>
          <a:effectRef idx="1">
            <a:schemeClr val="dk1"/>
          </a:effectRef>
          <a:fontRef idx="minor">
            <a:schemeClr val="tx1"/>
          </a:fontRef>
        </p:style>
      </p:cxnSp>
      <p:cxnSp>
        <p:nvCxnSpPr>
          <p:cNvPr id="3" name="Straight Connector 40">
            <a:extLst>
              <a:ext uri="{FF2B5EF4-FFF2-40B4-BE49-F238E27FC236}">
                <a16:creationId xmlns:a16="http://schemas.microsoft.com/office/drawing/2014/main" id="{FD88DAA3-7926-E64D-8495-914705EA2500}"/>
              </a:ext>
            </a:extLst>
          </p:cNvPr>
          <p:cNvCxnSpPr>
            <a:cxnSpLocks/>
          </p:cNvCxnSpPr>
          <p:nvPr/>
        </p:nvCxnSpPr>
        <p:spPr>
          <a:xfrm rot="5400000">
            <a:off x="3795530" y="3687461"/>
            <a:ext cx="589547" cy="1892750"/>
          </a:xfrm>
          <a:prstGeom prst="bentConnector3">
            <a:avLst>
              <a:gd name="adj1" fmla="val 50000"/>
            </a:avLst>
          </a:prstGeom>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342EE9BE-3F6D-BE5F-B7BC-9ED5DC62B148}"/>
              </a:ext>
            </a:extLst>
          </p:cNvPr>
          <p:cNvCxnSpPr>
            <a:cxnSpLocks/>
            <a:endCxn id="36" idx="1"/>
          </p:cNvCxnSpPr>
          <p:nvPr/>
        </p:nvCxnSpPr>
        <p:spPr>
          <a:xfrm flipV="1">
            <a:off x="6268082" y="4019467"/>
            <a:ext cx="842429" cy="2964"/>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A2D7619-ADFA-87E0-4311-822AEF5F63AB}"/>
              </a:ext>
            </a:extLst>
          </p:cNvPr>
          <p:cNvCxnSpPr>
            <a:cxnSpLocks/>
          </p:cNvCxnSpPr>
          <p:nvPr/>
        </p:nvCxnSpPr>
        <p:spPr>
          <a:xfrm flipH="1" flipV="1">
            <a:off x="2848739" y="4018948"/>
            <a:ext cx="956535" cy="3483"/>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7289285-29EF-90B0-2F68-0242B86DBBF9}"/>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1584700288"/>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E80F4-7AE2-853C-0910-9C5E274FF60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D4BF40D-FB00-CABC-E1F1-260AEC881F8B}"/>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5. Commercial</a:t>
            </a:r>
            <a:endParaRPr lang="en-ID">
              <a:latin typeface="Helvetica Neue" panose="02000503000000020004"/>
              <a:cs typeface="Calibri"/>
            </a:endParaRPr>
          </a:p>
        </p:txBody>
      </p:sp>
      <p:sp>
        <p:nvSpPr>
          <p:cNvPr id="3" name="Footer Placeholder 4">
            <a:extLst>
              <a:ext uri="{FF2B5EF4-FFF2-40B4-BE49-F238E27FC236}">
                <a16:creationId xmlns:a16="http://schemas.microsoft.com/office/drawing/2014/main" id="{3747FB2C-1252-F6B8-78AC-40800B0C07A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BD128ABF-1766-0C23-6767-5513F74785F2}"/>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17</a:t>
            </a:fld>
            <a:endParaRPr lang="en-GB"/>
          </a:p>
        </p:txBody>
      </p:sp>
      <p:sp>
        <p:nvSpPr>
          <p:cNvPr id="2" name="TextBox 1">
            <a:extLst>
              <a:ext uri="{FF2B5EF4-FFF2-40B4-BE49-F238E27FC236}">
                <a16:creationId xmlns:a16="http://schemas.microsoft.com/office/drawing/2014/main" id="{6A06DBDF-712B-7FE4-6406-13BA3CFCEFAA}"/>
              </a:ext>
            </a:extLst>
          </p:cNvPr>
          <p:cNvSpPr txBox="1"/>
          <p:nvPr/>
        </p:nvSpPr>
        <p:spPr>
          <a:xfrm>
            <a:off x="717185" y="822167"/>
            <a:ext cx="8825815" cy="705258"/>
          </a:xfrm>
          <a:prstGeom prst="rect">
            <a:avLst/>
          </a:prstGeom>
          <a:noFill/>
        </p:spPr>
        <p:txBody>
          <a:bodyPr wrap="square">
            <a:spAutoFit/>
          </a:bodyPr>
          <a:lstStyle/>
          <a:p>
            <a:pPr>
              <a:lnSpc>
                <a:spcPct val="150000"/>
              </a:lnSpc>
            </a:pPr>
            <a:r>
              <a:rPr lang="en-US" sz="1400" b="1">
                <a:highlight>
                  <a:srgbClr val="FFFFFF"/>
                </a:highlight>
                <a:latin typeface="Helvetica Neue" panose="02000503000000020004"/>
                <a:cs typeface="Calibri"/>
              </a:rPr>
              <a:t>5.1. Implementation Fee</a:t>
            </a:r>
            <a:endParaRPr lang="en-US" sz="1400" b="1">
              <a:highlight>
                <a:srgbClr val="FFFFFF"/>
              </a:highlight>
              <a:latin typeface="Helvetica Neue" panose="02000503000000020004"/>
            </a:endParaRPr>
          </a:p>
          <a:p>
            <a:pPr>
              <a:lnSpc>
                <a:spcPct val="150000"/>
              </a:lnSpc>
            </a:pPr>
            <a:r>
              <a:rPr lang="en-US" sz="1400">
                <a:highlight>
                  <a:srgbClr val="FFFFFF"/>
                </a:highlight>
              </a:rPr>
              <a:t>Below are MMKSI HRD New System service fee:</a:t>
            </a:r>
          </a:p>
        </p:txBody>
      </p:sp>
      <p:graphicFrame>
        <p:nvGraphicFramePr>
          <p:cNvPr id="10" name="Table 9">
            <a:extLst>
              <a:ext uri="{FF2B5EF4-FFF2-40B4-BE49-F238E27FC236}">
                <a16:creationId xmlns:a16="http://schemas.microsoft.com/office/drawing/2014/main" id="{2CEE1C45-9B9A-AF29-BC15-AF3A148B66B6}"/>
              </a:ext>
            </a:extLst>
          </p:cNvPr>
          <p:cNvGraphicFramePr>
            <a:graphicFrameLocks noGrp="1"/>
          </p:cNvGraphicFramePr>
          <p:nvPr>
            <p:extLst>
              <p:ext uri="{D42A27DB-BD31-4B8C-83A1-F6EECF244321}">
                <p14:modId xmlns:p14="http://schemas.microsoft.com/office/powerpoint/2010/main" val="1389950482"/>
              </p:ext>
            </p:extLst>
          </p:nvPr>
        </p:nvGraphicFramePr>
        <p:xfrm>
          <a:off x="813801" y="1527425"/>
          <a:ext cx="5796549" cy="1645920"/>
        </p:xfrm>
        <a:graphic>
          <a:graphicData uri="http://schemas.openxmlformats.org/drawingml/2006/table">
            <a:tbl>
              <a:tblPr firstRow="1" bandRow="1">
                <a:tableStyleId>{2D5ABB26-0587-4C30-8999-92F81FD0307C}</a:tableStyleId>
              </a:tblPr>
              <a:tblGrid>
                <a:gridCol w="4012967">
                  <a:extLst>
                    <a:ext uri="{9D8B030D-6E8A-4147-A177-3AD203B41FA5}">
                      <a16:colId xmlns:a16="http://schemas.microsoft.com/office/drawing/2014/main" val="2984476847"/>
                    </a:ext>
                  </a:extLst>
                </a:gridCol>
                <a:gridCol w="1783582">
                  <a:extLst>
                    <a:ext uri="{9D8B030D-6E8A-4147-A177-3AD203B41FA5}">
                      <a16:colId xmlns:a16="http://schemas.microsoft.com/office/drawing/2014/main" val="2861560927"/>
                    </a:ext>
                  </a:extLst>
                </a:gridCol>
              </a:tblGrid>
              <a:tr h="149415">
                <a:tc>
                  <a:txBody>
                    <a:bodyPr/>
                    <a:lstStyle/>
                    <a:p>
                      <a:pPr algn="ctr"/>
                      <a:r>
                        <a:rPr lang="en-US" sz="1200" b="1">
                          <a:solidFill>
                            <a:schemeClr val="bg1"/>
                          </a:solidFill>
                          <a:latin typeface="+mn-l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US" sz="1200" b="1">
                          <a:solidFill>
                            <a:schemeClr val="bg1"/>
                          </a:solidFill>
                          <a:latin typeface="+mn-lt"/>
                        </a:rPr>
                        <a:t>Amount (IDR)</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59382780"/>
                  </a:ext>
                </a:extLst>
              </a:tr>
              <a:tr h="129233">
                <a:tc>
                  <a:txBody>
                    <a:bodyPr/>
                    <a:lstStyle/>
                    <a:p>
                      <a:r>
                        <a:rPr lang="en-US" sz="1200" b="0">
                          <a:latin typeface="+mn-lt"/>
                        </a:rPr>
                        <a:t>Implementation Fee</a:t>
                      </a:r>
                    </a:p>
                    <a:p>
                      <a:pPr marL="171450" indent="-171450">
                        <a:buFontTx/>
                        <a:buChar char="-"/>
                      </a:pPr>
                      <a:r>
                        <a:rPr lang="en-US" sz="1200" b="0">
                          <a:latin typeface="+mn-lt"/>
                        </a:rPr>
                        <a:t>System Development </a:t>
                      </a:r>
                    </a:p>
                    <a:p>
                      <a:pPr marL="171450" indent="-171450">
                        <a:buFontTx/>
                        <a:buChar char="-"/>
                      </a:pPr>
                      <a:r>
                        <a:rPr lang="en-US" sz="1200" b="0">
                          <a:latin typeface="+mn-lt"/>
                        </a:rPr>
                        <a:t>API Development with existing system</a:t>
                      </a:r>
                    </a:p>
                    <a:p>
                      <a:pPr marL="171450" indent="-171450">
                        <a:buFontTx/>
                        <a:buChar char="-"/>
                      </a:pPr>
                      <a:r>
                        <a:rPr lang="en-US" sz="1200" b="0">
                          <a:latin typeface="+mn-lt"/>
                        </a:rPr>
                        <a:t>VAPT Remediation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90570" rtl="0" eaLnBrk="1" fontAlgn="auto" latinLnBrk="0" hangingPunct="1">
                        <a:lnSpc>
                          <a:spcPct val="100000"/>
                        </a:lnSpc>
                        <a:spcBef>
                          <a:spcPts val="0"/>
                        </a:spcBef>
                        <a:spcAft>
                          <a:spcPts val="0"/>
                        </a:spcAft>
                        <a:buClrTx/>
                        <a:buSzTx/>
                        <a:buFontTx/>
                        <a:buNone/>
                        <a:tabLst/>
                        <a:defRPr/>
                      </a:pPr>
                      <a:r>
                        <a:rPr lang="en-US" sz="1200">
                          <a:latin typeface="+mn-lt"/>
                        </a:rPr>
                        <a:t>1,853,900,000</a:t>
                      </a:r>
                      <a:endParaRPr lang="en-US" sz="1200" b="0" i="0" u="none" strike="noStrike"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458169"/>
                  </a:ext>
                </a:extLst>
              </a:tr>
              <a:tr h="129233">
                <a:tc>
                  <a:txBody>
                    <a:bodyPr/>
                    <a:lstStyle/>
                    <a:p>
                      <a:r>
                        <a:rPr lang="en-US" sz="1200" b="0">
                          <a:latin typeface="+mn-lt"/>
                        </a:rPr>
                        <a:t>Vulnerability Assessment &amp; Penetration Testing (VAPT)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90570" rtl="0" eaLnBrk="1" fontAlgn="auto" latinLnBrk="0" hangingPunct="1">
                        <a:lnSpc>
                          <a:spcPct val="100000"/>
                        </a:lnSpc>
                        <a:spcBef>
                          <a:spcPts val="0"/>
                        </a:spcBef>
                        <a:spcAft>
                          <a:spcPts val="0"/>
                        </a:spcAft>
                        <a:buClrTx/>
                        <a:buSzTx/>
                        <a:buFontTx/>
                        <a:buNone/>
                        <a:tabLst/>
                        <a:defRPr/>
                      </a:pPr>
                      <a:r>
                        <a:rPr lang="en-US" sz="1200" b="0" i="0" u="none" strike="noStrike" noProof="0">
                          <a:latin typeface="+mn-lt"/>
                        </a:rPr>
                        <a:t>66,100,000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3803644"/>
                  </a:ext>
                </a:extLst>
              </a:tr>
              <a:tr h="129233">
                <a:tc>
                  <a:txBody>
                    <a:bodyPr/>
                    <a:lstStyle/>
                    <a:p>
                      <a:pPr algn="r"/>
                      <a:r>
                        <a:rPr lang="en-US" sz="1200" b="1" u="sng">
                          <a:latin typeface="+mn-lt"/>
                        </a:rPr>
                        <a:t>Total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90570" rtl="0" eaLnBrk="1" fontAlgn="auto" latinLnBrk="0" hangingPunct="1">
                        <a:lnSpc>
                          <a:spcPct val="100000"/>
                        </a:lnSpc>
                        <a:spcBef>
                          <a:spcPts val="0"/>
                        </a:spcBef>
                        <a:spcAft>
                          <a:spcPts val="0"/>
                        </a:spcAft>
                        <a:buClrTx/>
                        <a:buSzTx/>
                        <a:buFontTx/>
                        <a:buNone/>
                        <a:tabLst/>
                        <a:defRPr/>
                      </a:pPr>
                      <a:r>
                        <a:rPr lang="en-US" sz="1200" b="1" i="0" u="sng" strike="noStrike" noProof="0">
                          <a:latin typeface="+mn-lt"/>
                        </a:rPr>
                        <a:t>1,920,000,000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31705"/>
                  </a:ext>
                </a:extLst>
              </a:tr>
            </a:tbl>
          </a:graphicData>
        </a:graphic>
      </p:graphicFrame>
      <p:sp>
        <p:nvSpPr>
          <p:cNvPr id="11" name="Google Shape;1009;p50">
            <a:extLst>
              <a:ext uri="{FF2B5EF4-FFF2-40B4-BE49-F238E27FC236}">
                <a16:creationId xmlns:a16="http://schemas.microsoft.com/office/drawing/2014/main" id="{C4A34FFD-8228-24D8-B5E0-38199BA711F5}"/>
              </a:ext>
            </a:extLst>
          </p:cNvPr>
          <p:cNvSpPr/>
          <p:nvPr/>
        </p:nvSpPr>
        <p:spPr>
          <a:xfrm>
            <a:off x="813800" y="3173345"/>
            <a:ext cx="8425751" cy="224672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b="1">
                <a:latin typeface="+mn-lt"/>
                <a:ea typeface="+mn-ea"/>
                <a:cs typeface="+mn-cs"/>
              </a:rPr>
              <a:t>Terms and Condition</a:t>
            </a:r>
          </a:p>
          <a:p>
            <a:pPr marL="230188" indent="-230188">
              <a:buFont typeface="+mj-lt"/>
              <a:buAutoNum type="arabicPeriod"/>
              <a:defRPr/>
            </a:pPr>
            <a:r>
              <a:rPr lang="en-US">
                <a:latin typeface="+mn-lt"/>
                <a:cs typeface="Calibri"/>
              </a:rPr>
              <a:t>Prices are in Indonesian Rupiah (IDR) and exclude VAT</a:t>
            </a:r>
          </a:p>
          <a:p>
            <a:pPr marL="230188" indent="-230188">
              <a:buFont typeface="+mj-lt"/>
              <a:buAutoNum type="arabicPeriod"/>
              <a:defRPr/>
            </a:pPr>
            <a:r>
              <a:rPr lang="en-US">
                <a:latin typeface="+mn-lt"/>
                <a:ea typeface="Calibri"/>
                <a:cs typeface="Calibri"/>
              </a:rPr>
              <a:t>MMKSI should deduct withholding Tax.</a:t>
            </a:r>
          </a:p>
          <a:p>
            <a:pPr marL="230188" indent="-230188">
              <a:buFont typeface="+mj-lt"/>
              <a:buAutoNum type="arabicPeriod"/>
              <a:defRPr/>
            </a:pPr>
            <a:r>
              <a:rPr lang="en-US">
                <a:latin typeface="+mn-lt"/>
                <a:ea typeface="Calibri"/>
                <a:cs typeface="Calibri"/>
              </a:rPr>
              <a:t>The prices are valid for 2 weeks from the Proposal is sent to MMKSI.​</a:t>
            </a:r>
          </a:p>
          <a:p>
            <a:pPr marL="230188" indent="-230188">
              <a:buFont typeface="+mj-lt"/>
              <a:buAutoNum type="arabicPeriod"/>
              <a:defRPr/>
            </a:pPr>
            <a:r>
              <a:rPr lang="en-US">
                <a:latin typeface="+mn-lt"/>
                <a:ea typeface="Calibri"/>
                <a:cs typeface="Calibri"/>
              </a:rPr>
              <a:t>Any additional or change of requirement which will be impacted to effort, cost, milestone, or schedule, will be charged as change request and will be treated as Engineering Change Proposal (ECP).​</a:t>
            </a:r>
          </a:p>
          <a:p>
            <a:pPr marL="230188" indent="-230188">
              <a:buFont typeface="+mj-lt"/>
              <a:buAutoNum type="arabicPeriod"/>
              <a:defRPr/>
            </a:pPr>
            <a:r>
              <a:rPr lang="en-US">
                <a:highlight>
                  <a:srgbClr val="FFFFFF"/>
                </a:highlight>
                <a:latin typeface="+mn-lt"/>
              </a:rPr>
              <a:t>MMKSI New HRD System</a:t>
            </a:r>
            <a:r>
              <a:rPr lang="en-US">
                <a:latin typeface="+mn-lt"/>
                <a:ea typeface="Calibri"/>
                <a:cs typeface="Calibri"/>
              </a:rPr>
              <a:t> implementation shall be started after the approved proposal is received by BSI.​</a:t>
            </a:r>
          </a:p>
          <a:p>
            <a:pPr marL="230188" indent="-230188">
              <a:buFont typeface="+mj-lt"/>
              <a:buAutoNum type="arabicPeriod"/>
              <a:defRPr/>
            </a:pPr>
            <a:r>
              <a:rPr lang="en-US">
                <a:latin typeface="+mn-lt"/>
                <a:ea typeface="Calibri"/>
                <a:cs typeface="Calibri"/>
              </a:rPr>
              <a:t>Payment Terms:</a:t>
            </a:r>
          </a:p>
          <a:p>
            <a:pPr marL="463550" lvl="1" indent="-230188">
              <a:buFont typeface="Arial" panose="020B0604020202020204" pitchFamily="34" charset="0"/>
              <a:buChar char="•"/>
              <a:defRPr/>
            </a:pPr>
            <a:r>
              <a:rPr lang="en-US">
                <a:latin typeface="+mn-lt"/>
                <a:ea typeface="Calibri"/>
                <a:cs typeface="Calibri"/>
              </a:rPr>
              <a:t>1st payment : 50% after this proposal is approved by MMKSI</a:t>
            </a:r>
          </a:p>
          <a:p>
            <a:pPr marL="463550" lvl="1" indent="-230188">
              <a:buFont typeface="Arial" panose="020B0604020202020204" pitchFamily="34" charset="0"/>
              <a:buChar char="•"/>
              <a:defRPr/>
            </a:pPr>
            <a:r>
              <a:rPr lang="en-US">
                <a:latin typeface="+mn-lt"/>
                <a:ea typeface="Calibri"/>
                <a:cs typeface="Calibri"/>
              </a:rPr>
              <a:t>2nd payment : 50% will be invoiced after Project closing report signed by MMKSI</a:t>
            </a:r>
          </a:p>
        </p:txBody>
      </p:sp>
      <p:sp>
        <p:nvSpPr>
          <p:cNvPr id="5" name="TextBox 4">
            <a:extLst>
              <a:ext uri="{FF2B5EF4-FFF2-40B4-BE49-F238E27FC236}">
                <a16:creationId xmlns:a16="http://schemas.microsoft.com/office/drawing/2014/main" id="{55BDC85D-1035-5F5D-92A9-0E5C5C31F15D}"/>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3832767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7479-9A28-415C-D8FB-53AEE9FFCD8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98F755B-1553-C459-AF78-655D4A73DDCE}"/>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5. Commercial</a:t>
            </a:r>
            <a:endParaRPr lang="en-ID">
              <a:latin typeface="Helvetica Neue" panose="02000503000000020004"/>
              <a:cs typeface="Calibri"/>
            </a:endParaRPr>
          </a:p>
        </p:txBody>
      </p:sp>
      <p:sp>
        <p:nvSpPr>
          <p:cNvPr id="3" name="Footer Placeholder 4">
            <a:extLst>
              <a:ext uri="{FF2B5EF4-FFF2-40B4-BE49-F238E27FC236}">
                <a16:creationId xmlns:a16="http://schemas.microsoft.com/office/drawing/2014/main" id="{15B0CBDC-492B-E7A5-E744-8570E7AA4848}"/>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06B046F9-25A1-5D15-DCFF-0459C95C4AC7}"/>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18</a:t>
            </a:fld>
            <a:endParaRPr lang="en-GB"/>
          </a:p>
        </p:txBody>
      </p:sp>
      <p:sp>
        <p:nvSpPr>
          <p:cNvPr id="2" name="TextBox 1">
            <a:extLst>
              <a:ext uri="{FF2B5EF4-FFF2-40B4-BE49-F238E27FC236}">
                <a16:creationId xmlns:a16="http://schemas.microsoft.com/office/drawing/2014/main" id="{0D313DDE-D76D-5E18-B191-411D22374818}"/>
              </a:ext>
            </a:extLst>
          </p:cNvPr>
          <p:cNvSpPr txBox="1"/>
          <p:nvPr/>
        </p:nvSpPr>
        <p:spPr>
          <a:xfrm>
            <a:off x="717185" y="822167"/>
            <a:ext cx="8825815" cy="846386"/>
          </a:xfrm>
          <a:prstGeom prst="rect">
            <a:avLst/>
          </a:prstGeom>
          <a:noFill/>
        </p:spPr>
        <p:txBody>
          <a:bodyPr wrap="square">
            <a:spAutoFit/>
          </a:bodyPr>
          <a:lstStyle/>
          <a:p>
            <a:pPr>
              <a:lnSpc>
                <a:spcPct val="150000"/>
              </a:lnSpc>
            </a:pPr>
            <a:r>
              <a:rPr lang="en-US" sz="1400" b="1">
                <a:highlight>
                  <a:srgbClr val="FFFFFF"/>
                </a:highlight>
                <a:latin typeface="Helvetica Neue" panose="02000503000000020004"/>
                <a:cs typeface="Calibri"/>
              </a:rPr>
              <a:t>5.2. Operation Fee</a:t>
            </a:r>
            <a:endParaRPr lang="en-US" sz="1400" b="1">
              <a:highlight>
                <a:srgbClr val="FFFFFF"/>
              </a:highlight>
              <a:latin typeface="Helvetica Neue" panose="02000503000000020004"/>
            </a:endParaRPr>
          </a:p>
          <a:p>
            <a:r>
              <a:rPr lang="en-US" sz="1400">
                <a:highlight>
                  <a:srgbClr val="FFFFFF"/>
                </a:highlight>
              </a:rPr>
              <a:t>Below is the summary of effort estimation that is required in Operation &amp; Maintenance (O&amp;M) after each </a:t>
            </a:r>
            <a:r>
              <a:rPr lang="en-US" sz="1400" err="1">
                <a:highlight>
                  <a:srgbClr val="FFFFFF"/>
                </a:highlight>
              </a:rPr>
              <a:t>GoLive</a:t>
            </a:r>
            <a:r>
              <a:rPr lang="en-US" sz="1400">
                <a:highlight>
                  <a:srgbClr val="FFFFFF"/>
                </a:highlight>
              </a:rPr>
              <a:t>.</a:t>
            </a:r>
          </a:p>
          <a:p>
            <a:r>
              <a:rPr lang="en-US" sz="1400">
                <a:highlight>
                  <a:srgbClr val="FFFFFF"/>
                </a:highlight>
              </a:rPr>
              <a:t>If the project schedule is changed due to any reasons, the estimation can be changed accordingly.</a:t>
            </a:r>
          </a:p>
        </p:txBody>
      </p:sp>
      <p:sp>
        <p:nvSpPr>
          <p:cNvPr id="11" name="Google Shape;1009;p50">
            <a:extLst>
              <a:ext uri="{FF2B5EF4-FFF2-40B4-BE49-F238E27FC236}">
                <a16:creationId xmlns:a16="http://schemas.microsoft.com/office/drawing/2014/main" id="{48316B6A-7E4C-1333-D6DE-36FF9F42258D}"/>
              </a:ext>
            </a:extLst>
          </p:cNvPr>
          <p:cNvSpPr/>
          <p:nvPr/>
        </p:nvSpPr>
        <p:spPr>
          <a:xfrm>
            <a:off x="666452" y="4050320"/>
            <a:ext cx="8425751" cy="224672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i="1">
                <a:latin typeface="+mn-lt"/>
                <a:ea typeface="+mn-ea"/>
                <a:cs typeface="+mn-cs"/>
              </a:rPr>
              <a:t>*) detail activities on appendix</a:t>
            </a:r>
          </a:p>
          <a:p>
            <a:pPr>
              <a:defRPr/>
            </a:pPr>
            <a:endParaRPr lang="en-US" b="1">
              <a:latin typeface="+mn-lt"/>
              <a:ea typeface="+mn-ea"/>
              <a:cs typeface="+mn-cs"/>
            </a:endParaRPr>
          </a:p>
          <a:p>
            <a:pPr>
              <a:defRPr/>
            </a:pPr>
            <a:r>
              <a:rPr lang="en-US" b="1">
                <a:latin typeface="+mn-lt"/>
                <a:ea typeface="+mn-ea"/>
                <a:cs typeface="+mn-cs"/>
              </a:rPr>
              <a:t>Terms and Condition</a:t>
            </a:r>
          </a:p>
          <a:p>
            <a:pPr marL="230188" indent="-230188">
              <a:buFont typeface="+mj-lt"/>
              <a:buAutoNum type="arabicPeriod"/>
              <a:defRPr/>
            </a:pPr>
            <a:r>
              <a:rPr lang="en-US">
                <a:latin typeface="+mn-lt"/>
                <a:cs typeface="Calibri"/>
              </a:rPr>
              <a:t>Prices are in Indonesian Rupiah (IDR) and exclude VAT</a:t>
            </a:r>
          </a:p>
          <a:p>
            <a:pPr marL="230188" indent="-230188">
              <a:buFont typeface="+mj-lt"/>
              <a:buAutoNum type="arabicPeriod"/>
              <a:defRPr/>
            </a:pPr>
            <a:r>
              <a:rPr lang="en-US">
                <a:latin typeface="+mn-lt"/>
                <a:ea typeface="Calibri"/>
                <a:cs typeface="Calibri"/>
              </a:rPr>
              <a:t>This operation service shall be started after first Go Live is being released</a:t>
            </a:r>
          </a:p>
          <a:p>
            <a:pPr marL="230188" indent="-230188">
              <a:buFont typeface="+mj-lt"/>
              <a:buAutoNum type="arabicPeriod"/>
              <a:defRPr/>
            </a:pPr>
            <a:r>
              <a:rPr lang="en-US">
                <a:latin typeface="+mn-lt"/>
                <a:ea typeface="Calibri"/>
                <a:cs typeface="Calibri"/>
              </a:rPr>
              <a:t>Above price table is refer to defined scope of service in </a:t>
            </a:r>
            <a:r>
              <a:rPr lang="en-US" b="1">
                <a:latin typeface="+mn-lt"/>
                <a:ea typeface="Calibri"/>
                <a:cs typeface="Calibri"/>
              </a:rPr>
              <a:t>Appendix - I</a:t>
            </a:r>
          </a:p>
          <a:p>
            <a:pPr marL="230188" indent="-230188">
              <a:buFont typeface="+mj-lt"/>
              <a:buAutoNum type="arabicPeriod"/>
              <a:defRPr/>
            </a:pPr>
            <a:r>
              <a:rPr lang="en-US">
                <a:latin typeface="+mn-lt"/>
                <a:ea typeface="Calibri"/>
                <a:cs typeface="Calibri"/>
              </a:rPr>
              <a:t>Service period for HRIS Managed Service is 1 year starting from go live date. If MMKSI terminates the Service before the end of the Service Period, MMKSI shall compensate BSI in amount of remaining Service Period left.</a:t>
            </a:r>
          </a:p>
          <a:p>
            <a:pPr marL="230188" indent="-230188">
              <a:buFont typeface="+mj-lt"/>
              <a:buAutoNum type="arabicPeriod"/>
              <a:defRPr/>
            </a:pPr>
            <a:r>
              <a:rPr lang="en-US">
                <a:latin typeface="+mn-lt"/>
                <a:ea typeface="Calibri"/>
                <a:cs typeface="Calibri"/>
              </a:rPr>
              <a:t>Any additional scope of work that is not stated in this document will be charged in separate invoice based on relevant supporting document.</a:t>
            </a:r>
          </a:p>
        </p:txBody>
      </p:sp>
      <p:graphicFrame>
        <p:nvGraphicFramePr>
          <p:cNvPr id="5" name="Table 4">
            <a:extLst>
              <a:ext uri="{FF2B5EF4-FFF2-40B4-BE49-F238E27FC236}">
                <a16:creationId xmlns:a16="http://schemas.microsoft.com/office/drawing/2014/main" id="{C5EE9BD8-760F-3D3C-C217-99EB9843F2EB}"/>
              </a:ext>
            </a:extLst>
          </p:cNvPr>
          <p:cNvGraphicFramePr>
            <a:graphicFrameLocks noGrp="1"/>
          </p:cNvGraphicFramePr>
          <p:nvPr>
            <p:extLst>
              <p:ext uri="{D42A27DB-BD31-4B8C-83A1-F6EECF244321}">
                <p14:modId xmlns:p14="http://schemas.microsoft.com/office/powerpoint/2010/main" val="964021901"/>
              </p:ext>
            </p:extLst>
          </p:nvPr>
        </p:nvGraphicFramePr>
        <p:xfrm>
          <a:off x="717185" y="1669310"/>
          <a:ext cx="9152693" cy="2338984"/>
        </p:xfrm>
        <a:graphic>
          <a:graphicData uri="http://schemas.openxmlformats.org/drawingml/2006/table">
            <a:tbl>
              <a:tblPr/>
              <a:tblGrid>
                <a:gridCol w="395335">
                  <a:extLst>
                    <a:ext uri="{9D8B030D-6E8A-4147-A177-3AD203B41FA5}">
                      <a16:colId xmlns:a16="http://schemas.microsoft.com/office/drawing/2014/main" val="2755113419"/>
                    </a:ext>
                  </a:extLst>
                </a:gridCol>
                <a:gridCol w="1387606">
                  <a:extLst>
                    <a:ext uri="{9D8B030D-6E8A-4147-A177-3AD203B41FA5}">
                      <a16:colId xmlns:a16="http://schemas.microsoft.com/office/drawing/2014/main" val="1682989819"/>
                    </a:ext>
                  </a:extLst>
                </a:gridCol>
                <a:gridCol w="545818">
                  <a:extLst>
                    <a:ext uri="{9D8B030D-6E8A-4147-A177-3AD203B41FA5}">
                      <a16:colId xmlns:a16="http://schemas.microsoft.com/office/drawing/2014/main" val="982868471"/>
                    </a:ext>
                  </a:extLst>
                </a:gridCol>
                <a:gridCol w="545818">
                  <a:extLst>
                    <a:ext uri="{9D8B030D-6E8A-4147-A177-3AD203B41FA5}">
                      <a16:colId xmlns:a16="http://schemas.microsoft.com/office/drawing/2014/main" val="372004332"/>
                    </a:ext>
                  </a:extLst>
                </a:gridCol>
                <a:gridCol w="545818">
                  <a:extLst>
                    <a:ext uri="{9D8B030D-6E8A-4147-A177-3AD203B41FA5}">
                      <a16:colId xmlns:a16="http://schemas.microsoft.com/office/drawing/2014/main" val="1892878395"/>
                    </a:ext>
                  </a:extLst>
                </a:gridCol>
                <a:gridCol w="545818">
                  <a:extLst>
                    <a:ext uri="{9D8B030D-6E8A-4147-A177-3AD203B41FA5}">
                      <a16:colId xmlns:a16="http://schemas.microsoft.com/office/drawing/2014/main" val="4071229133"/>
                    </a:ext>
                  </a:extLst>
                </a:gridCol>
                <a:gridCol w="545818">
                  <a:extLst>
                    <a:ext uri="{9D8B030D-6E8A-4147-A177-3AD203B41FA5}">
                      <a16:colId xmlns:a16="http://schemas.microsoft.com/office/drawing/2014/main" val="2549765967"/>
                    </a:ext>
                  </a:extLst>
                </a:gridCol>
                <a:gridCol w="545818">
                  <a:extLst>
                    <a:ext uri="{9D8B030D-6E8A-4147-A177-3AD203B41FA5}">
                      <a16:colId xmlns:a16="http://schemas.microsoft.com/office/drawing/2014/main" val="1814514611"/>
                    </a:ext>
                  </a:extLst>
                </a:gridCol>
                <a:gridCol w="545818">
                  <a:extLst>
                    <a:ext uri="{9D8B030D-6E8A-4147-A177-3AD203B41FA5}">
                      <a16:colId xmlns:a16="http://schemas.microsoft.com/office/drawing/2014/main" val="3635805210"/>
                    </a:ext>
                  </a:extLst>
                </a:gridCol>
                <a:gridCol w="545818">
                  <a:extLst>
                    <a:ext uri="{9D8B030D-6E8A-4147-A177-3AD203B41FA5}">
                      <a16:colId xmlns:a16="http://schemas.microsoft.com/office/drawing/2014/main" val="1239120971"/>
                    </a:ext>
                  </a:extLst>
                </a:gridCol>
                <a:gridCol w="545818">
                  <a:extLst>
                    <a:ext uri="{9D8B030D-6E8A-4147-A177-3AD203B41FA5}">
                      <a16:colId xmlns:a16="http://schemas.microsoft.com/office/drawing/2014/main" val="4237530048"/>
                    </a:ext>
                  </a:extLst>
                </a:gridCol>
                <a:gridCol w="545818">
                  <a:extLst>
                    <a:ext uri="{9D8B030D-6E8A-4147-A177-3AD203B41FA5}">
                      <a16:colId xmlns:a16="http://schemas.microsoft.com/office/drawing/2014/main" val="861851982"/>
                    </a:ext>
                  </a:extLst>
                </a:gridCol>
                <a:gridCol w="545818">
                  <a:extLst>
                    <a:ext uri="{9D8B030D-6E8A-4147-A177-3AD203B41FA5}">
                      <a16:colId xmlns:a16="http://schemas.microsoft.com/office/drawing/2014/main" val="1176517683"/>
                    </a:ext>
                  </a:extLst>
                </a:gridCol>
                <a:gridCol w="682877">
                  <a:extLst>
                    <a:ext uri="{9D8B030D-6E8A-4147-A177-3AD203B41FA5}">
                      <a16:colId xmlns:a16="http://schemas.microsoft.com/office/drawing/2014/main" val="3118364093"/>
                    </a:ext>
                  </a:extLst>
                </a:gridCol>
                <a:gridCol w="682877">
                  <a:extLst>
                    <a:ext uri="{9D8B030D-6E8A-4147-A177-3AD203B41FA5}">
                      <a16:colId xmlns:a16="http://schemas.microsoft.com/office/drawing/2014/main" val="4023090896"/>
                    </a:ext>
                  </a:extLst>
                </a:gridCol>
              </a:tblGrid>
              <a:tr h="328135">
                <a:tc rowSpan="2">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No</a:t>
                      </a:r>
                      <a:r>
                        <a:rPr lang="en-US" sz="1300" b="1" i="0">
                          <a:solidFill>
                            <a:schemeClr val="bg1"/>
                          </a:solidFill>
                          <a:effectLst/>
                          <a:latin typeface="Calibri" panose="020F0502020204030204" pitchFamily="34" charset="0"/>
                        </a:rPr>
                        <a:t>​</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Service Name</a:t>
                      </a:r>
                      <a:r>
                        <a:rPr lang="en-US" sz="1300" b="1" i="0">
                          <a:solidFill>
                            <a:schemeClr val="bg1"/>
                          </a:solidFill>
                          <a:effectLst/>
                          <a:latin typeface="Calibri" panose="020F0502020204030204" pitchFamily="34" charset="0"/>
                        </a:rPr>
                        <a:t>​</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12">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HR Operation Amount FY26 (in Mio IDR)</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(FY27)</a:t>
                      </a:r>
                      <a:r>
                        <a:rPr lang="en-US" sz="1300" b="1" i="0">
                          <a:solidFill>
                            <a:schemeClr val="bg1"/>
                          </a:solidFill>
                          <a:effectLst/>
                          <a:latin typeface="Calibri" panose="020F0502020204030204" pitchFamily="34" charset="0"/>
                        </a:rPr>
                        <a:t>​</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368189380"/>
                  </a:ext>
                </a:extLst>
              </a:tr>
              <a:tr h="386904">
                <a:tc vMerge="1">
                  <a:txBody>
                    <a:bodyPr/>
                    <a:lstStyle/>
                    <a:p>
                      <a:endParaRPr lang="en-US"/>
                    </a:p>
                  </a:txBody>
                  <a:tcPr/>
                </a:tc>
                <a:tc vMerge="1">
                  <a:txBody>
                    <a:bodyPr/>
                    <a:lstStyle/>
                    <a:p>
                      <a:endParaRPr lang="en-US"/>
                    </a:p>
                  </a:txBody>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May’</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Jun’</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Jul’ </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Aug’</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Sep’</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Oct’</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Nov’</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Dec’</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Jan’</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27</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Feb’</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27</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Mar’</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27</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425"/>
                        </a:lnSpc>
                        <a:buNone/>
                      </a:pPr>
                      <a:r>
                        <a:rPr lang="en-US" sz="1100" b="1" i="0" u="none" strike="noStrike">
                          <a:solidFill>
                            <a:schemeClr val="bg1"/>
                          </a:solidFill>
                          <a:effectLst/>
                          <a:latin typeface="Calibri" panose="020F0502020204030204" pitchFamily="34" charset="0"/>
                        </a:rPr>
                        <a:t>Total</a:t>
                      </a:r>
                      <a:r>
                        <a:rPr lang="en-US" sz="1100" b="0" i="0">
                          <a:solidFill>
                            <a:schemeClr val="bg1"/>
                          </a:solidFill>
                          <a:effectLst/>
                          <a:latin typeface="Calibri" panose="020F0502020204030204" pitchFamily="34" charset="0"/>
                        </a:rPr>
                        <a:t>​</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425"/>
                        </a:lnSpc>
                        <a:buNone/>
                      </a:pPr>
                      <a:r>
                        <a:rPr lang="en-US" sz="1100" b="1" i="0" u="none" strike="noStrike">
                          <a:solidFill>
                            <a:schemeClr val="bg1"/>
                          </a:solidFill>
                          <a:effectLst/>
                          <a:latin typeface="Calibri" panose="020F0502020204030204" pitchFamily="34" charset="0"/>
                        </a:rPr>
                        <a:t>Monthly</a:t>
                      </a:r>
                      <a:r>
                        <a:rPr lang="en-US" sz="1100" b="0" i="0">
                          <a:solidFill>
                            <a:schemeClr val="bg1"/>
                          </a:solidFill>
                          <a:effectLst/>
                          <a:latin typeface="Calibri" panose="020F0502020204030204" pitchFamily="34" charset="0"/>
                        </a:rPr>
                        <a:t>​</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523101631"/>
                  </a:ext>
                </a:extLst>
              </a:tr>
              <a:tr h="420776">
                <a:tc gridSpan="2">
                  <a:txBody>
                    <a:bodyPr/>
                    <a:lstStyle/>
                    <a:p>
                      <a:pPr algn="ctr" fontAlgn="base">
                        <a:lnSpc>
                          <a:spcPts val="1425"/>
                        </a:lnSpc>
                        <a:buNone/>
                      </a:pPr>
                      <a:r>
                        <a:rPr lang="en-US" sz="1100" b="0" i="0" u="none" strike="noStrike">
                          <a:solidFill>
                            <a:srgbClr val="000000"/>
                          </a:solidFill>
                          <a:effectLst/>
                          <a:latin typeface="Calibri" panose="020F0502020204030204" pitchFamily="34" charset="0"/>
                        </a:rPr>
                        <a:t>Milestone</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8045319"/>
                  </a:ext>
                </a:extLst>
              </a:tr>
              <a:tr h="250684">
                <a:tc>
                  <a:txBody>
                    <a:bodyPr/>
                    <a:lstStyle/>
                    <a:p>
                      <a:pPr algn="ctr" fontAlgn="base">
                        <a:lnSpc>
                          <a:spcPts val="1425"/>
                        </a:lnSpc>
                        <a:buNone/>
                      </a:pPr>
                      <a:r>
                        <a:rPr lang="en-US" sz="1100" b="0" i="0" u="none" strike="noStrike">
                          <a:solidFill>
                            <a:srgbClr val="000000"/>
                          </a:solidFill>
                          <a:effectLst/>
                          <a:latin typeface="Calibri" panose="020F0502020204030204" pitchFamily="34" charset="0"/>
                        </a:rPr>
                        <a:t>1</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425"/>
                        </a:lnSpc>
                        <a:buNone/>
                      </a:pPr>
                      <a:r>
                        <a:rPr lang="en-US" sz="1100" b="0" i="0" u="none" strike="noStrike">
                          <a:solidFill>
                            <a:srgbClr val="000000"/>
                          </a:solidFill>
                          <a:effectLst/>
                          <a:latin typeface="Calibri" panose="020F0502020204030204" pitchFamily="34" charset="0"/>
                        </a:rPr>
                        <a:t>Existing </a:t>
                      </a:r>
                      <a:r>
                        <a:rPr lang="en-US" sz="1100" b="0" i="0">
                          <a:solidFill>
                            <a:srgbClr val="000000"/>
                          </a:solidFill>
                          <a:effectLst/>
                          <a:latin typeface="Calibri" panose="020F0502020204030204" pitchFamily="34" charset="0"/>
                        </a:rPr>
                        <a:t>​HRIS O&amp;M</a:t>
                      </a:r>
                    </a:p>
                    <a:p>
                      <a:pPr marL="171450" indent="-171450" algn="l" fontAlgn="base">
                        <a:lnSpc>
                          <a:spcPts val="1425"/>
                        </a:lnSpc>
                        <a:buFontTx/>
                        <a:buChar char="-"/>
                      </a:pPr>
                      <a:r>
                        <a:rPr lang="en-US" sz="1100" b="0" i="0">
                          <a:solidFill>
                            <a:srgbClr val="000000"/>
                          </a:solidFill>
                          <a:effectLst/>
                          <a:latin typeface="Calibri" panose="020F0502020204030204" pitchFamily="34" charset="0"/>
                        </a:rPr>
                        <a:t>HR &amp; SW</a:t>
                      </a:r>
                    </a:p>
                    <a:p>
                      <a:pPr marL="171450" indent="-171450" algn="l" fontAlgn="base">
                        <a:lnSpc>
                          <a:spcPts val="1425"/>
                        </a:lnSpc>
                        <a:buFontTx/>
                        <a:buChar char="-"/>
                      </a:pPr>
                      <a:r>
                        <a:rPr lang="en-US" sz="1100" b="0" i="0">
                          <a:solidFill>
                            <a:srgbClr val="000000"/>
                          </a:solidFill>
                          <a:effectLst/>
                          <a:latin typeface="Calibri" panose="020F0502020204030204" pitchFamily="34" charset="0"/>
                        </a:rPr>
                        <a:t>Cloud</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a:solidFill>
                          <a:srgbClr val="000000"/>
                        </a:solidFill>
                        <a:effectLst/>
                        <a:latin typeface="Calibri" panose="020F0502020204030204" pitchFamily="34" charset="0"/>
                      </a:endParaRPr>
                    </a:p>
                    <a:p>
                      <a:pPr algn="ctr" fontAlgn="base">
                        <a:lnSpc>
                          <a:spcPts val="1425"/>
                        </a:lnSpc>
                        <a:buNone/>
                      </a:pPr>
                      <a:r>
                        <a:rPr lang="en-GB" sz="1100" b="0" i="0" u="none" strike="noStrike">
                          <a:solidFill>
                            <a:srgbClr val="000000"/>
                          </a:solidFill>
                          <a:effectLst/>
                          <a:latin typeface="Calibri" panose="020F0502020204030204" pitchFamily="34" charset="0"/>
                        </a:rPr>
                        <a:t>42.4</a:t>
                      </a:r>
                    </a:p>
                    <a:p>
                      <a:pPr algn="ctr" fontAlgn="base">
                        <a:lnSpc>
                          <a:spcPts val="1425"/>
                        </a:lnSpc>
                        <a:buNone/>
                      </a:pPr>
                      <a:r>
                        <a:rPr lang="en-GB" sz="1100" b="0" i="0" u="none" strike="noStrike">
                          <a:solidFill>
                            <a:srgbClr val="000000"/>
                          </a:solidFill>
                          <a:effectLst/>
                          <a:latin typeface="Calibri" panose="020F0502020204030204" pitchFamily="34" charset="0"/>
                        </a:rPr>
                        <a:t>15.04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a:solidFill>
                          <a:srgbClr val="000000"/>
                        </a:solidFill>
                        <a:effectLst/>
                        <a:latin typeface="Calibri" panose="020F0502020204030204" pitchFamily="34" charset="0"/>
                      </a:endParaRPr>
                    </a:p>
                    <a:p>
                      <a:pPr algn="ctr" fontAlgn="base">
                        <a:lnSpc>
                          <a:spcPts val="1425"/>
                        </a:lnSpc>
                        <a:buNone/>
                      </a:pPr>
                      <a:r>
                        <a:rPr lang="en-GB" sz="1100" b="0" i="0" u="none" strike="noStrike">
                          <a:solidFill>
                            <a:srgbClr val="000000"/>
                          </a:solidFill>
                          <a:effectLst/>
                          <a:latin typeface="Calibri" panose="020F0502020204030204" pitchFamily="34" charset="0"/>
                        </a:rPr>
                        <a:t>42.4</a:t>
                      </a:r>
                    </a:p>
                    <a:p>
                      <a:pPr algn="ctr" fontAlgn="base">
                        <a:lnSpc>
                          <a:spcPts val="1425"/>
                        </a:lnSpc>
                        <a:buNone/>
                      </a:pPr>
                      <a:r>
                        <a:rPr lang="en-GB" sz="1100" b="0" i="0" u="none" strike="noStrike">
                          <a:solidFill>
                            <a:srgbClr val="000000"/>
                          </a:solidFill>
                          <a:effectLst/>
                          <a:latin typeface="Calibri" panose="020F0502020204030204" pitchFamily="34" charset="0"/>
                        </a:rPr>
                        <a:t>15.04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kern="1200">
                        <a:solidFill>
                          <a:srgbClr val="000000"/>
                        </a:solidFill>
                        <a:effectLst/>
                        <a:latin typeface="Calibri" panose="020F0502020204030204" pitchFamily="34" charset="0"/>
                        <a:ea typeface="+mn-ea"/>
                        <a:cs typeface="+mn-cs"/>
                      </a:endParaRPr>
                    </a:p>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lang="en-GB" sz="1100" b="0" i="0" u="none" strike="noStrike" kern="1200">
                          <a:solidFill>
                            <a:srgbClr val="000000"/>
                          </a:solidFill>
                          <a:effectLst/>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a:solidFill>
                          <a:srgbClr val="000000"/>
                        </a:solidFill>
                        <a:effectLst/>
                        <a:latin typeface="Calibri" panose="020F0502020204030204" pitchFamily="34" charset="0"/>
                      </a:endParaRPr>
                    </a:p>
                    <a:p>
                      <a:pPr algn="ctr" fontAlgn="base">
                        <a:lnSpc>
                          <a:spcPts val="1425"/>
                        </a:lnSpc>
                        <a:buNone/>
                      </a:pPr>
                      <a:r>
                        <a:rPr lang="en-GB" sz="1100" b="0" i="0" u="none" strike="noStrike">
                          <a:solidFill>
                            <a:srgbClr val="000000"/>
                          </a:solidFill>
                          <a:effectLst/>
                          <a:latin typeface="Calibri" panose="020F0502020204030204" pitchFamily="34" charset="0"/>
                        </a:rPr>
                        <a:t>478.37</a:t>
                      </a:r>
                    </a:p>
                    <a:p>
                      <a:pPr algn="ctr" fontAlgn="base">
                        <a:lnSpc>
                          <a:spcPts val="1425"/>
                        </a:lnSpc>
                        <a:buNone/>
                      </a:pPr>
                      <a:r>
                        <a:rPr lang="en-GB" sz="1100" b="0" i="0" u="none" strike="noStrike">
                          <a:solidFill>
                            <a:srgbClr val="000000"/>
                          </a:solidFill>
                          <a:effectLst/>
                          <a:latin typeface="Calibri" panose="020F0502020204030204" pitchFamily="34" charset="0"/>
                        </a:rPr>
                        <a:t>165.44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kern="1200">
                        <a:solidFill>
                          <a:srgbClr val="000000"/>
                        </a:solidFill>
                        <a:effectLst/>
                        <a:latin typeface="Calibri" panose="020F0502020204030204" pitchFamily="34" charset="0"/>
                        <a:ea typeface="+mn-ea"/>
                        <a:cs typeface="+mn-cs"/>
                      </a:endParaRPr>
                    </a:p>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44.48​</a:t>
                      </a:r>
                    </a:p>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141038"/>
                  </a:ext>
                </a:extLst>
              </a:tr>
              <a:tr h="316118">
                <a:tc>
                  <a:txBody>
                    <a:bodyPr/>
                    <a:lstStyle/>
                    <a:p>
                      <a:pPr algn="ctr" fontAlgn="base">
                        <a:lnSpc>
                          <a:spcPts val="1425"/>
                        </a:lnSpc>
                        <a:buNone/>
                      </a:pPr>
                      <a:r>
                        <a:rPr lang="en-US" sz="1100" b="0" i="0" u="none" strike="noStrike">
                          <a:solidFill>
                            <a:srgbClr val="000000"/>
                          </a:solidFill>
                          <a:effectLst/>
                          <a:latin typeface="Calibri" panose="020F0502020204030204" pitchFamily="34" charset="0"/>
                        </a:rPr>
                        <a:t>2</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425"/>
                        </a:lnSpc>
                        <a:buNone/>
                      </a:pPr>
                      <a:r>
                        <a:rPr lang="en-US" sz="1050" b="0" i="0" u="none" strike="noStrike">
                          <a:solidFill>
                            <a:srgbClr val="FF0000"/>
                          </a:solidFill>
                          <a:effectLst/>
                          <a:latin typeface="Calibri" panose="020F0502020204030204" pitchFamily="34" charset="0"/>
                        </a:rPr>
                        <a:t>New HRD O&amp;M (HR)*</a:t>
                      </a:r>
                      <a:endParaRPr lang="en-US" sz="1050" b="0" i="0">
                        <a:solidFill>
                          <a:srgbClr val="FF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a:solidFill>
                            <a:srgbClr val="000000"/>
                          </a:solidFill>
                          <a:effectLst/>
                          <a:latin typeface="Calibri" panose="020F0502020204030204" pitchFamily="34" charset="0"/>
                        </a:rPr>
                        <a:t>0</a:t>
                      </a:r>
                      <a:r>
                        <a:rPr lang="en-GB" sz="1100" b="0" i="0">
                          <a:solidFill>
                            <a:srgbClr val="000000"/>
                          </a:solidFill>
                          <a:effectLst/>
                          <a:latin typeface="Calibri" panose="020F0502020204030204" pitchFamily="34" charset="0"/>
                        </a:rPr>
                        <a:t>​</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a:solidFill>
                            <a:srgbClr val="000000"/>
                          </a:solidFill>
                          <a:effectLst/>
                          <a:latin typeface="Calibri" panose="020F0502020204030204" pitchFamily="34" charset="0"/>
                        </a:rPr>
                        <a:t>0</a:t>
                      </a:r>
                      <a:r>
                        <a:rPr lang="en-GB" sz="1100" b="0" i="0">
                          <a:solidFill>
                            <a:srgbClr val="000000"/>
                          </a:solidFill>
                          <a:effectLst/>
                          <a:latin typeface="Calibri" panose="020F0502020204030204" pitchFamily="34" charset="0"/>
                        </a:rPr>
                        <a:t>​</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a:solidFill>
                            <a:srgbClr val="000000"/>
                          </a:solidFill>
                          <a:effectLst/>
                          <a:latin typeface="Calibri" panose="020F0502020204030204" pitchFamily="34" charset="0"/>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135</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22.5</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9639115"/>
                  </a:ext>
                </a:extLst>
              </a:tr>
              <a:tr h="250684">
                <a:tc gridSpan="2">
                  <a:txBody>
                    <a:bodyPr/>
                    <a:lstStyle/>
                    <a:p>
                      <a:pPr algn="r" fontAlgn="base">
                        <a:lnSpc>
                          <a:spcPts val="1425"/>
                        </a:lnSpc>
                        <a:buNone/>
                      </a:pPr>
                      <a:r>
                        <a:rPr lang="en-US" sz="1100" b="1" i="0">
                          <a:solidFill>
                            <a:srgbClr val="000000"/>
                          </a:solidFill>
                          <a:effectLst/>
                          <a:latin typeface="Calibri" panose="020F0502020204030204" pitchFamily="34" charset="0"/>
                        </a:rPr>
                        <a:t>Total Amount Estimation</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57.44</a:t>
                      </a:r>
                      <a:endParaRPr lang="en-GB" sz="1700" b="1"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57.44</a:t>
                      </a:r>
                      <a:endParaRPr lang="en-GB" sz="1700" b="1"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67.77</a:t>
                      </a:r>
                      <a:endParaRPr lang="en-GB" sz="1700" b="1"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lang="en-GB" sz="1100" b="1" i="0" u="none" strike="noStrike">
                          <a:solidFill>
                            <a:srgbClr val="000000"/>
                          </a:solidFill>
                          <a:effectLst/>
                          <a:latin typeface="Calibri" panose="020F0502020204030204" pitchFamily="34" charset="0"/>
                        </a:rPr>
                        <a:t>67.77</a:t>
                      </a:r>
                      <a:r>
                        <a:rPr lang="en-GB" sz="1100" b="0" i="0">
                          <a:solidFill>
                            <a:srgbClr val="000000"/>
                          </a:solidFill>
                          <a:effectLst/>
                          <a:latin typeface="Calibri" panose="020F0502020204030204" pitchFamily="34" charset="0"/>
                        </a:rPr>
                        <a:t>​</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67.77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67.77</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67.77</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kern="1200">
                          <a:solidFill>
                            <a:srgbClr val="000000"/>
                          </a:solidFill>
                          <a:effectLst/>
                          <a:latin typeface="Calibri" panose="020F0502020204030204" pitchFamily="34" charset="0"/>
                          <a:ea typeface="+mn-ea"/>
                          <a:cs typeface="+mn-cs"/>
                        </a:rPr>
                        <a:t>778.81</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kern="1200">
                          <a:solidFill>
                            <a:srgbClr val="000000"/>
                          </a:solidFill>
                          <a:effectLst/>
                          <a:latin typeface="Calibri" panose="020F0502020204030204" pitchFamily="34" charset="0"/>
                          <a:ea typeface="+mn-ea"/>
                          <a:cs typeface="+mn-cs"/>
                        </a:rPr>
                        <a:t>82.02</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0440871"/>
                  </a:ext>
                </a:extLst>
              </a:tr>
            </a:tbl>
          </a:graphicData>
        </a:graphic>
      </p:graphicFrame>
      <p:sp>
        <p:nvSpPr>
          <p:cNvPr id="6" name="Rectangle 1">
            <a:extLst>
              <a:ext uri="{FF2B5EF4-FFF2-40B4-BE49-F238E27FC236}">
                <a16:creationId xmlns:a16="http://schemas.microsoft.com/office/drawing/2014/main" id="{278083C5-D83E-B220-2F14-4D817BA23DFE}"/>
              </a:ext>
            </a:extLst>
          </p:cNvPr>
          <p:cNvSpPr>
            <a:spLocks noChangeArrowheads="1"/>
          </p:cNvSpPr>
          <p:nvPr/>
        </p:nvSpPr>
        <p:spPr bwMode="auto">
          <a:xfrm>
            <a:off x="666452" y="1702304"/>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テキスト ボックス 11">
            <a:extLst>
              <a:ext uri="{FF2B5EF4-FFF2-40B4-BE49-F238E27FC236}">
                <a16:creationId xmlns:a16="http://schemas.microsoft.com/office/drawing/2014/main" id="{CC33EAC9-C483-F173-27EF-F783031DC4B0}"/>
              </a:ext>
            </a:extLst>
          </p:cNvPr>
          <p:cNvSpPr txBox="1"/>
          <p:nvPr/>
        </p:nvSpPr>
        <p:spPr>
          <a:xfrm>
            <a:off x="3380903" y="2606238"/>
            <a:ext cx="568032" cy="226591"/>
          </a:xfrm>
          <a:prstGeom prst="rect">
            <a:avLst/>
          </a:prstGeom>
          <a:noFill/>
        </p:spPr>
        <p:txBody>
          <a:bodyPr wrap="none" lIns="36000" tIns="36000" rIns="36000" bIns="3600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Tx/>
              <a:buFontTx/>
              <a:buNone/>
            </a:pPr>
            <a:r>
              <a:rPr kumimoji="1" lang="en-US" altLang="ja-JP" sz="1000" b="1" kern="1200">
                <a:solidFill>
                  <a:srgbClr val="FF0000"/>
                </a:solidFill>
                <a:latin typeface="Calibri" panose="020F0502020204030204"/>
                <a:ea typeface="游ゴシック"/>
                <a:cs typeface="+mn-cs"/>
              </a:rPr>
              <a:t>Go-Live 1</a:t>
            </a:r>
            <a:endParaRPr lang="en-US" altLang="ja-JP" sz="1000" b="1">
              <a:solidFill>
                <a:srgbClr val="FF0000"/>
              </a:solidFill>
              <a:latin typeface="Calibri" panose="020F0502020204030204"/>
              <a:ea typeface="游ゴシック"/>
              <a:cs typeface="Calibri"/>
            </a:endParaRPr>
          </a:p>
        </p:txBody>
      </p:sp>
      <p:sp>
        <p:nvSpPr>
          <p:cNvPr id="9" name="Star: 5 Points 8">
            <a:extLst>
              <a:ext uri="{FF2B5EF4-FFF2-40B4-BE49-F238E27FC236}">
                <a16:creationId xmlns:a16="http://schemas.microsoft.com/office/drawing/2014/main" id="{EDC4B728-94D6-9C3B-AC76-E0027683262A}"/>
              </a:ext>
            </a:extLst>
          </p:cNvPr>
          <p:cNvSpPr/>
          <p:nvPr/>
        </p:nvSpPr>
        <p:spPr>
          <a:xfrm>
            <a:off x="3553170" y="2473230"/>
            <a:ext cx="108000" cy="108000"/>
          </a:xfrm>
          <a:prstGeom prst="star5">
            <a:avLst/>
          </a:prstGeom>
          <a:solidFill>
            <a:srgbClr val="FF0000"/>
          </a:solidFill>
          <a:ln w="12700" cap="flat" cmpd="sng" algn="ctr">
            <a:solidFill>
              <a:srgbClr val="FF0000"/>
            </a:solidFill>
            <a:prstDash val="solid"/>
            <a:miter lim="800000"/>
          </a:ln>
          <a:effectLst/>
        </p:spPr>
        <p:txBody>
          <a:bodyPr lIns="36000" tIns="36000" rIns="36000" bIns="3600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12" name="テキスト ボックス 11">
            <a:extLst>
              <a:ext uri="{FF2B5EF4-FFF2-40B4-BE49-F238E27FC236}">
                <a16:creationId xmlns:a16="http://schemas.microsoft.com/office/drawing/2014/main" id="{A8A74A7B-7AE5-1B14-622B-FF26CF8A17A4}"/>
              </a:ext>
            </a:extLst>
          </p:cNvPr>
          <p:cNvSpPr txBox="1"/>
          <p:nvPr/>
        </p:nvSpPr>
        <p:spPr>
          <a:xfrm>
            <a:off x="5735928" y="2610109"/>
            <a:ext cx="694668" cy="226591"/>
          </a:xfrm>
          <a:prstGeom prst="rect">
            <a:avLst/>
          </a:prstGeom>
          <a:noFill/>
        </p:spPr>
        <p:txBody>
          <a:bodyPr wrap="none" lIns="36000" tIns="36000" rIns="36000" bIns="3600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Tx/>
              <a:buFontTx/>
              <a:buNone/>
            </a:pPr>
            <a:r>
              <a:rPr kumimoji="1" lang="en-US" altLang="ja-JP" sz="1000" b="1" kern="1200">
                <a:solidFill>
                  <a:srgbClr val="FF0000"/>
                </a:solidFill>
                <a:latin typeface="Calibri" panose="020F0502020204030204"/>
                <a:ea typeface="游ゴシック"/>
                <a:cs typeface="+mn-cs"/>
              </a:rPr>
              <a:t>Full Go-Live</a:t>
            </a:r>
            <a:endParaRPr lang="en-US" altLang="ja-JP" sz="1000" b="1">
              <a:solidFill>
                <a:srgbClr val="FF0000"/>
              </a:solidFill>
              <a:latin typeface="Calibri" panose="020F0502020204030204"/>
              <a:ea typeface="游ゴシック"/>
              <a:cs typeface="Calibri"/>
            </a:endParaRPr>
          </a:p>
        </p:txBody>
      </p:sp>
      <p:sp>
        <p:nvSpPr>
          <p:cNvPr id="13" name="Star: 5 Points 12">
            <a:extLst>
              <a:ext uri="{FF2B5EF4-FFF2-40B4-BE49-F238E27FC236}">
                <a16:creationId xmlns:a16="http://schemas.microsoft.com/office/drawing/2014/main" id="{71FDAC68-0BB8-9FB3-37C4-FA23726AB8CF}"/>
              </a:ext>
            </a:extLst>
          </p:cNvPr>
          <p:cNvSpPr/>
          <p:nvPr/>
        </p:nvSpPr>
        <p:spPr>
          <a:xfrm>
            <a:off x="5981130" y="2477101"/>
            <a:ext cx="108000" cy="108000"/>
          </a:xfrm>
          <a:prstGeom prst="star5">
            <a:avLst/>
          </a:prstGeom>
          <a:solidFill>
            <a:srgbClr val="FF0000"/>
          </a:solidFill>
          <a:ln w="12700" cap="flat" cmpd="sng" algn="ctr">
            <a:solidFill>
              <a:srgbClr val="FF0000"/>
            </a:solidFill>
            <a:prstDash val="solid"/>
            <a:miter lim="800000"/>
          </a:ln>
          <a:effectLst/>
        </p:spPr>
        <p:txBody>
          <a:bodyPr lIns="36000" tIns="36000" rIns="36000" bIns="3600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61DBE86-04DC-5E4C-CB53-36D5E139B888}"/>
              </a:ext>
            </a:extLst>
          </p:cNvPr>
          <p:cNvSpPr/>
          <p:nvPr/>
        </p:nvSpPr>
        <p:spPr>
          <a:xfrm>
            <a:off x="717185" y="3435412"/>
            <a:ext cx="9135475" cy="310030"/>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25133B1-4BA2-9B17-0AFE-5B88FB6EFBF9}"/>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3818290815"/>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71320-F326-BD97-B6EB-4392BDC2B2C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C947D1B-D18B-984E-C481-ED039E472F59}"/>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5. Commercial</a:t>
            </a:r>
            <a:endParaRPr lang="en-ID">
              <a:latin typeface="Helvetica Neue" panose="02000503000000020004"/>
              <a:cs typeface="Calibri"/>
            </a:endParaRPr>
          </a:p>
        </p:txBody>
      </p:sp>
      <p:sp>
        <p:nvSpPr>
          <p:cNvPr id="3" name="Footer Placeholder 4">
            <a:extLst>
              <a:ext uri="{FF2B5EF4-FFF2-40B4-BE49-F238E27FC236}">
                <a16:creationId xmlns:a16="http://schemas.microsoft.com/office/drawing/2014/main" id="{C7B83F8E-FB72-63CA-68FA-BB74FCF01F7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E27FDB5F-6F86-F369-1FA5-5C95EB34CB3F}"/>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19</a:t>
            </a:fld>
            <a:endParaRPr lang="en-GB"/>
          </a:p>
        </p:txBody>
      </p:sp>
      <p:sp>
        <p:nvSpPr>
          <p:cNvPr id="2" name="TextBox 1">
            <a:extLst>
              <a:ext uri="{FF2B5EF4-FFF2-40B4-BE49-F238E27FC236}">
                <a16:creationId xmlns:a16="http://schemas.microsoft.com/office/drawing/2014/main" id="{C0F64D99-CE51-24D3-2A9D-3A4A5760BA3E}"/>
              </a:ext>
            </a:extLst>
          </p:cNvPr>
          <p:cNvSpPr txBox="1"/>
          <p:nvPr/>
        </p:nvSpPr>
        <p:spPr>
          <a:xfrm>
            <a:off x="717185" y="822167"/>
            <a:ext cx="8825815" cy="705258"/>
          </a:xfrm>
          <a:prstGeom prst="rect">
            <a:avLst/>
          </a:prstGeom>
          <a:noFill/>
        </p:spPr>
        <p:txBody>
          <a:bodyPr wrap="square">
            <a:spAutoFit/>
          </a:bodyPr>
          <a:lstStyle/>
          <a:p>
            <a:pPr>
              <a:lnSpc>
                <a:spcPct val="150000"/>
              </a:lnSpc>
            </a:pPr>
            <a:r>
              <a:rPr lang="en-US" sz="1400" b="1">
                <a:highlight>
                  <a:srgbClr val="FFFFFF"/>
                </a:highlight>
                <a:latin typeface="Helvetica Neue" panose="02000503000000020004"/>
                <a:cs typeface="Calibri"/>
              </a:rPr>
              <a:t>5.3.  4 Years TCO</a:t>
            </a:r>
            <a:endParaRPr lang="en-US" sz="1400" b="1">
              <a:highlight>
                <a:srgbClr val="FFFFFF"/>
              </a:highlight>
              <a:latin typeface="Helvetica Neue" panose="02000503000000020004"/>
            </a:endParaRPr>
          </a:p>
          <a:p>
            <a:pPr>
              <a:lnSpc>
                <a:spcPct val="150000"/>
              </a:lnSpc>
            </a:pPr>
            <a:r>
              <a:rPr lang="en-US" sz="1400">
                <a:highlight>
                  <a:srgbClr val="FFFFFF"/>
                </a:highlight>
              </a:rPr>
              <a:t>Below are figure of Total Cost Ownership (TCO) with 4 years period (in IDR)</a:t>
            </a:r>
          </a:p>
        </p:txBody>
      </p:sp>
      <p:graphicFrame>
        <p:nvGraphicFramePr>
          <p:cNvPr id="5" name="Table 4">
            <a:extLst>
              <a:ext uri="{FF2B5EF4-FFF2-40B4-BE49-F238E27FC236}">
                <a16:creationId xmlns:a16="http://schemas.microsoft.com/office/drawing/2014/main" id="{30E4B0E2-F56B-CD29-F790-755680EC38B5}"/>
              </a:ext>
            </a:extLst>
          </p:cNvPr>
          <p:cNvGraphicFramePr>
            <a:graphicFrameLocks noGrp="1"/>
          </p:cNvGraphicFramePr>
          <p:nvPr>
            <p:extLst>
              <p:ext uri="{D42A27DB-BD31-4B8C-83A1-F6EECF244321}">
                <p14:modId xmlns:p14="http://schemas.microsoft.com/office/powerpoint/2010/main" val="2580939568"/>
              </p:ext>
            </p:extLst>
          </p:nvPr>
        </p:nvGraphicFramePr>
        <p:xfrm>
          <a:off x="797560" y="1527425"/>
          <a:ext cx="8980355" cy="1854200"/>
        </p:xfrm>
        <a:graphic>
          <a:graphicData uri="http://schemas.openxmlformats.org/drawingml/2006/table">
            <a:tbl>
              <a:tblPr firstRow="1" bandRow="1">
                <a:tableStyleId>{7E9639D4-E3E2-4D34-9284-5A2195B3D0D7}</a:tableStyleId>
              </a:tblPr>
              <a:tblGrid>
                <a:gridCol w="1376680">
                  <a:extLst>
                    <a:ext uri="{9D8B030D-6E8A-4147-A177-3AD203B41FA5}">
                      <a16:colId xmlns:a16="http://schemas.microsoft.com/office/drawing/2014/main" val="1252209022"/>
                    </a:ext>
                  </a:extLst>
                </a:gridCol>
                <a:gridCol w="1228127">
                  <a:extLst>
                    <a:ext uri="{9D8B030D-6E8A-4147-A177-3AD203B41FA5}">
                      <a16:colId xmlns:a16="http://schemas.microsoft.com/office/drawing/2014/main" val="1226916431"/>
                    </a:ext>
                  </a:extLst>
                </a:gridCol>
                <a:gridCol w="1228127">
                  <a:extLst>
                    <a:ext uri="{9D8B030D-6E8A-4147-A177-3AD203B41FA5}">
                      <a16:colId xmlns:a16="http://schemas.microsoft.com/office/drawing/2014/main" val="2853722946"/>
                    </a:ext>
                  </a:extLst>
                </a:gridCol>
                <a:gridCol w="1228127">
                  <a:extLst>
                    <a:ext uri="{9D8B030D-6E8A-4147-A177-3AD203B41FA5}">
                      <a16:colId xmlns:a16="http://schemas.microsoft.com/office/drawing/2014/main" val="3693284983"/>
                    </a:ext>
                  </a:extLst>
                </a:gridCol>
                <a:gridCol w="1228127">
                  <a:extLst>
                    <a:ext uri="{9D8B030D-6E8A-4147-A177-3AD203B41FA5}">
                      <a16:colId xmlns:a16="http://schemas.microsoft.com/office/drawing/2014/main" val="1853201271"/>
                    </a:ext>
                  </a:extLst>
                </a:gridCol>
                <a:gridCol w="1228127">
                  <a:extLst>
                    <a:ext uri="{9D8B030D-6E8A-4147-A177-3AD203B41FA5}">
                      <a16:colId xmlns:a16="http://schemas.microsoft.com/office/drawing/2014/main" val="1903642662"/>
                    </a:ext>
                  </a:extLst>
                </a:gridCol>
                <a:gridCol w="1463040">
                  <a:extLst>
                    <a:ext uri="{9D8B030D-6E8A-4147-A177-3AD203B41FA5}">
                      <a16:colId xmlns:a16="http://schemas.microsoft.com/office/drawing/2014/main" val="2641531333"/>
                    </a:ext>
                  </a:extLst>
                </a:gridCol>
              </a:tblGrid>
              <a:tr h="370840">
                <a:tc>
                  <a:txBody>
                    <a:bodyPr/>
                    <a:lstStyle/>
                    <a:p>
                      <a:pPr algn="ctr"/>
                      <a:r>
                        <a:rPr lang="en-US" sz="1400"/>
                        <a:t>Item</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a:t>FY 2026</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a:t>FY 2027</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a:t>FY 2028</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a:t>FY 2029</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a:t>FY 2030</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a:t>Grand Total</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998945"/>
                  </a:ext>
                </a:extLst>
              </a:tr>
              <a:tr h="370840">
                <a:tc>
                  <a:txBody>
                    <a:bodyPr/>
                    <a:lstStyle/>
                    <a:p>
                      <a:pPr algn="l"/>
                      <a:r>
                        <a:rPr lang="en-US" sz="1200"/>
                        <a:t>Development Fee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noProof="0">
                          <a:latin typeface="+mn-lt"/>
                        </a:rPr>
                        <a:t>1,920,000,000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1,920,000,000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3816257"/>
                  </a:ext>
                </a:extLst>
              </a:tr>
              <a:tr h="370840">
                <a:tc>
                  <a:txBody>
                    <a:bodyPr/>
                    <a:lstStyle/>
                    <a:p>
                      <a:pPr algn="l"/>
                      <a:r>
                        <a:rPr lang="en-US" sz="1200"/>
                        <a:t>Operation Fee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a:solidFill>
                            <a:schemeClr val="tx1"/>
                          </a:solidFill>
                          <a:latin typeface="+mn-lt"/>
                          <a:ea typeface="+mn-ea"/>
                          <a:cs typeface="+mn-cs"/>
                        </a:rPr>
                        <a:t>135,000,000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a:solidFill>
                            <a:schemeClr val="tx1"/>
                          </a:solidFill>
                          <a:latin typeface="+mn-lt"/>
                          <a:ea typeface="+mn-ea"/>
                          <a:cs typeface="+mn-cs"/>
                        </a:rPr>
                        <a:t>270,000,000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a:solidFill>
                            <a:schemeClr val="tx1"/>
                          </a:solidFill>
                          <a:latin typeface="+mn-lt"/>
                          <a:ea typeface="+mn-ea"/>
                          <a:cs typeface="+mn-cs"/>
                        </a:rPr>
                        <a:t>270,000,000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a:solidFill>
                            <a:schemeClr val="tx1"/>
                          </a:solidFill>
                          <a:latin typeface="+mn-lt"/>
                          <a:ea typeface="+mn-ea"/>
                          <a:cs typeface="+mn-cs"/>
                        </a:rPr>
                        <a:t>270,000,000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135,000,000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1,080,000,000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3160111"/>
                  </a:ext>
                </a:extLst>
              </a:tr>
              <a:tr h="370840">
                <a:tc>
                  <a:txBody>
                    <a:bodyPr/>
                    <a:lstStyle/>
                    <a:p>
                      <a:pPr algn="l"/>
                      <a:r>
                        <a:rPr lang="en-US" sz="1200"/>
                        <a:t>VAPT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19,700,000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19,700,000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55,800,000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19,700,000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114,900,000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948067"/>
                  </a:ext>
                </a:extLst>
              </a:tr>
              <a:tr h="370840">
                <a:tc>
                  <a:txBody>
                    <a:bodyPr/>
                    <a:lstStyle/>
                    <a:p>
                      <a:pPr algn="l"/>
                      <a:r>
                        <a:rPr lang="en-US" sz="1200"/>
                        <a:t>Total Fee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2,055,000,000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289,700,000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289,700,000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325,800,000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154,700,000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200" b="0" i="0" u="none" strike="noStrike">
                          <a:solidFill>
                            <a:srgbClr val="000000"/>
                          </a:solidFill>
                          <a:effectLst/>
                          <a:latin typeface="Calibri" panose="020F0502020204030204" pitchFamily="34" charset="0"/>
                        </a:rPr>
                        <a:t>3,114,900,000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193656"/>
                  </a:ext>
                </a:extLst>
              </a:tr>
            </a:tbl>
          </a:graphicData>
        </a:graphic>
      </p:graphicFrame>
      <p:sp>
        <p:nvSpPr>
          <p:cNvPr id="6" name="TextBox 5">
            <a:extLst>
              <a:ext uri="{FF2B5EF4-FFF2-40B4-BE49-F238E27FC236}">
                <a16:creationId xmlns:a16="http://schemas.microsoft.com/office/drawing/2014/main" id="{044D5E34-B220-05C1-7DE6-223D3F1E34FA}"/>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
        <p:nvSpPr>
          <p:cNvPr id="8" name="TextBox 7">
            <a:extLst>
              <a:ext uri="{FF2B5EF4-FFF2-40B4-BE49-F238E27FC236}">
                <a16:creationId xmlns:a16="http://schemas.microsoft.com/office/drawing/2014/main" id="{A97D3293-1081-C721-2464-783C2A1073CB}"/>
              </a:ext>
            </a:extLst>
          </p:cNvPr>
          <p:cNvSpPr txBox="1"/>
          <p:nvPr/>
        </p:nvSpPr>
        <p:spPr>
          <a:xfrm>
            <a:off x="797560" y="3395740"/>
            <a:ext cx="8980354" cy="1674754"/>
          </a:xfrm>
          <a:prstGeom prst="rect">
            <a:avLst/>
          </a:prstGeom>
          <a:noFill/>
        </p:spPr>
        <p:txBody>
          <a:bodyPr wrap="square">
            <a:spAutoFit/>
          </a:bodyPr>
          <a:lstStyle/>
          <a:p>
            <a:pPr>
              <a:lnSpc>
                <a:spcPct val="150000"/>
              </a:lnSpc>
            </a:pPr>
            <a:r>
              <a:rPr lang="en-US" sz="1400">
                <a:highlight>
                  <a:srgbClr val="FFFFFF"/>
                </a:highlight>
              </a:rPr>
              <a:t>Notes:</a:t>
            </a:r>
          </a:p>
          <a:p>
            <a:pPr marL="173038" indent="-173038">
              <a:lnSpc>
                <a:spcPct val="150000"/>
              </a:lnSpc>
              <a:buFontTx/>
              <a:buChar char="-"/>
            </a:pPr>
            <a:r>
              <a:rPr lang="en-US" sz="1400">
                <a:highlight>
                  <a:srgbClr val="FFFFFF"/>
                </a:highlight>
              </a:rPr>
              <a:t>TCO period start Aug ‘26 ends on Jul ‘30</a:t>
            </a:r>
          </a:p>
          <a:p>
            <a:pPr marL="173038" indent="-173038">
              <a:lnSpc>
                <a:spcPct val="150000"/>
              </a:lnSpc>
              <a:buFontTx/>
              <a:buChar char="-"/>
            </a:pPr>
            <a:r>
              <a:rPr lang="en-US" sz="1400">
                <a:highlight>
                  <a:srgbClr val="FFFFFF"/>
                </a:highlight>
              </a:rPr>
              <a:t>The first VAPT will be conducted in FY26 and is included in the proposal. In accordance with MC regulations, VAPT is required to be conducted once every three years; therefore, the second VAPT will be conducted in 2029. In the intervening years, only a Website Vulnerability Assessment is required.</a:t>
            </a:r>
          </a:p>
        </p:txBody>
      </p:sp>
    </p:spTree>
    <p:extLst>
      <p:ext uri="{BB962C8B-B14F-4D97-AF65-F5344CB8AC3E}">
        <p14:creationId xmlns:p14="http://schemas.microsoft.com/office/powerpoint/2010/main" val="3739866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5DB-EA3D-9724-C3E9-80FC7CF693F7}"/>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C7C9440E-81E0-4796-51FE-085748A6AB07}"/>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132CDC29-332E-405D-A257-8370BC7E45D9}"/>
              </a:ext>
            </a:extLst>
          </p:cNvPr>
          <p:cNvSpPr>
            <a:spLocks noGrp="1"/>
          </p:cNvSpPr>
          <p:nvPr>
            <p:ph type="sldNum" sz="quarter" idx="12"/>
          </p:nvPr>
        </p:nvSpPr>
        <p:spPr>
          <a:xfrm>
            <a:off x="8849361" y="6475598"/>
            <a:ext cx="693640" cy="282725"/>
          </a:xfrm>
        </p:spPr>
        <p:txBody>
          <a:bodyPr/>
          <a:lstStyle/>
          <a:p>
            <a:r>
              <a:rPr lang="en-GB"/>
              <a:t> Page </a:t>
            </a:r>
            <a:fld id="{7A555EF9-59E7-4D74-815B-7A20869232EE}" type="slidenum">
              <a:rPr lang="en-GB" smtClean="0"/>
              <a:pPr/>
              <a:t>20</a:t>
            </a:fld>
            <a:endParaRPr lang="en-GB"/>
          </a:p>
        </p:txBody>
      </p:sp>
      <p:sp>
        <p:nvSpPr>
          <p:cNvPr id="17" name="Title 1">
            <a:extLst>
              <a:ext uri="{FF2B5EF4-FFF2-40B4-BE49-F238E27FC236}">
                <a16:creationId xmlns:a16="http://schemas.microsoft.com/office/drawing/2014/main" id="{8844B871-1ACE-5106-7749-895886DEF3E7}"/>
              </a:ext>
            </a:extLst>
          </p:cNvPr>
          <p:cNvSpPr txBox="1">
            <a:spLocks/>
          </p:cNvSpPr>
          <p:nvPr/>
        </p:nvSpPr>
        <p:spPr>
          <a:xfrm>
            <a:off x="762000" y="975573"/>
            <a:ext cx="9004303" cy="463274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Helvetica Neue" panose="02000503000000020004"/>
                <a:ea typeface="+mj-ea"/>
                <a:cs typeface="+mj-cs"/>
              </a:defRPr>
            </a:lvl1pPr>
          </a:lstStyle>
          <a:p>
            <a:pPr algn="just"/>
            <a:r>
              <a:rPr lang="en-US" sz="1400" b="1"/>
              <a:t>5.4. General Terms and Condition</a:t>
            </a:r>
          </a:p>
          <a:p>
            <a:pPr algn="just"/>
            <a:endParaRPr lang="en-US" sz="1400" b="1"/>
          </a:p>
          <a:p>
            <a:pPr algn="just" rtl="0" fontAlgn="base">
              <a:lnSpc>
                <a:spcPct val="100000"/>
              </a:lnSpc>
              <a:spcBef>
                <a:spcPts val="0"/>
              </a:spcBef>
            </a:pPr>
            <a:r>
              <a:rPr lang="en-US" sz="1400" b="0" i="0">
                <a:solidFill>
                  <a:srgbClr val="000000"/>
                </a:solidFill>
                <a:effectLst/>
                <a:latin typeface="+mn-lt"/>
                <a:ea typeface="Calibri Light" panose="020F0302020204030204" pitchFamily="34" charset="0"/>
                <a:cs typeface="Calibri Light" panose="020F0302020204030204" pitchFamily="34" charset="0"/>
              </a:rPr>
              <a:t>The following are the terms and conditions ("The Terms and Conditions") on which BSI shall provide the services to MMKSI set out in the quotation/order form. The quotation/order form and the Terms and Conditions are together referred to as "The Agreement". </a:t>
            </a:r>
          </a:p>
          <a:p>
            <a:pPr algn="just" rtl="0" fontAlgn="base">
              <a:lnSpc>
                <a:spcPct val="100000"/>
              </a:lnSpc>
              <a:spcBef>
                <a:spcPts val="0"/>
              </a:spcBef>
            </a:pPr>
            <a:r>
              <a:rPr lang="en-US" sz="1400" b="0" i="0">
                <a:solidFill>
                  <a:srgbClr val="000000"/>
                </a:solidFill>
                <a:effectLst/>
                <a:latin typeface="+mn-lt"/>
                <a:ea typeface="Calibri Light" panose="020F0302020204030204" pitchFamily="34" charset="0"/>
                <a:cs typeface="Calibri Light" panose="020F0302020204030204" pitchFamily="34" charset="0"/>
              </a:rPr>
              <a:t>The agreement forms the entire agreement between the parties relating to the Services. It replaces and supersedes any previous proposals, correspondence, understandings or other communications whether written or oral. </a:t>
            </a:r>
          </a:p>
          <a:p>
            <a:pPr algn="just" rtl="0" fontAlgn="base">
              <a:lnSpc>
                <a:spcPct val="100000"/>
              </a:lnSpc>
              <a:spcBef>
                <a:spcPts val="0"/>
              </a:spcBef>
            </a:pPr>
            <a:r>
              <a:rPr lang="en-US" sz="1400" b="0" i="0">
                <a:solidFill>
                  <a:srgbClr val="000000"/>
                </a:solidFill>
                <a:effectLst/>
                <a:latin typeface="+mn-lt"/>
                <a:ea typeface="Calibri Light" panose="020F0302020204030204" pitchFamily="34" charset="0"/>
                <a:cs typeface="Calibri Light" panose="020F0302020204030204" pitchFamily="34" charset="0"/>
              </a:rPr>
              <a:t>In the event of a conflict between the provisions in the Terms and Conditions and the quotation / order form, the quotation / order form shall prevail. </a:t>
            </a:r>
          </a:p>
          <a:p>
            <a:pPr marL="230188" indent="-230188" algn="just" rtl="0" fontAlgn="base">
              <a:lnSpc>
                <a:spcPct val="100000"/>
              </a:lnSpc>
              <a:spcBef>
                <a:spcPts val="0"/>
              </a:spcBef>
              <a:buFont typeface="+mj-lt"/>
              <a:buAutoNum type="arabicPeriod"/>
            </a:pPr>
            <a:r>
              <a:rPr lang="en-US" sz="1400" b="0">
                <a:solidFill>
                  <a:srgbClr val="000000"/>
                </a:solidFill>
                <a:latin typeface="+mn-lt"/>
                <a:ea typeface="Calibri Light" panose="020F0302020204030204" pitchFamily="34" charset="0"/>
                <a:cs typeface="Calibri Light" panose="020F0302020204030204" pitchFamily="34" charset="0"/>
              </a:rPr>
              <a:t>Payment conditions: </a:t>
            </a:r>
          </a:p>
          <a:p>
            <a:pPr marL="630238" indent="-400050"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1.1. 	The prices for the provision of the services are set out within the quotation / order form. </a:t>
            </a:r>
          </a:p>
          <a:p>
            <a:pPr marL="630238" lvl="1" indent="-400050" algn="just" fontAlgn="base">
              <a:tabLst>
                <a:tab pos="630238" algn="l"/>
              </a:tabLst>
            </a:pPr>
            <a:r>
              <a:rPr lang="en-US" sz="1400" b="0">
                <a:solidFill>
                  <a:srgbClr val="000000"/>
                </a:solidFill>
                <a:ea typeface="Calibri Light" panose="020F0302020204030204" pitchFamily="34" charset="0"/>
                <a:cs typeface="Calibri Light" panose="020F0302020204030204" pitchFamily="34" charset="0"/>
              </a:rPr>
              <a:t>1.2. 	In the event MMKSI required additional support and / or services from BSI during project execution, other than the agreed support by BSI based on this quotation / order form, BSI shall charge with BSI standard man hour or man day rate. That will be informed later to MMKSI for the service fee. </a:t>
            </a:r>
          </a:p>
          <a:p>
            <a:pPr marL="630238" lvl="1" indent="-400050" algn="just" fontAlgn="base">
              <a:tabLst>
                <a:tab pos="630238" algn="l"/>
              </a:tabLst>
            </a:pPr>
            <a:r>
              <a:rPr lang="en-US" sz="1400" b="0">
                <a:solidFill>
                  <a:srgbClr val="000000"/>
                </a:solidFill>
                <a:ea typeface="Calibri Light" panose="020F0302020204030204" pitchFamily="34" charset="0"/>
                <a:cs typeface="Calibri Light" panose="020F0302020204030204" pitchFamily="34" charset="0"/>
              </a:rPr>
              <a:t>1.3.	The invoice due date is 30 (thirty) calendar days after it is received by MMKSI, and directed to: </a:t>
            </a:r>
          </a:p>
          <a:p>
            <a:pPr marL="630238"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A/C PT. BERLIAN SISTEM INFORMASI </a:t>
            </a:r>
          </a:p>
          <a:p>
            <a:pPr marL="630238"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MUFG Bank Ltd, JAKARTA BRANCH, INDONESIA </a:t>
            </a:r>
          </a:p>
          <a:p>
            <a:pPr marL="630238"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SWIFT Code : BOTKIDJX  </a:t>
            </a:r>
          </a:p>
          <a:p>
            <a:pPr marL="630238"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Account No (IDR) : 5100 129149 </a:t>
            </a:r>
          </a:p>
          <a:p>
            <a:pPr marL="568325" indent="-338138"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1.4. 	If MMKSI have not paid BSI up to the due date, BSI shall submit dunning letter to MMKSI.</a:t>
            </a:r>
          </a:p>
          <a:p>
            <a:pPr marL="568325" indent="-338138" algn="just" rtl="0" fontAlgn="base">
              <a:lnSpc>
                <a:spcPct val="10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1.5.	If within 14 (fourteen) days after the date of the dunning letter, MMKSI have not paid the price to BSI, MMKSI shall be liable for a late charge in amount of 0.1% of the price per day of lateness. </a:t>
            </a:r>
          </a:p>
          <a:p>
            <a:pPr marL="230188" indent="-230188" algn="just" rtl="0" fontAlgn="base">
              <a:lnSpc>
                <a:spcPct val="120000"/>
              </a:lnSpc>
              <a:spcBef>
                <a:spcPts val="0"/>
              </a:spcBef>
              <a:tabLst>
                <a:tab pos="230188" algn="l"/>
              </a:tabLst>
            </a:pPr>
            <a:endParaRPr lang="en-US" sz="1400">
              <a:solidFill>
                <a:srgbClr val="000000"/>
              </a:solidFill>
              <a:latin typeface="+mn-lt"/>
              <a:ea typeface="Calibri Light" panose="020F0302020204030204" pitchFamily="34" charset="0"/>
              <a:cs typeface="Calibri Light" panose="020F0302020204030204" pitchFamily="34" charset="0"/>
            </a:endParaRPr>
          </a:p>
        </p:txBody>
      </p:sp>
      <p:sp>
        <p:nvSpPr>
          <p:cNvPr id="5" name="Title 1">
            <a:extLst>
              <a:ext uri="{FF2B5EF4-FFF2-40B4-BE49-F238E27FC236}">
                <a16:creationId xmlns:a16="http://schemas.microsoft.com/office/drawing/2014/main" id="{243F4E3B-3D6E-4D78-9150-A0DAC40BA656}"/>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5. Commercial</a:t>
            </a:r>
            <a:endParaRPr lang="en-ID">
              <a:latin typeface="Helvetica Neue" panose="02000503000000020004"/>
              <a:cs typeface="Calibri"/>
            </a:endParaRPr>
          </a:p>
        </p:txBody>
      </p:sp>
      <p:sp>
        <p:nvSpPr>
          <p:cNvPr id="2" name="TextBox 1">
            <a:extLst>
              <a:ext uri="{FF2B5EF4-FFF2-40B4-BE49-F238E27FC236}">
                <a16:creationId xmlns:a16="http://schemas.microsoft.com/office/drawing/2014/main" id="{7B2B7B8E-F5D8-0CC0-871B-211DDF748BCE}"/>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1882772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AFF25-F48E-A5DA-C9C8-B2426C1087F0}"/>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0350EAEB-C608-394D-D650-6182E0332925}"/>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8937E204-219B-9786-9ADB-E45C3770F90E}"/>
              </a:ext>
            </a:extLst>
          </p:cNvPr>
          <p:cNvSpPr>
            <a:spLocks noGrp="1"/>
          </p:cNvSpPr>
          <p:nvPr>
            <p:ph type="sldNum" sz="quarter" idx="12"/>
          </p:nvPr>
        </p:nvSpPr>
        <p:spPr>
          <a:xfrm>
            <a:off x="8879841" y="6475599"/>
            <a:ext cx="663160" cy="261610"/>
          </a:xfrm>
        </p:spPr>
        <p:txBody>
          <a:bodyPr/>
          <a:lstStyle/>
          <a:p>
            <a:r>
              <a:rPr lang="en-GB"/>
              <a:t> Page </a:t>
            </a:r>
            <a:fld id="{7A555EF9-59E7-4D74-815B-7A20869232EE}" type="slidenum">
              <a:rPr lang="en-GB" smtClean="0"/>
              <a:pPr/>
              <a:t>21</a:t>
            </a:fld>
            <a:endParaRPr lang="en-GB"/>
          </a:p>
        </p:txBody>
      </p:sp>
      <p:sp>
        <p:nvSpPr>
          <p:cNvPr id="17" name="Title 1">
            <a:extLst>
              <a:ext uri="{FF2B5EF4-FFF2-40B4-BE49-F238E27FC236}">
                <a16:creationId xmlns:a16="http://schemas.microsoft.com/office/drawing/2014/main" id="{1E6B7241-2753-A8B7-16BB-4CB97C9F4A73}"/>
              </a:ext>
            </a:extLst>
          </p:cNvPr>
          <p:cNvSpPr txBox="1">
            <a:spLocks/>
          </p:cNvSpPr>
          <p:nvPr/>
        </p:nvSpPr>
        <p:spPr>
          <a:xfrm>
            <a:off x="753270" y="972276"/>
            <a:ext cx="9152730" cy="256340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Helvetica Neue" panose="02000503000000020004"/>
                <a:ea typeface="+mj-ea"/>
                <a:cs typeface="+mj-cs"/>
              </a:defRPr>
            </a:lvl1pPr>
          </a:lstStyle>
          <a:p>
            <a:pPr algn="just"/>
            <a:r>
              <a:rPr lang="en-US" sz="1400" b="1"/>
              <a:t>5.4. General Terms and Condition</a:t>
            </a:r>
          </a:p>
          <a:p>
            <a:pPr algn="just"/>
            <a:endParaRPr lang="en-US" sz="1400" b="1"/>
          </a:p>
          <a:p>
            <a:pPr marL="230188" indent="-230188" algn="just" rtl="0" fontAlgn="base">
              <a:lnSpc>
                <a:spcPct val="120000"/>
              </a:lnSpc>
              <a:spcBef>
                <a:spcPts val="0"/>
              </a:spcBef>
              <a:tabLst>
                <a:tab pos="230188" algn="l"/>
              </a:tabLst>
            </a:pPr>
            <a:r>
              <a:rPr lang="en-US" sz="1400" b="0">
                <a:solidFill>
                  <a:srgbClr val="000000"/>
                </a:solidFill>
                <a:latin typeface="+mn-lt"/>
                <a:ea typeface="Calibri Light" panose="020F0302020204030204" pitchFamily="34" charset="0"/>
                <a:cs typeface="Calibri Light" panose="020F0302020204030204" pitchFamily="34" charset="0"/>
              </a:rPr>
              <a:t> 2.	Intellectual Property Rights </a:t>
            </a:r>
          </a:p>
          <a:p>
            <a:pPr marL="630238" indent="-346075" algn="just" rtl="0" fontAlgn="base">
              <a:lnSpc>
                <a:spcPct val="12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2.1. 	BSI warrants that the software delivered to MMKSI already furnished with the proper licenses. </a:t>
            </a:r>
          </a:p>
          <a:p>
            <a:pPr marL="630238" indent="-346075" algn="just" rtl="0" fontAlgn="base">
              <a:lnSpc>
                <a:spcPct val="12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2.2. 	Upon the delivery of the software from BSI to MMKSI, BSI shall not be liable to any infringements conducted by MMKSI related with the intellectual property rights contained in the hardware and software. </a:t>
            </a:r>
          </a:p>
          <a:p>
            <a:pPr marL="230188" indent="-230188" algn="just" rtl="0" fontAlgn="base">
              <a:lnSpc>
                <a:spcPct val="120000"/>
              </a:lnSpc>
              <a:spcBef>
                <a:spcPts val="0"/>
              </a:spcBef>
              <a:tabLst>
                <a:tab pos="230188" algn="l"/>
              </a:tabLst>
            </a:pPr>
            <a:r>
              <a:rPr lang="en-US" sz="1400" b="0">
                <a:solidFill>
                  <a:srgbClr val="000000"/>
                </a:solidFill>
                <a:latin typeface="+mn-lt"/>
                <a:ea typeface="Calibri Light" panose="020F0302020204030204" pitchFamily="34" charset="0"/>
                <a:cs typeface="Calibri Light" panose="020F0302020204030204" pitchFamily="34" charset="0"/>
              </a:rPr>
              <a:t>3. 	Miscellaneous  </a:t>
            </a:r>
          </a:p>
          <a:p>
            <a:pPr marL="630238" indent="-346075" algn="just" rtl="0" fontAlgn="base">
              <a:lnSpc>
                <a:spcPct val="12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3.1. This agreement shall be construed and governed under the law of the Republic of Indonesia. </a:t>
            </a:r>
          </a:p>
          <a:p>
            <a:pPr marL="630238" indent="-346075" algn="just" rtl="0" fontAlgn="base">
              <a:lnSpc>
                <a:spcPct val="120000"/>
              </a:lnSpc>
              <a:spcBef>
                <a:spcPts val="0"/>
              </a:spcBef>
              <a:tabLst>
                <a:tab pos="630238" algn="l"/>
              </a:tabLst>
            </a:pPr>
            <a:r>
              <a:rPr lang="en-US" sz="1400" b="0">
                <a:solidFill>
                  <a:srgbClr val="000000"/>
                </a:solidFill>
                <a:latin typeface="+mn-lt"/>
                <a:ea typeface="Calibri Light" panose="020F0302020204030204" pitchFamily="34" charset="0"/>
                <a:cs typeface="Calibri Light" panose="020F0302020204030204" pitchFamily="34" charset="0"/>
              </a:rPr>
              <a:t>3.2. Everything has not yet been stipulated in this agreement shall be decided mutually by the parties in the form of correspondence, amendment and addendum, and become an integral part with this agreement</a:t>
            </a:r>
            <a:r>
              <a:rPr lang="en-US" sz="1400">
                <a:solidFill>
                  <a:srgbClr val="000000"/>
                </a:solidFill>
                <a:latin typeface="+mn-lt"/>
                <a:ea typeface="Calibri Light" panose="020F0302020204030204" pitchFamily="34" charset="0"/>
                <a:cs typeface="Calibri Light" panose="020F0302020204030204" pitchFamily="34" charset="0"/>
              </a:rPr>
              <a:t>.</a:t>
            </a:r>
          </a:p>
        </p:txBody>
      </p:sp>
      <p:sp>
        <p:nvSpPr>
          <p:cNvPr id="5" name="Title 1">
            <a:extLst>
              <a:ext uri="{FF2B5EF4-FFF2-40B4-BE49-F238E27FC236}">
                <a16:creationId xmlns:a16="http://schemas.microsoft.com/office/drawing/2014/main" id="{DC441266-DE1B-04A3-421D-814A0FE58D10}"/>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5. Commercial</a:t>
            </a:r>
            <a:endParaRPr lang="en-ID">
              <a:latin typeface="Helvetica Neue" panose="02000503000000020004"/>
              <a:cs typeface="Calibri"/>
            </a:endParaRPr>
          </a:p>
        </p:txBody>
      </p:sp>
      <p:sp>
        <p:nvSpPr>
          <p:cNvPr id="2" name="TextBox 1">
            <a:extLst>
              <a:ext uri="{FF2B5EF4-FFF2-40B4-BE49-F238E27FC236}">
                <a16:creationId xmlns:a16="http://schemas.microsoft.com/office/drawing/2014/main" id="{0217BEA9-55FD-7709-95E5-F8A30161A8F0}"/>
              </a:ext>
            </a:extLst>
          </p:cNvPr>
          <p:cNvSpPr txBox="1"/>
          <p:nvPr/>
        </p:nvSpPr>
        <p:spPr>
          <a:xfrm>
            <a:off x="8697763" y="6203655"/>
            <a:ext cx="1025236" cy="290945"/>
          </a:xfrm>
          <a:prstGeom prst="rect">
            <a:avLst/>
          </a:prstGeom>
          <a:ln>
            <a:solidFill>
              <a:schemeClr val="tx1"/>
            </a:solidFill>
          </a:ln>
        </p:spPr>
        <p:txBody>
          <a:bodyPr vert="horz" wrap="square" lIns="91440" tIns="45720" rIns="91440" bIns="45720" rtlCol="0" anchor="ctr">
            <a:normAutofit fontScale="97500"/>
          </a:bodyPr>
          <a:lstStyle/>
          <a:p>
            <a:pPr algn="l"/>
            <a:r>
              <a:rPr lang="en-US" sz="1000" b="1">
                <a:latin typeface="Aptos" panose="020B0004020202020204" pitchFamily="34" charset="0"/>
              </a:rPr>
              <a:t>BSI</a:t>
            </a:r>
          </a:p>
        </p:txBody>
      </p:sp>
    </p:spTree>
    <p:extLst>
      <p:ext uri="{BB962C8B-B14F-4D97-AF65-F5344CB8AC3E}">
        <p14:creationId xmlns:p14="http://schemas.microsoft.com/office/powerpoint/2010/main" val="1930606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2A23-EF68-5E45-D494-7C139194492F}"/>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DBBEEB-42EB-C151-F994-15D48242C2C2}"/>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45B1DA3D-1B8D-2781-B266-A0AD765BB4E2}"/>
              </a:ext>
            </a:extLst>
          </p:cNvPr>
          <p:cNvSpPr>
            <a:spLocks noGrp="1"/>
          </p:cNvSpPr>
          <p:nvPr>
            <p:ph type="sldNum" sz="quarter" idx="12"/>
          </p:nvPr>
        </p:nvSpPr>
        <p:spPr>
          <a:xfrm>
            <a:off x="8818881" y="6475598"/>
            <a:ext cx="724120" cy="282725"/>
          </a:xfrm>
        </p:spPr>
        <p:txBody>
          <a:bodyPr/>
          <a:lstStyle/>
          <a:p>
            <a:r>
              <a:rPr lang="en-GB"/>
              <a:t> Page </a:t>
            </a:r>
            <a:fld id="{7A555EF9-59E7-4D74-815B-7A20869232EE}" type="slidenum">
              <a:rPr lang="en-GB" smtClean="0"/>
              <a:pPr/>
              <a:t>22</a:t>
            </a:fld>
            <a:endParaRPr lang="en-GB"/>
          </a:p>
        </p:txBody>
      </p:sp>
      <p:sp>
        <p:nvSpPr>
          <p:cNvPr id="5" name="Title 1">
            <a:extLst>
              <a:ext uri="{FF2B5EF4-FFF2-40B4-BE49-F238E27FC236}">
                <a16:creationId xmlns:a16="http://schemas.microsoft.com/office/drawing/2014/main" id="{8A08D05E-6E4D-F2FA-5546-B828BAEB8BE3}"/>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6. Approval</a:t>
            </a:r>
            <a:endParaRPr lang="en-ID">
              <a:latin typeface="Helvetica Neue" panose="02000503000000020004"/>
              <a:cs typeface="Calibri"/>
            </a:endParaRPr>
          </a:p>
        </p:txBody>
      </p:sp>
      <p:graphicFrame>
        <p:nvGraphicFramePr>
          <p:cNvPr id="6" name="Table 5">
            <a:extLst>
              <a:ext uri="{FF2B5EF4-FFF2-40B4-BE49-F238E27FC236}">
                <a16:creationId xmlns:a16="http://schemas.microsoft.com/office/drawing/2014/main" id="{944FE35A-FA3D-B3C2-CE48-DDE0DC8D1504}"/>
              </a:ext>
            </a:extLst>
          </p:cNvPr>
          <p:cNvGraphicFramePr>
            <a:graphicFrameLocks noGrp="1"/>
          </p:cNvGraphicFramePr>
          <p:nvPr>
            <p:extLst>
              <p:ext uri="{D42A27DB-BD31-4B8C-83A1-F6EECF244321}">
                <p14:modId xmlns:p14="http://schemas.microsoft.com/office/powerpoint/2010/main" val="2817075456"/>
              </p:ext>
            </p:extLst>
          </p:nvPr>
        </p:nvGraphicFramePr>
        <p:xfrm>
          <a:off x="670685" y="1340929"/>
          <a:ext cx="3679441" cy="1080000"/>
        </p:xfrm>
        <a:graphic>
          <a:graphicData uri="http://schemas.openxmlformats.org/drawingml/2006/table">
            <a:tbl>
              <a:tblPr/>
              <a:tblGrid>
                <a:gridCol w="3679441">
                  <a:extLst>
                    <a:ext uri="{9D8B030D-6E8A-4147-A177-3AD203B41FA5}">
                      <a16:colId xmlns:a16="http://schemas.microsoft.com/office/drawing/2014/main" val="3727649915"/>
                    </a:ext>
                  </a:extLst>
                </a:gridCol>
              </a:tblGrid>
              <a:tr h="10800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Signed on behalf of</a:t>
                      </a:r>
                    </a:p>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600" b="1" i="0" u="none" strike="noStrike" cap="none" normalizeH="0" baseline="0">
                          <a:ln>
                            <a:noFill/>
                          </a:ln>
                          <a:solidFill>
                            <a:schemeClr val="tx1"/>
                          </a:solidFill>
                          <a:effectLst/>
                          <a:latin typeface="Calibri"/>
                          <a:ea typeface="Arial Unicode MS"/>
                          <a:cs typeface="Tahoma"/>
                        </a:rPr>
                        <a:t>PT Berlian </a:t>
                      </a:r>
                      <a:r>
                        <a:rPr kumimoji="0" lang="en-US" altLang="ja-JP" sz="1600" b="1" i="0" u="none" strike="noStrike" cap="none" normalizeH="0" baseline="0" err="1">
                          <a:ln>
                            <a:noFill/>
                          </a:ln>
                          <a:solidFill>
                            <a:schemeClr val="tx1"/>
                          </a:solidFill>
                          <a:effectLst/>
                          <a:latin typeface="Calibri"/>
                          <a:ea typeface="Arial Unicode MS"/>
                          <a:cs typeface="Tahoma"/>
                        </a:rPr>
                        <a:t>Sistem</a:t>
                      </a:r>
                      <a:r>
                        <a:rPr kumimoji="0" lang="en-US" altLang="ja-JP" sz="1600" b="1" i="0" u="none" strike="noStrike" cap="none" normalizeH="0" baseline="0">
                          <a:ln>
                            <a:noFill/>
                          </a:ln>
                          <a:solidFill>
                            <a:schemeClr val="tx1"/>
                          </a:solidFill>
                          <a:effectLst/>
                          <a:latin typeface="Calibri"/>
                          <a:ea typeface="Arial Unicode MS"/>
                          <a:cs typeface="Tahoma"/>
                        </a:rPr>
                        <a:t> Informasi (BSI)</a:t>
                      </a:r>
                    </a:p>
                  </a:txBody>
                  <a:tcPr marT="49530" marB="4953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426519126"/>
                  </a:ext>
                </a:extLst>
              </a:tr>
            </a:tbl>
          </a:graphicData>
        </a:graphic>
      </p:graphicFrame>
      <p:graphicFrame>
        <p:nvGraphicFramePr>
          <p:cNvPr id="8" name="Table 7">
            <a:extLst>
              <a:ext uri="{FF2B5EF4-FFF2-40B4-BE49-F238E27FC236}">
                <a16:creationId xmlns:a16="http://schemas.microsoft.com/office/drawing/2014/main" id="{C73B021D-1C7E-530D-05A5-C049D114DDA8}"/>
              </a:ext>
            </a:extLst>
          </p:cNvPr>
          <p:cNvGraphicFramePr>
            <a:graphicFrameLocks noGrp="1"/>
          </p:cNvGraphicFramePr>
          <p:nvPr>
            <p:extLst>
              <p:ext uri="{D42A27DB-BD31-4B8C-83A1-F6EECF244321}">
                <p14:modId xmlns:p14="http://schemas.microsoft.com/office/powerpoint/2010/main" val="1699777478"/>
              </p:ext>
            </p:extLst>
          </p:nvPr>
        </p:nvGraphicFramePr>
        <p:xfrm>
          <a:off x="635952" y="2069950"/>
          <a:ext cx="3714175" cy="4288920"/>
        </p:xfrm>
        <a:graphic>
          <a:graphicData uri="http://schemas.openxmlformats.org/drawingml/2006/table">
            <a:tbl>
              <a:tblPr/>
              <a:tblGrid>
                <a:gridCol w="763376">
                  <a:extLst>
                    <a:ext uri="{9D8B030D-6E8A-4147-A177-3AD203B41FA5}">
                      <a16:colId xmlns:a16="http://schemas.microsoft.com/office/drawing/2014/main" val="841897197"/>
                    </a:ext>
                  </a:extLst>
                </a:gridCol>
                <a:gridCol w="2950799">
                  <a:extLst>
                    <a:ext uri="{9D8B030D-6E8A-4147-A177-3AD203B41FA5}">
                      <a16:colId xmlns:a16="http://schemas.microsoft.com/office/drawing/2014/main" val="3447053966"/>
                    </a:ext>
                  </a:extLst>
                </a:gridCol>
              </a:tblGrid>
              <a:tr h="146367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By:</a:t>
                      </a:r>
                    </a:p>
                  </a:txBody>
                  <a:tcPr marT="49530" marB="4953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3663501"/>
                  </a:ext>
                </a:extLst>
              </a:tr>
              <a:tr h="78289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(Signed)</a:t>
                      </a:r>
                    </a:p>
                  </a:txBody>
                  <a:tcPr marT="49530" marB="4953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202434987"/>
                  </a:ext>
                </a:extLst>
              </a:tr>
              <a:tr h="612703">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Name :</a:t>
                      </a: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600" b="1" i="0" u="none" strike="noStrike" cap="none" normalizeH="0" baseline="0">
                          <a:ln>
                            <a:noFill/>
                          </a:ln>
                          <a:solidFill>
                            <a:schemeClr val="tx1"/>
                          </a:solidFill>
                          <a:effectLst/>
                          <a:latin typeface="Calibri" pitchFamily="34" charset="0"/>
                          <a:ea typeface="ＭＳ Ｐゴシック" pitchFamily="50" charset="-128"/>
                          <a:cs typeface="Tahoma" pitchFamily="34" charset="0"/>
                        </a:rPr>
                        <a:t>Mr. Takahiro Ataku</a:t>
                      </a:r>
                    </a:p>
                  </a:txBody>
                  <a:tcPr marT="49530" marB="4953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831457"/>
                  </a:ext>
                </a:extLst>
              </a:tr>
              <a:tr h="74885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Tittle :</a:t>
                      </a: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Director</a:t>
                      </a:r>
                      <a:endParaRPr kumimoji="0" lang="en-US" altLang="ja-JP" sz="1400" b="0" i="0" u="none" strike="noStrike" cap="none" normalizeH="0" baseline="0">
                        <a:ln>
                          <a:noFill/>
                        </a:ln>
                        <a:solidFill>
                          <a:schemeClr val="tx1"/>
                        </a:solidFill>
                        <a:effectLst/>
                        <a:latin typeface="Calibri" pitchFamily="34" charset="0"/>
                        <a:ea typeface="Arial Unicode MS" pitchFamily="50" charset="-128"/>
                        <a:cs typeface="Tahoma" pitchFamily="34" charset="0"/>
                      </a:endParaRPr>
                    </a:p>
                  </a:txBody>
                  <a:tcPr marT="49530" marB="49530"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9193910"/>
                  </a:ext>
                </a:extLst>
              </a:tr>
              <a:tr h="680781">
                <a:tc>
                  <a:txBody>
                    <a:bodyPr/>
                    <a:lstStyle/>
                    <a:p>
                      <a:pPr marL="0" marR="0" lvl="0" indent="0" algn="l" rtl="0" eaLnBrk="1" fontAlgn="base" latinLnBrk="0" hangingPunct="1">
                        <a:lnSpc>
                          <a:spcPct val="100000"/>
                        </a:lnSpc>
                        <a:spcBef>
                          <a:spcPct val="0"/>
                        </a:spcBef>
                        <a:spcAft>
                          <a:spcPct val="0"/>
                        </a:spcAft>
                        <a:buFontTx/>
                        <a:buNone/>
                      </a:pPr>
                      <a:r>
                        <a:rPr kumimoji="0" lang="en-US" altLang="ja-JP" sz="1400" b="0" i="0" u="none" strike="noStrike" cap="none" normalizeH="0" baseline="0">
                          <a:ln>
                            <a:noFill/>
                          </a:ln>
                          <a:solidFill>
                            <a:schemeClr val="tx1"/>
                          </a:solidFill>
                          <a:effectLst/>
                          <a:latin typeface="Calibri"/>
                          <a:ea typeface="Arial Unicode MS"/>
                          <a:cs typeface="Tahoma"/>
                        </a:rPr>
                        <a:t>Date</a:t>
                      </a:r>
                      <a:r>
                        <a:rPr lang="en-US" altLang="ja-JP" sz="1400" b="0" i="0" u="none" strike="noStrike" cap="none" normalizeH="0" baseline="0">
                          <a:ln>
                            <a:noFill/>
                          </a:ln>
                          <a:solidFill>
                            <a:schemeClr val="tx1"/>
                          </a:solidFill>
                          <a:effectLst/>
                          <a:latin typeface="Calibri"/>
                          <a:ea typeface="Arial Unicode MS"/>
                          <a:cs typeface="Tahoma"/>
                        </a:rPr>
                        <a:t> </a:t>
                      </a:r>
                      <a:r>
                        <a:rPr kumimoji="0" lang="en-US" altLang="ja-JP" sz="1400" b="0" i="0" u="none" strike="noStrike" cap="none" normalizeH="0" baseline="0">
                          <a:ln>
                            <a:noFill/>
                          </a:ln>
                          <a:solidFill>
                            <a:schemeClr val="tx1"/>
                          </a:solidFill>
                          <a:effectLst/>
                          <a:latin typeface="Calibri"/>
                          <a:ea typeface="Arial Unicode MS"/>
                          <a:cs typeface="Tahoma"/>
                        </a:rPr>
                        <a:t> :</a:t>
                      </a: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57663"/>
                  </a:ext>
                </a:extLst>
              </a:tr>
            </a:tbl>
          </a:graphicData>
        </a:graphic>
      </p:graphicFrame>
      <p:graphicFrame>
        <p:nvGraphicFramePr>
          <p:cNvPr id="9" name="Table 8">
            <a:extLst>
              <a:ext uri="{FF2B5EF4-FFF2-40B4-BE49-F238E27FC236}">
                <a16:creationId xmlns:a16="http://schemas.microsoft.com/office/drawing/2014/main" id="{C3B0B0B7-DF37-5F8F-B280-A3DEFA80E324}"/>
              </a:ext>
            </a:extLst>
          </p:cNvPr>
          <p:cNvGraphicFramePr>
            <a:graphicFrameLocks noGrp="1"/>
          </p:cNvGraphicFramePr>
          <p:nvPr>
            <p:extLst>
              <p:ext uri="{D42A27DB-BD31-4B8C-83A1-F6EECF244321}">
                <p14:modId xmlns:p14="http://schemas.microsoft.com/office/powerpoint/2010/main" val="592673512"/>
              </p:ext>
            </p:extLst>
          </p:nvPr>
        </p:nvGraphicFramePr>
        <p:xfrm>
          <a:off x="5473930" y="1334424"/>
          <a:ext cx="4432070" cy="1080000"/>
        </p:xfrm>
        <a:graphic>
          <a:graphicData uri="http://schemas.openxmlformats.org/drawingml/2006/table">
            <a:tbl>
              <a:tblPr/>
              <a:tblGrid>
                <a:gridCol w="4432070">
                  <a:extLst>
                    <a:ext uri="{9D8B030D-6E8A-4147-A177-3AD203B41FA5}">
                      <a16:colId xmlns:a16="http://schemas.microsoft.com/office/drawing/2014/main" val="3727649915"/>
                    </a:ext>
                  </a:extLst>
                </a:gridCol>
              </a:tblGrid>
              <a:tr h="10800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Signed on behalf of</a:t>
                      </a:r>
                    </a:p>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600" b="1" i="0" u="none" strike="noStrike" cap="none" normalizeH="0" baseline="0">
                          <a:ln>
                            <a:noFill/>
                          </a:ln>
                          <a:solidFill>
                            <a:schemeClr val="tx1"/>
                          </a:solidFill>
                          <a:effectLst/>
                          <a:latin typeface="Calibri"/>
                          <a:ea typeface="Arial Unicode MS"/>
                          <a:cs typeface="Tahoma"/>
                        </a:rPr>
                        <a:t>PT Mitsubishi Motors Krama Yudha Sales Indonesia (MMKSI)</a:t>
                      </a:r>
                    </a:p>
                  </a:txBody>
                  <a:tcPr marT="49530" marB="4953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426519126"/>
                  </a:ext>
                </a:extLst>
              </a:tr>
            </a:tbl>
          </a:graphicData>
        </a:graphic>
      </p:graphicFrame>
      <p:graphicFrame>
        <p:nvGraphicFramePr>
          <p:cNvPr id="10" name="Table 9">
            <a:extLst>
              <a:ext uri="{FF2B5EF4-FFF2-40B4-BE49-F238E27FC236}">
                <a16:creationId xmlns:a16="http://schemas.microsoft.com/office/drawing/2014/main" id="{C5889DDD-6FBF-AC42-0FF4-5764B3685018}"/>
              </a:ext>
            </a:extLst>
          </p:cNvPr>
          <p:cNvGraphicFramePr>
            <a:graphicFrameLocks noGrp="1"/>
          </p:cNvGraphicFramePr>
          <p:nvPr>
            <p:extLst>
              <p:ext uri="{D42A27DB-BD31-4B8C-83A1-F6EECF244321}">
                <p14:modId xmlns:p14="http://schemas.microsoft.com/office/powerpoint/2010/main" val="4011444774"/>
              </p:ext>
            </p:extLst>
          </p:nvPr>
        </p:nvGraphicFramePr>
        <p:xfrm>
          <a:off x="5472201" y="2069950"/>
          <a:ext cx="4433799" cy="4288920"/>
        </p:xfrm>
        <a:graphic>
          <a:graphicData uri="http://schemas.openxmlformats.org/drawingml/2006/table">
            <a:tbl>
              <a:tblPr/>
              <a:tblGrid>
                <a:gridCol w="790921">
                  <a:extLst>
                    <a:ext uri="{9D8B030D-6E8A-4147-A177-3AD203B41FA5}">
                      <a16:colId xmlns:a16="http://schemas.microsoft.com/office/drawing/2014/main" val="841897197"/>
                    </a:ext>
                  </a:extLst>
                </a:gridCol>
                <a:gridCol w="3057275">
                  <a:extLst>
                    <a:ext uri="{9D8B030D-6E8A-4147-A177-3AD203B41FA5}">
                      <a16:colId xmlns:a16="http://schemas.microsoft.com/office/drawing/2014/main" val="3447053966"/>
                    </a:ext>
                  </a:extLst>
                </a:gridCol>
                <a:gridCol w="369807">
                  <a:extLst>
                    <a:ext uri="{9D8B030D-6E8A-4147-A177-3AD203B41FA5}">
                      <a16:colId xmlns:a16="http://schemas.microsoft.com/office/drawing/2014/main" val="1874059686"/>
                    </a:ext>
                  </a:extLst>
                </a:gridCol>
                <a:gridCol w="215796">
                  <a:extLst>
                    <a:ext uri="{9D8B030D-6E8A-4147-A177-3AD203B41FA5}">
                      <a16:colId xmlns:a16="http://schemas.microsoft.com/office/drawing/2014/main" val="3010099446"/>
                    </a:ext>
                  </a:extLst>
                </a:gridCol>
              </a:tblGrid>
              <a:tr h="146367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By:</a:t>
                      </a:r>
                    </a:p>
                  </a:txBody>
                  <a:tcPr marT="49530" marB="4953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en-US" altLang="ja-JP" sz="1400" b="0" i="0" u="none" strike="noStrike" cap="none" normalizeH="0" baseline="0">
                        <a:ln>
                          <a:noFill/>
                        </a:ln>
                        <a:solidFill>
                          <a:schemeClr val="tx1"/>
                        </a:solidFill>
                        <a:effectLst/>
                        <a:latin typeface="Calibri"/>
                        <a:ea typeface="Arial Unicode MS"/>
                        <a:cs typeface="Tahoma"/>
                      </a:endParaRPr>
                    </a:p>
                  </a:txBody>
                  <a:tcPr marT="49530" marB="4953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53663501"/>
                  </a:ext>
                </a:extLst>
              </a:tr>
              <a:tr h="78289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(Signed)</a:t>
                      </a:r>
                    </a:p>
                  </a:txBody>
                  <a:tcPr marT="49530" marB="4953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a:ea typeface="ＭＳ Ｐゴシック"/>
                      </a:endParaRPr>
                    </a:p>
                  </a:txBody>
                  <a:tcPr marT="49530" marB="4953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02434987"/>
                  </a:ext>
                </a:extLst>
              </a:tr>
              <a:tr h="612703">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Name :</a:t>
                      </a: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600" b="1" i="0" u="none" strike="noStrike" cap="none" normalizeH="0" baseline="0">
                          <a:ln>
                            <a:noFill/>
                          </a:ln>
                          <a:solidFill>
                            <a:schemeClr val="tx1"/>
                          </a:solidFill>
                          <a:effectLst/>
                          <a:latin typeface="Calibri" pitchFamily="34" charset="0"/>
                          <a:ea typeface="ＭＳ Ｐゴシック" pitchFamily="50" charset="-128"/>
                          <a:cs typeface="Tahoma" pitchFamily="34" charset="0"/>
                        </a:rPr>
                        <a:t>Mr. Takahiko Sato</a:t>
                      </a:r>
                    </a:p>
                  </a:txBody>
                  <a:tcPr marT="49530" marB="4953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en-US" altLang="ja-JP" sz="1400" b="0" i="0" u="none" strike="noStrike" cap="none" normalizeH="0" baseline="0">
                        <a:ln>
                          <a:noFill/>
                        </a:ln>
                        <a:solidFill>
                          <a:schemeClr val="tx1"/>
                        </a:solidFill>
                        <a:effectLst/>
                        <a:latin typeface="Calibri"/>
                        <a:ea typeface="Arial Unicode MS"/>
                        <a:cs typeface="Tahoma"/>
                      </a:endParaRPr>
                    </a:p>
                  </a:txBody>
                  <a:tcPr marT="49530" marB="4953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42831457"/>
                  </a:ext>
                </a:extLst>
              </a:tr>
              <a:tr h="74885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Tittle :</a:t>
                      </a: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altLang="ja-JP" sz="1400" b="0" i="0" u="none" strike="noStrike" cap="none" normalizeH="0" baseline="0">
                          <a:ln>
                            <a:noFill/>
                          </a:ln>
                          <a:solidFill>
                            <a:schemeClr val="tx1"/>
                          </a:solidFill>
                          <a:effectLst/>
                          <a:latin typeface="Calibri"/>
                          <a:ea typeface="Arial Unicode MS"/>
                          <a:cs typeface="Tahoma"/>
                        </a:rPr>
                        <a:t>Director</a:t>
                      </a:r>
                      <a:endParaRPr kumimoji="0" lang="en-US" altLang="ja-JP" sz="1400" b="0" i="0" u="none" strike="noStrike" cap="none" normalizeH="0" baseline="0">
                        <a:ln>
                          <a:noFill/>
                        </a:ln>
                        <a:solidFill>
                          <a:schemeClr val="tx1"/>
                        </a:solidFill>
                        <a:effectLst/>
                        <a:latin typeface="Calibri" pitchFamily="34" charset="0"/>
                        <a:ea typeface="Arial Unicode MS" pitchFamily="50" charset="-128"/>
                        <a:cs typeface="Tahoma" pitchFamily="34" charset="0"/>
                      </a:endParaRPr>
                    </a:p>
                  </a:txBody>
                  <a:tcPr marT="49530" marB="49530"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en-US" altLang="ja-JP" sz="1400" b="0" i="0" u="none" strike="noStrike" cap="none" normalizeH="0" baseline="0">
                        <a:ln>
                          <a:noFill/>
                        </a:ln>
                        <a:solidFill>
                          <a:schemeClr val="tx1"/>
                        </a:solidFill>
                        <a:effectLst/>
                        <a:latin typeface="Calibri"/>
                        <a:ea typeface="Arial Unicode MS"/>
                        <a:cs typeface="Tahoma"/>
                      </a:endParaRPr>
                    </a:p>
                  </a:txBody>
                  <a:tcPr marT="49530" marB="4953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879193910"/>
                  </a:ext>
                </a:extLst>
              </a:tr>
              <a:tr h="680781">
                <a:tc>
                  <a:txBody>
                    <a:bodyPr/>
                    <a:lstStyle/>
                    <a:p>
                      <a:pPr marL="0" marR="0" lvl="0" indent="0" algn="l" rtl="0" eaLnBrk="1" fontAlgn="base" latinLnBrk="0" hangingPunct="1">
                        <a:lnSpc>
                          <a:spcPct val="100000"/>
                        </a:lnSpc>
                        <a:spcBef>
                          <a:spcPct val="0"/>
                        </a:spcBef>
                        <a:spcAft>
                          <a:spcPct val="0"/>
                        </a:spcAft>
                        <a:buFontTx/>
                        <a:buNone/>
                      </a:pPr>
                      <a:r>
                        <a:rPr kumimoji="0" lang="en-US" altLang="ja-JP" sz="1400" b="0" i="0" u="none" strike="noStrike" cap="none" normalizeH="0" baseline="0">
                          <a:ln>
                            <a:noFill/>
                          </a:ln>
                          <a:solidFill>
                            <a:schemeClr val="tx1"/>
                          </a:solidFill>
                          <a:effectLst/>
                          <a:latin typeface="Calibri"/>
                          <a:ea typeface="Arial Unicode MS"/>
                          <a:cs typeface="Tahoma"/>
                        </a:rPr>
                        <a:t>Date</a:t>
                      </a:r>
                      <a:r>
                        <a:rPr lang="en-US" altLang="ja-JP" sz="1400" b="0" i="0" u="none" strike="noStrike" cap="none" normalizeH="0" baseline="0">
                          <a:ln>
                            <a:noFill/>
                          </a:ln>
                          <a:solidFill>
                            <a:schemeClr val="tx1"/>
                          </a:solidFill>
                          <a:effectLst/>
                          <a:latin typeface="Calibri"/>
                          <a:ea typeface="Arial Unicode MS"/>
                          <a:cs typeface="Tahoma"/>
                        </a:rPr>
                        <a:t> </a:t>
                      </a:r>
                      <a:r>
                        <a:rPr kumimoji="0" lang="en-US" altLang="ja-JP" sz="1400" b="0" i="0" u="none" strike="noStrike" cap="none" normalizeH="0" baseline="0">
                          <a:ln>
                            <a:noFill/>
                          </a:ln>
                          <a:solidFill>
                            <a:schemeClr val="tx1"/>
                          </a:solidFill>
                          <a:effectLst/>
                          <a:latin typeface="Calibri"/>
                          <a:ea typeface="Arial Unicode MS"/>
                          <a:cs typeface="Tahoma"/>
                        </a:rPr>
                        <a:t> :</a:t>
                      </a: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ja-JP" altLang="en-US" sz="1400" b="1" i="0" u="none" strike="noStrike" cap="none" normalizeH="0" baseline="0">
                        <a:ln>
                          <a:noFill/>
                        </a:ln>
                        <a:solidFill>
                          <a:schemeClr val="tx1"/>
                        </a:solidFill>
                        <a:effectLst/>
                        <a:latin typeface="Calibri" pitchFamily="34" charset="0"/>
                        <a:ea typeface="ＭＳ Ｐゴシック" pitchFamily="50" charset="-128"/>
                      </a:endParaRPr>
                    </a:p>
                  </a:txBody>
                  <a:tcPr marT="49530" marB="49530"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en-US" altLang="ja-JP" sz="1400" b="0" i="0" u="none" strike="noStrike" cap="none" normalizeH="0" baseline="0">
                        <a:ln>
                          <a:noFill/>
                        </a:ln>
                        <a:solidFill>
                          <a:schemeClr val="tx1"/>
                        </a:solidFill>
                        <a:effectLst/>
                        <a:latin typeface="Calibri"/>
                        <a:ea typeface="Arial Unicode MS"/>
                        <a:cs typeface="Tahoma"/>
                      </a:endParaRPr>
                    </a:p>
                  </a:txBody>
                  <a:tcPr marT="49530" marB="4953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2857663"/>
                  </a:ext>
                </a:extLst>
              </a:tr>
            </a:tbl>
          </a:graphicData>
        </a:graphic>
      </p:graphicFrame>
    </p:spTree>
    <p:extLst>
      <p:ext uri="{BB962C8B-B14F-4D97-AF65-F5344CB8AC3E}">
        <p14:creationId xmlns:p14="http://schemas.microsoft.com/office/powerpoint/2010/main" val="1520400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59147-E56B-08B8-580E-B5D3276A65C6}"/>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79335BB2-4703-3DDD-3C48-A24530DF25A1}"/>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7C322510-A8EB-2E48-9B29-E3864F5ADBF1}"/>
              </a:ext>
            </a:extLst>
          </p:cNvPr>
          <p:cNvSpPr>
            <a:spLocks noGrp="1"/>
          </p:cNvSpPr>
          <p:nvPr>
            <p:ph type="sldNum" sz="quarter" idx="12"/>
          </p:nvPr>
        </p:nvSpPr>
        <p:spPr>
          <a:xfrm>
            <a:off x="8839201" y="6475599"/>
            <a:ext cx="703800" cy="261610"/>
          </a:xfrm>
        </p:spPr>
        <p:txBody>
          <a:bodyPr/>
          <a:lstStyle/>
          <a:p>
            <a:r>
              <a:rPr lang="en-GB"/>
              <a:t> Page </a:t>
            </a:r>
            <a:fld id="{7A555EF9-59E7-4D74-815B-7A20869232EE}" type="slidenum">
              <a:rPr lang="en-GB" smtClean="0"/>
              <a:pPr/>
              <a:t>23</a:t>
            </a:fld>
            <a:endParaRPr lang="en-GB"/>
          </a:p>
        </p:txBody>
      </p:sp>
      <p:sp>
        <p:nvSpPr>
          <p:cNvPr id="17" name="Title 1">
            <a:extLst>
              <a:ext uri="{FF2B5EF4-FFF2-40B4-BE49-F238E27FC236}">
                <a16:creationId xmlns:a16="http://schemas.microsoft.com/office/drawing/2014/main" id="{1169C352-13CE-8225-81AB-C060D1664113}"/>
              </a:ext>
            </a:extLst>
          </p:cNvPr>
          <p:cNvSpPr txBox="1">
            <a:spLocks/>
          </p:cNvSpPr>
          <p:nvPr/>
        </p:nvSpPr>
        <p:spPr>
          <a:xfrm>
            <a:off x="289466" y="2953476"/>
            <a:ext cx="9327068" cy="26161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Helvetica Neue" panose="02000503000000020004"/>
                <a:ea typeface="+mj-ea"/>
                <a:cs typeface="+mj-cs"/>
              </a:defRPr>
            </a:lvl1pPr>
          </a:lstStyle>
          <a:p>
            <a:pPr algn="ctr"/>
            <a:r>
              <a:rPr lang="en-US" sz="4000">
                <a:latin typeface="+mn-lt"/>
              </a:rPr>
              <a:t>Appendix</a:t>
            </a:r>
            <a:endParaRPr lang="en-US" sz="3200">
              <a:solidFill>
                <a:srgbClr val="000000"/>
              </a:solidFill>
              <a:latin typeface="+mn-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225712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0C55-C6B4-43A9-029C-8551EC176EF5}"/>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99591B17-0AE2-8EAD-92B8-D79727E7078E}"/>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6AF26E63-80D3-7C27-86B3-CE9DB54834E7}"/>
              </a:ext>
            </a:extLst>
          </p:cNvPr>
          <p:cNvSpPr>
            <a:spLocks noGrp="1"/>
          </p:cNvSpPr>
          <p:nvPr>
            <p:ph type="sldNum" sz="quarter" idx="12"/>
          </p:nvPr>
        </p:nvSpPr>
        <p:spPr>
          <a:xfrm>
            <a:off x="8818881" y="6475599"/>
            <a:ext cx="724120" cy="261610"/>
          </a:xfrm>
        </p:spPr>
        <p:txBody>
          <a:bodyPr/>
          <a:lstStyle/>
          <a:p>
            <a:r>
              <a:rPr lang="en-GB"/>
              <a:t> Page </a:t>
            </a:r>
            <a:fld id="{7A555EF9-59E7-4D74-815B-7A20869232EE}" type="slidenum">
              <a:rPr lang="en-GB" smtClean="0"/>
              <a:pPr/>
              <a:t>24</a:t>
            </a:fld>
            <a:endParaRPr lang="en-GB"/>
          </a:p>
        </p:txBody>
      </p:sp>
      <p:sp>
        <p:nvSpPr>
          <p:cNvPr id="2" name="Title 1">
            <a:extLst>
              <a:ext uri="{FF2B5EF4-FFF2-40B4-BE49-F238E27FC236}">
                <a16:creationId xmlns:a16="http://schemas.microsoft.com/office/drawing/2014/main" id="{CA0C2256-4746-C7B3-1D90-6E727F62F2AD}"/>
              </a:ext>
            </a:extLst>
          </p:cNvPr>
          <p:cNvSpPr txBox="1">
            <a:spLocks/>
          </p:cNvSpPr>
          <p:nvPr/>
        </p:nvSpPr>
        <p:spPr>
          <a:xfrm>
            <a:off x="578932" y="19699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 Detail Functional Requirement &amp; ID</a:t>
            </a:r>
            <a:endParaRPr lang="en-ID">
              <a:latin typeface="Helvetica Neue" panose="02000503000000020004"/>
              <a:cs typeface="Calibri"/>
            </a:endParaRPr>
          </a:p>
        </p:txBody>
      </p:sp>
      <p:graphicFrame>
        <p:nvGraphicFramePr>
          <p:cNvPr id="5" name="Table 4">
            <a:extLst>
              <a:ext uri="{FF2B5EF4-FFF2-40B4-BE49-F238E27FC236}">
                <a16:creationId xmlns:a16="http://schemas.microsoft.com/office/drawing/2014/main" id="{AC4EECB1-08B0-0A88-45FB-AB6B3F408190}"/>
              </a:ext>
            </a:extLst>
          </p:cNvPr>
          <p:cNvGraphicFramePr>
            <a:graphicFrameLocks noGrp="1"/>
          </p:cNvGraphicFramePr>
          <p:nvPr>
            <p:extLst>
              <p:ext uri="{D42A27DB-BD31-4B8C-83A1-F6EECF244321}">
                <p14:modId xmlns:p14="http://schemas.microsoft.com/office/powerpoint/2010/main" val="2104168539"/>
              </p:ext>
            </p:extLst>
          </p:nvPr>
        </p:nvGraphicFramePr>
        <p:xfrm>
          <a:off x="775064" y="1010437"/>
          <a:ext cx="8490856" cy="5298923"/>
        </p:xfrm>
        <a:graphic>
          <a:graphicData uri="http://schemas.openxmlformats.org/drawingml/2006/table">
            <a:tbl>
              <a:tblPr firstRow="1" bandRow="1">
                <a:tableStyleId>{5C22544A-7EE6-4342-B048-85BDC9FD1C3A}</a:tableStyleId>
              </a:tblPr>
              <a:tblGrid>
                <a:gridCol w="400621">
                  <a:extLst>
                    <a:ext uri="{9D8B030D-6E8A-4147-A177-3AD203B41FA5}">
                      <a16:colId xmlns:a16="http://schemas.microsoft.com/office/drawing/2014/main" val="4195864962"/>
                    </a:ext>
                  </a:extLst>
                </a:gridCol>
                <a:gridCol w="8090235">
                  <a:extLst>
                    <a:ext uri="{9D8B030D-6E8A-4147-A177-3AD203B41FA5}">
                      <a16:colId xmlns:a16="http://schemas.microsoft.com/office/drawing/2014/main" val="656260719"/>
                    </a:ext>
                  </a:extLst>
                </a:gridCol>
              </a:tblGrid>
              <a:tr h="173908">
                <a:tc>
                  <a:txBody>
                    <a:bodyPr/>
                    <a:lstStyle/>
                    <a:p>
                      <a:pPr marL="0" marR="0" algn="ctr">
                        <a:lnSpc>
                          <a:spcPct val="115000"/>
                        </a:lnSpc>
                        <a:spcAft>
                          <a:spcPts val="800"/>
                        </a:spcAft>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No</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5866683"/>
                  </a:ext>
                </a:extLst>
              </a:tr>
              <a:tr h="155870">
                <a:tc gridSpan="2">
                  <a:txBody>
                    <a:bodyPr/>
                    <a:lstStyle/>
                    <a:p>
                      <a:pPr marL="0" marR="0">
                        <a:lnSpc>
                          <a:spcPct val="115000"/>
                        </a:lnSpc>
                        <a:spcAft>
                          <a:spcPts val="800"/>
                        </a:spcAft>
                        <a:buNone/>
                      </a:pPr>
                      <a:r>
                        <a:rPr lang="en-US" sz="1400" b="1" kern="100">
                          <a:effectLst/>
                          <a:latin typeface="Calibri" panose="020F0502020204030204" pitchFamily="34" charset="0"/>
                          <a:ea typeface="DengXian" panose="02010600030101010101" pitchFamily="2" charset="-122"/>
                          <a:cs typeface="Times New Roman" panose="02020603050405020304" pitchFamily="18" charset="0"/>
                        </a:rPr>
                        <a:t>Master Data Configuration</a:t>
                      </a:r>
                      <a:endParaRPr lang="en-US" sz="14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379952522"/>
                  </a:ext>
                </a:extLst>
              </a:tr>
              <a:tr h="487240">
                <a:tc>
                  <a:txBody>
                    <a:bodyPr/>
                    <a:lstStyle/>
                    <a:p>
                      <a:pPr marL="228600" marR="0" indent="-182880">
                        <a:lnSpc>
                          <a:spcPct val="115000"/>
                        </a:lnSpc>
                        <a:buNone/>
                      </a:pPr>
                      <a:r>
                        <a:rPr lang="en-US" sz="1400" kern="100">
                          <a:effectLst/>
                          <a:latin typeface="Aptos" panose="020B0004020202020204" pitchFamily="34" charset="0"/>
                          <a:ea typeface="DengXian" panose="02010600030101010101" pitchFamily="2" charset="-122"/>
                          <a:cs typeface="Times New Roman" panose="02020603050405020304" pitchFamily="18" charset="0"/>
                        </a:rPr>
                        <a:t>1</a:t>
                      </a:r>
                    </a:p>
                  </a:txBody>
                  <a:tcPr marL="68580" marR="68580" marT="0" marB="0"/>
                </a:tc>
                <a:tc>
                  <a:txBody>
                    <a:bodyPr/>
                    <a:lstStyle/>
                    <a:p>
                      <a:pPr marL="173038" marR="0" lvl="0" indent="-173038" algn="l" defTabSz="914400" rtl="0" eaLnBrk="1" latinLnBrk="0" hangingPunct="1">
                        <a:lnSpc>
                          <a:spcPct val="100000"/>
                        </a:lnSpc>
                        <a:spcAft>
                          <a:spcPts val="0"/>
                        </a:spcAft>
                        <a:buFont typeface="Arial" panose="020B0604020202020204" pitchFamily="34" charset="0"/>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CR-001: The system must provide a bulk upload feature for CRUD (Create, Read, Update, Delete) activities</a:t>
                      </a:r>
                    </a:p>
                    <a:p>
                      <a:pPr marL="173038" marR="0" lvl="0" indent="-173038" algn="l" defTabSz="914400" rtl="0" eaLnBrk="1" latinLnBrk="0" hangingPunct="1">
                        <a:lnSpc>
                          <a:spcPct val="100000"/>
                        </a:lnSpc>
                        <a:spcAft>
                          <a:spcPts val="0"/>
                        </a:spcAft>
                        <a:buFont typeface="Arial" panose="020B0604020202020204" pitchFamily="34" charset="0"/>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CR-002: The system must have an approval mechanism based on employee needs</a:t>
                      </a:r>
                    </a:p>
                    <a:p>
                      <a:pPr marL="173038" marR="0" lvl="0" indent="-173038" algn="l" defTabSz="914400" rtl="0" eaLnBrk="1" latinLnBrk="0" hangingPunct="1">
                        <a:lnSpc>
                          <a:spcPct val="100000"/>
                        </a:lnSpc>
                        <a:spcAft>
                          <a:spcPts val="0"/>
                        </a:spcAft>
                        <a:buFont typeface="Arial" panose="020B0604020202020204" pitchFamily="34" charset="0"/>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CR-003: The system must align employee information from HR and be able to send notifications via WhatsApp</a:t>
                      </a:r>
                    </a:p>
                  </a:txBody>
                  <a:tcPr marL="68580" marR="68580" marT="0" marB="0"/>
                </a:tc>
                <a:extLst>
                  <a:ext uri="{0D108BD9-81ED-4DB2-BD59-A6C34878D82A}">
                    <a16:rowId xmlns:a16="http://schemas.microsoft.com/office/drawing/2014/main" val="2588120518"/>
                  </a:ext>
                </a:extLst>
              </a:tr>
              <a:tr h="181416">
                <a:tc gridSpan="2">
                  <a:txBody>
                    <a:bodyPr/>
                    <a:lstStyle/>
                    <a:p>
                      <a:pPr marL="228600" marR="0" lvl="0" indent="-182880" algn="l" defTabSz="914400" rtl="0" eaLnBrk="1" fontAlgn="auto" latinLnBrk="0" hangingPunct="1">
                        <a:lnSpc>
                          <a:spcPct val="115000"/>
                        </a:lnSpc>
                        <a:spcBef>
                          <a:spcPts val="0"/>
                        </a:spcBef>
                        <a:spcAft>
                          <a:spcPts val="0"/>
                        </a:spcAft>
                        <a:buClrTx/>
                        <a:buSzTx/>
                        <a:buFontTx/>
                        <a:buNone/>
                        <a:tabLst/>
                        <a:defRPr/>
                      </a:pPr>
                      <a:r>
                        <a:rPr lang="en-US" sz="1400" b="1" kern="100">
                          <a:effectLst/>
                          <a:latin typeface="Calibri" panose="020F0502020204030204" pitchFamily="34" charset="0"/>
                          <a:ea typeface="DengXian" panose="02010600030101010101" pitchFamily="2" charset="-122"/>
                          <a:cs typeface="Times New Roman" panose="02020603050405020304" pitchFamily="18" charset="0"/>
                        </a:rPr>
                        <a:t>Performance Evaluation</a:t>
                      </a:r>
                      <a:endParaRPr lang="en-US" sz="14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pPr marL="173038" marR="0" lvl="0" indent="-173038">
                        <a:lnSpc>
                          <a:spcPct val="115000"/>
                        </a:lnSpc>
                        <a:spcAft>
                          <a:spcPts val="800"/>
                        </a:spcAft>
                        <a:buFont typeface="Arial" panose="020B0604020202020204" pitchFamily="34" charset="0"/>
                        <a:buChar char="•"/>
                        <a:tabLst>
                          <a:tab pos="156210" algn="l"/>
                        </a:tabLst>
                      </a:pP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15985450"/>
                  </a:ext>
                </a:extLst>
              </a:tr>
              <a:tr h="1332364">
                <a:tc>
                  <a:txBody>
                    <a:bodyPr/>
                    <a:lstStyle/>
                    <a:p>
                      <a:pPr marL="228600" marR="0" indent="-182880">
                        <a:lnSpc>
                          <a:spcPct val="115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2</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PE-001: The system shall provide three stages of Performance Evaluation (Planning, Mid-Year, and End-Year).</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PE-002: The system shall allow the creation of KPI banks per job position and/or manual KPI entry.</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PE-003: The system shall allow users to define Performance Evaluation periods.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PE-004: The system shall assign supervisors based on organizational structure and/or manual configuration.</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PE-005: The system shall link individual KPIs with company level and division-level targets.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PE-006: The system shall provide a complexity matrix or KPI subclassification to define KPI weighting.</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PE-007: The system shall allow HR to configure concurrent supervisors at the same level.</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PE-008: The system shall allow adding and editing targets at each Performance Evaluation stage.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PE-009: The system shall provide a revise option during the Performance Evaluation review process.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spcAft>
                          <a:spcPts val="800"/>
                        </a:spcAft>
                        <a:buFont typeface="Arial" panose="020B0604020202020204" pitchFamily="34" charset="0"/>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PE-010: The system shall provide adjustable final scoring for calibration results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07950721"/>
                  </a:ext>
                </a:extLst>
              </a:tr>
              <a:tr h="318110">
                <a:tc gridSpan="2">
                  <a:txBody>
                    <a:bodyPr/>
                    <a:lstStyle/>
                    <a:p>
                      <a:pPr marL="228600" marR="0" indent="-182880">
                        <a:lnSpc>
                          <a:spcPct val="115000"/>
                        </a:lnSpc>
                        <a:buNone/>
                      </a:pPr>
                      <a:r>
                        <a:rPr lang="en-US" sz="1400" b="1" kern="100">
                          <a:effectLst/>
                          <a:latin typeface="+mn-lt"/>
                          <a:ea typeface="DengXian" panose="02010600030101010101" pitchFamily="2" charset="-122"/>
                          <a:cs typeface="Times New Roman" panose="02020603050405020304" pitchFamily="18" charset="0"/>
                        </a:rPr>
                        <a:t>Logbook</a:t>
                      </a:r>
                    </a:p>
                  </a:txBody>
                  <a:tcPr marL="68580" marR="68580" marT="0" marB="0"/>
                </a:tc>
                <a:tc hMerge="1">
                  <a:txBody>
                    <a:bodyPr/>
                    <a:lstStyle/>
                    <a:p>
                      <a:pPr marL="0" marR="0" lvl="0" indent="0">
                        <a:lnSpc>
                          <a:spcPct val="100000"/>
                        </a:lnSpc>
                        <a:spcAft>
                          <a:spcPts val="800"/>
                        </a:spcAft>
                        <a:buFont typeface="Arial" panose="020B0604020202020204" pitchFamily="34" charset="0"/>
                        <a:buNone/>
                        <a:tabLst>
                          <a:tab pos="156210" algn="l"/>
                        </a:tabLst>
                      </a:pP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2768235"/>
                  </a:ext>
                </a:extLst>
              </a:tr>
              <a:tr h="1332364">
                <a:tc>
                  <a:txBody>
                    <a:bodyPr/>
                    <a:lstStyle/>
                    <a:p>
                      <a:pPr marL="228600" marR="0" indent="-182880">
                        <a:lnSpc>
                          <a:spcPct val="115000"/>
                        </a:lnSpc>
                        <a:buNone/>
                      </a:pPr>
                      <a:r>
                        <a:rPr lang="en-US" sz="1400" kern="100">
                          <a:effectLst/>
                          <a:latin typeface="+mn-lt"/>
                          <a:ea typeface="DengXian" panose="02010600030101010101" pitchFamily="2" charset="-122"/>
                          <a:cs typeface="Arial" panose="020B0604020202020204" pitchFamily="34" charset="0"/>
                        </a:rPr>
                        <a:t>3</a:t>
                      </a:r>
                    </a:p>
                  </a:txBody>
                  <a:tcPr marL="68580" marR="68580" marT="0" marB="0"/>
                </a:tc>
                <a:tc>
                  <a:txBody>
                    <a:bodyPr/>
                    <a:lstStyle/>
                    <a:p>
                      <a:pPr marL="173038" marR="0" lvl="0" indent="-173038">
                        <a:lnSpc>
                          <a:spcPct val="100000"/>
                        </a:lnSpc>
                        <a:buFont typeface="Symbol" panose="05050102010706020507" pitchFamily="18" charset="2"/>
                        <a:buChar char=""/>
                        <a:tabLst>
                          <a:tab pos="156210" algn="l"/>
                        </a:tabLst>
                      </a:pPr>
                      <a:r>
                        <a:rPr lang="en-US" sz="1400" kern="100">
                          <a:effectLst/>
                          <a:latin typeface="+mn-lt"/>
                          <a:ea typeface="DengXian" panose="02010600030101010101" pitchFamily="2" charset="-122"/>
                          <a:cs typeface="Arial" panose="020B0604020202020204" pitchFamily="34" charset="0"/>
                        </a:rPr>
                        <a:t>LB-001: The system should provide features for Logbook</a:t>
                      </a:r>
                    </a:p>
                    <a:p>
                      <a:pPr marL="173038" marR="0" lvl="0" indent="-173038">
                        <a:lnSpc>
                          <a:spcPct val="100000"/>
                        </a:lnSpc>
                        <a:buFont typeface="Symbol" panose="05050102010706020507" pitchFamily="18" charset="2"/>
                        <a:buChar char=""/>
                        <a:tabLst>
                          <a:tab pos="156210" algn="l"/>
                        </a:tabLst>
                      </a:pPr>
                      <a:r>
                        <a:rPr lang="en-US" sz="1400" kern="100">
                          <a:effectLst/>
                          <a:latin typeface="+mn-lt"/>
                          <a:ea typeface="DengXian" panose="02010600030101010101" pitchFamily="2" charset="-122"/>
                          <a:cs typeface="Arial" panose="020B0604020202020204" pitchFamily="34" charset="0"/>
                        </a:rPr>
                        <a:t>LB-002: The system shall provide Competency Dictionary also with proficiency level description as guidance for employees.</a:t>
                      </a:r>
                    </a:p>
                    <a:p>
                      <a:pPr marL="173038" marR="0" lvl="0" indent="-173038">
                        <a:lnSpc>
                          <a:spcPct val="100000"/>
                        </a:lnSpc>
                        <a:buFont typeface="Symbol" panose="05050102010706020507" pitchFamily="18" charset="2"/>
                        <a:buChar char=""/>
                        <a:tabLst>
                          <a:tab pos="156210" algn="l"/>
                        </a:tabLst>
                      </a:pPr>
                      <a:r>
                        <a:rPr lang="en-US" sz="1400" kern="100">
                          <a:effectLst/>
                          <a:latin typeface="+mn-lt"/>
                          <a:ea typeface="DengXian" panose="02010600030101010101" pitchFamily="2" charset="-122"/>
                          <a:cs typeface="Arial" panose="020B0604020202020204" pitchFamily="34" charset="0"/>
                        </a:rPr>
                        <a:t>LB-003: The system should provide adjustable Logbook Form</a:t>
                      </a:r>
                    </a:p>
                    <a:p>
                      <a:pPr marL="173038" marR="0" lvl="0" indent="-173038">
                        <a:lnSpc>
                          <a:spcPct val="100000"/>
                        </a:lnSpc>
                        <a:buFont typeface="Symbol" panose="05050102010706020507" pitchFamily="18" charset="2"/>
                        <a:buChar char=""/>
                        <a:tabLst>
                          <a:tab pos="156210" algn="l"/>
                        </a:tabLst>
                      </a:pPr>
                      <a:r>
                        <a:rPr lang="en-US" sz="1400" kern="100">
                          <a:effectLst/>
                          <a:latin typeface="+mn-lt"/>
                          <a:ea typeface="DengXian" panose="02010600030101010101" pitchFamily="2" charset="-122"/>
                          <a:cs typeface="Arial" panose="020B0604020202020204" pitchFamily="34" charset="0"/>
                        </a:rPr>
                        <a:t>LB-004: The system shall connect the evaluator to organization structure and/or manually added</a:t>
                      </a:r>
                    </a:p>
                    <a:p>
                      <a:pPr marL="173038" marR="0" lvl="0" indent="-173038">
                        <a:lnSpc>
                          <a:spcPct val="100000"/>
                        </a:lnSpc>
                        <a:buFont typeface="Symbol" panose="05050102010706020507" pitchFamily="18" charset="2"/>
                        <a:buChar char=""/>
                        <a:tabLst>
                          <a:tab pos="156210" algn="l"/>
                        </a:tabLst>
                      </a:pPr>
                      <a:r>
                        <a:rPr lang="en-US" sz="1400" kern="100">
                          <a:effectLst/>
                          <a:latin typeface="+mn-lt"/>
                          <a:ea typeface="DengXian" panose="02010600030101010101" pitchFamily="2" charset="-122"/>
                          <a:cs typeface="Arial" panose="020B0604020202020204" pitchFamily="34" charset="0"/>
                        </a:rPr>
                        <a:t>LB-005: The system shall provide list of employees at managerial level in logbook module</a:t>
                      </a:r>
                    </a:p>
                    <a:p>
                      <a:pPr marL="173038" marR="0" lvl="0" indent="-173038">
                        <a:lnSpc>
                          <a:spcPct val="100000"/>
                        </a:lnSpc>
                        <a:spcAft>
                          <a:spcPts val="800"/>
                        </a:spcAft>
                        <a:buFont typeface="Symbol" panose="05050102010706020507" pitchFamily="18" charset="2"/>
                        <a:buChar char=""/>
                        <a:tabLst>
                          <a:tab pos="156210" algn="l"/>
                        </a:tabLst>
                      </a:pPr>
                      <a:r>
                        <a:rPr lang="en-US" sz="1400" kern="100">
                          <a:effectLst/>
                          <a:latin typeface="+mn-lt"/>
                          <a:ea typeface="DengXian" panose="02010600030101010101" pitchFamily="2" charset="-122"/>
                          <a:cs typeface="Arial" panose="020B0604020202020204" pitchFamily="34" charset="0"/>
                        </a:rPr>
                        <a:t>LB006: The system shall be possible to add assessment center result for specific class and become consideration for assessment result</a:t>
                      </a:r>
                    </a:p>
                  </a:txBody>
                  <a:tcPr marL="68580" marR="68580" marT="0" marB="0"/>
                </a:tc>
                <a:extLst>
                  <a:ext uri="{0D108BD9-81ED-4DB2-BD59-A6C34878D82A}">
                    <a16:rowId xmlns:a16="http://schemas.microsoft.com/office/drawing/2014/main" val="1145064821"/>
                  </a:ext>
                </a:extLst>
              </a:tr>
            </a:tbl>
          </a:graphicData>
        </a:graphic>
      </p:graphicFrame>
    </p:spTree>
    <p:extLst>
      <p:ext uri="{BB962C8B-B14F-4D97-AF65-F5344CB8AC3E}">
        <p14:creationId xmlns:p14="http://schemas.microsoft.com/office/powerpoint/2010/main" val="1050077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4762F-5555-1AE6-D43F-04D0C2EAC59A}"/>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7570470C-6B46-5E4F-223D-2E41029C9B81}"/>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6DBD2CDF-297B-7BB1-17CC-CB2F9893F1A6}"/>
              </a:ext>
            </a:extLst>
          </p:cNvPr>
          <p:cNvSpPr>
            <a:spLocks noGrp="1"/>
          </p:cNvSpPr>
          <p:nvPr>
            <p:ph type="sldNum" sz="quarter" idx="12"/>
          </p:nvPr>
        </p:nvSpPr>
        <p:spPr>
          <a:xfrm>
            <a:off x="8808721" y="6475598"/>
            <a:ext cx="734280" cy="282725"/>
          </a:xfrm>
        </p:spPr>
        <p:txBody>
          <a:bodyPr/>
          <a:lstStyle/>
          <a:p>
            <a:r>
              <a:rPr lang="en-GB"/>
              <a:t> Page </a:t>
            </a:r>
            <a:fld id="{7A555EF9-59E7-4D74-815B-7A20869232EE}" type="slidenum">
              <a:rPr lang="en-GB" smtClean="0"/>
              <a:pPr/>
              <a:t>25</a:t>
            </a:fld>
            <a:endParaRPr lang="en-GB"/>
          </a:p>
        </p:txBody>
      </p:sp>
      <p:graphicFrame>
        <p:nvGraphicFramePr>
          <p:cNvPr id="5" name="Table 4">
            <a:extLst>
              <a:ext uri="{FF2B5EF4-FFF2-40B4-BE49-F238E27FC236}">
                <a16:creationId xmlns:a16="http://schemas.microsoft.com/office/drawing/2014/main" id="{3FA2D9B2-EBFE-4A5E-90E6-4F3A128BF8DF}"/>
              </a:ext>
            </a:extLst>
          </p:cNvPr>
          <p:cNvGraphicFramePr>
            <a:graphicFrameLocks noGrp="1"/>
          </p:cNvGraphicFramePr>
          <p:nvPr>
            <p:extLst>
              <p:ext uri="{D42A27DB-BD31-4B8C-83A1-F6EECF244321}">
                <p14:modId xmlns:p14="http://schemas.microsoft.com/office/powerpoint/2010/main" val="1723095497"/>
              </p:ext>
            </p:extLst>
          </p:nvPr>
        </p:nvGraphicFramePr>
        <p:xfrm>
          <a:off x="613768" y="1053414"/>
          <a:ext cx="9152729" cy="5342306"/>
        </p:xfrm>
        <a:graphic>
          <a:graphicData uri="http://schemas.openxmlformats.org/drawingml/2006/table">
            <a:tbl>
              <a:tblPr firstRow="1" bandRow="1">
                <a:tableStyleId>{5C22544A-7EE6-4342-B048-85BDC9FD1C3A}</a:tableStyleId>
              </a:tblPr>
              <a:tblGrid>
                <a:gridCol w="459090">
                  <a:extLst>
                    <a:ext uri="{9D8B030D-6E8A-4147-A177-3AD203B41FA5}">
                      <a16:colId xmlns:a16="http://schemas.microsoft.com/office/drawing/2014/main" val="4195864962"/>
                    </a:ext>
                  </a:extLst>
                </a:gridCol>
                <a:gridCol w="8693639">
                  <a:extLst>
                    <a:ext uri="{9D8B030D-6E8A-4147-A177-3AD203B41FA5}">
                      <a16:colId xmlns:a16="http://schemas.microsoft.com/office/drawing/2014/main" val="1589514043"/>
                    </a:ext>
                  </a:extLst>
                </a:gridCol>
              </a:tblGrid>
              <a:tr h="242653">
                <a:tc>
                  <a:txBody>
                    <a:bodyPr/>
                    <a:lstStyle/>
                    <a:p>
                      <a:pPr marL="0" marR="0" algn="ctr">
                        <a:lnSpc>
                          <a:spcPct val="115000"/>
                        </a:lnSpc>
                        <a:spcAft>
                          <a:spcPts val="800"/>
                        </a:spcAft>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No</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5866683"/>
                  </a:ext>
                </a:extLst>
              </a:tr>
              <a:tr h="273349">
                <a:tc gridSpan="2">
                  <a:txBody>
                    <a:bodyPr/>
                    <a:lstStyle/>
                    <a:p>
                      <a:pPr marL="228600" marR="0" indent="-182880">
                        <a:lnSpc>
                          <a:spcPct val="115000"/>
                        </a:lnSpc>
                        <a:buNone/>
                      </a:pPr>
                      <a:r>
                        <a:rPr lang="en-US" sz="1400" b="1" kern="100">
                          <a:effectLst/>
                          <a:latin typeface="Calibri" panose="020F0502020204030204" pitchFamily="34" charset="0"/>
                          <a:ea typeface="DengXian" panose="02010600030101010101" pitchFamily="2" charset="-122"/>
                          <a:cs typeface="Times New Roman" panose="02020603050405020304" pitchFamily="18" charset="0"/>
                        </a:rPr>
                        <a:t>Promotion</a:t>
                      </a:r>
                      <a:endParaRPr lang="en-US" sz="14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pPr marL="173038" marR="0" lvl="0" indent="-173038">
                        <a:lnSpc>
                          <a:spcPct val="100000"/>
                        </a:lnSpc>
                        <a:spcAft>
                          <a:spcPts val="800"/>
                        </a:spcAft>
                        <a:buFont typeface="Symbol" panose="05050102010706020507" pitchFamily="18" charset="2"/>
                        <a:buChar char=""/>
                        <a:tabLst>
                          <a:tab pos="156210" algn="l"/>
                        </a:tabLst>
                      </a:pP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77312270"/>
                  </a:ext>
                </a:extLst>
              </a:tr>
              <a:tr h="1906276">
                <a:tc>
                  <a:txBody>
                    <a:bodyPr/>
                    <a:lstStyle/>
                    <a:p>
                      <a:pPr marL="228600" marR="0" indent="-182880">
                        <a:lnSpc>
                          <a:spcPct val="115000"/>
                        </a:lnSpc>
                        <a:buNone/>
                      </a:pPr>
                      <a:r>
                        <a:rPr lang="en-US" sz="1300" kern="100">
                          <a:effectLst/>
                          <a:latin typeface="Aptos" panose="020B0004020202020204" pitchFamily="34" charset="0"/>
                          <a:ea typeface="DengXian" panose="02010600030101010101" pitchFamily="2" charset="-122"/>
                          <a:cs typeface="Times New Roman" panose="02020603050405020304" pitchFamily="18" charset="0"/>
                        </a:rPr>
                        <a:t>4</a:t>
                      </a:r>
                    </a:p>
                  </a:txBody>
                  <a:tcPr marL="68580" marR="68580" marT="0" marB="0"/>
                </a:tc>
                <a:tc>
                  <a:txBody>
                    <a:bodyPr/>
                    <a:lstStyle/>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PR-001: The system shall provide Promotion Evaluation based on current regulation</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PR-002: The system shall connect to HRM module, Promotion Evaluation History, Bonus Evaluation History, Attendance Report, Logbook Result, Training Attendance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PR-003: The system shall let evaluator put Evaluation (Performance and Personality) as consideration to Promotion Evaluation</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PR-004: The system shall calculate the result of Promotion Evaluation History, Bonus Evaluation History, Attendance Report, Logbook Result, Training Attendance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PR-005: The system shall automatically update the organizational structure based on promoted employees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spcAft>
                          <a:spcPts val="800"/>
                        </a:spcAft>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PR-006: The system shall automatically update the organizational structure based on employee rotations or concurrent (dual) assignments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56415023"/>
                  </a:ext>
                </a:extLst>
              </a:tr>
              <a:tr h="269544">
                <a:tc gridSpan="2">
                  <a:txBody>
                    <a:bodyPr/>
                    <a:lstStyle/>
                    <a:p>
                      <a:pPr marL="228600" marR="0" indent="-182880">
                        <a:lnSpc>
                          <a:spcPct val="115000"/>
                        </a:lnSpc>
                        <a:buNone/>
                      </a:pPr>
                      <a:r>
                        <a:rPr lang="en-US" sz="1300" b="1" kern="100">
                          <a:effectLst/>
                          <a:latin typeface="Aptos" panose="020B0004020202020204" pitchFamily="34" charset="0"/>
                          <a:ea typeface="DengXian" panose="02010600030101010101" pitchFamily="2" charset="-122"/>
                          <a:cs typeface="Times New Roman" panose="02020603050405020304" pitchFamily="18" charset="0"/>
                        </a:rPr>
                        <a:t>Training Management</a:t>
                      </a:r>
                    </a:p>
                  </a:txBody>
                  <a:tcPr marL="68580" marR="68580" marT="0" marB="0"/>
                </a:tc>
                <a:tc hMerge="1">
                  <a:txBody>
                    <a:bodyPr/>
                    <a:lstStyle/>
                    <a:p>
                      <a:pPr marL="173038" marR="0" lvl="0" indent="-173038">
                        <a:lnSpc>
                          <a:spcPct val="100000"/>
                        </a:lnSpc>
                        <a:spcAft>
                          <a:spcPts val="800"/>
                        </a:spcAft>
                        <a:buFont typeface="Symbol" panose="05050102010706020507" pitchFamily="18" charset="2"/>
                        <a:buChar char=""/>
                        <a:tabLst>
                          <a:tab pos="156210" algn="l"/>
                        </a:tabLst>
                      </a:pP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42195708"/>
                  </a:ext>
                </a:extLst>
              </a:tr>
              <a:tr h="1906276">
                <a:tc>
                  <a:txBody>
                    <a:bodyPr/>
                    <a:lstStyle/>
                    <a:p>
                      <a:pPr marL="228600" marR="0" indent="-182880">
                        <a:lnSpc>
                          <a:spcPct val="115000"/>
                        </a:lnSpc>
                        <a:buNone/>
                      </a:pPr>
                      <a:r>
                        <a:rPr lang="en-US" sz="1300" kern="100">
                          <a:effectLst/>
                          <a:latin typeface="Aptos" panose="020B0004020202020204" pitchFamily="34" charset="0"/>
                          <a:ea typeface="DengXian" panose="02010600030101010101" pitchFamily="2" charset="-122"/>
                          <a:cs typeface="Times New Roman" panose="02020603050405020304" pitchFamily="18" charset="0"/>
                        </a:rPr>
                        <a:t>5</a:t>
                      </a:r>
                    </a:p>
                  </a:txBody>
                  <a:tcPr marL="68580" marR="68580" marT="0" marB="0"/>
                </a:tc>
                <a:tc>
                  <a:txBody>
                    <a:bodyPr/>
                    <a:lstStyle/>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TC-001: The system must allow HR to schedule and record new employee inductions</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TC-002: The system shall be able to connect data from the evaluation of promotion and rotation (talent movement) as source for employee training plan</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TC-003: The system shall provide Training Need Analysis (TNA) form</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TC-004: The system shall provide approval system for TNA that connects with organization structure and/or manually added</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TC-005: The system shall provide training requests other than TNA, Logbook evaluation, Talent movement</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TC-006: The system shall summarize training needs from TNA, Logbook, Talent movement and link to employee profile as development plan</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TC-007: The system shall trigger training completion after employee submits training attendance</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TC-008: The system shall provide training evaluation form as a part of training implementation process</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TC-009: The system shall be able to record sharing session implementation as a part of training completion process</a:t>
                      </a:r>
                    </a:p>
                    <a:p>
                      <a:pPr marL="111125" marR="0" lvl="0" indent="-111125" algn="l" defTabSz="914400" rtl="0" eaLnBrk="1" latinLnBrk="0" hangingPunct="1">
                        <a:lnSpc>
                          <a:spcPct val="100000"/>
                        </a:lnSpc>
                        <a:spcAft>
                          <a:spcPts val="0"/>
                        </a:spcAft>
                        <a:buFont typeface="Symbol" panose="05050102010706020507" pitchFamily="18" charset="2"/>
                        <a:buChar char=""/>
                        <a:tabLst>
                          <a:tab pos="156210" algn="l"/>
                        </a:tabLst>
                      </a:pPr>
                      <a:r>
                        <a:rPr lang="en-US" sz="1300" kern="100">
                          <a:solidFill>
                            <a:schemeClr val="dk1"/>
                          </a:solidFill>
                          <a:effectLst/>
                          <a:latin typeface="Calibri" panose="020F0502020204030204" pitchFamily="34" charset="0"/>
                          <a:ea typeface="DengXian" panose="02010600030101010101" pitchFamily="2" charset="-122"/>
                          <a:cs typeface="Times New Roman" panose="02020603050405020304" pitchFamily="18" charset="0"/>
                        </a:rPr>
                        <a:t>TC-010: The system must be able to record HR Training Programs (specifically for mandatory training, not those requested by employees)</a:t>
                      </a:r>
                    </a:p>
                  </a:txBody>
                  <a:tcPr marL="68580" marR="68580" marT="0" marB="0"/>
                </a:tc>
                <a:extLst>
                  <a:ext uri="{0D108BD9-81ED-4DB2-BD59-A6C34878D82A}">
                    <a16:rowId xmlns:a16="http://schemas.microsoft.com/office/drawing/2014/main" val="4217335952"/>
                  </a:ext>
                </a:extLst>
              </a:tr>
            </a:tbl>
          </a:graphicData>
        </a:graphic>
      </p:graphicFrame>
      <p:sp>
        <p:nvSpPr>
          <p:cNvPr id="2" name="Title 1">
            <a:extLst>
              <a:ext uri="{FF2B5EF4-FFF2-40B4-BE49-F238E27FC236}">
                <a16:creationId xmlns:a16="http://schemas.microsoft.com/office/drawing/2014/main" id="{7D84A430-D4E4-5217-2297-B2427348E1FD}"/>
              </a:ext>
            </a:extLst>
          </p:cNvPr>
          <p:cNvSpPr txBox="1">
            <a:spLocks/>
          </p:cNvSpPr>
          <p:nvPr/>
        </p:nvSpPr>
        <p:spPr>
          <a:xfrm>
            <a:off x="578932" y="19699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 Detail Functional Requirement &amp; ID (Cont’d)</a:t>
            </a:r>
            <a:endParaRPr lang="en-ID">
              <a:latin typeface="Helvetica Neue" panose="02000503000000020004"/>
              <a:cs typeface="Calibri"/>
            </a:endParaRPr>
          </a:p>
        </p:txBody>
      </p:sp>
    </p:spTree>
    <p:extLst>
      <p:ext uri="{BB962C8B-B14F-4D97-AF65-F5344CB8AC3E}">
        <p14:creationId xmlns:p14="http://schemas.microsoft.com/office/powerpoint/2010/main" val="2458082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95F-E894-F9EA-C81C-707F9F7F7F94}"/>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84675FDC-9A26-7342-3020-0DA7D213A6BF}"/>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2A2E356F-C1B4-C5E2-A216-9AF6C149C4DB}"/>
              </a:ext>
            </a:extLst>
          </p:cNvPr>
          <p:cNvSpPr>
            <a:spLocks noGrp="1"/>
          </p:cNvSpPr>
          <p:nvPr>
            <p:ph type="sldNum" sz="quarter" idx="12"/>
          </p:nvPr>
        </p:nvSpPr>
        <p:spPr>
          <a:xfrm>
            <a:off x="8849361" y="6475599"/>
            <a:ext cx="693640" cy="261610"/>
          </a:xfrm>
        </p:spPr>
        <p:txBody>
          <a:bodyPr/>
          <a:lstStyle/>
          <a:p>
            <a:r>
              <a:rPr lang="en-GB"/>
              <a:t> Page </a:t>
            </a:r>
            <a:fld id="{7A555EF9-59E7-4D74-815B-7A20869232EE}" type="slidenum">
              <a:rPr lang="en-GB" smtClean="0"/>
              <a:pPr/>
              <a:t>26</a:t>
            </a:fld>
            <a:endParaRPr lang="en-GB"/>
          </a:p>
        </p:txBody>
      </p:sp>
      <p:graphicFrame>
        <p:nvGraphicFramePr>
          <p:cNvPr id="5" name="Table 4">
            <a:extLst>
              <a:ext uri="{FF2B5EF4-FFF2-40B4-BE49-F238E27FC236}">
                <a16:creationId xmlns:a16="http://schemas.microsoft.com/office/drawing/2014/main" id="{3E73F196-C757-8F67-2422-5B7CD3277022}"/>
              </a:ext>
            </a:extLst>
          </p:cNvPr>
          <p:cNvGraphicFramePr>
            <a:graphicFrameLocks noGrp="1"/>
          </p:cNvGraphicFramePr>
          <p:nvPr>
            <p:extLst>
              <p:ext uri="{D42A27DB-BD31-4B8C-83A1-F6EECF244321}">
                <p14:modId xmlns:p14="http://schemas.microsoft.com/office/powerpoint/2010/main" val="330498016"/>
              </p:ext>
            </p:extLst>
          </p:nvPr>
        </p:nvGraphicFramePr>
        <p:xfrm>
          <a:off x="757461" y="1105739"/>
          <a:ext cx="8734739" cy="4772914"/>
        </p:xfrm>
        <a:graphic>
          <a:graphicData uri="http://schemas.openxmlformats.org/drawingml/2006/table">
            <a:tbl>
              <a:tblPr firstRow="1" bandRow="1">
                <a:tableStyleId>{5C22544A-7EE6-4342-B048-85BDC9FD1C3A}</a:tableStyleId>
              </a:tblPr>
              <a:tblGrid>
                <a:gridCol w="432788">
                  <a:extLst>
                    <a:ext uri="{9D8B030D-6E8A-4147-A177-3AD203B41FA5}">
                      <a16:colId xmlns:a16="http://schemas.microsoft.com/office/drawing/2014/main" val="4195864962"/>
                    </a:ext>
                  </a:extLst>
                </a:gridCol>
                <a:gridCol w="8301951">
                  <a:extLst>
                    <a:ext uri="{9D8B030D-6E8A-4147-A177-3AD203B41FA5}">
                      <a16:colId xmlns:a16="http://schemas.microsoft.com/office/drawing/2014/main" val="1589514043"/>
                    </a:ext>
                  </a:extLst>
                </a:gridCol>
              </a:tblGrid>
              <a:tr h="208032">
                <a:tc>
                  <a:txBody>
                    <a:bodyPr/>
                    <a:lstStyle/>
                    <a:p>
                      <a:pPr marL="0" marR="0" algn="ctr">
                        <a:lnSpc>
                          <a:spcPct val="115000"/>
                        </a:lnSpc>
                        <a:spcAft>
                          <a:spcPts val="800"/>
                        </a:spcAft>
                        <a:buNone/>
                      </a:pPr>
                      <a:r>
                        <a:rPr lang="en-US" sz="1300" kern="100">
                          <a:effectLst/>
                          <a:latin typeface="Calibri" panose="020F0502020204030204" pitchFamily="34" charset="0"/>
                          <a:ea typeface="DengXian" panose="02010600030101010101" pitchFamily="2" charset="-122"/>
                          <a:cs typeface="Times New Roman" panose="02020603050405020304" pitchFamily="18" charset="0"/>
                        </a:rPr>
                        <a:t>No</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5866683"/>
                  </a:ext>
                </a:extLst>
              </a:tr>
              <a:tr h="161257">
                <a:tc gridSpan="2">
                  <a:txBody>
                    <a:bodyPr/>
                    <a:lstStyle/>
                    <a:p>
                      <a:pPr marL="0" marR="0">
                        <a:lnSpc>
                          <a:spcPct val="100000"/>
                        </a:lnSpc>
                        <a:spcAft>
                          <a:spcPts val="800"/>
                        </a:spcAft>
                        <a:buNone/>
                      </a:pPr>
                      <a:r>
                        <a:rPr lang="en-US" sz="1300" b="1" kern="100">
                          <a:effectLst/>
                          <a:latin typeface="Calibri" panose="020F0502020204030204" pitchFamily="34" charset="0"/>
                          <a:ea typeface="DengXian" panose="02010600030101010101" pitchFamily="2" charset="-122"/>
                          <a:cs typeface="Times New Roman" panose="02020603050405020304" pitchFamily="18" charset="0"/>
                        </a:rPr>
                        <a:t>Manpower Planning</a:t>
                      </a:r>
                      <a:endParaRPr lang="en-US" sz="13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524523167"/>
                  </a:ext>
                </a:extLst>
              </a:tr>
              <a:tr h="3547653">
                <a:tc>
                  <a:txBody>
                    <a:bodyPr/>
                    <a:lstStyle/>
                    <a:p>
                      <a:pPr marL="228600" marR="0" indent="-182880">
                        <a:lnSpc>
                          <a:spcPct val="115000"/>
                        </a:lnSpc>
                        <a:buNone/>
                      </a:pPr>
                      <a:r>
                        <a:rPr lang="en-US" sz="1300" kern="100">
                          <a:effectLst/>
                          <a:latin typeface="Calibri" panose="020F0502020204030204" pitchFamily="34" charset="0"/>
                          <a:ea typeface="DengXian" panose="02010600030101010101" pitchFamily="2" charset="-122"/>
                          <a:cs typeface="Times New Roman" panose="02020603050405020304" pitchFamily="18" charset="0"/>
                        </a:rPr>
                        <a:t>6</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MPP-001: The system shall enable authorized users to initiate and manage customizable Regular and Incidental Manpower Planning &amp; Placement (MPP)</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MPP-002: The system shall enable authorized users to securely submit validated MPP requests during configurable departmental periods, automatically routing them through designated HR and BOD approval workflows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MPP-003: The system shall dynamically adapt form fields, approval workflows, and organizational data validation based on configurable MPP requests.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MPP-004: The system shall provide a real-time, configurable dashboard with role-based access that enables authorized users to visibly track, filter, and export the status of all MPP requests across their approval workflows.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MPP-005: The system shall route validated MPP requests through a customizable, multi-tier approval workflow featuring editable routing recommendations and mandatory BOD authorization.</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MPP-006: The system shall process rejected MPP requests by either routing them back to the user for modification under a "Revision Required" status or permanently closing them as "Not Needed," while automatically dispatching detailed notifications that include reviewer feedback and actionable next steps.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MPP-007: The system automatically updates MPP data in real-time across the user dashboard upon any workflow change, providing requestors and Division Heads with immediate visibility into current statuses, reviewer feedback, and required actions, supported by automated notifications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MPP-008: The system enables users to submit Incidental MPP Requests outside the regular annual cycle using the standard form and approval workflow.</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MPP-009: The system shall automatically notify HR upon MPP request submissions and seamlessly route reviewed requests to the BOD for approval.</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00000"/>
                        </a:lnSpc>
                        <a:spcAft>
                          <a:spcPts val="800"/>
                        </a:spcAft>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MPP-010: The system shall enforce configurable, role-based access for MPP request reviews, enabling the BOD to approve, reject, or mandate revisions.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86972851"/>
                  </a:ext>
                </a:extLst>
              </a:tr>
            </a:tbl>
          </a:graphicData>
        </a:graphic>
      </p:graphicFrame>
      <p:sp>
        <p:nvSpPr>
          <p:cNvPr id="2" name="Title 1">
            <a:extLst>
              <a:ext uri="{FF2B5EF4-FFF2-40B4-BE49-F238E27FC236}">
                <a16:creationId xmlns:a16="http://schemas.microsoft.com/office/drawing/2014/main" id="{35664C69-FF5F-81E2-5DAE-CAF1BDC76330}"/>
              </a:ext>
            </a:extLst>
          </p:cNvPr>
          <p:cNvSpPr txBox="1">
            <a:spLocks/>
          </p:cNvSpPr>
          <p:nvPr/>
        </p:nvSpPr>
        <p:spPr>
          <a:xfrm>
            <a:off x="578932" y="19699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 Detail Functional Requirement &amp; ID (Cont’d)</a:t>
            </a:r>
            <a:endParaRPr lang="en-ID">
              <a:latin typeface="Helvetica Neue" panose="02000503000000020004"/>
              <a:cs typeface="Calibri"/>
            </a:endParaRPr>
          </a:p>
        </p:txBody>
      </p:sp>
    </p:spTree>
    <p:extLst>
      <p:ext uri="{BB962C8B-B14F-4D97-AF65-F5344CB8AC3E}">
        <p14:creationId xmlns:p14="http://schemas.microsoft.com/office/powerpoint/2010/main" val="1912024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1B4A0-9445-B8AD-0079-6CE3FC25270C}"/>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DB709AA5-936E-5BCC-90AC-0E8E4C6E4776}"/>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3BA864CC-4C09-8A70-F0BE-5E03571A7D49}"/>
              </a:ext>
            </a:extLst>
          </p:cNvPr>
          <p:cNvSpPr>
            <a:spLocks noGrp="1"/>
          </p:cNvSpPr>
          <p:nvPr>
            <p:ph type="sldNum" sz="quarter" idx="12"/>
          </p:nvPr>
        </p:nvSpPr>
        <p:spPr>
          <a:xfrm>
            <a:off x="8869681" y="6475599"/>
            <a:ext cx="673320" cy="261610"/>
          </a:xfrm>
        </p:spPr>
        <p:txBody>
          <a:bodyPr/>
          <a:lstStyle/>
          <a:p>
            <a:r>
              <a:rPr lang="en-GB"/>
              <a:t> Page </a:t>
            </a:r>
            <a:fld id="{7A555EF9-59E7-4D74-815B-7A20869232EE}" type="slidenum">
              <a:rPr lang="en-GB" smtClean="0"/>
              <a:pPr/>
              <a:t>27</a:t>
            </a:fld>
            <a:endParaRPr lang="en-GB"/>
          </a:p>
        </p:txBody>
      </p:sp>
      <p:graphicFrame>
        <p:nvGraphicFramePr>
          <p:cNvPr id="5" name="Table 4">
            <a:extLst>
              <a:ext uri="{FF2B5EF4-FFF2-40B4-BE49-F238E27FC236}">
                <a16:creationId xmlns:a16="http://schemas.microsoft.com/office/drawing/2014/main" id="{1AF4399D-3E46-88A8-6147-AC66E9B7556B}"/>
              </a:ext>
            </a:extLst>
          </p:cNvPr>
          <p:cNvGraphicFramePr>
            <a:graphicFrameLocks noGrp="1"/>
          </p:cNvGraphicFramePr>
          <p:nvPr>
            <p:extLst>
              <p:ext uri="{D42A27DB-BD31-4B8C-83A1-F6EECF244321}">
                <p14:modId xmlns:p14="http://schemas.microsoft.com/office/powerpoint/2010/main" val="616315388"/>
              </p:ext>
            </p:extLst>
          </p:nvPr>
        </p:nvGraphicFramePr>
        <p:xfrm>
          <a:off x="740680" y="982445"/>
          <a:ext cx="8829231" cy="5431376"/>
        </p:xfrm>
        <a:graphic>
          <a:graphicData uri="http://schemas.openxmlformats.org/drawingml/2006/table">
            <a:tbl>
              <a:tblPr firstRow="1" bandRow="1">
                <a:tableStyleId>{5C22544A-7EE6-4342-B048-85BDC9FD1C3A}</a:tableStyleId>
              </a:tblPr>
              <a:tblGrid>
                <a:gridCol w="576119">
                  <a:extLst>
                    <a:ext uri="{9D8B030D-6E8A-4147-A177-3AD203B41FA5}">
                      <a16:colId xmlns:a16="http://schemas.microsoft.com/office/drawing/2014/main" val="4195864962"/>
                    </a:ext>
                  </a:extLst>
                </a:gridCol>
                <a:gridCol w="8253112">
                  <a:extLst>
                    <a:ext uri="{9D8B030D-6E8A-4147-A177-3AD203B41FA5}">
                      <a16:colId xmlns:a16="http://schemas.microsoft.com/office/drawing/2014/main" val="3011479682"/>
                    </a:ext>
                  </a:extLst>
                </a:gridCol>
              </a:tblGrid>
              <a:tr h="245902">
                <a:tc>
                  <a:txBody>
                    <a:bodyPr/>
                    <a:lstStyle/>
                    <a:p>
                      <a:pPr marL="0" marR="0" algn="ctr">
                        <a:lnSpc>
                          <a:spcPct val="115000"/>
                        </a:lnSpc>
                        <a:spcAft>
                          <a:spcPts val="800"/>
                        </a:spcAft>
                        <a:buNone/>
                      </a:pPr>
                      <a:r>
                        <a:rPr lang="en-US" sz="1300" kern="100">
                          <a:effectLst/>
                          <a:latin typeface="Calibri" panose="020F0502020204030204" pitchFamily="34" charset="0"/>
                          <a:ea typeface="DengXian" panose="02010600030101010101" pitchFamily="2" charset="-122"/>
                          <a:cs typeface="Times New Roman" panose="02020603050405020304" pitchFamily="18" charset="0"/>
                        </a:rPr>
                        <a:t>No</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5866683"/>
                  </a:ext>
                </a:extLst>
              </a:tr>
              <a:tr h="172918">
                <a:tc gridSpan="2">
                  <a:txBody>
                    <a:bodyPr/>
                    <a:lstStyle/>
                    <a:p>
                      <a:pPr marL="0" marR="0">
                        <a:lnSpc>
                          <a:spcPct val="115000"/>
                        </a:lnSpc>
                        <a:spcAft>
                          <a:spcPts val="800"/>
                        </a:spcAft>
                        <a:buNone/>
                      </a:pPr>
                      <a:r>
                        <a:rPr lang="en-US" sz="1300" b="1" kern="1200">
                          <a:solidFill>
                            <a:schemeClr val="dk1"/>
                          </a:solidFill>
                          <a:effectLst/>
                          <a:latin typeface="+mn-lt"/>
                          <a:ea typeface="+mn-ea"/>
                          <a:cs typeface="+mn-cs"/>
                        </a:rPr>
                        <a:t>Job Profile</a:t>
                      </a:r>
                      <a:endParaRPr lang="en-US" sz="13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379952522"/>
                  </a:ext>
                </a:extLst>
              </a:tr>
              <a:tr h="1819005">
                <a:tc>
                  <a:txBody>
                    <a:bodyPr/>
                    <a:lstStyle/>
                    <a:p>
                      <a:pPr marL="228600" marR="0" indent="-182880">
                        <a:lnSpc>
                          <a:spcPct val="115000"/>
                        </a:lnSpc>
                        <a:buNone/>
                      </a:pPr>
                      <a:r>
                        <a:rPr lang="en-US" sz="1300" kern="100">
                          <a:effectLst/>
                          <a:latin typeface="+mj-lt"/>
                          <a:ea typeface="DengXian" panose="02010600030101010101" pitchFamily="2" charset="-122"/>
                          <a:cs typeface="Times New Roman" panose="02020603050405020304" pitchFamily="18" charset="0"/>
                        </a:rPr>
                        <a:t>7</a:t>
                      </a:r>
                    </a:p>
                  </a:txBody>
                  <a:tcPr marL="68580" marR="68580" marT="0" marB="0"/>
                </a:tc>
                <a:tc>
                  <a:txBody>
                    <a:bodyPr/>
                    <a:lstStyle/>
                    <a:p>
                      <a:pPr marL="111125" lvl="0" indent="-111125">
                        <a:buFont typeface="Arial" panose="020B0604020202020204" pitchFamily="34" charset="0"/>
                        <a:buChar char="•"/>
                      </a:pPr>
                      <a:r>
                        <a:rPr lang="en-US" sz="1300" kern="1200">
                          <a:solidFill>
                            <a:schemeClr val="dk1"/>
                          </a:solidFill>
                          <a:effectLst/>
                          <a:latin typeface="+mn-lt"/>
                          <a:ea typeface="+mn-ea"/>
                          <a:cs typeface="+mn-cs"/>
                        </a:rPr>
                        <a:t>JP-001: The system shall enable authorized users to securely draft, edit, and submit standardized Job Description and Job Requirement forms that integrate directly with the MPP module, ensuring all created vacancies strictly align with approved workforce plans.</a:t>
                      </a:r>
                    </a:p>
                    <a:p>
                      <a:pPr marL="111125" lvl="0" indent="-111125">
                        <a:buFont typeface="Arial" panose="020B0604020202020204" pitchFamily="34" charset="0"/>
                        <a:buChar char="•"/>
                      </a:pPr>
                      <a:r>
                        <a:rPr lang="en-US" sz="1300" kern="1200">
                          <a:solidFill>
                            <a:schemeClr val="dk1"/>
                          </a:solidFill>
                          <a:effectLst/>
                          <a:latin typeface="+mn-lt"/>
                          <a:ea typeface="+mn-ea"/>
                          <a:cs typeface="+mn-cs"/>
                        </a:rPr>
                        <a:t>JP-002: The system shall enable HR Admins and Hiring Managers to submit mandatory Job Description and Requirement forms that are validated, tracked via audit trails, and reviewed before entering the recruitment pipeline.</a:t>
                      </a:r>
                    </a:p>
                    <a:p>
                      <a:pPr marL="111125" lvl="0" indent="-111125">
                        <a:buFont typeface="Arial" panose="020B0604020202020204" pitchFamily="34" charset="0"/>
                        <a:buChar char="•"/>
                      </a:pPr>
                      <a:r>
                        <a:rPr lang="en-US" sz="1300" kern="1200">
                          <a:solidFill>
                            <a:schemeClr val="dk1"/>
                          </a:solidFill>
                          <a:effectLst/>
                          <a:latin typeface="+mn-lt"/>
                          <a:ea typeface="+mn-ea"/>
                          <a:cs typeface="+mn-cs"/>
                        </a:rPr>
                        <a:t>JP-003: The system shall provide a secure login for candidate authentication.</a:t>
                      </a:r>
                    </a:p>
                    <a:p>
                      <a:pPr marL="111125" lvl="0" indent="-111125">
                        <a:buFont typeface="Arial" panose="020B0604020202020204" pitchFamily="34" charset="0"/>
                        <a:buChar char="•"/>
                      </a:pPr>
                      <a:r>
                        <a:rPr lang="en-US" sz="1300" kern="1200">
                          <a:solidFill>
                            <a:schemeClr val="dk1"/>
                          </a:solidFill>
                          <a:effectLst/>
                          <a:latin typeface="+mn-lt"/>
                          <a:ea typeface="+mn-ea"/>
                          <a:cs typeface="+mn-cs"/>
                        </a:rPr>
                        <a:t>JP-004: The system shall enable authenticated candidates with completed profiles to seamlessly apply for and track multiple distinct vacancies using synchronized ATS data.</a:t>
                      </a:r>
                    </a:p>
                    <a:p>
                      <a:pPr marL="111125" lvl="0" indent="-111125">
                        <a:buFont typeface="Arial" panose="020B0604020202020204" pitchFamily="34" charset="0"/>
                        <a:buChar char="•"/>
                      </a:pPr>
                      <a:r>
                        <a:rPr lang="en-US" sz="1300" kern="1200">
                          <a:solidFill>
                            <a:schemeClr val="dk1"/>
                          </a:solidFill>
                          <a:effectLst/>
                          <a:latin typeface="+mn-lt"/>
                          <a:ea typeface="+mn-ea"/>
                          <a:cs typeface="+mn-cs"/>
                        </a:rPr>
                        <a:t>JP-005: The system should provide authenticated candidates with a secure, MMKSI-formatted online application form supporting saved drafts and document uploads, seamlessly integrating validated submissions into the ATS.</a:t>
                      </a:r>
                    </a:p>
                    <a:p>
                      <a:pPr marL="111125" indent="-111125">
                        <a:buFont typeface="Arial" panose="020B0604020202020204" pitchFamily="34" charset="0"/>
                        <a:buChar char="•"/>
                      </a:pPr>
                      <a:r>
                        <a:rPr lang="en-US" sz="1300" kern="1200">
                          <a:solidFill>
                            <a:schemeClr val="dk1"/>
                          </a:solidFill>
                          <a:effectLst/>
                          <a:latin typeface="+mn-lt"/>
                          <a:ea typeface="+mn-ea"/>
                          <a:cs typeface="+mn-cs"/>
                        </a:rPr>
                        <a:t>JP-006: The system enables authorized HR personnel to dynamically configure candidate application form fields and seamlessly synchronize these updates across the microsite and ATS.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07950721"/>
                  </a:ext>
                </a:extLst>
              </a:tr>
              <a:tr h="139246">
                <a:tc gridSpan="2">
                  <a:txBody>
                    <a:bodyPr/>
                    <a:lstStyle/>
                    <a:p>
                      <a:pPr marL="0" marR="0">
                        <a:lnSpc>
                          <a:spcPct val="115000"/>
                        </a:lnSpc>
                        <a:spcAft>
                          <a:spcPts val="800"/>
                        </a:spcAft>
                        <a:buNone/>
                      </a:pPr>
                      <a:r>
                        <a:rPr lang="en-US" sz="1300" b="1" kern="100">
                          <a:effectLst/>
                          <a:latin typeface="+mj-lt"/>
                          <a:ea typeface="DengXian" panose="02010600030101010101" pitchFamily="2" charset="-122"/>
                          <a:cs typeface="Times New Roman" panose="02020603050405020304" pitchFamily="18" charset="0"/>
                        </a:rPr>
                        <a:t>Recruitment</a:t>
                      </a:r>
                    </a:p>
                  </a:txBody>
                  <a:tcPr marL="68580" marR="68580" marT="0" marB="0"/>
                </a:tc>
                <a:tc hMerge="1">
                  <a:txBody>
                    <a:bodyPr/>
                    <a:lstStyle/>
                    <a:p>
                      <a:endParaRPr lang="en-US"/>
                    </a:p>
                  </a:txBody>
                  <a:tcPr/>
                </a:tc>
                <a:extLst>
                  <a:ext uri="{0D108BD9-81ED-4DB2-BD59-A6C34878D82A}">
                    <a16:rowId xmlns:a16="http://schemas.microsoft.com/office/drawing/2014/main" val="1524523167"/>
                  </a:ext>
                </a:extLst>
              </a:tr>
              <a:tr h="0">
                <a:tc>
                  <a:txBody>
                    <a:bodyPr/>
                    <a:lstStyle/>
                    <a:p>
                      <a:pPr marL="228600" marR="0" indent="-182880">
                        <a:lnSpc>
                          <a:spcPct val="115000"/>
                        </a:lnSpc>
                        <a:buNone/>
                      </a:pPr>
                      <a:r>
                        <a:rPr lang="en-US" sz="1300" kern="100">
                          <a:effectLst/>
                          <a:latin typeface="+mj-lt"/>
                          <a:ea typeface="DengXian" panose="02010600030101010101" pitchFamily="2" charset="-122"/>
                          <a:cs typeface="Times New Roman" panose="02020603050405020304" pitchFamily="18" charset="0"/>
                        </a:rPr>
                        <a:t>8</a:t>
                      </a:r>
                    </a:p>
                  </a:txBody>
                  <a:tcPr marL="68580" marR="68580" marT="0" marB="0"/>
                </a:tc>
                <a:tc>
                  <a:txBody>
                    <a:bodyPr/>
                    <a:lstStyle/>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RC-001: The system shall enable authorized HR personnel to efficiently execute validated bulk candidate stage movements that automatically trigger subsequent ATS workflows and update dashboards in real-time.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RC-002: The system shall provide push notification to candidate, user or any stakeholder that is involved in recruitment process to their email and account</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RC-003: The system shall use data from microsite to show list of candidates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RC-004: The system shall allow HR to assign test case to candidate email directly and shown in their credential login (Account)</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RC-005: The system shall allow HR to submit HR Interview results and embed in candidates profile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RC-006: The system shall allow HR to submit Psychological Test result and embed in candidate profile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RC-007: The system shall allow HR to arrange user interviews and push requests to user (any level) to approve regarding the arrangement</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RC-008: The system shall allow User to submit the result of User Interview and give decision passed/not passed</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86972851"/>
                  </a:ext>
                </a:extLst>
              </a:tr>
            </a:tbl>
          </a:graphicData>
        </a:graphic>
      </p:graphicFrame>
      <p:sp>
        <p:nvSpPr>
          <p:cNvPr id="2" name="Title 1">
            <a:extLst>
              <a:ext uri="{FF2B5EF4-FFF2-40B4-BE49-F238E27FC236}">
                <a16:creationId xmlns:a16="http://schemas.microsoft.com/office/drawing/2014/main" id="{3C260B92-0984-757C-A268-3F352A800FC8}"/>
              </a:ext>
            </a:extLst>
          </p:cNvPr>
          <p:cNvSpPr txBox="1">
            <a:spLocks/>
          </p:cNvSpPr>
          <p:nvPr/>
        </p:nvSpPr>
        <p:spPr>
          <a:xfrm>
            <a:off x="578932" y="19699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 Detail Functional Requirement &amp; ID (Cont’d)</a:t>
            </a:r>
            <a:endParaRPr lang="en-ID">
              <a:latin typeface="Helvetica Neue" panose="02000503000000020004"/>
              <a:cs typeface="Calibri"/>
            </a:endParaRPr>
          </a:p>
        </p:txBody>
      </p:sp>
    </p:spTree>
    <p:extLst>
      <p:ext uri="{BB962C8B-B14F-4D97-AF65-F5344CB8AC3E}">
        <p14:creationId xmlns:p14="http://schemas.microsoft.com/office/powerpoint/2010/main" val="1984065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FA733-A555-E652-A6DD-968754B79053}"/>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3EA4B639-5237-C491-8670-D3FE3D388783}"/>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0B15CD85-37D3-E3D6-5487-F5A4307D7F45}"/>
              </a:ext>
            </a:extLst>
          </p:cNvPr>
          <p:cNvSpPr>
            <a:spLocks noGrp="1"/>
          </p:cNvSpPr>
          <p:nvPr>
            <p:ph type="sldNum" sz="quarter" idx="12"/>
          </p:nvPr>
        </p:nvSpPr>
        <p:spPr>
          <a:xfrm>
            <a:off x="8818881" y="6475599"/>
            <a:ext cx="724120" cy="261609"/>
          </a:xfrm>
        </p:spPr>
        <p:txBody>
          <a:bodyPr/>
          <a:lstStyle/>
          <a:p>
            <a:r>
              <a:rPr lang="en-GB"/>
              <a:t> Page </a:t>
            </a:r>
            <a:fld id="{7A555EF9-59E7-4D74-815B-7A20869232EE}" type="slidenum">
              <a:rPr lang="en-GB" smtClean="0"/>
              <a:pPr/>
              <a:t>28</a:t>
            </a:fld>
            <a:endParaRPr lang="en-GB"/>
          </a:p>
        </p:txBody>
      </p:sp>
      <p:graphicFrame>
        <p:nvGraphicFramePr>
          <p:cNvPr id="5" name="Table 4">
            <a:extLst>
              <a:ext uri="{FF2B5EF4-FFF2-40B4-BE49-F238E27FC236}">
                <a16:creationId xmlns:a16="http://schemas.microsoft.com/office/drawing/2014/main" id="{830AA815-6CDD-5E77-A7EA-EBAE455C1067}"/>
              </a:ext>
            </a:extLst>
          </p:cNvPr>
          <p:cNvGraphicFramePr>
            <a:graphicFrameLocks noGrp="1"/>
          </p:cNvGraphicFramePr>
          <p:nvPr>
            <p:extLst>
              <p:ext uri="{D42A27DB-BD31-4B8C-83A1-F6EECF244321}">
                <p14:modId xmlns:p14="http://schemas.microsoft.com/office/powerpoint/2010/main" val="3037955285"/>
              </p:ext>
            </p:extLst>
          </p:nvPr>
        </p:nvGraphicFramePr>
        <p:xfrm>
          <a:off x="777965" y="995860"/>
          <a:ext cx="8953696" cy="2412702"/>
        </p:xfrm>
        <a:graphic>
          <a:graphicData uri="http://schemas.openxmlformats.org/drawingml/2006/table">
            <a:tbl>
              <a:tblPr firstRow="1" bandRow="1">
                <a:tableStyleId>{5C22544A-7EE6-4342-B048-85BDC9FD1C3A}</a:tableStyleId>
              </a:tblPr>
              <a:tblGrid>
                <a:gridCol w="590909">
                  <a:extLst>
                    <a:ext uri="{9D8B030D-6E8A-4147-A177-3AD203B41FA5}">
                      <a16:colId xmlns:a16="http://schemas.microsoft.com/office/drawing/2014/main" val="4195864962"/>
                    </a:ext>
                  </a:extLst>
                </a:gridCol>
                <a:gridCol w="8362787">
                  <a:extLst>
                    <a:ext uri="{9D8B030D-6E8A-4147-A177-3AD203B41FA5}">
                      <a16:colId xmlns:a16="http://schemas.microsoft.com/office/drawing/2014/main" val="3011479682"/>
                    </a:ext>
                  </a:extLst>
                </a:gridCol>
              </a:tblGrid>
              <a:tr h="218142">
                <a:tc>
                  <a:txBody>
                    <a:bodyPr/>
                    <a:lstStyle/>
                    <a:p>
                      <a:pPr marL="0" marR="0" algn="ctr">
                        <a:lnSpc>
                          <a:spcPct val="100000"/>
                        </a:lnSpc>
                        <a:spcAft>
                          <a:spcPts val="800"/>
                        </a:spcAft>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No</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00000"/>
                        </a:lnSpc>
                        <a:spcAft>
                          <a:spcPts val="800"/>
                        </a:spcAft>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5866683"/>
                  </a:ext>
                </a:extLst>
              </a:tr>
              <a:tr h="196199">
                <a:tc gridSpan="2">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400" b="1" kern="100">
                          <a:solidFill>
                            <a:schemeClr val="dk1"/>
                          </a:solidFill>
                          <a:effectLst/>
                          <a:latin typeface="+mn-lt"/>
                          <a:ea typeface="DengXian" panose="02010600030101010101" pitchFamily="2" charset="-122"/>
                          <a:cs typeface="Times New Roman" panose="02020603050405020304" pitchFamily="18" charset="0"/>
                        </a:rPr>
                        <a:t>Recruitment (Cont’d)</a:t>
                      </a:r>
                    </a:p>
                  </a:txBody>
                  <a:tcPr marL="68580" marR="68580" marT="0" marB="0"/>
                </a:tc>
                <a:tc hMerge="1">
                  <a:txBody>
                    <a:bodyPr/>
                    <a:lstStyle/>
                    <a:p>
                      <a:endParaRPr lang="en-US"/>
                    </a:p>
                  </a:txBody>
                  <a:tcPr/>
                </a:tc>
                <a:extLst>
                  <a:ext uri="{0D108BD9-81ED-4DB2-BD59-A6C34878D82A}">
                    <a16:rowId xmlns:a16="http://schemas.microsoft.com/office/drawing/2014/main" val="1379952522"/>
                  </a:ext>
                </a:extLst>
              </a:tr>
              <a:tr h="1394453">
                <a:tc>
                  <a:txBody>
                    <a:bodyPr/>
                    <a:lstStyle/>
                    <a:p>
                      <a:pPr marL="228600" marR="0" indent="-182880">
                        <a:lnSpc>
                          <a:spcPct val="100000"/>
                        </a:lnSpc>
                        <a:buNone/>
                      </a:pPr>
                      <a:r>
                        <a:rPr lang="en-US" sz="1300" kern="100">
                          <a:effectLst/>
                          <a:latin typeface="Aptos" panose="020B0004020202020204" pitchFamily="34" charset="0"/>
                          <a:ea typeface="DengXian" panose="02010600030101010101" pitchFamily="2" charset="-122"/>
                          <a:cs typeface="Times New Roman" panose="02020603050405020304" pitchFamily="18" charset="0"/>
                        </a:rPr>
                        <a:t>8</a:t>
                      </a:r>
                    </a:p>
                  </a:txBody>
                  <a:tcPr marL="68580" marR="68580" marT="0" marB="0"/>
                </a:tc>
                <a:tc>
                  <a:txBody>
                    <a:bodyPr/>
                    <a:lstStyle/>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RC-009: The system shall allow HR to arrange MCU for candidates with stakeholders (Payroll &amp; Welfare)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RC-010: The system shall allow HR to submit MCU results and embed them in candidate profile</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RC-011: The system shall allow HR to summarize candidates who have passed all stages and subsequently request BOD approval for offering</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RC-012: The system shall allow BOD to approve proposed candidates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RC-013: The system shall allow HR to push email to GA, IT, and HR group to provide new employee needs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RC-014: The system shall enable the recording of the first-month probation evaluation for future review</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RC-015: The system shall allow HR to issue final decision letters (Pass/Fail)</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RC-016: The system shall send automatic reminders before monthly evaluation deadlines.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p>
                      <a:pPr marL="111125" marR="0" lvl="0" indent="-111125">
                        <a:lnSpc>
                          <a:spcPct val="100000"/>
                        </a:lnSpc>
                        <a:spcAft>
                          <a:spcPts val="800"/>
                        </a:spcAft>
                        <a:buFont typeface="Symbol" panose="05050102010706020507" pitchFamily="18" charset="2"/>
                        <a:buChar char=""/>
                        <a:tabLst>
                          <a:tab pos="156210" algn="l"/>
                        </a:tabLs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RC-017: The system should provide dashboards for monitoring recruitment processes.</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07950721"/>
                  </a:ext>
                </a:extLst>
              </a:tr>
            </a:tbl>
          </a:graphicData>
        </a:graphic>
      </p:graphicFrame>
      <p:sp>
        <p:nvSpPr>
          <p:cNvPr id="2" name="Title 1">
            <a:extLst>
              <a:ext uri="{FF2B5EF4-FFF2-40B4-BE49-F238E27FC236}">
                <a16:creationId xmlns:a16="http://schemas.microsoft.com/office/drawing/2014/main" id="{00452969-93BE-9F79-256F-C7B6FD54ACDC}"/>
              </a:ext>
            </a:extLst>
          </p:cNvPr>
          <p:cNvSpPr txBox="1">
            <a:spLocks/>
          </p:cNvSpPr>
          <p:nvPr/>
        </p:nvSpPr>
        <p:spPr>
          <a:xfrm>
            <a:off x="578932" y="19699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 Detail Functional Requirement &amp; ID (Cont’d)</a:t>
            </a:r>
            <a:endParaRPr lang="en-ID">
              <a:latin typeface="Helvetica Neue" panose="02000503000000020004"/>
              <a:cs typeface="Calibri"/>
            </a:endParaRPr>
          </a:p>
        </p:txBody>
      </p:sp>
    </p:spTree>
    <p:extLst>
      <p:ext uri="{BB962C8B-B14F-4D97-AF65-F5344CB8AC3E}">
        <p14:creationId xmlns:p14="http://schemas.microsoft.com/office/powerpoint/2010/main" val="3773669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43B35-125D-5C85-01DE-EE748D2904F3}"/>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4ADC1FAD-C52D-224B-5783-D269C3DC3711}"/>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595DED31-6680-5C6B-5A4C-4D27685F1BE9}"/>
              </a:ext>
            </a:extLst>
          </p:cNvPr>
          <p:cNvSpPr>
            <a:spLocks noGrp="1"/>
          </p:cNvSpPr>
          <p:nvPr>
            <p:ph type="sldNum" sz="quarter" idx="12"/>
          </p:nvPr>
        </p:nvSpPr>
        <p:spPr>
          <a:xfrm>
            <a:off x="8818881" y="6475599"/>
            <a:ext cx="724120" cy="261610"/>
          </a:xfrm>
        </p:spPr>
        <p:txBody>
          <a:bodyPr/>
          <a:lstStyle/>
          <a:p>
            <a:r>
              <a:rPr lang="en-GB"/>
              <a:t> Page </a:t>
            </a:r>
            <a:fld id="{7A555EF9-59E7-4D74-815B-7A20869232EE}" type="slidenum">
              <a:rPr lang="en-GB" smtClean="0"/>
              <a:pPr/>
              <a:t>29</a:t>
            </a:fld>
            <a:endParaRPr lang="en-GB"/>
          </a:p>
        </p:txBody>
      </p:sp>
      <p:sp>
        <p:nvSpPr>
          <p:cNvPr id="2" name="Title 1">
            <a:extLst>
              <a:ext uri="{FF2B5EF4-FFF2-40B4-BE49-F238E27FC236}">
                <a16:creationId xmlns:a16="http://schemas.microsoft.com/office/drawing/2014/main" id="{6874F902-C017-2996-E64B-1D0A8B184287}"/>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 Decision Analysis Result </a:t>
            </a:r>
            <a:endParaRPr lang="en-ID">
              <a:latin typeface="Helvetica Neue" panose="02000503000000020004"/>
              <a:cs typeface="Calibri"/>
            </a:endParaRPr>
          </a:p>
        </p:txBody>
      </p:sp>
      <p:graphicFrame>
        <p:nvGraphicFramePr>
          <p:cNvPr id="16" name="Table 15">
            <a:extLst>
              <a:ext uri="{FF2B5EF4-FFF2-40B4-BE49-F238E27FC236}">
                <a16:creationId xmlns:a16="http://schemas.microsoft.com/office/drawing/2014/main" id="{70D5EB58-AFD4-3788-A19C-6BA7F5D1CF02}"/>
              </a:ext>
            </a:extLst>
          </p:cNvPr>
          <p:cNvGraphicFramePr>
            <a:graphicFrameLocks noGrp="1"/>
          </p:cNvGraphicFramePr>
          <p:nvPr>
            <p:extLst>
              <p:ext uri="{D42A27DB-BD31-4B8C-83A1-F6EECF244321}">
                <p14:modId xmlns:p14="http://schemas.microsoft.com/office/powerpoint/2010/main" val="651221282"/>
              </p:ext>
            </p:extLst>
          </p:nvPr>
        </p:nvGraphicFramePr>
        <p:xfrm>
          <a:off x="743735" y="1416612"/>
          <a:ext cx="8987927" cy="4489479"/>
        </p:xfrm>
        <a:graphic>
          <a:graphicData uri="http://schemas.openxmlformats.org/drawingml/2006/table">
            <a:tbl>
              <a:tblPr/>
              <a:tblGrid>
                <a:gridCol w="452697">
                  <a:extLst>
                    <a:ext uri="{9D8B030D-6E8A-4147-A177-3AD203B41FA5}">
                      <a16:colId xmlns:a16="http://schemas.microsoft.com/office/drawing/2014/main" val="1541053514"/>
                    </a:ext>
                  </a:extLst>
                </a:gridCol>
                <a:gridCol w="1405248">
                  <a:extLst>
                    <a:ext uri="{9D8B030D-6E8A-4147-A177-3AD203B41FA5}">
                      <a16:colId xmlns:a16="http://schemas.microsoft.com/office/drawing/2014/main" val="2866886170"/>
                    </a:ext>
                  </a:extLst>
                </a:gridCol>
                <a:gridCol w="792220">
                  <a:extLst>
                    <a:ext uri="{9D8B030D-6E8A-4147-A177-3AD203B41FA5}">
                      <a16:colId xmlns:a16="http://schemas.microsoft.com/office/drawing/2014/main" val="2930119265"/>
                    </a:ext>
                  </a:extLst>
                </a:gridCol>
                <a:gridCol w="1075156">
                  <a:extLst>
                    <a:ext uri="{9D8B030D-6E8A-4147-A177-3AD203B41FA5}">
                      <a16:colId xmlns:a16="http://schemas.microsoft.com/office/drawing/2014/main" val="3643870822"/>
                    </a:ext>
                  </a:extLst>
                </a:gridCol>
                <a:gridCol w="1075156">
                  <a:extLst>
                    <a:ext uri="{9D8B030D-6E8A-4147-A177-3AD203B41FA5}">
                      <a16:colId xmlns:a16="http://schemas.microsoft.com/office/drawing/2014/main" val="1474359773"/>
                    </a:ext>
                  </a:extLst>
                </a:gridCol>
                <a:gridCol w="1075156">
                  <a:extLst>
                    <a:ext uri="{9D8B030D-6E8A-4147-A177-3AD203B41FA5}">
                      <a16:colId xmlns:a16="http://schemas.microsoft.com/office/drawing/2014/main" val="2684190506"/>
                    </a:ext>
                  </a:extLst>
                </a:gridCol>
                <a:gridCol w="1075156">
                  <a:extLst>
                    <a:ext uri="{9D8B030D-6E8A-4147-A177-3AD203B41FA5}">
                      <a16:colId xmlns:a16="http://schemas.microsoft.com/office/drawing/2014/main" val="349060692"/>
                    </a:ext>
                  </a:extLst>
                </a:gridCol>
                <a:gridCol w="1018569">
                  <a:extLst>
                    <a:ext uri="{9D8B030D-6E8A-4147-A177-3AD203B41FA5}">
                      <a16:colId xmlns:a16="http://schemas.microsoft.com/office/drawing/2014/main" val="3193565681"/>
                    </a:ext>
                  </a:extLst>
                </a:gridCol>
                <a:gridCol w="1018569">
                  <a:extLst>
                    <a:ext uri="{9D8B030D-6E8A-4147-A177-3AD203B41FA5}">
                      <a16:colId xmlns:a16="http://schemas.microsoft.com/office/drawing/2014/main" val="89530676"/>
                    </a:ext>
                  </a:extLst>
                </a:gridCol>
              </a:tblGrid>
              <a:tr h="338190">
                <a:tc rowSpan="2">
                  <a:txBody>
                    <a:bodyPr/>
                    <a:lstStyle/>
                    <a:p>
                      <a:pPr algn="ctr" rtl="0" fontAlgn="ctr">
                        <a:buNone/>
                      </a:pPr>
                      <a:r>
                        <a:rPr lang="en-US" sz="1200" b="1" i="0" u="none" strike="noStrike">
                          <a:solidFill>
                            <a:srgbClr val="FFFFFF"/>
                          </a:solidFill>
                          <a:effectLst/>
                          <a:latin typeface="Calibri" panose="020F0502020204030204" pitchFamily="34" charset="0"/>
                        </a:rPr>
                        <a:t>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rtl="0" fontAlgn="ctr">
                        <a:buNone/>
                      </a:pPr>
                      <a:r>
                        <a:rPr lang="en-US" sz="1200" b="1" i="0" u="none" strike="noStrike">
                          <a:solidFill>
                            <a:srgbClr val="FFFFFF"/>
                          </a:solidFill>
                          <a:effectLst/>
                          <a:latin typeface="Calibri" panose="020F0502020204030204" pitchFamily="34" charset="0"/>
                        </a:rPr>
                        <a:t>Criteria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rtl="0" fontAlgn="ctr">
                        <a:buNone/>
                      </a:pPr>
                      <a:r>
                        <a:rPr lang="en-US" sz="1200" b="1" i="0" u="none" strike="noStrike">
                          <a:solidFill>
                            <a:srgbClr val="FFFFFF"/>
                          </a:solidFill>
                          <a:effectLst/>
                          <a:latin typeface="Calibri" panose="020F0502020204030204" pitchFamily="34" charset="0"/>
                        </a:rPr>
                        <a:t>Weight Percentage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gridSpan="2">
                  <a:txBody>
                    <a:bodyPr/>
                    <a:lstStyle/>
                    <a:p>
                      <a:pPr algn="ctr" fontAlgn="ctr">
                        <a:buNone/>
                      </a:pPr>
                      <a:r>
                        <a:rPr lang="en-US" sz="1200" b="1" i="0" u="none" strike="noStrike">
                          <a:solidFill>
                            <a:srgbClr val="FFFFFF"/>
                          </a:solidFill>
                          <a:effectLst/>
                          <a:latin typeface="Calibri" panose="020F0502020204030204" pitchFamily="34" charset="0"/>
                        </a:rPr>
                        <a:t>SUNFISH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hMerge="1">
                  <a:txBody>
                    <a:bodyPr/>
                    <a:lstStyle/>
                    <a:p>
                      <a:endParaRPr lang="en-US"/>
                    </a:p>
                  </a:txBody>
                  <a:tcPr/>
                </a:tc>
                <a:tc gridSpan="2">
                  <a:txBody>
                    <a:bodyPr/>
                    <a:lstStyle/>
                    <a:p>
                      <a:pPr algn="ctr" fontAlgn="ctr">
                        <a:buNone/>
                      </a:pPr>
                      <a:r>
                        <a:rPr lang="en-US" sz="1200" b="1" i="0" u="none" strike="noStrike">
                          <a:solidFill>
                            <a:srgbClr val="FFFFFF"/>
                          </a:solidFill>
                          <a:effectLst/>
                          <a:latin typeface="Calibri" panose="020F0502020204030204" pitchFamily="34" charset="0"/>
                        </a:rPr>
                        <a:t>SPISY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hMerge="1">
                  <a:txBody>
                    <a:bodyPr/>
                    <a:lstStyle/>
                    <a:p>
                      <a:endParaRPr lang="en-US"/>
                    </a:p>
                  </a:txBody>
                  <a:tcPr/>
                </a:tc>
                <a:tc gridSpan="2">
                  <a:txBody>
                    <a:bodyPr/>
                    <a:lstStyle/>
                    <a:p>
                      <a:pPr algn="ctr" fontAlgn="ctr">
                        <a:buNone/>
                      </a:pPr>
                      <a:r>
                        <a:rPr lang="en-US" sz="1200" b="1" i="0" u="none" strike="noStrike">
                          <a:solidFill>
                            <a:srgbClr val="FFFFFF"/>
                          </a:solidFill>
                          <a:effectLst/>
                          <a:latin typeface="Calibri" panose="020F0502020204030204" pitchFamily="34" charset="0"/>
                        </a:rPr>
                        <a:t>TAILORED SOLUTION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hMerge="1">
                  <a:txBody>
                    <a:bodyPr/>
                    <a:lstStyle/>
                    <a:p>
                      <a:endParaRPr lang="en-US"/>
                    </a:p>
                  </a:txBody>
                  <a:tcPr/>
                </a:tc>
                <a:extLst>
                  <a:ext uri="{0D108BD9-81ED-4DB2-BD59-A6C34878D82A}">
                    <a16:rowId xmlns:a16="http://schemas.microsoft.com/office/drawing/2014/main" val="2301919190"/>
                  </a:ext>
                </a:extLst>
              </a:tr>
              <a:tr h="754317">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1200" b="1" i="0" u="none" strike="noStrike">
                          <a:solidFill>
                            <a:srgbClr val="FFFFFF"/>
                          </a:solidFill>
                          <a:effectLst/>
                          <a:latin typeface="Calibri" panose="020F0502020204030204" pitchFamily="34" charset="0"/>
                        </a:rPr>
                        <a:t>Score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rtl="0" fontAlgn="ctr">
                        <a:buNone/>
                      </a:pPr>
                      <a:r>
                        <a:rPr lang="en-US" sz="1200" b="1" i="0" u="none" strike="noStrike">
                          <a:solidFill>
                            <a:srgbClr val="FFFFFF"/>
                          </a:solidFill>
                          <a:effectLst/>
                          <a:latin typeface="Calibri" panose="020F0502020204030204" pitchFamily="34" charset="0"/>
                        </a:rPr>
                        <a:t>Weighted Score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rtl="0" fontAlgn="ctr">
                        <a:buNone/>
                      </a:pPr>
                      <a:r>
                        <a:rPr lang="en-US" sz="1200" b="1" i="0" u="none" strike="noStrike">
                          <a:solidFill>
                            <a:srgbClr val="FFFFFF"/>
                          </a:solidFill>
                          <a:effectLst/>
                          <a:latin typeface="Calibri" panose="020F0502020204030204" pitchFamily="34" charset="0"/>
                        </a:rPr>
                        <a:t>Score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rtl="0" fontAlgn="ctr">
                        <a:buNone/>
                      </a:pPr>
                      <a:r>
                        <a:rPr lang="en-US" sz="1200" b="1" i="0" u="none" strike="noStrike">
                          <a:solidFill>
                            <a:srgbClr val="FFFFFF"/>
                          </a:solidFill>
                          <a:effectLst/>
                          <a:latin typeface="Calibri" panose="020F0502020204030204" pitchFamily="34" charset="0"/>
                        </a:rPr>
                        <a:t>Weighted Score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rtl="0" fontAlgn="ctr">
                        <a:buNone/>
                      </a:pPr>
                      <a:r>
                        <a:rPr lang="en-US" sz="1200" b="1" i="0" u="none" strike="noStrike">
                          <a:solidFill>
                            <a:srgbClr val="FFFFFF"/>
                          </a:solidFill>
                          <a:effectLst/>
                          <a:latin typeface="Calibri" panose="020F0502020204030204" pitchFamily="34" charset="0"/>
                        </a:rPr>
                        <a:t>Score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rtl="0" fontAlgn="ctr">
                        <a:buNone/>
                      </a:pPr>
                      <a:r>
                        <a:rPr lang="en-US" sz="1200" b="1" i="0" u="none" strike="noStrike">
                          <a:solidFill>
                            <a:srgbClr val="FFFFFF"/>
                          </a:solidFill>
                          <a:effectLst/>
                          <a:latin typeface="Calibri" panose="020F0502020204030204" pitchFamily="34" charset="0"/>
                        </a:rPr>
                        <a:t>Weighted Score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extLst>
                  <a:ext uri="{0D108BD9-81ED-4DB2-BD59-A6C34878D82A}">
                    <a16:rowId xmlns:a16="http://schemas.microsoft.com/office/drawing/2014/main" val="1009174409"/>
                  </a:ext>
                </a:extLst>
              </a:tr>
              <a:tr h="338190">
                <a:tc>
                  <a:txBody>
                    <a:bodyPr/>
                    <a:lstStyle/>
                    <a:p>
                      <a:pPr algn="ctr" rtl="0" fontAlgn="ctr">
                        <a:buNone/>
                      </a:pPr>
                      <a:r>
                        <a:rPr lang="en-US" sz="1200" b="1" i="0" u="none" strike="noStrike">
                          <a:solidFill>
                            <a:srgbClr val="000000"/>
                          </a:solidFill>
                          <a:effectLst/>
                          <a:latin typeface="Calibri" panose="020F0502020204030204" pitchFamily="34"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200" b="1" i="0" u="none" strike="noStrike">
                          <a:solidFill>
                            <a:srgbClr val="000000"/>
                          </a:solidFill>
                          <a:effectLst/>
                          <a:latin typeface="Calibri" panose="020F0502020204030204" pitchFamily="34" charset="0"/>
                        </a:rPr>
                        <a:t>Functional Requirement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4.82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1.93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2.00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3241081"/>
                  </a:ext>
                </a:extLst>
              </a:tr>
              <a:tr h="354703">
                <a:tc>
                  <a:txBody>
                    <a:bodyPr/>
                    <a:lstStyle/>
                    <a:p>
                      <a:pPr algn="ctr" rtl="0" fontAlgn="ctr">
                        <a:buNone/>
                      </a:pPr>
                      <a:r>
                        <a:rPr lang="en-US" sz="1200" b="1" i="0" u="none" strike="noStrike">
                          <a:solidFill>
                            <a:srgbClr val="000000"/>
                          </a:solidFill>
                          <a:effectLst/>
                          <a:latin typeface="Calibri" panose="020F0502020204030204" pitchFamily="34"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200" b="1" i="0" u="none" strike="noStrike">
                          <a:solidFill>
                            <a:srgbClr val="000000"/>
                          </a:solidFill>
                          <a:effectLst/>
                          <a:latin typeface="Calibri" panose="020F0502020204030204" pitchFamily="34" charset="0"/>
                        </a:rPr>
                        <a:t>Non-Functional Requirement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1.44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4.20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1.17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9054045"/>
                  </a:ext>
                </a:extLst>
              </a:tr>
              <a:tr h="354703">
                <a:tc>
                  <a:txBody>
                    <a:bodyPr/>
                    <a:lstStyle/>
                    <a:p>
                      <a:pPr algn="ctr" rtl="0" fontAlgn="ctr">
                        <a:buNone/>
                      </a:pPr>
                      <a:r>
                        <a:rPr lang="en-US" sz="1200" b="1" i="0" u="none" strike="noStrike">
                          <a:solidFill>
                            <a:srgbClr val="000000"/>
                          </a:solidFill>
                          <a:effectLst/>
                          <a:latin typeface="Calibri" panose="020F0502020204030204" pitchFamily="34"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1" i="0" u="none" strike="noStrike">
                          <a:solidFill>
                            <a:srgbClr val="000000"/>
                          </a:solidFill>
                          <a:effectLst/>
                          <a:latin typeface="Calibri" panose="020F0502020204030204" pitchFamily="34" charset="0"/>
                        </a:rPr>
                        <a:t>Implementation and Operation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0.90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0" i="0" u="none" strike="noStrike">
                          <a:solidFill>
                            <a:srgbClr val="000000"/>
                          </a:solidFill>
                          <a:effectLst/>
                          <a:latin typeface="Calibri" panose="020F0502020204030204" pitchFamily="34" charset="0"/>
                        </a:rPr>
                        <a:t>1.22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6144107"/>
                  </a:ext>
                </a:extLst>
              </a:tr>
              <a:tr h="338190">
                <a:tc>
                  <a:txBody>
                    <a:bodyPr/>
                    <a:lstStyle/>
                    <a:p>
                      <a:pPr algn="l" rtl="0" fontAlgn="ctr">
                        <a:buNone/>
                      </a:pPr>
                      <a:endParaRPr lang="en-US" sz="1100" b="1"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rtl="0" fontAlgn="ctr">
                        <a:buNone/>
                      </a:pPr>
                      <a:endParaRPr lang="en-US" sz="1100" b="1" i="0" u="none" strike="noStrike">
                        <a:solidFill>
                          <a:srgbClr val="000000"/>
                        </a:solidFill>
                        <a:effectLst/>
                        <a:latin typeface="Calibri" panose="020F0502020204030204" pitchFamily="34"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100%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4EA72E"/>
                          </a:solidFill>
                          <a:effectLst/>
                          <a:latin typeface="Calibri" panose="020F0502020204030204" pitchFamily="34" charset="0"/>
                        </a:rPr>
                        <a:t>4.27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F2D0"/>
                    </a:solidFill>
                  </a:tcPr>
                </a:tc>
                <a:tc>
                  <a:txBody>
                    <a:bodyPr/>
                    <a:lstStyle/>
                    <a:p>
                      <a:pPr algn="ctr" rtl="0" fontAlgn="ctr">
                        <a:buNone/>
                      </a:pPr>
                      <a:r>
                        <a:rPr lang="en-US" sz="1200" b="1"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4EA72E"/>
                          </a:solidFill>
                          <a:effectLst/>
                          <a:latin typeface="Calibri" panose="020F0502020204030204" pitchFamily="34" charset="0"/>
                        </a:rPr>
                        <a:t>4.36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F2D0"/>
                    </a:solidFill>
                  </a:tcPr>
                </a:tc>
                <a:tc>
                  <a:txBody>
                    <a:bodyPr/>
                    <a:lstStyle/>
                    <a:p>
                      <a:pPr algn="ctr" rtl="0" fontAlgn="ctr">
                        <a:buNone/>
                      </a:pPr>
                      <a:r>
                        <a:rPr lang="en-US" sz="1200" b="1" i="0" u="none" strike="noStrike">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FFFFFF"/>
                          </a:solidFill>
                          <a:effectLst/>
                          <a:latin typeface="Calibri" panose="020F0502020204030204" pitchFamily="34" charset="0"/>
                        </a:rPr>
                        <a:t>4.39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914230758"/>
                  </a:ext>
                </a:extLst>
              </a:tr>
              <a:tr h="202914">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0599908"/>
                  </a:ext>
                </a:extLst>
              </a:tr>
              <a:tr h="202914">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en-US" sz="1200" b="1" i="0" u="none" strike="noStrike">
                          <a:solidFill>
                            <a:srgbClr val="000000"/>
                          </a:solidFill>
                          <a:effectLst/>
                          <a:latin typeface="Calibri" panose="020F0502020204030204" pitchFamily="34" charset="0"/>
                        </a:rPr>
                        <a:t>FINAL RANK</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rtl="0" fontAlgn="ctr">
                        <a:buNone/>
                      </a:pPr>
                      <a:r>
                        <a:rPr lang="en-US" sz="1200" b="1" i="0" u="none" strike="noStrike">
                          <a:solidFill>
                            <a:srgbClr val="000000"/>
                          </a:solidFill>
                          <a:effectLst/>
                          <a:latin typeface="Calibri" panose="020F050202020403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F2D0"/>
                    </a:solid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F2D0"/>
                    </a:solid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200" b="1" i="0" u="none" strike="noStrike">
                          <a:solidFill>
                            <a:srgbClr val="FFFFFF"/>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32564355"/>
                  </a:ext>
                </a:extLst>
              </a:tr>
              <a:tr h="202914">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1233159"/>
                  </a:ext>
                </a:extLst>
              </a:tr>
              <a:tr h="338190">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2">
                  <a:txBody>
                    <a:bodyPr/>
                    <a:lstStyle/>
                    <a:p>
                      <a:pPr algn="ctr" fontAlgn="ctr">
                        <a:buNone/>
                      </a:pPr>
                      <a:r>
                        <a:rPr lang="en-US" sz="1200" b="1" i="0" u="none" strike="noStrike">
                          <a:solidFill>
                            <a:srgbClr val="FFFFFF"/>
                          </a:solidFill>
                          <a:effectLst/>
                          <a:latin typeface="Calibri" panose="020F0502020204030204" pitchFamily="34" charset="0"/>
                        </a:rPr>
                        <a:t>SUNFISH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hMerge="1">
                  <a:txBody>
                    <a:bodyPr/>
                    <a:lstStyle/>
                    <a:p>
                      <a:endParaRPr lang="en-US"/>
                    </a:p>
                  </a:txBody>
                  <a:tcPr/>
                </a:tc>
                <a:tc gridSpan="2">
                  <a:txBody>
                    <a:bodyPr/>
                    <a:lstStyle/>
                    <a:p>
                      <a:pPr algn="ctr" fontAlgn="ctr">
                        <a:buNone/>
                      </a:pPr>
                      <a:r>
                        <a:rPr lang="en-US" sz="1200" b="1" i="0" u="none" strike="noStrike">
                          <a:solidFill>
                            <a:srgbClr val="FFFFFF"/>
                          </a:solidFill>
                          <a:effectLst/>
                          <a:latin typeface="Calibri" panose="020F0502020204030204" pitchFamily="34" charset="0"/>
                        </a:rPr>
                        <a:t>SPISY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hMerge="1">
                  <a:txBody>
                    <a:bodyPr/>
                    <a:lstStyle/>
                    <a:p>
                      <a:endParaRPr lang="en-US"/>
                    </a:p>
                  </a:txBody>
                  <a:tcPr/>
                </a:tc>
                <a:tc gridSpan="2">
                  <a:txBody>
                    <a:bodyPr/>
                    <a:lstStyle/>
                    <a:p>
                      <a:pPr algn="ctr" fontAlgn="ctr">
                        <a:buNone/>
                      </a:pPr>
                      <a:r>
                        <a:rPr lang="en-US" sz="1200" b="1" i="0" u="none" strike="noStrike">
                          <a:solidFill>
                            <a:srgbClr val="FFFFFF"/>
                          </a:solidFill>
                          <a:effectLst/>
                          <a:latin typeface="Calibri" panose="020F0502020204030204" pitchFamily="34" charset="0"/>
                        </a:rPr>
                        <a:t>TAILORED SOLUTION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hMerge="1">
                  <a:txBody>
                    <a:bodyPr/>
                    <a:lstStyle/>
                    <a:p>
                      <a:endParaRPr lang="en-US"/>
                    </a:p>
                  </a:txBody>
                  <a:tcPr/>
                </a:tc>
                <a:extLst>
                  <a:ext uri="{0D108BD9-81ED-4DB2-BD59-A6C34878D82A}">
                    <a16:rowId xmlns:a16="http://schemas.microsoft.com/office/drawing/2014/main" val="641414917"/>
                  </a:ext>
                </a:extLst>
              </a:tr>
              <a:tr h="338190">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Implementation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IDR 5,615,390,000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IDR 2,607,100,000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IDR 1,927,800,000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023311930"/>
                  </a:ext>
                </a:extLst>
              </a:tr>
              <a:tr h="338190">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Operation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IDR 590,357,000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IDR 383,000,000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IDR 270,000,000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4255283343"/>
                  </a:ext>
                </a:extLst>
              </a:tr>
              <a:tr h="338190">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en-US" sz="1200" b="0" i="0" u="none" strike="noStrike">
                          <a:solidFill>
                            <a:srgbClr val="000000"/>
                          </a:solidFill>
                          <a:effectLst/>
                          <a:latin typeface="Calibri" panose="020F0502020204030204" pitchFamily="34" charset="0"/>
                        </a:rP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algn="ctr" rtl="0" fontAlgn="ctr">
                        <a:buNone/>
                      </a:pPr>
                      <a:r>
                        <a:rPr lang="en-US" sz="1200" b="1" i="0" u="none" strike="noStrike">
                          <a:solidFill>
                            <a:srgbClr val="000000"/>
                          </a:solidFill>
                          <a:effectLst/>
                          <a:latin typeface="Calibri" panose="020F0502020204030204" pitchFamily="34" charset="0"/>
                        </a:rPr>
                        <a:t>IDR 6,205,747,000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algn="ctr" rtl="0" fontAlgn="ctr">
                        <a:buNone/>
                      </a:pPr>
                      <a:r>
                        <a:rPr lang="en-US" sz="1200" b="1" i="0" u="none" strike="noStrike">
                          <a:solidFill>
                            <a:srgbClr val="000000"/>
                          </a:solidFill>
                          <a:effectLst/>
                          <a:latin typeface="Calibri" panose="020F0502020204030204" pitchFamily="34" charset="0"/>
                        </a:rPr>
                        <a:t>IDR 2,990,100,000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algn="ctr" rtl="0" fontAlgn="ctr">
                        <a:buNone/>
                      </a:pPr>
                      <a:r>
                        <a:rPr lang="en-US" sz="1200" b="1" i="0" u="none" strike="noStrike">
                          <a:solidFill>
                            <a:srgbClr val="000000"/>
                          </a:solidFill>
                          <a:effectLst/>
                          <a:latin typeface="Calibri" panose="020F0502020204030204" pitchFamily="34" charset="0"/>
                        </a:rPr>
                        <a:t>IDR 2,197,800,000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extLst>
                  <a:ext uri="{0D108BD9-81ED-4DB2-BD59-A6C34878D82A}">
                    <a16:rowId xmlns:a16="http://schemas.microsoft.com/office/drawing/2014/main" val="1531836606"/>
                  </a:ext>
                </a:extLst>
              </a:tr>
            </a:tbl>
          </a:graphicData>
        </a:graphic>
      </p:graphicFrame>
      <p:sp>
        <p:nvSpPr>
          <p:cNvPr id="17" name="TextBox 16">
            <a:extLst>
              <a:ext uri="{FF2B5EF4-FFF2-40B4-BE49-F238E27FC236}">
                <a16:creationId xmlns:a16="http://schemas.microsoft.com/office/drawing/2014/main" id="{1984C24F-1D9D-7B64-5D72-7D69A54AF533}"/>
              </a:ext>
            </a:extLst>
          </p:cNvPr>
          <p:cNvSpPr txBox="1"/>
          <p:nvPr/>
        </p:nvSpPr>
        <p:spPr>
          <a:xfrm>
            <a:off x="743735" y="951909"/>
            <a:ext cx="4955458" cy="38209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 Decision Matrix</a:t>
            </a:r>
          </a:p>
        </p:txBody>
      </p:sp>
    </p:spTree>
    <p:extLst>
      <p:ext uri="{BB962C8B-B14F-4D97-AF65-F5344CB8AC3E}">
        <p14:creationId xmlns:p14="http://schemas.microsoft.com/office/powerpoint/2010/main" val="2992271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E61C-B444-1B6A-9E91-3EBFF8F7449E}"/>
            </a:ext>
          </a:extLst>
        </p:cNvPr>
        <p:cNvGrpSpPr/>
        <p:nvPr/>
      </p:nvGrpSpPr>
      <p:grpSpPr>
        <a:xfrm>
          <a:off x="0" y="0"/>
          <a:ext cx="0" cy="0"/>
          <a:chOff x="0" y="0"/>
          <a:chExt cx="0" cy="0"/>
        </a:xfrm>
      </p:grpSpPr>
      <p:sp>
        <p:nvSpPr>
          <p:cNvPr id="3" name="Footer Placeholder 4">
            <a:extLst>
              <a:ext uri="{FF2B5EF4-FFF2-40B4-BE49-F238E27FC236}">
                <a16:creationId xmlns:a16="http://schemas.microsoft.com/office/drawing/2014/main" id="{013A50EF-1C90-BA2E-3930-94BD006C62ED}"/>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C49FE4E1-68DE-A471-1BC6-40BAC686B61E}"/>
              </a:ext>
            </a:extLst>
          </p:cNvPr>
          <p:cNvSpPr>
            <a:spLocks noGrp="1"/>
          </p:cNvSpPr>
          <p:nvPr>
            <p:ph type="sldNum" sz="quarter" idx="12"/>
          </p:nvPr>
        </p:nvSpPr>
        <p:spPr>
          <a:xfrm>
            <a:off x="8869681" y="6475599"/>
            <a:ext cx="673320" cy="261609"/>
          </a:xfrm>
        </p:spPr>
        <p:txBody>
          <a:bodyPr/>
          <a:lstStyle/>
          <a:p>
            <a:r>
              <a:rPr lang="en-GB"/>
              <a:t> Page </a:t>
            </a:r>
            <a:fld id="{7A555EF9-59E7-4D74-815B-7A20869232EE}" type="slidenum">
              <a:rPr lang="en-GB" smtClean="0"/>
              <a:pPr/>
              <a:t>30</a:t>
            </a:fld>
            <a:endParaRPr lang="en-GB"/>
          </a:p>
        </p:txBody>
      </p:sp>
      <p:sp>
        <p:nvSpPr>
          <p:cNvPr id="5" name="テキスト ボックス 5">
            <a:extLst>
              <a:ext uri="{FF2B5EF4-FFF2-40B4-BE49-F238E27FC236}">
                <a16:creationId xmlns:a16="http://schemas.microsoft.com/office/drawing/2014/main" id="{95A717C0-D63D-5EEF-B385-5ACDF3BB4A01}"/>
              </a:ext>
            </a:extLst>
          </p:cNvPr>
          <p:cNvSpPr txBox="1"/>
          <p:nvPr/>
        </p:nvSpPr>
        <p:spPr>
          <a:xfrm>
            <a:off x="774387" y="1478806"/>
            <a:ext cx="9131613" cy="26442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cs typeface="Arial"/>
                <a:sym typeface="Arial"/>
              </a:rPr>
              <a:t>Based on DAR, </a:t>
            </a:r>
            <a:r>
              <a:rPr kumimoji="1" lang="en-US" altLang="ja-JP" sz="1400" b="1" i="0" u="none" strike="noStrike" kern="0" cap="none" spc="0" normalizeH="0" baseline="0" noProof="0">
                <a:ln>
                  <a:noFill/>
                </a:ln>
                <a:solidFill>
                  <a:srgbClr val="0097A7"/>
                </a:solidFill>
                <a:effectLst/>
                <a:uLnTx/>
                <a:uFillTx/>
                <a:cs typeface="Arial"/>
                <a:sym typeface="Arial"/>
              </a:rPr>
              <a:t>Tailored Solution is the recommended solution</a:t>
            </a:r>
            <a:r>
              <a:rPr kumimoji="1" lang="en-US" altLang="ja-JP" sz="1400" b="1" i="0" u="none" strike="noStrike" kern="0" cap="none" spc="0" normalizeH="0" baseline="0" noProof="0">
                <a:ln>
                  <a:noFill/>
                </a:ln>
                <a:solidFill>
                  <a:srgbClr val="000000"/>
                </a:solidFill>
                <a:effectLst/>
                <a:uLnTx/>
                <a:uFillTx/>
                <a:cs typeface="Arial"/>
                <a:sym typeface="Arial"/>
              </a:rPr>
              <a:t> </a:t>
            </a:r>
            <a:r>
              <a:rPr kumimoji="1" lang="en-US" altLang="ja-JP" sz="1400" b="0" i="0" u="none" strike="noStrike" kern="0" cap="none" spc="0" normalizeH="0" baseline="0" noProof="0">
                <a:ln>
                  <a:noFill/>
                </a:ln>
                <a:solidFill>
                  <a:srgbClr val="000000"/>
                </a:solidFill>
                <a:effectLst/>
                <a:uLnTx/>
                <a:uFillTx/>
                <a:cs typeface="Arial"/>
                <a:sym typeface="Arial"/>
              </a:rPr>
              <a:t>for HRD MMKSI.</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a:ln>
                  <a:noFill/>
                </a:ln>
                <a:solidFill>
                  <a:srgbClr val="000000"/>
                </a:solidFill>
                <a:effectLst/>
                <a:uLnTx/>
                <a:uFillTx/>
                <a:cs typeface="Arial"/>
                <a:sym typeface="Arial"/>
              </a:rPr>
              <a:t>The decision is based on the following strategic advantages:</a:t>
            </a:r>
          </a:p>
          <a:p>
            <a:pPr marL="171450" marR="0" lvl="0" indent="-1714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1" lang="en-US" altLang="ja-JP" sz="1400" b="1" i="0" u="none" strike="noStrike" kern="0" cap="none" spc="0" normalizeH="0" baseline="0" noProof="0">
                <a:ln>
                  <a:noFill/>
                </a:ln>
                <a:solidFill>
                  <a:srgbClr val="000000"/>
                </a:solidFill>
                <a:effectLst/>
                <a:uLnTx/>
                <a:uFillTx/>
                <a:cs typeface="Arial"/>
                <a:sym typeface="Arial"/>
              </a:rPr>
              <a:t>Based on Functional Requirement</a:t>
            </a:r>
            <a:br>
              <a:rPr kumimoji="1" lang="en-US" altLang="ja-JP" sz="1400" b="0" i="0" u="none" strike="noStrike" kern="0" cap="none" spc="0" normalizeH="0" baseline="0" noProof="0">
                <a:ln>
                  <a:noFill/>
                </a:ln>
                <a:solidFill>
                  <a:srgbClr val="000000"/>
                </a:solidFill>
                <a:effectLst/>
                <a:uLnTx/>
                <a:uFillTx/>
                <a:cs typeface="Arial"/>
                <a:sym typeface="Arial"/>
              </a:rPr>
            </a:br>
            <a:r>
              <a:rPr kumimoji="1" lang="en-US" altLang="ja-JP" sz="1400" b="0" i="0" u="none" strike="noStrike" kern="0" cap="none" spc="0" normalizeH="0" baseline="0" noProof="0">
                <a:ln>
                  <a:noFill/>
                </a:ln>
                <a:solidFill>
                  <a:srgbClr val="000000"/>
                </a:solidFill>
                <a:effectLst/>
                <a:uLnTx/>
                <a:uFillTx/>
                <a:cs typeface="Arial"/>
                <a:sym typeface="Arial"/>
              </a:rPr>
              <a:t>Tailored Solution is capable of meeting all functional requirements requested by the user, ensuring no operational gaps.</a:t>
            </a:r>
            <a:endParaRPr kumimoji="1" lang="en-US" altLang="ja-JP" sz="1400" kern="0">
              <a:solidFill>
                <a:srgbClr val="000000"/>
              </a:solidFill>
              <a:cs typeface="Arial"/>
              <a:sym typeface="Arial"/>
            </a:endParaRPr>
          </a:p>
          <a:p>
            <a:pPr marL="171450" marR="0" lvl="0" indent="-1714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1" lang="en-US" altLang="ja-JP" sz="1400" b="1" i="0" u="none" strike="noStrike" kern="0" cap="none" spc="0" normalizeH="0" baseline="0" noProof="0">
                <a:ln>
                  <a:noFill/>
                </a:ln>
                <a:solidFill>
                  <a:srgbClr val="000000"/>
                </a:solidFill>
                <a:effectLst/>
                <a:uLnTx/>
                <a:uFillTx/>
                <a:cs typeface="Arial"/>
                <a:sym typeface="Arial"/>
              </a:rPr>
              <a:t>Based on Implementation &amp; Operation</a:t>
            </a:r>
            <a:br>
              <a:rPr kumimoji="1" lang="en-US" altLang="ja-JP" sz="1400" b="1" i="0" u="none" strike="noStrike" kern="0" cap="none" spc="0" normalizeH="0" baseline="0" noProof="0">
                <a:ln>
                  <a:noFill/>
                </a:ln>
                <a:solidFill>
                  <a:srgbClr val="000000"/>
                </a:solidFill>
                <a:effectLst/>
                <a:uLnTx/>
                <a:uFillTx/>
                <a:cs typeface="Arial"/>
                <a:sym typeface="Arial"/>
              </a:rPr>
            </a:br>
            <a:endParaRPr kumimoji="1" lang="en-US" altLang="en-US" sz="1400" b="0" i="0" u="none" strike="noStrike" kern="0" cap="none" spc="0" normalizeH="0" baseline="0" noProof="0">
              <a:ln>
                <a:noFill/>
              </a:ln>
              <a:solidFill>
                <a:srgbClr val="000000"/>
              </a:solidFill>
              <a:effectLst/>
              <a:uLnTx/>
              <a:uFillTx/>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1" lang="en-US" altLang="ja-JP" sz="1400" b="0" i="0" u="none" strike="noStrike" kern="0" cap="none" spc="0" normalizeH="0" baseline="0" noProof="0">
              <a:ln>
                <a:noFill/>
              </a:ln>
              <a:solidFill>
                <a:srgbClr val="000000"/>
              </a:solidFill>
              <a:effectLst/>
              <a:uLnTx/>
              <a:uFillTx/>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1" lang="en-US" altLang="ja-JP" sz="1400" b="0" i="0" u="none" strike="noStrike" kern="0" cap="none" spc="0" normalizeH="0" baseline="0" noProof="0">
              <a:ln>
                <a:noFill/>
              </a:ln>
              <a:solidFill>
                <a:srgbClr val="000000"/>
              </a:solidFill>
              <a:effectLst/>
              <a:uLnTx/>
              <a:uFillTx/>
              <a:cs typeface="Arial"/>
              <a:sym typeface="Arial"/>
            </a:endParaRPr>
          </a:p>
        </p:txBody>
      </p:sp>
      <p:sp>
        <p:nvSpPr>
          <p:cNvPr id="6" name="TextBox 5">
            <a:extLst>
              <a:ext uri="{FF2B5EF4-FFF2-40B4-BE49-F238E27FC236}">
                <a16:creationId xmlns:a16="http://schemas.microsoft.com/office/drawing/2014/main" id="{2325CB41-81FB-06CF-75AA-A4E1346D45AD}"/>
              </a:ext>
            </a:extLst>
          </p:cNvPr>
          <p:cNvSpPr txBox="1"/>
          <p:nvPr/>
        </p:nvSpPr>
        <p:spPr>
          <a:xfrm>
            <a:off x="956099" y="3162228"/>
            <a:ext cx="8808220" cy="1351588"/>
          </a:xfrm>
          <a:prstGeom prst="rect">
            <a:avLst/>
          </a:prstGeom>
          <a:noFill/>
        </p:spPr>
        <p:txBody>
          <a:bodyPr wrap="square">
            <a:spAutoFit/>
          </a:bodyPr>
          <a:lstStyle/>
          <a:p>
            <a:pPr marL="285750" marR="0" lvl="2"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400" b="1" i="0" u="none" strike="noStrike" kern="0" cap="none" spc="0" normalizeH="0" baseline="0" noProof="0">
                <a:ln>
                  <a:noFill/>
                </a:ln>
                <a:solidFill>
                  <a:srgbClr val="000000"/>
                </a:solidFill>
                <a:effectLst/>
                <a:uLnTx/>
                <a:uFillTx/>
                <a:cs typeface="Arial"/>
                <a:sym typeface="Arial"/>
              </a:rPr>
              <a:t>Cost-Efficiency:</a:t>
            </a:r>
            <a:r>
              <a:rPr kumimoji="0" lang="en-US" altLang="en-US" sz="1400" b="0" i="0" u="none" strike="noStrike" kern="0" cap="none" spc="0" normalizeH="0" baseline="0" noProof="0">
                <a:ln>
                  <a:noFill/>
                </a:ln>
                <a:solidFill>
                  <a:srgbClr val="000000"/>
                </a:solidFill>
                <a:effectLst/>
                <a:uLnTx/>
                <a:uFillTx/>
                <a:cs typeface="Arial"/>
                <a:sym typeface="Arial"/>
              </a:rPr>
              <a:t> The most competitive pricing structure available.</a:t>
            </a:r>
          </a:p>
          <a:p>
            <a:pPr marL="2857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400" b="1" i="0" u="none" strike="noStrike" kern="0" cap="none" spc="0" normalizeH="0" baseline="0" noProof="0">
                <a:ln>
                  <a:noFill/>
                </a:ln>
                <a:solidFill>
                  <a:srgbClr val="000000"/>
                </a:solidFill>
                <a:effectLst/>
                <a:uLnTx/>
                <a:uFillTx/>
                <a:cs typeface="Arial"/>
                <a:sym typeface="Arial"/>
              </a:rPr>
              <a:t>Unrivaled Customization:</a:t>
            </a:r>
            <a:r>
              <a:rPr kumimoji="0" lang="en-US" altLang="en-US" sz="1400" b="0" i="0" u="none" strike="noStrike" kern="0" cap="none" spc="0" normalizeH="0" baseline="0" noProof="0">
                <a:ln>
                  <a:noFill/>
                </a:ln>
                <a:solidFill>
                  <a:srgbClr val="000000"/>
                </a:solidFill>
                <a:effectLst/>
                <a:uLnTx/>
                <a:uFillTx/>
                <a:cs typeface="Arial"/>
                <a:sym typeface="Arial"/>
              </a:rPr>
              <a:t> Flexibility that outperforms all alternative solutions.</a:t>
            </a:r>
          </a:p>
          <a:p>
            <a:pPr marL="2857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400" b="1" i="0" u="none" strike="noStrike" kern="0" cap="none" spc="0" normalizeH="0" baseline="0" noProof="0">
                <a:ln>
                  <a:noFill/>
                </a:ln>
                <a:solidFill>
                  <a:srgbClr val="000000"/>
                </a:solidFill>
                <a:effectLst/>
                <a:uLnTx/>
                <a:uFillTx/>
                <a:cs typeface="Arial"/>
                <a:sym typeface="Arial"/>
              </a:rPr>
              <a:t>Total Scalability:</a:t>
            </a:r>
            <a:r>
              <a:rPr kumimoji="0" lang="en-US" altLang="en-US" sz="1400" b="0" i="0" u="none" strike="noStrike" kern="0" cap="none" spc="0" normalizeH="0" baseline="0" noProof="0">
                <a:ln>
                  <a:noFill/>
                </a:ln>
                <a:solidFill>
                  <a:srgbClr val="000000"/>
                </a:solidFill>
                <a:effectLst/>
                <a:uLnTx/>
                <a:uFillTx/>
                <a:cs typeface="Arial"/>
                <a:sym typeface="Arial"/>
              </a:rPr>
              <a:t> An unlimited licensing scheme with zero restrictions on user count.</a:t>
            </a:r>
          </a:p>
          <a:p>
            <a:pPr marL="2857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400" b="1" i="0" u="none" strike="noStrike" kern="0" cap="none" spc="0" normalizeH="0" baseline="0" noProof="0">
                <a:ln>
                  <a:noFill/>
                </a:ln>
                <a:solidFill>
                  <a:srgbClr val="000000"/>
                </a:solidFill>
                <a:effectLst/>
                <a:uLnTx/>
                <a:uFillTx/>
                <a:cs typeface="Arial"/>
                <a:sym typeface="Arial"/>
              </a:rPr>
              <a:t>Dedicated Support:</a:t>
            </a:r>
            <a:r>
              <a:rPr kumimoji="0" lang="en-US" altLang="en-US" sz="1400" b="0" i="0" u="none" strike="noStrike" kern="0" cap="none" spc="0" normalizeH="0" baseline="0" noProof="0">
                <a:ln>
                  <a:noFill/>
                </a:ln>
                <a:solidFill>
                  <a:srgbClr val="000000"/>
                </a:solidFill>
                <a:effectLst/>
                <a:uLnTx/>
                <a:uFillTx/>
                <a:cs typeface="Arial"/>
                <a:sym typeface="Arial"/>
              </a:rPr>
              <a:t> A premium support ecosystem accessible to MMKSI at any time.</a:t>
            </a:r>
          </a:p>
        </p:txBody>
      </p:sp>
      <p:sp>
        <p:nvSpPr>
          <p:cNvPr id="7" name="TextBox 6">
            <a:extLst>
              <a:ext uri="{FF2B5EF4-FFF2-40B4-BE49-F238E27FC236}">
                <a16:creationId xmlns:a16="http://schemas.microsoft.com/office/drawing/2014/main" id="{FA5F3645-EDE6-DDE8-82EA-5D7F04E082C8}"/>
              </a:ext>
            </a:extLst>
          </p:cNvPr>
          <p:cNvSpPr txBox="1"/>
          <p:nvPr/>
        </p:nvSpPr>
        <p:spPr>
          <a:xfrm>
            <a:off x="774387" y="1013935"/>
            <a:ext cx="4955458"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II. Decision Analysis Result Conclusion</a:t>
            </a:r>
          </a:p>
        </p:txBody>
      </p:sp>
      <p:sp>
        <p:nvSpPr>
          <p:cNvPr id="2" name="Title 1">
            <a:extLst>
              <a:ext uri="{FF2B5EF4-FFF2-40B4-BE49-F238E27FC236}">
                <a16:creationId xmlns:a16="http://schemas.microsoft.com/office/drawing/2014/main" id="{E5A46E3D-509C-F9A3-023B-67A491BBD988}"/>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 Decision Analysis Result </a:t>
            </a:r>
            <a:endParaRPr lang="en-ID">
              <a:latin typeface="Helvetica Neue" panose="02000503000000020004"/>
              <a:cs typeface="Calibri"/>
            </a:endParaRPr>
          </a:p>
        </p:txBody>
      </p:sp>
    </p:spTree>
    <p:extLst>
      <p:ext uri="{BB962C8B-B14F-4D97-AF65-F5344CB8AC3E}">
        <p14:creationId xmlns:p14="http://schemas.microsoft.com/office/powerpoint/2010/main" val="1760035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DBCD4-CD22-181B-E920-5797EC88FE65}"/>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A6074F4-2DC1-3AA6-BA8B-1EF76F5723E4}"/>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31</a:t>
            </a:fld>
            <a:endParaRPr lang="en-GB"/>
          </a:p>
        </p:txBody>
      </p:sp>
      <p:sp>
        <p:nvSpPr>
          <p:cNvPr id="5" name="Footer Placeholder 4">
            <a:extLst>
              <a:ext uri="{FF2B5EF4-FFF2-40B4-BE49-F238E27FC236}">
                <a16:creationId xmlns:a16="http://schemas.microsoft.com/office/drawing/2014/main" id="{DA7434AD-16C8-1386-3274-83CF44C8C2A0}"/>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FC9775AA-D8DC-C453-9663-AE45C2CE2CBF}"/>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I. Proposed Process Flow – Performance Evaluation </a:t>
            </a:r>
          </a:p>
        </p:txBody>
      </p:sp>
      <p:sp>
        <p:nvSpPr>
          <p:cNvPr id="8" name="TextBox 7">
            <a:extLst>
              <a:ext uri="{FF2B5EF4-FFF2-40B4-BE49-F238E27FC236}">
                <a16:creationId xmlns:a16="http://schemas.microsoft.com/office/drawing/2014/main" id="{DFE5A8CD-1678-6B26-A0A1-3676DB8644FA}"/>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Performance Evaluation:</a:t>
            </a:r>
          </a:p>
        </p:txBody>
      </p:sp>
      <p:pic>
        <p:nvPicPr>
          <p:cNvPr id="11" name="Graphic 10">
            <a:extLst>
              <a:ext uri="{FF2B5EF4-FFF2-40B4-BE49-F238E27FC236}">
                <a16:creationId xmlns:a16="http://schemas.microsoft.com/office/drawing/2014/main" id="{B4AF4679-8C84-EFF3-E002-293240E679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9888" y="2166161"/>
            <a:ext cx="8991773" cy="2969265"/>
          </a:xfrm>
          <a:prstGeom prst="rect">
            <a:avLst/>
          </a:prstGeom>
        </p:spPr>
      </p:pic>
      <p:sp>
        <p:nvSpPr>
          <p:cNvPr id="12" name="Title 1">
            <a:extLst>
              <a:ext uri="{FF2B5EF4-FFF2-40B4-BE49-F238E27FC236}">
                <a16:creationId xmlns:a16="http://schemas.microsoft.com/office/drawing/2014/main" id="{2AFA6C40-B08F-2FA5-3246-800D6273B548}"/>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spTree>
    <p:extLst>
      <p:ext uri="{BB962C8B-B14F-4D97-AF65-F5344CB8AC3E}">
        <p14:creationId xmlns:p14="http://schemas.microsoft.com/office/powerpoint/2010/main" val="1686972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C3046-B1E5-0AD8-0CB6-5A295A1B4D28}"/>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3B7753B-62D2-0F02-E3F5-AF45270A49DE}"/>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32</a:t>
            </a:fld>
            <a:endParaRPr lang="en-GB"/>
          </a:p>
        </p:txBody>
      </p:sp>
      <p:sp>
        <p:nvSpPr>
          <p:cNvPr id="5" name="Footer Placeholder 4">
            <a:extLst>
              <a:ext uri="{FF2B5EF4-FFF2-40B4-BE49-F238E27FC236}">
                <a16:creationId xmlns:a16="http://schemas.microsoft.com/office/drawing/2014/main" id="{10F882D8-0BF4-C415-3164-97F6650F81F1}"/>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78E5B31F-62CE-0D93-4914-5E2DC3029238}"/>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II. Proposed Process Flow – Logbook</a:t>
            </a:r>
          </a:p>
        </p:txBody>
      </p:sp>
      <p:sp>
        <p:nvSpPr>
          <p:cNvPr id="9" name="TextBox 8">
            <a:extLst>
              <a:ext uri="{FF2B5EF4-FFF2-40B4-BE49-F238E27FC236}">
                <a16:creationId xmlns:a16="http://schemas.microsoft.com/office/drawing/2014/main" id="{52F56C5A-37A2-FD4A-46E3-A84E37173695}"/>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Logbook:</a:t>
            </a:r>
          </a:p>
        </p:txBody>
      </p:sp>
      <p:sp>
        <p:nvSpPr>
          <p:cNvPr id="10" name="Title 1">
            <a:extLst>
              <a:ext uri="{FF2B5EF4-FFF2-40B4-BE49-F238E27FC236}">
                <a16:creationId xmlns:a16="http://schemas.microsoft.com/office/drawing/2014/main" id="{B7E5E06B-9751-4D85-D3D0-A238C5CF5859}"/>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13" name="Graphic 12">
            <a:extLst>
              <a:ext uri="{FF2B5EF4-FFF2-40B4-BE49-F238E27FC236}">
                <a16:creationId xmlns:a16="http://schemas.microsoft.com/office/drawing/2014/main" id="{9D3994DE-6C58-7DEC-3702-161DBFA6BA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7920" y="2033785"/>
            <a:ext cx="9023741" cy="3208618"/>
          </a:xfrm>
          <a:prstGeom prst="rect">
            <a:avLst/>
          </a:prstGeom>
        </p:spPr>
      </p:pic>
    </p:spTree>
    <p:extLst>
      <p:ext uri="{BB962C8B-B14F-4D97-AF65-F5344CB8AC3E}">
        <p14:creationId xmlns:p14="http://schemas.microsoft.com/office/powerpoint/2010/main" val="1163702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7F78C-1325-4617-1FA1-08628B3849FD}"/>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24FCB3B-7D69-E790-3AC9-31235B213A64}"/>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33</a:t>
            </a:fld>
            <a:endParaRPr lang="en-GB"/>
          </a:p>
        </p:txBody>
      </p:sp>
      <p:sp>
        <p:nvSpPr>
          <p:cNvPr id="5" name="Footer Placeholder 4">
            <a:extLst>
              <a:ext uri="{FF2B5EF4-FFF2-40B4-BE49-F238E27FC236}">
                <a16:creationId xmlns:a16="http://schemas.microsoft.com/office/drawing/2014/main" id="{BC11708D-3454-1585-2E89-9078443EB4F4}"/>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35227954-01E7-137F-0B06-D00AACB9731A}"/>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III. Proposed Process Flow – Promotion Evaluation</a:t>
            </a:r>
          </a:p>
        </p:txBody>
      </p:sp>
      <p:sp>
        <p:nvSpPr>
          <p:cNvPr id="9" name="TextBox 8">
            <a:extLst>
              <a:ext uri="{FF2B5EF4-FFF2-40B4-BE49-F238E27FC236}">
                <a16:creationId xmlns:a16="http://schemas.microsoft.com/office/drawing/2014/main" id="{76FDC2F0-F553-3476-1A11-524BBD97E583}"/>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Promotion Evaluation:</a:t>
            </a:r>
          </a:p>
        </p:txBody>
      </p:sp>
      <p:sp>
        <p:nvSpPr>
          <p:cNvPr id="10" name="Title 1">
            <a:extLst>
              <a:ext uri="{FF2B5EF4-FFF2-40B4-BE49-F238E27FC236}">
                <a16:creationId xmlns:a16="http://schemas.microsoft.com/office/drawing/2014/main" id="{6AE21AFA-9CE3-A29A-1DCC-ECACD572A480}"/>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4" name="Graphic 3">
            <a:extLst>
              <a:ext uri="{FF2B5EF4-FFF2-40B4-BE49-F238E27FC236}">
                <a16:creationId xmlns:a16="http://schemas.microsoft.com/office/drawing/2014/main" id="{71E53D37-2F24-4250-0C50-3DB52F93B6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7920" y="1898076"/>
            <a:ext cx="8871992" cy="3487708"/>
          </a:xfrm>
          <a:prstGeom prst="rect">
            <a:avLst/>
          </a:prstGeom>
        </p:spPr>
      </p:pic>
    </p:spTree>
    <p:extLst>
      <p:ext uri="{BB962C8B-B14F-4D97-AF65-F5344CB8AC3E}">
        <p14:creationId xmlns:p14="http://schemas.microsoft.com/office/powerpoint/2010/main" val="1065619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10F65-3D5A-B5D8-112F-5F5A768B6DE5}"/>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6323FC7-3665-63FF-8F77-9287159DF1DA}"/>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34</a:t>
            </a:fld>
            <a:endParaRPr lang="en-GB"/>
          </a:p>
        </p:txBody>
      </p:sp>
      <p:sp>
        <p:nvSpPr>
          <p:cNvPr id="5" name="Footer Placeholder 4">
            <a:extLst>
              <a:ext uri="{FF2B5EF4-FFF2-40B4-BE49-F238E27FC236}">
                <a16:creationId xmlns:a16="http://schemas.microsoft.com/office/drawing/2014/main" id="{C9570578-44A1-2D28-63EE-A8911D6583FE}"/>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0B2EF983-CFDF-069A-E545-14A0DC069164}"/>
              </a:ext>
            </a:extLst>
          </p:cNvPr>
          <p:cNvSpPr txBox="1"/>
          <p:nvPr/>
        </p:nvSpPr>
        <p:spPr>
          <a:xfrm>
            <a:off x="707921" y="1029463"/>
            <a:ext cx="6231894"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III. Proposed Process Flow – Promotion Evaluation (Cont’d)</a:t>
            </a:r>
          </a:p>
        </p:txBody>
      </p:sp>
      <p:sp>
        <p:nvSpPr>
          <p:cNvPr id="9" name="TextBox 8">
            <a:extLst>
              <a:ext uri="{FF2B5EF4-FFF2-40B4-BE49-F238E27FC236}">
                <a16:creationId xmlns:a16="http://schemas.microsoft.com/office/drawing/2014/main" id="{0EA7CBD0-4347-8075-5C36-FB7CE66172C8}"/>
              </a:ext>
            </a:extLst>
          </p:cNvPr>
          <p:cNvSpPr txBox="1"/>
          <p:nvPr/>
        </p:nvSpPr>
        <p:spPr>
          <a:xfrm>
            <a:off x="707920" y="1386825"/>
            <a:ext cx="5144240" cy="307777"/>
          </a:xfrm>
          <a:prstGeom prst="rect">
            <a:avLst/>
          </a:prstGeom>
          <a:noFill/>
        </p:spPr>
        <p:txBody>
          <a:bodyPr wrap="square" rtlCol="0">
            <a:spAutoFit/>
          </a:bodyPr>
          <a:lstStyle/>
          <a:p>
            <a:r>
              <a:rPr lang="en-US" sz="1400"/>
              <a:t>Here is the business process of Mutation / Rotation Evaluation:</a:t>
            </a:r>
          </a:p>
        </p:txBody>
      </p:sp>
      <p:sp>
        <p:nvSpPr>
          <p:cNvPr id="10" name="Title 1">
            <a:extLst>
              <a:ext uri="{FF2B5EF4-FFF2-40B4-BE49-F238E27FC236}">
                <a16:creationId xmlns:a16="http://schemas.microsoft.com/office/drawing/2014/main" id="{CBF360B8-4263-BF8D-25F1-507FBF6C2165}"/>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3" name="Picture 2" descr="A diagram of a company&#10;&#10;AI-generated content may be incorrect.">
            <a:extLst>
              <a:ext uri="{FF2B5EF4-FFF2-40B4-BE49-F238E27FC236}">
                <a16:creationId xmlns:a16="http://schemas.microsoft.com/office/drawing/2014/main" id="{2FC2FD1D-8E7C-C8CA-FFB3-FF342D2237CB}"/>
              </a:ext>
            </a:extLst>
          </p:cNvPr>
          <p:cNvPicPr>
            <a:picLocks noChangeAspect="1"/>
          </p:cNvPicPr>
          <p:nvPr/>
        </p:nvPicPr>
        <p:blipFill>
          <a:blip r:embed="rId2"/>
          <a:stretch>
            <a:fillRect/>
          </a:stretch>
        </p:blipFill>
        <p:spPr>
          <a:xfrm>
            <a:off x="707920" y="1898076"/>
            <a:ext cx="8836311" cy="3392419"/>
          </a:xfrm>
          <a:prstGeom prst="rect">
            <a:avLst/>
          </a:prstGeom>
        </p:spPr>
      </p:pic>
    </p:spTree>
    <p:extLst>
      <p:ext uri="{BB962C8B-B14F-4D97-AF65-F5344CB8AC3E}">
        <p14:creationId xmlns:p14="http://schemas.microsoft.com/office/powerpoint/2010/main" val="3173767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9D768-F7A8-A061-F09B-A251113F80E3}"/>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608ABD0-1B12-E997-989E-AFF1AB425F85}"/>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35</a:t>
            </a:fld>
            <a:endParaRPr lang="en-GB"/>
          </a:p>
        </p:txBody>
      </p:sp>
      <p:sp>
        <p:nvSpPr>
          <p:cNvPr id="5" name="Footer Placeholder 4">
            <a:extLst>
              <a:ext uri="{FF2B5EF4-FFF2-40B4-BE49-F238E27FC236}">
                <a16:creationId xmlns:a16="http://schemas.microsoft.com/office/drawing/2014/main" id="{EA17C517-3D74-9F48-D397-A61C66430FA7}"/>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1D34F7A8-8697-245E-1D36-2AE9363B6401}"/>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IV. Proposed Process Flow – Manpower Planning</a:t>
            </a:r>
          </a:p>
        </p:txBody>
      </p:sp>
      <p:sp>
        <p:nvSpPr>
          <p:cNvPr id="9" name="TextBox 8">
            <a:extLst>
              <a:ext uri="{FF2B5EF4-FFF2-40B4-BE49-F238E27FC236}">
                <a16:creationId xmlns:a16="http://schemas.microsoft.com/office/drawing/2014/main" id="{3C39468D-C8F0-B5B9-CE81-301E5B218EBB}"/>
              </a:ext>
            </a:extLst>
          </p:cNvPr>
          <p:cNvSpPr txBox="1"/>
          <p:nvPr/>
        </p:nvSpPr>
        <p:spPr>
          <a:xfrm>
            <a:off x="707920" y="1386825"/>
            <a:ext cx="4576365" cy="738664"/>
          </a:xfrm>
          <a:prstGeom prst="rect">
            <a:avLst/>
          </a:prstGeom>
          <a:noFill/>
        </p:spPr>
        <p:txBody>
          <a:bodyPr wrap="square" rtlCol="0">
            <a:spAutoFit/>
          </a:bodyPr>
          <a:lstStyle/>
          <a:p>
            <a:r>
              <a:rPr lang="en-US" sz="1400"/>
              <a:t>Here is the business process of Manpower Planning:</a:t>
            </a:r>
          </a:p>
          <a:p>
            <a:endParaRPr lang="en-US" sz="1400"/>
          </a:p>
          <a:p>
            <a:r>
              <a:rPr lang="en-US" sz="1400"/>
              <a:t>There are two kind of MPP, </a:t>
            </a:r>
            <a:r>
              <a:rPr lang="en-US" sz="1400" b="1"/>
              <a:t>Regular</a:t>
            </a:r>
            <a:r>
              <a:rPr lang="en-US" sz="1400"/>
              <a:t> and </a:t>
            </a:r>
            <a:r>
              <a:rPr lang="en-US" sz="1400" b="1"/>
              <a:t>Incidental</a:t>
            </a:r>
          </a:p>
        </p:txBody>
      </p:sp>
      <p:sp>
        <p:nvSpPr>
          <p:cNvPr id="10" name="Title 1">
            <a:extLst>
              <a:ext uri="{FF2B5EF4-FFF2-40B4-BE49-F238E27FC236}">
                <a16:creationId xmlns:a16="http://schemas.microsoft.com/office/drawing/2014/main" id="{DE3FE377-0903-DD91-A317-0655576C5F5C}"/>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sp>
        <p:nvSpPr>
          <p:cNvPr id="12" name="TextBox 11">
            <a:extLst>
              <a:ext uri="{FF2B5EF4-FFF2-40B4-BE49-F238E27FC236}">
                <a16:creationId xmlns:a16="http://schemas.microsoft.com/office/drawing/2014/main" id="{1D4FA49F-7EE0-E5A7-F5AF-152E960410C3}"/>
              </a:ext>
            </a:extLst>
          </p:cNvPr>
          <p:cNvSpPr txBox="1"/>
          <p:nvPr/>
        </p:nvSpPr>
        <p:spPr>
          <a:xfrm>
            <a:off x="763102" y="5404427"/>
            <a:ext cx="1463573" cy="307777"/>
          </a:xfrm>
          <a:prstGeom prst="rect">
            <a:avLst/>
          </a:prstGeom>
          <a:noFill/>
        </p:spPr>
        <p:txBody>
          <a:bodyPr wrap="square" rtlCol="0">
            <a:spAutoFit/>
          </a:bodyPr>
          <a:lstStyle/>
          <a:p>
            <a:r>
              <a:rPr lang="en-US" sz="1400" b="1"/>
              <a:t>Regular - MPP</a:t>
            </a:r>
          </a:p>
        </p:txBody>
      </p:sp>
      <p:sp>
        <p:nvSpPr>
          <p:cNvPr id="13" name="TextBox 12">
            <a:extLst>
              <a:ext uri="{FF2B5EF4-FFF2-40B4-BE49-F238E27FC236}">
                <a16:creationId xmlns:a16="http://schemas.microsoft.com/office/drawing/2014/main" id="{B4D12C84-51EF-41A3-FEB1-C7B6F638FA3E}"/>
              </a:ext>
            </a:extLst>
          </p:cNvPr>
          <p:cNvSpPr txBox="1"/>
          <p:nvPr/>
        </p:nvSpPr>
        <p:spPr>
          <a:xfrm>
            <a:off x="5531661" y="5404427"/>
            <a:ext cx="1724061" cy="307777"/>
          </a:xfrm>
          <a:prstGeom prst="rect">
            <a:avLst/>
          </a:prstGeom>
          <a:noFill/>
        </p:spPr>
        <p:txBody>
          <a:bodyPr wrap="square" rtlCol="0">
            <a:spAutoFit/>
          </a:bodyPr>
          <a:lstStyle/>
          <a:p>
            <a:r>
              <a:rPr lang="en-US" sz="1400" b="1"/>
              <a:t>Incidental - MPP</a:t>
            </a:r>
          </a:p>
        </p:txBody>
      </p:sp>
      <p:pic>
        <p:nvPicPr>
          <p:cNvPr id="6" name="Graphic 5">
            <a:extLst>
              <a:ext uri="{FF2B5EF4-FFF2-40B4-BE49-F238E27FC236}">
                <a16:creationId xmlns:a16="http://schemas.microsoft.com/office/drawing/2014/main" id="{B87E595A-EA08-3EC0-B9E0-071743F259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3102" y="2394415"/>
            <a:ext cx="4739201" cy="2841056"/>
          </a:xfrm>
          <a:prstGeom prst="rect">
            <a:avLst/>
          </a:prstGeom>
        </p:spPr>
      </p:pic>
      <p:pic>
        <p:nvPicPr>
          <p:cNvPr id="14" name="Graphic 13">
            <a:extLst>
              <a:ext uri="{FF2B5EF4-FFF2-40B4-BE49-F238E27FC236}">
                <a16:creationId xmlns:a16="http://schemas.microsoft.com/office/drawing/2014/main" id="{B61F7D00-BD26-79E8-8FC9-D0C0442830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31661" y="2386123"/>
            <a:ext cx="4011339" cy="2849348"/>
          </a:xfrm>
          <a:prstGeom prst="rect">
            <a:avLst/>
          </a:prstGeom>
        </p:spPr>
      </p:pic>
    </p:spTree>
    <p:extLst>
      <p:ext uri="{BB962C8B-B14F-4D97-AF65-F5344CB8AC3E}">
        <p14:creationId xmlns:p14="http://schemas.microsoft.com/office/powerpoint/2010/main" val="16420685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B443-7CAC-DE49-D924-939808E4FA48}"/>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FF0C0B0-33F3-4E3E-CBBE-0174B4096487}"/>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36</a:t>
            </a:fld>
            <a:endParaRPr lang="en-GB"/>
          </a:p>
        </p:txBody>
      </p:sp>
      <p:sp>
        <p:nvSpPr>
          <p:cNvPr id="5" name="Footer Placeholder 4">
            <a:extLst>
              <a:ext uri="{FF2B5EF4-FFF2-40B4-BE49-F238E27FC236}">
                <a16:creationId xmlns:a16="http://schemas.microsoft.com/office/drawing/2014/main" id="{7E0B9227-3418-AFB4-3380-198285C4EB8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1748C06B-0FE5-2C24-AE17-1FCB5063DEFE}"/>
              </a:ext>
            </a:extLst>
          </p:cNvPr>
          <p:cNvSpPr txBox="1"/>
          <p:nvPr/>
        </p:nvSpPr>
        <p:spPr>
          <a:xfrm>
            <a:off x="707920" y="1029463"/>
            <a:ext cx="5946879"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IV. Proposed Process Flow – Manpower Planning (Cont’d)</a:t>
            </a:r>
          </a:p>
        </p:txBody>
      </p:sp>
      <p:sp>
        <p:nvSpPr>
          <p:cNvPr id="9" name="TextBox 8">
            <a:extLst>
              <a:ext uri="{FF2B5EF4-FFF2-40B4-BE49-F238E27FC236}">
                <a16:creationId xmlns:a16="http://schemas.microsoft.com/office/drawing/2014/main" id="{462957BA-9110-7F9F-2845-EDC65A118606}"/>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Manpower Planning:</a:t>
            </a:r>
          </a:p>
        </p:txBody>
      </p:sp>
      <p:sp>
        <p:nvSpPr>
          <p:cNvPr id="10" name="Title 1">
            <a:extLst>
              <a:ext uri="{FF2B5EF4-FFF2-40B4-BE49-F238E27FC236}">
                <a16:creationId xmlns:a16="http://schemas.microsoft.com/office/drawing/2014/main" id="{E90BE109-13D2-9E17-BE59-C2A5DDCF1429}"/>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14" name="Graphic 13">
            <a:extLst>
              <a:ext uri="{FF2B5EF4-FFF2-40B4-BE49-F238E27FC236}">
                <a16:creationId xmlns:a16="http://schemas.microsoft.com/office/drawing/2014/main" id="{52206EB8-E0FE-9348-3AD6-AF1C4F372E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3300" y="2098512"/>
            <a:ext cx="8763991" cy="3730025"/>
          </a:xfrm>
          <a:prstGeom prst="rect">
            <a:avLst/>
          </a:prstGeom>
        </p:spPr>
      </p:pic>
    </p:spTree>
    <p:extLst>
      <p:ext uri="{BB962C8B-B14F-4D97-AF65-F5344CB8AC3E}">
        <p14:creationId xmlns:p14="http://schemas.microsoft.com/office/powerpoint/2010/main" val="2207589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C3C2-0F1E-43C7-90F4-375FECAA53C7}"/>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63341AC-8AB5-C682-E119-4B4814C85C71}"/>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37</a:t>
            </a:fld>
            <a:endParaRPr lang="en-GB"/>
          </a:p>
        </p:txBody>
      </p:sp>
      <p:sp>
        <p:nvSpPr>
          <p:cNvPr id="5" name="Footer Placeholder 4">
            <a:extLst>
              <a:ext uri="{FF2B5EF4-FFF2-40B4-BE49-F238E27FC236}">
                <a16:creationId xmlns:a16="http://schemas.microsoft.com/office/drawing/2014/main" id="{7BBE0246-0F27-7A44-467D-1B4DEED5A8F3}"/>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2A904510-E215-789B-8AF2-B4BFB49B318E}"/>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V. Proposed Process Flow – Job Profiling</a:t>
            </a:r>
          </a:p>
        </p:txBody>
      </p:sp>
      <p:sp>
        <p:nvSpPr>
          <p:cNvPr id="9" name="TextBox 8">
            <a:extLst>
              <a:ext uri="{FF2B5EF4-FFF2-40B4-BE49-F238E27FC236}">
                <a16:creationId xmlns:a16="http://schemas.microsoft.com/office/drawing/2014/main" id="{87B6F92B-230B-5F40-8C76-CF0F56AA066D}"/>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Job Profiling:</a:t>
            </a:r>
          </a:p>
        </p:txBody>
      </p:sp>
      <p:sp>
        <p:nvSpPr>
          <p:cNvPr id="10" name="Title 1">
            <a:extLst>
              <a:ext uri="{FF2B5EF4-FFF2-40B4-BE49-F238E27FC236}">
                <a16:creationId xmlns:a16="http://schemas.microsoft.com/office/drawing/2014/main" id="{2064AE36-A8FC-6BD1-BBB0-2852D4B6E667}"/>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11" name="Graphic 10">
            <a:extLst>
              <a:ext uri="{FF2B5EF4-FFF2-40B4-BE49-F238E27FC236}">
                <a16:creationId xmlns:a16="http://schemas.microsoft.com/office/drawing/2014/main" id="{C096B7F7-B45D-F98A-61BF-8CFA8FCD32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1255" y="1694602"/>
            <a:ext cx="7800975" cy="4676775"/>
          </a:xfrm>
          <a:prstGeom prst="rect">
            <a:avLst/>
          </a:prstGeom>
        </p:spPr>
      </p:pic>
    </p:spTree>
    <p:extLst>
      <p:ext uri="{BB962C8B-B14F-4D97-AF65-F5344CB8AC3E}">
        <p14:creationId xmlns:p14="http://schemas.microsoft.com/office/powerpoint/2010/main" val="2067003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AF152-E523-154B-C182-A5DBA1457560}"/>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0244FEF-871C-45B8-3F00-BC0402063BA9}"/>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38</a:t>
            </a:fld>
            <a:endParaRPr lang="en-GB"/>
          </a:p>
        </p:txBody>
      </p:sp>
      <p:sp>
        <p:nvSpPr>
          <p:cNvPr id="5" name="Footer Placeholder 4">
            <a:extLst>
              <a:ext uri="{FF2B5EF4-FFF2-40B4-BE49-F238E27FC236}">
                <a16:creationId xmlns:a16="http://schemas.microsoft.com/office/drawing/2014/main" id="{5090D19A-8402-3DA8-3AB1-E2DD50A908F4}"/>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1C998213-DA3D-7F38-2859-868126CB4D58}"/>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VI. Proposed Process Flow – Recruitment</a:t>
            </a:r>
          </a:p>
        </p:txBody>
      </p:sp>
      <p:sp>
        <p:nvSpPr>
          <p:cNvPr id="9" name="TextBox 8">
            <a:extLst>
              <a:ext uri="{FF2B5EF4-FFF2-40B4-BE49-F238E27FC236}">
                <a16:creationId xmlns:a16="http://schemas.microsoft.com/office/drawing/2014/main" id="{1D7CA615-6C30-1A7D-B259-A239B0844D06}"/>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Recruitment:</a:t>
            </a:r>
          </a:p>
        </p:txBody>
      </p:sp>
      <p:sp>
        <p:nvSpPr>
          <p:cNvPr id="10" name="Title 1">
            <a:extLst>
              <a:ext uri="{FF2B5EF4-FFF2-40B4-BE49-F238E27FC236}">
                <a16:creationId xmlns:a16="http://schemas.microsoft.com/office/drawing/2014/main" id="{2DF0C5FC-4819-80B3-3719-5BF6F953C159}"/>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4" name="Graphic 3">
            <a:extLst>
              <a:ext uri="{FF2B5EF4-FFF2-40B4-BE49-F238E27FC236}">
                <a16:creationId xmlns:a16="http://schemas.microsoft.com/office/drawing/2014/main" id="{0EDA5315-4A04-8430-4F5C-ED857FF735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7920" y="2011012"/>
            <a:ext cx="9023741" cy="3239000"/>
          </a:xfrm>
          <a:prstGeom prst="rect">
            <a:avLst/>
          </a:prstGeom>
        </p:spPr>
      </p:pic>
      <p:sp>
        <p:nvSpPr>
          <p:cNvPr id="6" name="TextBox 5">
            <a:extLst>
              <a:ext uri="{FF2B5EF4-FFF2-40B4-BE49-F238E27FC236}">
                <a16:creationId xmlns:a16="http://schemas.microsoft.com/office/drawing/2014/main" id="{3DA5F95D-B9A1-DE66-45FC-B04E184AC92C}"/>
              </a:ext>
            </a:extLst>
          </p:cNvPr>
          <p:cNvSpPr txBox="1"/>
          <p:nvPr/>
        </p:nvSpPr>
        <p:spPr>
          <a:xfrm>
            <a:off x="707920" y="5572249"/>
            <a:ext cx="4576365" cy="307777"/>
          </a:xfrm>
          <a:prstGeom prst="rect">
            <a:avLst/>
          </a:prstGeom>
          <a:noFill/>
        </p:spPr>
        <p:txBody>
          <a:bodyPr wrap="square" rtlCol="0">
            <a:spAutoFit/>
          </a:bodyPr>
          <a:lstStyle/>
          <a:p>
            <a:r>
              <a:rPr lang="en-US" sz="1400" i="1"/>
              <a:t>* Continuing from MPP process A  </a:t>
            </a:r>
          </a:p>
        </p:txBody>
      </p:sp>
      <p:sp>
        <p:nvSpPr>
          <p:cNvPr id="3" name="TextBox 2">
            <a:extLst>
              <a:ext uri="{FF2B5EF4-FFF2-40B4-BE49-F238E27FC236}">
                <a16:creationId xmlns:a16="http://schemas.microsoft.com/office/drawing/2014/main" id="{BF5B4C18-8B35-9C2B-06DD-DD9221371AE0}"/>
              </a:ext>
            </a:extLst>
          </p:cNvPr>
          <p:cNvSpPr txBox="1"/>
          <p:nvPr/>
        </p:nvSpPr>
        <p:spPr>
          <a:xfrm>
            <a:off x="1504154" y="3751338"/>
            <a:ext cx="256912" cy="369332"/>
          </a:xfrm>
          <a:prstGeom prst="rect">
            <a:avLst/>
          </a:prstGeom>
          <a:noFill/>
        </p:spPr>
        <p:txBody>
          <a:bodyPr wrap="square" rtlCol="0">
            <a:spAutoFit/>
          </a:bodyPr>
          <a:lstStyle/>
          <a:p>
            <a:r>
              <a:rPr lang="en-US"/>
              <a:t>*</a:t>
            </a:r>
          </a:p>
        </p:txBody>
      </p:sp>
    </p:spTree>
    <p:extLst>
      <p:ext uri="{BB962C8B-B14F-4D97-AF65-F5344CB8AC3E}">
        <p14:creationId xmlns:p14="http://schemas.microsoft.com/office/powerpoint/2010/main" val="74362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EA27-5D4A-76D6-C49F-8C6C286A92CB}"/>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439F87B-2B5D-8DB8-C3FD-B1484B3812DC}"/>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39</a:t>
            </a:fld>
            <a:endParaRPr lang="en-GB"/>
          </a:p>
        </p:txBody>
      </p:sp>
      <p:sp>
        <p:nvSpPr>
          <p:cNvPr id="5" name="Footer Placeholder 4">
            <a:extLst>
              <a:ext uri="{FF2B5EF4-FFF2-40B4-BE49-F238E27FC236}">
                <a16:creationId xmlns:a16="http://schemas.microsoft.com/office/drawing/2014/main" id="{48B2C67B-9C43-871C-B956-6A998C1A5F0F}"/>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775E53A7-CE74-9C2C-D79A-7BDD67F70D86}"/>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VI. Proposed Process Flow – Recruitment (Cont’d)</a:t>
            </a:r>
          </a:p>
        </p:txBody>
      </p:sp>
      <p:sp>
        <p:nvSpPr>
          <p:cNvPr id="9" name="TextBox 8">
            <a:extLst>
              <a:ext uri="{FF2B5EF4-FFF2-40B4-BE49-F238E27FC236}">
                <a16:creationId xmlns:a16="http://schemas.microsoft.com/office/drawing/2014/main" id="{A7AB080E-AEA6-37D0-36CE-66B7954E08C9}"/>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Onboarding:</a:t>
            </a:r>
          </a:p>
        </p:txBody>
      </p:sp>
      <p:sp>
        <p:nvSpPr>
          <p:cNvPr id="10" name="Title 1">
            <a:extLst>
              <a:ext uri="{FF2B5EF4-FFF2-40B4-BE49-F238E27FC236}">
                <a16:creationId xmlns:a16="http://schemas.microsoft.com/office/drawing/2014/main" id="{DB4517FD-906A-6D83-C183-C47C7363E57D}"/>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sp>
        <p:nvSpPr>
          <p:cNvPr id="6" name="TextBox 5">
            <a:extLst>
              <a:ext uri="{FF2B5EF4-FFF2-40B4-BE49-F238E27FC236}">
                <a16:creationId xmlns:a16="http://schemas.microsoft.com/office/drawing/2014/main" id="{85902FC8-C308-BF88-682B-5938D55AA7C3}"/>
              </a:ext>
            </a:extLst>
          </p:cNvPr>
          <p:cNvSpPr txBox="1"/>
          <p:nvPr/>
        </p:nvSpPr>
        <p:spPr>
          <a:xfrm>
            <a:off x="707920" y="5572249"/>
            <a:ext cx="4576365" cy="307777"/>
          </a:xfrm>
          <a:prstGeom prst="rect">
            <a:avLst/>
          </a:prstGeom>
          <a:noFill/>
        </p:spPr>
        <p:txBody>
          <a:bodyPr wrap="square" rtlCol="0">
            <a:spAutoFit/>
          </a:bodyPr>
          <a:lstStyle/>
          <a:p>
            <a:r>
              <a:rPr lang="en-US" sz="1400" i="1"/>
              <a:t>* Continuing from Recruitment process B  </a:t>
            </a:r>
          </a:p>
        </p:txBody>
      </p:sp>
      <p:pic>
        <p:nvPicPr>
          <p:cNvPr id="8" name="Graphic 7">
            <a:extLst>
              <a:ext uri="{FF2B5EF4-FFF2-40B4-BE49-F238E27FC236}">
                <a16:creationId xmlns:a16="http://schemas.microsoft.com/office/drawing/2014/main" id="{CD542A09-B699-BCAE-95CB-D65433FA7C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9416" y="1953928"/>
            <a:ext cx="9049738" cy="2972794"/>
          </a:xfrm>
          <a:prstGeom prst="rect">
            <a:avLst/>
          </a:prstGeom>
        </p:spPr>
      </p:pic>
      <p:sp>
        <p:nvSpPr>
          <p:cNvPr id="3" name="TextBox 2">
            <a:extLst>
              <a:ext uri="{FF2B5EF4-FFF2-40B4-BE49-F238E27FC236}">
                <a16:creationId xmlns:a16="http://schemas.microsoft.com/office/drawing/2014/main" id="{4F63ED67-7F3F-6B11-5A1F-E44D11DA668B}"/>
              </a:ext>
            </a:extLst>
          </p:cNvPr>
          <p:cNvSpPr txBox="1"/>
          <p:nvPr/>
        </p:nvSpPr>
        <p:spPr>
          <a:xfrm>
            <a:off x="1639621" y="3907971"/>
            <a:ext cx="256912" cy="369332"/>
          </a:xfrm>
          <a:prstGeom prst="rect">
            <a:avLst/>
          </a:prstGeom>
          <a:noFill/>
        </p:spPr>
        <p:txBody>
          <a:bodyPr wrap="square" rtlCol="0">
            <a:spAutoFit/>
          </a:bodyPr>
          <a:lstStyle/>
          <a:p>
            <a:r>
              <a:rPr lang="en-US"/>
              <a:t>*</a:t>
            </a:r>
          </a:p>
        </p:txBody>
      </p:sp>
    </p:spTree>
    <p:extLst>
      <p:ext uri="{BB962C8B-B14F-4D97-AF65-F5344CB8AC3E}">
        <p14:creationId xmlns:p14="http://schemas.microsoft.com/office/powerpoint/2010/main" val="27172673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F8BC-E320-B8CE-2E34-21CE503C98DA}"/>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0E6FE0C-76AB-02BB-1E32-814AA9220EB7}"/>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40</a:t>
            </a:fld>
            <a:endParaRPr lang="en-GB"/>
          </a:p>
        </p:txBody>
      </p:sp>
      <p:sp>
        <p:nvSpPr>
          <p:cNvPr id="5" name="Footer Placeholder 4">
            <a:extLst>
              <a:ext uri="{FF2B5EF4-FFF2-40B4-BE49-F238E27FC236}">
                <a16:creationId xmlns:a16="http://schemas.microsoft.com/office/drawing/2014/main" id="{466CE215-8D92-C908-6D9B-3CA3A41B3A21}"/>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7" name="TextBox 6">
            <a:extLst>
              <a:ext uri="{FF2B5EF4-FFF2-40B4-BE49-F238E27FC236}">
                <a16:creationId xmlns:a16="http://schemas.microsoft.com/office/drawing/2014/main" id="{828F38FA-CBC3-F980-61BE-084E876CD7D3}"/>
              </a:ext>
            </a:extLst>
          </p:cNvPr>
          <p:cNvSpPr txBox="1"/>
          <p:nvPr/>
        </p:nvSpPr>
        <p:spPr>
          <a:xfrm>
            <a:off x="707921" y="1029463"/>
            <a:ext cx="4955458" cy="307777"/>
          </a:xfrm>
          <a:prstGeom prst="rect">
            <a:avLst/>
          </a:prstGeom>
          <a:noFill/>
        </p:spPr>
        <p:txBody>
          <a:bodyPr wrap="square" lIns="91440" tIns="45720" rIns="91440" bIns="45720" anchor="t">
            <a:spAutoFit/>
          </a:bodyPr>
          <a:lstStyle/>
          <a:p>
            <a:pPr marL="0" indent="0">
              <a:buNone/>
              <a:tabLst>
                <a:tab pos="449263" algn="l"/>
              </a:tabLst>
            </a:pPr>
            <a:r>
              <a:rPr lang="en-US" sz="1400" b="1">
                <a:latin typeface="Helvetica Neue" panose="02000503000000020004"/>
              </a:rPr>
              <a:t>VII. Proposed Process Flow – Training Management</a:t>
            </a:r>
          </a:p>
        </p:txBody>
      </p:sp>
      <p:sp>
        <p:nvSpPr>
          <p:cNvPr id="9" name="TextBox 8">
            <a:extLst>
              <a:ext uri="{FF2B5EF4-FFF2-40B4-BE49-F238E27FC236}">
                <a16:creationId xmlns:a16="http://schemas.microsoft.com/office/drawing/2014/main" id="{44146185-DAC4-641D-A97C-146C58D12E89}"/>
              </a:ext>
            </a:extLst>
          </p:cNvPr>
          <p:cNvSpPr txBox="1"/>
          <p:nvPr/>
        </p:nvSpPr>
        <p:spPr>
          <a:xfrm>
            <a:off x="707920" y="1386825"/>
            <a:ext cx="4576365" cy="307777"/>
          </a:xfrm>
          <a:prstGeom prst="rect">
            <a:avLst/>
          </a:prstGeom>
          <a:noFill/>
        </p:spPr>
        <p:txBody>
          <a:bodyPr wrap="square" rtlCol="0">
            <a:spAutoFit/>
          </a:bodyPr>
          <a:lstStyle/>
          <a:p>
            <a:r>
              <a:rPr lang="en-US" sz="1400"/>
              <a:t>Here is the business process of Training Management:</a:t>
            </a:r>
          </a:p>
        </p:txBody>
      </p:sp>
      <p:sp>
        <p:nvSpPr>
          <p:cNvPr id="10" name="Title 1">
            <a:extLst>
              <a:ext uri="{FF2B5EF4-FFF2-40B4-BE49-F238E27FC236}">
                <a16:creationId xmlns:a16="http://schemas.microsoft.com/office/drawing/2014/main" id="{2150EA0F-6BC8-3E33-2195-7002904C9D6F}"/>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III. Proposed Flow Process </a:t>
            </a:r>
            <a:endParaRPr lang="en-ID">
              <a:latin typeface="Helvetica Neue" panose="02000503000000020004"/>
              <a:cs typeface="Calibri"/>
            </a:endParaRPr>
          </a:p>
        </p:txBody>
      </p:sp>
      <p:pic>
        <p:nvPicPr>
          <p:cNvPr id="4" name="Graphic 3">
            <a:extLst>
              <a:ext uri="{FF2B5EF4-FFF2-40B4-BE49-F238E27FC236}">
                <a16:creationId xmlns:a16="http://schemas.microsoft.com/office/drawing/2014/main" id="{1B220CCB-CB11-3063-2048-A808FE6B39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7593" y="1974867"/>
            <a:ext cx="8964068" cy="3391658"/>
          </a:xfrm>
          <a:prstGeom prst="rect">
            <a:avLst/>
          </a:prstGeom>
        </p:spPr>
      </p:pic>
    </p:spTree>
    <p:extLst>
      <p:ext uri="{BB962C8B-B14F-4D97-AF65-F5344CB8AC3E}">
        <p14:creationId xmlns:p14="http://schemas.microsoft.com/office/powerpoint/2010/main" val="1264116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E552-C83C-8279-108D-EFE067295A2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13F5ABB-2328-750D-132C-07160E4E790C}"/>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IV. Mockup Sample</a:t>
            </a:r>
            <a:endParaRPr lang="en-ID">
              <a:latin typeface="Helvetica Neue" panose="02000503000000020004"/>
              <a:cs typeface="Calibri"/>
            </a:endParaRPr>
          </a:p>
        </p:txBody>
      </p:sp>
      <p:sp>
        <p:nvSpPr>
          <p:cNvPr id="3" name="TextBox 2">
            <a:extLst>
              <a:ext uri="{FF2B5EF4-FFF2-40B4-BE49-F238E27FC236}">
                <a16:creationId xmlns:a16="http://schemas.microsoft.com/office/drawing/2014/main" id="{455F2E46-B01C-0EED-0E6B-E04969AED968}"/>
              </a:ext>
            </a:extLst>
          </p:cNvPr>
          <p:cNvSpPr txBox="1"/>
          <p:nvPr/>
        </p:nvSpPr>
        <p:spPr>
          <a:xfrm>
            <a:off x="707921" y="920606"/>
            <a:ext cx="4955458" cy="65832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 Mockup Design – </a:t>
            </a:r>
          </a:p>
          <a:p>
            <a:pPr marL="0" indent="0">
              <a:lnSpc>
                <a:spcPct val="150000"/>
              </a:lnSpc>
              <a:buNone/>
              <a:tabLst>
                <a:tab pos="449263" algn="l"/>
              </a:tabLst>
            </a:pPr>
            <a:r>
              <a:rPr lang="en-US" sz="1200">
                <a:latin typeface="Helvetica Neue" panose="02000503000000020004"/>
              </a:rPr>
              <a:t>Dashboard</a:t>
            </a:r>
          </a:p>
        </p:txBody>
      </p:sp>
      <p:sp>
        <p:nvSpPr>
          <p:cNvPr id="2" name="Slide Number Placeholder 5">
            <a:extLst>
              <a:ext uri="{FF2B5EF4-FFF2-40B4-BE49-F238E27FC236}">
                <a16:creationId xmlns:a16="http://schemas.microsoft.com/office/drawing/2014/main" id="{744ADBDD-AC3B-7A03-F082-11E62DC16E80}"/>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41</a:t>
            </a:fld>
            <a:endParaRPr lang="en-GB"/>
          </a:p>
        </p:txBody>
      </p:sp>
      <p:sp>
        <p:nvSpPr>
          <p:cNvPr id="5" name="Footer Placeholder 4">
            <a:extLst>
              <a:ext uri="{FF2B5EF4-FFF2-40B4-BE49-F238E27FC236}">
                <a16:creationId xmlns:a16="http://schemas.microsoft.com/office/drawing/2014/main" id="{B26676E2-F7D1-BB9F-99CF-81BD469C515B}"/>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pic>
        <p:nvPicPr>
          <p:cNvPr id="8" name="Picture 7">
            <a:extLst>
              <a:ext uri="{FF2B5EF4-FFF2-40B4-BE49-F238E27FC236}">
                <a16:creationId xmlns:a16="http://schemas.microsoft.com/office/drawing/2014/main" id="{4F68FF4A-5808-1E9D-22D8-34D82E41A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2415" y="989509"/>
            <a:ext cx="5703947" cy="5486090"/>
          </a:xfrm>
          <a:prstGeom prst="rect">
            <a:avLst/>
          </a:prstGeom>
        </p:spPr>
      </p:pic>
    </p:spTree>
    <p:extLst>
      <p:ext uri="{BB962C8B-B14F-4D97-AF65-F5344CB8AC3E}">
        <p14:creationId xmlns:p14="http://schemas.microsoft.com/office/powerpoint/2010/main" val="897619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B0366-DC4B-EC16-18A7-248048160B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72A580-5E8F-17B0-CF32-FF4B1E6FDDBF}"/>
              </a:ext>
            </a:extLst>
          </p:cNvPr>
          <p:cNvSpPr txBox="1"/>
          <p:nvPr/>
        </p:nvSpPr>
        <p:spPr>
          <a:xfrm>
            <a:off x="707921" y="920606"/>
            <a:ext cx="2055599" cy="65832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II. Mockup Design - </a:t>
            </a:r>
            <a:r>
              <a:rPr lang="en-US" sz="1200">
                <a:latin typeface="Helvetica Neue" panose="02000503000000020004"/>
              </a:rPr>
              <a:t> Recruitment Module Input</a:t>
            </a:r>
          </a:p>
        </p:txBody>
      </p:sp>
      <p:sp>
        <p:nvSpPr>
          <p:cNvPr id="2" name="Slide Number Placeholder 5">
            <a:extLst>
              <a:ext uri="{FF2B5EF4-FFF2-40B4-BE49-F238E27FC236}">
                <a16:creationId xmlns:a16="http://schemas.microsoft.com/office/drawing/2014/main" id="{D294FCD4-4D5F-CB16-5E0D-C4AF263587A6}"/>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42</a:t>
            </a:fld>
            <a:endParaRPr lang="en-GB"/>
          </a:p>
        </p:txBody>
      </p:sp>
      <p:sp>
        <p:nvSpPr>
          <p:cNvPr id="5" name="Footer Placeholder 4">
            <a:extLst>
              <a:ext uri="{FF2B5EF4-FFF2-40B4-BE49-F238E27FC236}">
                <a16:creationId xmlns:a16="http://schemas.microsoft.com/office/drawing/2014/main" id="{D71A8915-6747-7CA8-2CA3-059D06DA6B2E}"/>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pic>
        <p:nvPicPr>
          <p:cNvPr id="13" name="Picture 12">
            <a:extLst>
              <a:ext uri="{FF2B5EF4-FFF2-40B4-BE49-F238E27FC236}">
                <a16:creationId xmlns:a16="http://schemas.microsoft.com/office/drawing/2014/main" id="{C925566E-B107-B1DA-1335-74CE0D204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2402" y="1001897"/>
            <a:ext cx="6839259" cy="5276679"/>
          </a:xfrm>
          <a:prstGeom prst="rect">
            <a:avLst/>
          </a:prstGeom>
        </p:spPr>
      </p:pic>
      <p:sp>
        <p:nvSpPr>
          <p:cNvPr id="4" name="Title 1">
            <a:extLst>
              <a:ext uri="{FF2B5EF4-FFF2-40B4-BE49-F238E27FC236}">
                <a16:creationId xmlns:a16="http://schemas.microsoft.com/office/drawing/2014/main" id="{638F5B55-7C29-DEC3-8B0D-A271ED573A1C}"/>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IV. Mockup Sample</a:t>
            </a:r>
            <a:endParaRPr lang="en-ID">
              <a:latin typeface="Helvetica Neue" panose="02000503000000020004"/>
              <a:cs typeface="Calibri"/>
            </a:endParaRPr>
          </a:p>
        </p:txBody>
      </p:sp>
    </p:spTree>
    <p:extLst>
      <p:ext uri="{BB962C8B-B14F-4D97-AF65-F5344CB8AC3E}">
        <p14:creationId xmlns:p14="http://schemas.microsoft.com/office/powerpoint/2010/main" val="2704380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A7416-41CB-2DCE-32D2-AA6D77C53B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EAEE14-4D2C-4624-E002-7C5C31B374DB}"/>
              </a:ext>
            </a:extLst>
          </p:cNvPr>
          <p:cNvSpPr txBox="1"/>
          <p:nvPr/>
        </p:nvSpPr>
        <p:spPr>
          <a:xfrm>
            <a:off x="707920" y="920606"/>
            <a:ext cx="2035279" cy="65832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III. Mockup Design - </a:t>
            </a:r>
          </a:p>
          <a:p>
            <a:pPr marL="0" indent="0">
              <a:lnSpc>
                <a:spcPct val="150000"/>
              </a:lnSpc>
              <a:buNone/>
              <a:tabLst>
                <a:tab pos="449263" algn="l"/>
              </a:tabLst>
            </a:pPr>
            <a:r>
              <a:rPr lang="en-US" sz="1200">
                <a:latin typeface="Helvetica Neue" panose="02000503000000020004"/>
              </a:rPr>
              <a:t>Homepage</a:t>
            </a:r>
          </a:p>
        </p:txBody>
      </p:sp>
      <p:sp>
        <p:nvSpPr>
          <p:cNvPr id="2" name="Slide Number Placeholder 5">
            <a:extLst>
              <a:ext uri="{FF2B5EF4-FFF2-40B4-BE49-F238E27FC236}">
                <a16:creationId xmlns:a16="http://schemas.microsoft.com/office/drawing/2014/main" id="{40E2D680-8788-A854-84DA-C214DDF0DF92}"/>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43</a:t>
            </a:fld>
            <a:endParaRPr lang="en-GB"/>
          </a:p>
        </p:txBody>
      </p:sp>
      <p:sp>
        <p:nvSpPr>
          <p:cNvPr id="5" name="Footer Placeholder 4">
            <a:extLst>
              <a:ext uri="{FF2B5EF4-FFF2-40B4-BE49-F238E27FC236}">
                <a16:creationId xmlns:a16="http://schemas.microsoft.com/office/drawing/2014/main" id="{09CF7865-6EEB-31E8-1669-732CEBFD8166}"/>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pic>
        <p:nvPicPr>
          <p:cNvPr id="15" name="Picture 14">
            <a:extLst>
              <a:ext uri="{FF2B5EF4-FFF2-40B4-BE49-F238E27FC236}">
                <a16:creationId xmlns:a16="http://schemas.microsoft.com/office/drawing/2014/main" id="{91056D24-F200-653F-0FF4-FDF1DF7D2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1428" y="1063937"/>
            <a:ext cx="7100233" cy="5152599"/>
          </a:xfrm>
          <a:prstGeom prst="rect">
            <a:avLst/>
          </a:prstGeom>
        </p:spPr>
      </p:pic>
      <p:sp>
        <p:nvSpPr>
          <p:cNvPr id="4" name="Title 1">
            <a:extLst>
              <a:ext uri="{FF2B5EF4-FFF2-40B4-BE49-F238E27FC236}">
                <a16:creationId xmlns:a16="http://schemas.microsoft.com/office/drawing/2014/main" id="{2D3BB551-7727-94DC-B18E-7C8018716E20}"/>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IV. Mockup Sample</a:t>
            </a:r>
            <a:endParaRPr lang="en-ID">
              <a:latin typeface="Helvetica Neue" panose="02000503000000020004"/>
              <a:cs typeface="Calibri"/>
            </a:endParaRPr>
          </a:p>
        </p:txBody>
      </p:sp>
    </p:spTree>
    <p:extLst>
      <p:ext uri="{BB962C8B-B14F-4D97-AF65-F5344CB8AC3E}">
        <p14:creationId xmlns:p14="http://schemas.microsoft.com/office/powerpoint/2010/main" val="390687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80E0-A8BC-AB7D-D768-C13D8E3F17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6FCE93-2327-5CEE-DACC-560F2844B0CD}"/>
              </a:ext>
            </a:extLst>
          </p:cNvPr>
          <p:cNvSpPr txBox="1"/>
          <p:nvPr/>
        </p:nvSpPr>
        <p:spPr>
          <a:xfrm>
            <a:off x="707920" y="920606"/>
            <a:ext cx="2688423"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 Operation Readiness </a:t>
            </a:r>
          </a:p>
        </p:txBody>
      </p:sp>
      <p:sp>
        <p:nvSpPr>
          <p:cNvPr id="2" name="Slide Number Placeholder 5">
            <a:extLst>
              <a:ext uri="{FF2B5EF4-FFF2-40B4-BE49-F238E27FC236}">
                <a16:creationId xmlns:a16="http://schemas.microsoft.com/office/drawing/2014/main" id="{22A014C0-321B-95FC-D669-A5FD0E33652F}"/>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44</a:t>
            </a:fld>
            <a:endParaRPr lang="en-GB"/>
          </a:p>
        </p:txBody>
      </p:sp>
      <p:sp>
        <p:nvSpPr>
          <p:cNvPr id="5" name="Footer Placeholder 4">
            <a:extLst>
              <a:ext uri="{FF2B5EF4-FFF2-40B4-BE49-F238E27FC236}">
                <a16:creationId xmlns:a16="http://schemas.microsoft.com/office/drawing/2014/main" id="{806E2201-F090-79A0-673B-124DB31149DB}"/>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Title 1">
            <a:extLst>
              <a:ext uri="{FF2B5EF4-FFF2-40B4-BE49-F238E27FC236}">
                <a16:creationId xmlns:a16="http://schemas.microsoft.com/office/drawing/2014/main" id="{E0C46D17-CE94-E055-A7AF-3F95A2754FBB}"/>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V. Operation Readiness</a:t>
            </a:r>
            <a:endParaRPr lang="en-ID">
              <a:latin typeface="Helvetica Neue" panose="02000503000000020004"/>
              <a:cs typeface="Calibri"/>
            </a:endParaRPr>
          </a:p>
        </p:txBody>
      </p:sp>
      <p:graphicFrame>
        <p:nvGraphicFramePr>
          <p:cNvPr id="6" name="Table 5">
            <a:extLst>
              <a:ext uri="{FF2B5EF4-FFF2-40B4-BE49-F238E27FC236}">
                <a16:creationId xmlns:a16="http://schemas.microsoft.com/office/drawing/2014/main" id="{EF9884E1-1B17-B088-F131-7488C5740048}"/>
              </a:ext>
            </a:extLst>
          </p:cNvPr>
          <p:cNvGraphicFramePr>
            <a:graphicFrameLocks noGrp="1"/>
          </p:cNvGraphicFramePr>
          <p:nvPr>
            <p:extLst>
              <p:ext uri="{D42A27DB-BD31-4B8C-83A1-F6EECF244321}">
                <p14:modId xmlns:p14="http://schemas.microsoft.com/office/powerpoint/2010/main" val="1548352454"/>
              </p:ext>
            </p:extLst>
          </p:nvPr>
        </p:nvGraphicFramePr>
        <p:xfrm>
          <a:off x="794657" y="1628668"/>
          <a:ext cx="8748343" cy="1308803"/>
        </p:xfrm>
        <a:graphic>
          <a:graphicData uri="http://schemas.openxmlformats.org/drawingml/2006/table">
            <a:tbl>
              <a:tblPr firstRow="1" bandRow="1">
                <a:tableStyleId>{5C22544A-7EE6-4342-B048-85BDC9FD1C3A}</a:tableStyleId>
              </a:tblPr>
              <a:tblGrid>
                <a:gridCol w="416547">
                  <a:extLst>
                    <a:ext uri="{9D8B030D-6E8A-4147-A177-3AD203B41FA5}">
                      <a16:colId xmlns:a16="http://schemas.microsoft.com/office/drawing/2014/main" val="1736443106"/>
                    </a:ext>
                  </a:extLst>
                </a:gridCol>
                <a:gridCol w="1440237">
                  <a:extLst>
                    <a:ext uri="{9D8B030D-6E8A-4147-A177-3AD203B41FA5}">
                      <a16:colId xmlns:a16="http://schemas.microsoft.com/office/drawing/2014/main" val="2113645987"/>
                    </a:ext>
                  </a:extLst>
                </a:gridCol>
                <a:gridCol w="2294997">
                  <a:extLst>
                    <a:ext uri="{9D8B030D-6E8A-4147-A177-3AD203B41FA5}">
                      <a16:colId xmlns:a16="http://schemas.microsoft.com/office/drawing/2014/main" val="9786482"/>
                    </a:ext>
                  </a:extLst>
                </a:gridCol>
                <a:gridCol w="1203636">
                  <a:extLst>
                    <a:ext uri="{9D8B030D-6E8A-4147-A177-3AD203B41FA5}">
                      <a16:colId xmlns:a16="http://schemas.microsoft.com/office/drawing/2014/main" val="847393993"/>
                    </a:ext>
                  </a:extLst>
                </a:gridCol>
                <a:gridCol w="3392926">
                  <a:extLst>
                    <a:ext uri="{9D8B030D-6E8A-4147-A177-3AD203B41FA5}">
                      <a16:colId xmlns:a16="http://schemas.microsoft.com/office/drawing/2014/main" val="1777796664"/>
                    </a:ext>
                  </a:extLst>
                </a:gridCol>
              </a:tblGrid>
              <a:tr h="499241">
                <a:tc>
                  <a:txBody>
                    <a:bodyPr/>
                    <a:lstStyle/>
                    <a:p>
                      <a:pPr algn="ctr"/>
                      <a:r>
                        <a:rPr lang="en-US" sz="1200"/>
                        <a:t>No</a:t>
                      </a:r>
                    </a:p>
                  </a:txBody>
                  <a:tcPr anchor="ctr"/>
                </a:tc>
                <a:tc>
                  <a:txBody>
                    <a:bodyPr/>
                    <a:lstStyle/>
                    <a:p>
                      <a:pPr algn="ctr"/>
                      <a:r>
                        <a:rPr lang="en-US" sz="1200"/>
                        <a:t>Activity</a:t>
                      </a:r>
                    </a:p>
                  </a:txBody>
                  <a:tcPr anchor="ctr"/>
                </a:tc>
                <a:tc>
                  <a:txBody>
                    <a:bodyPr/>
                    <a:lstStyle/>
                    <a:p>
                      <a:pPr algn="ctr"/>
                      <a:r>
                        <a:rPr lang="en-US" sz="1200"/>
                        <a:t>Deliverables</a:t>
                      </a:r>
                    </a:p>
                  </a:txBody>
                  <a:tcPr anchor="ctr"/>
                </a:tc>
                <a:tc>
                  <a:txBody>
                    <a:bodyPr/>
                    <a:lstStyle/>
                    <a:p>
                      <a:pPr lvl="0" algn="ctr">
                        <a:buNone/>
                      </a:pPr>
                      <a:r>
                        <a:rPr lang="en-US" sz="1200" u="none" strike="noStrike" noProof="0"/>
                        <a:t>Status</a:t>
                      </a:r>
                      <a:endParaRPr lang="en-US" sz="1200"/>
                    </a:p>
                  </a:txBody>
                  <a:tcPr anchor="ct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lang="en-US" sz="1200"/>
                        <a:t>Remark</a:t>
                      </a:r>
                    </a:p>
                  </a:txBody>
                  <a:tcPr anchor="ctr"/>
                </a:tc>
                <a:extLst>
                  <a:ext uri="{0D108BD9-81ED-4DB2-BD59-A6C34878D82A}">
                    <a16:rowId xmlns:a16="http://schemas.microsoft.com/office/drawing/2014/main" val="130438497"/>
                  </a:ext>
                </a:extLst>
              </a:tr>
              <a:tr h="714805">
                <a:tc>
                  <a:txBody>
                    <a:bodyPr/>
                    <a:lstStyle/>
                    <a:p>
                      <a:pPr marL="0" marR="0" lvl="0" indent="0" algn="ctr" rtl="0" eaLnBrk="1" fontAlgn="auto" latinLnBrk="0" hangingPunct="1">
                        <a:lnSpc>
                          <a:spcPct val="100000"/>
                        </a:lnSpc>
                        <a:spcBef>
                          <a:spcPts val="0"/>
                        </a:spcBef>
                        <a:spcAft>
                          <a:spcPts val="0"/>
                        </a:spcAft>
                        <a:buClrTx/>
                        <a:buSzTx/>
                        <a:buFontTx/>
                        <a:buNone/>
                      </a:pPr>
                      <a:r>
                        <a:rPr lang="en-US" sz="1100"/>
                        <a:t>1</a:t>
                      </a:r>
                    </a:p>
                  </a:txBody>
                  <a:tcPr/>
                </a:tc>
                <a:tc>
                  <a:txBody>
                    <a:bodyPr/>
                    <a:lstStyle/>
                    <a:p>
                      <a:pPr>
                        <a:lnSpc>
                          <a:spcPct val="120000"/>
                        </a:lnSpc>
                      </a:pPr>
                      <a:r>
                        <a:rPr lang="en-US" sz="1100"/>
                        <a:t>Operation Readiness</a:t>
                      </a:r>
                    </a:p>
                  </a:txBody>
                  <a:tcPr marL="45720" marR="45720" marT="9144" marB="9144"/>
                </a:tc>
                <a:tc>
                  <a:txBody>
                    <a:bodyPr/>
                    <a:lstStyle/>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Assignment of PIC Operation Support</a:t>
                      </a:r>
                      <a:endParaRPr kumimoji="0" lang="en-US" sz="1100" b="1" i="0" u="none" strike="noStrike" kern="1200" cap="none" spc="0" normalizeH="0" baseline="0" noProof="0">
                        <a:ln>
                          <a:noFill/>
                        </a:ln>
                        <a:solidFill>
                          <a:srgbClr val="00B050"/>
                        </a:solidFill>
                        <a:effectLst/>
                        <a:uLnTx/>
                        <a:uFillTx/>
                        <a:latin typeface="Calibri" panose="020F0502020204030204"/>
                        <a:ea typeface="+mn-ea"/>
                        <a:cs typeface="+mn-cs"/>
                      </a:endParaRPr>
                    </a:p>
                  </a:txBody>
                  <a:tcPr marL="45720" marR="45720" marT="9144" marB="9144"/>
                </a:tc>
                <a:tc>
                  <a:txBody>
                    <a:bodyPr/>
                    <a:lstStyle/>
                    <a:p>
                      <a:pPr algn="ctr">
                        <a:lnSpc>
                          <a:spcPct val="120000"/>
                        </a:lnSpc>
                      </a:pPr>
                      <a:r>
                        <a:rPr lang="en-US" sz="1100"/>
                        <a:t>Completed    </a:t>
                      </a:r>
                      <a:r>
                        <a:rPr lang="en-US" sz="1100" b="1">
                          <a:solidFill>
                            <a:srgbClr val="00B050"/>
                          </a:solidFill>
                        </a:rPr>
                        <a:t>●</a:t>
                      </a:r>
                    </a:p>
                  </a:txBody>
                  <a:tcPr marL="45720" marR="45720" marT="9144" marB="9144"/>
                </a:tc>
                <a:tc>
                  <a:txBody>
                    <a:bodyPr/>
                    <a:lstStyle/>
                    <a:p>
                      <a:pPr marL="171450" indent="-171450" algn="just">
                        <a:lnSpc>
                          <a:spcPct val="120000"/>
                        </a:lnSpc>
                        <a:buFont typeface="Arial" panose="020B0604020202020204" pitchFamily="34" charset="0"/>
                        <a:buChar char="•"/>
                      </a:pPr>
                      <a:r>
                        <a:rPr lang="en-US" sz="1100"/>
                        <a:t>BSI Operation PIC</a:t>
                      </a:r>
                    </a:p>
                    <a:p>
                      <a:pPr marL="171450" indent="-171450" algn="just">
                        <a:lnSpc>
                          <a:spcPct val="120000"/>
                        </a:lnSpc>
                        <a:buFont typeface="Arial" panose="020B0604020202020204" pitchFamily="34" charset="0"/>
                        <a:buChar char="•"/>
                      </a:pPr>
                      <a:r>
                        <a:rPr lang="en-US" sz="1100"/>
                        <a:t>Operation support for MMKSI will use </a:t>
                      </a:r>
                      <a:r>
                        <a:rPr lang="en-US" sz="1100" b="1"/>
                        <a:t>Ticketing system </a:t>
                      </a:r>
                      <a:r>
                        <a:rPr lang="en-US" sz="1100" b="0"/>
                        <a:t>to record any inquiries, or incident during operation</a:t>
                      </a:r>
                      <a:endParaRPr lang="en-US" sz="1100" b="1"/>
                    </a:p>
                  </a:txBody>
                  <a:tcPr marL="45720" marR="45720" marT="9144" marB="9144"/>
                </a:tc>
                <a:extLst>
                  <a:ext uri="{0D108BD9-81ED-4DB2-BD59-A6C34878D82A}">
                    <a16:rowId xmlns:a16="http://schemas.microsoft.com/office/drawing/2014/main" val="298038120"/>
                  </a:ext>
                </a:extLst>
              </a:tr>
            </a:tbl>
          </a:graphicData>
        </a:graphic>
      </p:graphicFrame>
      <p:sp>
        <p:nvSpPr>
          <p:cNvPr id="7" name="Rectangle 6">
            <a:extLst>
              <a:ext uri="{FF2B5EF4-FFF2-40B4-BE49-F238E27FC236}">
                <a16:creationId xmlns:a16="http://schemas.microsoft.com/office/drawing/2014/main" id="{38BB669C-C9EE-A0B9-A77C-898D2CD48BD5}"/>
              </a:ext>
            </a:extLst>
          </p:cNvPr>
          <p:cNvSpPr/>
          <p:nvPr/>
        </p:nvSpPr>
        <p:spPr>
          <a:xfrm>
            <a:off x="5300380" y="3668990"/>
            <a:ext cx="242374" cy="369332"/>
          </a:xfrm>
          <a:prstGeom prst="rect">
            <a:avLst/>
          </a:prstGeom>
        </p:spPr>
        <p:txBody>
          <a:bodyPr wrap="none">
            <a:spAutoFit/>
          </a:bodyPr>
          <a:lstStyle/>
          <a:p>
            <a:r>
              <a:rPr lang="en-US">
                <a:solidFill>
                  <a:srgbClr val="000000"/>
                </a:solidFill>
                <a:latin typeface="Times New Roman" panose="02020603050405020304" pitchFamily="18" charset="0"/>
              </a:rPr>
              <a:t> </a:t>
            </a:r>
            <a:endParaRPr lang="en-US"/>
          </a:p>
        </p:txBody>
      </p:sp>
      <p:sp>
        <p:nvSpPr>
          <p:cNvPr id="8" name="Rectangle 7">
            <a:extLst>
              <a:ext uri="{FF2B5EF4-FFF2-40B4-BE49-F238E27FC236}">
                <a16:creationId xmlns:a16="http://schemas.microsoft.com/office/drawing/2014/main" id="{589A6D3F-0CBB-155F-45E9-42ED0B651EC3}"/>
              </a:ext>
            </a:extLst>
          </p:cNvPr>
          <p:cNvSpPr/>
          <p:nvPr/>
        </p:nvSpPr>
        <p:spPr>
          <a:xfrm>
            <a:off x="5300380" y="3668990"/>
            <a:ext cx="242374" cy="369332"/>
          </a:xfrm>
          <a:prstGeom prst="rect">
            <a:avLst/>
          </a:prstGeom>
        </p:spPr>
        <p:txBody>
          <a:bodyPr wrap="none">
            <a:spAutoFit/>
          </a:bodyPr>
          <a:lstStyle/>
          <a:p>
            <a:r>
              <a:rPr lang="en-US">
                <a:solidFill>
                  <a:srgbClr val="000000"/>
                </a:solidFill>
                <a:latin typeface="Times New Roman" panose="02020603050405020304" pitchFamily="18" charset="0"/>
              </a:rPr>
              <a:t> </a:t>
            </a:r>
            <a:endParaRPr lang="en-US"/>
          </a:p>
        </p:txBody>
      </p:sp>
      <p:sp>
        <p:nvSpPr>
          <p:cNvPr id="9" name="Rectangle 8">
            <a:extLst>
              <a:ext uri="{FF2B5EF4-FFF2-40B4-BE49-F238E27FC236}">
                <a16:creationId xmlns:a16="http://schemas.microsoft.com/office/drawing/2014/main" id="{54EE1A4B-70D9-5710-B393-B959C2313087}"/>
              </a:ext>
            </a:extLst>
          </p:cNvPr>
          <p:cNvSpPr/>
          <p:nvPr/>
        </p:nvSpPr>
        <p:spPr>
          <a:xfrm>
            <a:off x="5300380" y="3668990"/>
            <a:ext cx="242374" cy="369332"/>
          </a:xfrm>
          <a:prstGeom prst="rect">
            <a:avLst/>
          </a:prstGeom>
        </p:spPr>
        <p:txBody>
          <a:bodyPr wrap="none">
            <a:spAutoFit/>
          </a:bodyPr>
          <a:lstStyle/>
          <a:p>
            <a:r>
              <a:rPr lang="en-US">
                <a:solidFill>
                  <a:srgbClr val="000000"/>
                </a:solidFill>
                <a:latin typeface="Times New Roman" panose="02020603050405020304" pitchFamily="18" charset="0"/>
              </a:rPr>
              <a:t> </a:t>
            </a:r>
            <a:endParaRPr lang="en-US"/>
          </a:p>
        </p:txBody>
      </p:sp>
      <p:pic>
        <p:nvPicPr>
          <p:cNvPr id="10" name="Picture 9">
            <a:extLst>
              <a:ext uri="{FF2B5EF4-FFF2-40B4-BE49-F238E27FC236}">
                <a16:creationId xmlns:a16="http://schemas.microsoft.com/office/drawing/2014/main" id="{F2BCD4D3-DEDF-1D52-7C51-3B9B4A9BB52B}"/>
              </a:ext>
            </a:extLst>
          </p:cNvPr>
          <p:cNvPicPr>
            <a:picLocks noChangeAspect="1"/>
          </p:cNvPicPr>
          <p:nvPr/>
        </p:nvPicPr>
        <p:blipFill>
          <a:blip r:embed="rId3"/>
          <a:stretch>
            <a:fillRect/>
          </a:stretch>
        </p:blipFill>
        <p:spPr>
          <a:xfrm>
            <a:off x="794657" y="3196961"/>
            <a:ext cx="8791887" cy="3012541"/>
          </a:xfrm>
          <a:prstGeom prst="rect">
            <a:avLst/>
          </a:prstGeom>
        </p:spPr>
      </p:pic>
      <p:sp>
        <p:nvSpPr>
          <p:cNvPr id="12" name="TextBox 11">
            <a:extLst>
              <a:ext uri="{FF2B5EF4-FFF2-40B4-BE49-F238E27FC236}">
                <a16:creationId xmlns:a16="http://schemas.microsoft.com/office/drawing/2014/main" id="{EAC0F553-71FB-C986-B27F-3F091D1FFF6D}"/>
              </a:ext>
            </a:extLst>
          </p:cNvPr>
          <p:cNvSpPr txBox="1"/>
          <p:nvPr/>
        </p:nvSpPr>
        <p:spPr>
          <a:xfrm>
            <a:off x="1541800" y="3146862"/>
            <a:ext cx="184731" cy="276999"/>
          </a:xfrm>
          <a:prstGeom prst="rect">
            <a:avLst/>
          </a:prstGeom>
          <a:noFill/>
        </p:spPr>
        <p:txBody>
          <a:bodyPr wrap="none" rtlCol="0">
            <a:spAutoFit/>
          </a:bodyPr>
          <a:lstStyle/>
          <a:p>
            <a:endParaRPr lang="en-US" sz="1200" b="1">
              <a:latin typeface="Aharoni" panose="02010803020104030203" pitchFamily="2" charset="-79"/>
              <a:cs typeface="Aharoni" panose="02010803020104030203" pitchFamily="2" charset="-79"/>
            </a:endParaRPr>
          </a:p>
        </p:txBody>
      </p:sp>
      <p:sp>
        <p:nvSpPr>
          <p:cNvPr id="13" name="Rectangle 12">
            <a:extLst>
              <a:ext uri="{FF2B5EF4-FFF2-40B4-BE49-F238E27FC236}">
                <a16:creationId xmlns:a16="http://schemas.microsoft.com/office/drawing/2014/main" id="{C44C45A9-47FB-456D-CE43-A7E5138B8366}"/>
              </a:ext>
            </a:extLst>
          </p:cNvPr>
          <p:cNvSpPr/>
          <p:nvPr/>
        </p:nvSpPr>
        <p:spPr>
          <a:xfrm>
            <a:off x="1255183" y="3264061"/>
            <a:ext cx="1230063" cy="306900"/>
          </a:xfrm>
          <a:prstGeom prst="rect">
            <a:avLst/>
          </a:prstGeom>
          <a:solidFill>
            <a:srgbClr val="CCD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Arial Bold" panose="020B0704020202020204" pitchFamily="34" charset="0"/>
                <a:cs typeface="Arial Bold" panose="020B0704020202020204" pitchFamily="34" charset="0"/>
              </a:rPr>
              <a:t>MMKSI</a:t>
            </a:r>
          </a:p>
        </p:txBody>
      </p:sp>
      <p:sp>
        <p:nvSpPr>
          <p:cNvPr id="14" name="TextBox 13">
            <a:extLst>
              <a:ext uri="{FF2B5EF4-FFF2-40B4-BE49-F238E27FC236}">
                <a16:creationId xmlns:a16="http://schemas.microsoft.com/office/drawing/2014/main" id="{F22E3287-B549-CF49-FEB7-AC537D78A28C}"/>
              </a:ext>
            </a:extLst>
          </p:cNvPr>
          <p:cNvSpPr txBox="1"/>
          <p:nvPr/>
        </p:nvSpPr>
        <p:spPr>
          <a:xfrm>
            <a:off x="4149030" y="4616689"/>
            <a:ext cx="2034058" cy="760978"/>
          </a:xfrm>
          <a:prstGeom prst="rect">
            <a:avLst/>
          </a:prstGeom>
          <a:noFill/>
        </p:spPr>
        <p:txBody>
          <a:bodyPr wrap="square">
            <a:spAutoFit/>
          </a:bodyPr>
          <a:lstStyle/>
          <a:p>
            <a:pPr algn="ctr">
              <a:lnSpc>
                <a:spcPct val="150000"/>
              </a:lnSpc>
            </a:pPr>
            <a:r>
              <a:rPr lang="en-US" sz="1000" b="0" i="0" u="none" strike="noStrike" kern="1200" baseline="0">
                <a:solidFill>
                  <a:schemeClr val="tx1"/>
                </a:solidFill>
                <a:ea typeface="+mn-ea"/>
                <a:cs typeface="+mn-cs"/>
              </a:rPr>
              <a:t>The incident could be reported via E-mail to </a:t>
            </a:r>
            <a:r>
              <a:rPr lang="en-US" sz="1000" b="1" i="0" u="none" strike="noStrike" kern="1200" baseline="0">
                <a:solidFill>
                  <a:schemeClr val="tx1"/>
                </a:solidFill>
                <a:ea typeface="+mn-ea"/>
                <a:cs typeface="+mn-cs"/>
              </a:rPr>
              <a:t>Support@bsi.co.id</a:t>
            </a:r>
            <a:r>
              <a:rPr lang="en-US" sz="1000" b="0" i="0" u="none" strike="noStrike" kern="1200" baseline="0">
                <a:solidFill>
                  <a:schemeClr val="tx1"/>
                </a:solidFill>
                <a:ea typeface="+mn-ea"/>
                <a:cs typeface="+mn-cs"/>
              </a:rPr>
              <a:t>, or</a:t>
            </a:r>
          </a:p>
          <a:p>
            <a:pPr algn="ctr">
              <a:lnSpc>
                <a:spcPct val="150000"/>
              </a:lnSpc>
            </a:pPr>
            <a:r>
              <a:rPr lang="en-US" sz="1000" b="0" i="0" u="none" strike="noStrike" kern="1200" baseline="0">
                <a:solidFill>
                  <a:schemeClr val="tx1"/>
                </a:solidFill>
                <a:ea typeface="+mn-ea"/>
                <a:cs typeface="+mn-cs"/>
              </a:rPr>
              <a:t>phone number at </a:t>
            </a:r>
            <a:r>
              <a:rPr lang="en-US" sz="1000" b="1" i="0" u="none" strike="noStrike" kern="1200" baseline="0">
                <a:solidFill>
                  <a:schemeClr val="tx1"/>
                </a:solidFill>
                <a:ea typeface="+mn-ea"/>
                <a:cs typeface="+mn-cs"/>
              </a:rPr>
              <a:t>+6221-47867575</a:t>
            </a:r>
            <a:r>
              <a:rPr lang="en-US" sz="1000" b="0" i="0" u="none" strike="noStrike" kern="1200" baseline="0">
                <a:solidFill>
                  <a:schemeClr val="tx1"/>
                </a:solidFill>
                <a:ea typeface="+mn-ea"/>
                <a:cs typeface="+mn-cs"/>
              </a:rPr>
              <a:t>.</a:t>
            </a:r>
            <a:endParaRPr lang="en-US" sz="1000">
              <a:solidFill>
                <a:schemeClr val="tx1"/>
              </a:solidFill>
            </a:endParaRPr>
          </a:p>
        </p:txBody>
      </p:sp>
    </p:spTree>
    <p:extLst>
      <p:ext uri="{BB962C8B-B14F-4D97-AF65-F5344CB8AC3E}">
        <p14:creationId xmlns:p14="http://schemas.microsoft.com/office/powerpoint/2010/main" val="3084461917"/>
      </p:ext>
    </p:extLst>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7822B-7B3B-A364-C9D9-489A154A9C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2966BA-266D-4FFA-54FE-1D14C8DE5825}"/>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II. Support Service Availability</a:t>
            </a:r>
          </a:p>
        </p:txBody>
      </p:sp>
      <p:sp>
        <p:nvSpPr>
          <p:cNvPr id="2" name="Slide Number Placeholder 5">
            <a:extLst>
              <a:ext uri="{FF2B5EF4-FFF2-40B4-BE49-F238E27FC236}">
                <a16:creationId xmlns:a16="http://schemas.microsoft.com/office/drawing/2014/main" id="{23426546-148D-1553-A25E-CCE424F34B17}"/>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45</a:t>
            </a:fld>
            <a:endParaRPr lang="en-GB"/>
          </a:p>
        </p:txBody>
      </p:sp>
      <p:sp>
        <p:nvSpPr>
          <p:cNvPr id="5" name="Footer Placeholder 4">
            <a:extLst>
              <a:ext uri="{FF2B5EF4-FFF2-40B4-BE49-F238E27FC236}">
                <a16:creationId xmlns:a16="http://schemas.microsoft.com/office/drawing/2014/main" id="{D3F7D4E0-8C3E-48AE-A967-4FA15D05C498}"/>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Title 1">
            <a:extLst>
              <a:ext uri="{FF2B5EF4-FFF2-40B4-BE49-F238E27FC236}">
                <a16:creationId xmlns:a16="http://schemas.microsoft.com/office/drawing/2014/main" id="{A5BD7486-8A40-12C4-6D5F-448EF9FF3850}"/>
              </a:ext>
            </a:extLst>
          </p:cNvPr>
          <p:cNvSpPr txBox="1">
            <a:spLocks/>
          </p:cNvSpPr>
          <p:nvPr/>
        </p:nvSpPr>
        <p:spPr>
          <a:xfrm>
            <a:off x="578932" y="28598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V. Operation Readiness</a:t>
            </a:r>
            <a:endParaRPr lang="en-ID">
              <a:latin typeface="Helvetica Neue" panose="02000503000000020004"/>
              <a:cs typeface="Calibri"/>
            </a:endParaRPr>
          </a:p>
        </p:txBody>
      </p:sp>
      <p:sp>
        <p:nvSpPr>
          <p:cNvPr id="11" name="Rectangle 10">
            <a:extLst>
              <a:ext uri="{FF2B5EF4-FFF2-40B4-BE49-F238E27FC236}">
                <a16:creationId xmlns:a16="http://schemas.microsoft.com/office/drawing/2014/main" id="{E279CDFC-B328-E722-3DD9-C0A818980149}"/>
              </a:ext>
            </a:extLst>
          </p:cNvPr>
          <p:cNvSpPr/>
          <p:nvPr/>
        </p:nvSpPr>
        <p:spPr>
          <a:xfrm>
            <a:off x="670032" y="4072356"/>
            <a:ext cx="8229812" cy="276999"/>
          </a:xfrm>
          <a:prstGeom prst="rect">
            <a:avLst/>
          </a:prstGeom>
        </p:spPr>
        <p:txBody>
          <a:bodyPr wrap="square">
            <a:spAutoFit/>
          </a:bodyPr>
          <a:lstStyle/>
          <a:p>
            <a:r>
              <a:rPr lang="en-US" sz="1200"/>
              <a:t>BSI will provide the system availability as follow.</a:t>
            </a:r>
            <a:endParaRPr lang="en-US" sz="900"/>
          </a:p>
        </p:txBody>
      </p:sp>
      <p:graphicFrame>
        <p:nvGraphicFramePr>
          <p:cNvPr id="14" name="Table 12">
            <a:extLst>
              <a:ext uri="{FF2B5EF4-FFF2-40B4-BE49-F238E27FC236}">
                <a16:creationId xmlns:a16="http://schemas.microsoft.com/office/drawing/2014/main" id="{22F0FA19-E21D-5D2B-7B87-9B502926C94D}"/>
              </a:ext>
            </a:extLst>
          </p:cNvPr>
          <p:cNvGraphicFramePr>
            <a:graphicFrameLocks noGrp="1"/>
          </p:cNvGraphicFramePr>
          <p:nvPr>
            <p:extLst>
              <p:ext uri="{D42A27DB-BD31-4B8C-83A1-F6EECF244321}">
                <p14:modId xmlns:p14="http://schemas.microsoft.com/office/powerpoint/2010/main" val="764972700"/>
              </p:ext>
            </p:extLst>
          </p:nvPr>
        </p:nvGraphicFramePr>
        <p:xfrm>
          <a:off x="766250" y="1731672"/>
          <a:ext cx="8603282" cy="1828800"/>
        </p:xfrm>
        <a:graphic>
          <a:graphicData uri="http://schemas.openxmlformats.org/drawingml/2006/table">
            <a:tbl>
              <a:tblPr firstRow="1" bandRow="1">
                <a:tableStyleId>{5C22544A-7EE6-4342-B048-85BDC9FD1C3A}</a:tableStyleId>
              </a:tblPr>
              <a:tblGrid>
                <a:gridCol w="2505272">
                  <a:extLst>
                    <a:ext uri="{9D8B030D-6E8A-4147-A177-3AD203B41FA5}">
                      <a16:colId xmlns:a16="http://schemas.microsoft.com/office/drawing/2014/main" val="3434160280"/>
                    </a:ext>
                  </a:extLst>
                </a:gridCol>
                <a:gridCol w="6098010">
                  <a:extLst>
                    <a:ext uri="{9D8B030D-6E8A-4147-A177-3AD203B41FA5}">
                      <a16:colId xmlns:a16="http://schemas.microsoft.com/office/drawing/2014/main" val="2607093698"/>
                    </a:ext>
                  </a:extLst>
                </a:gridCol>
              </a:tblGrid>
              <a:tr h="370840">
                <a:tc>
                  <a:txBody>
                    <a:bodyPr/>
                    <a:lstStyle/>
                    <a:p>
                      <a:r>
                        <a:rPr lang="en-US" sz="1400">
                          <a:solidFill>
                            <a:schemeClr val="tx1"/>
                          </a:solidFill>
                        </a:rPr>
                        <a:t>Service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i="0" u="none" strike="noStrike" kern="1200" baseline="0">
                          <a:solidFill>
                            <a:schemeClr val="tx1"/>
                          </a:solidFill>
                          <a:latin typeface="+mn-lt"/>
                          <a:ea typeface="+mn-ea"/>
                          <a:cs typeface="+mn-cs"/>
                        </a:rPr>
                        <a:t>1. Support time is Monday – Friday at 08.00 – 17.00 WIB, except national holidays according to Indonesian government calendar and BSI company policy.</a:t>
                      </a:r>
                    </a:p>
                    <a:p>
                      <a:r>
                        <a:rPr lang="en-US" sz="1200" b="0" i="0" u="none" strike="noStrike" kern="1200" baseline="0">
                          <a:solidFill>
                            <a:schemeClr val="tx1"/>
                          </a:solidFill>
                          <a:latin typeface="+mn-lt"/>
                          <a:ea typeface="+mn-ea"/>
                          <a:cs typeface="+mn-cs"/>
                        </a:rPr>
                        <a:t>For Non-working days and hours support is subject to BSI approval and shall bear overtime; and request notification should be received at least at 04.00 PM one working day before.</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2. The incident could be reported via E-mail to Support@bsi.co.id, or</a:t>
                      </a:r>
                    </a:p>
                    <a:p>
                      <a:r>
                        <a:rPr lang="en-US" sz="1200" b="0" i="0" u="none" strike="noStrike" kern="1200" baseline="0">
                          <a:solidFill>
                            <a:schemeClr val="tx1"/>
                          </a:solidFill>
                          <a:latin typeface="+mn-lt"/>
                          <a:ea typeface="+mn-ea"/>
                          <a:cs typeface="+mn-cs"/>
                        </a:rPr>
                        <a:t>phone number at +6221-47867575.</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4388503"/>
                  </a:ext>
                </a:extLst>
              </a:tr>
              <a:tr h="370840">
                <a:tc>
                  <a:txBody>
                    <a:bodyPr/>
                    <a:lstStyle/>
                    <a:p>
                      <a:r>
                        <a:rPr lang="en-US" sz="1400" b="1">
                          <a:solidFill>
                            <a:schemeClr val="tx1"/>
                          </a:solidFill>
                        </a:rPr>
                        <a:t>Response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i="0" u="none" strike="noStrike" kern="1200" baseline="0">
                          <a:solidFill>
                            <a:schemeClr val="dk1"/>
                          </a:solidFill>
                          <a:latin typeface="+mn-lt"/>
                          <a:ea typeface="+mn-ea"/>
                          <a:cs typeface="+mn-cs"/>
                        </a:rPr>
                        <a:t>Maximum response time for incident from BSI consultant to affected user is 60 minutes after user registers its assistance request to BSI’s Helpdesk.</a:t>
                      </a:r>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4069001"/>
                  </a:ext>
                </a:extLst>
              </a:tr>
            </a:tbl>
          </a:graphicData>
        </a:graphic>
      </p:graphicFrame>
      <p:graphicFrame>
        <p:nvGraphicFramePr>
          <p:cNvPr id="15" name="Table 14">
            <a:extLst>
              <a:ext uri="{FF2B5EF4-FFF2-40B4-BE49-F238E27FC236}">
                <a16:creationId xmlns:a16="http://schemas.microsoft.com/office/drawing/2014/main" id="{D85A4A7D-D216-2878-1BBE-685D50CC40B8}"/>
              </a:ext>
            </a:extLst>
          </p:cNvPr>
          <p:cNvGraphicFramePr>
            <a:graphicFrameLocks noGrp="1"/>
          </p:cNvGraphicFramePr>
          <p:nvPr>
            <p:extLst>
              <p:ext uri="{D42A27DB-BD31-4B8C-83A1-F6EECF244321}">
                <p14:modId xmlns:p14="http://schemas.microsoft.com/office/powerpoint/2010/main" val="1991247412"/>
              </p:ext>
            </p:extLst>
          </p:nvPr>
        </p:nvGraphicFramePr>
        <p:xfrm>
          <a:off x="753550" y="4428566"/>
          <a:ext cx="8603280" cy="1651000"/>
        </p:xfrm>
        <a:graphic>
          <a:graphicData uri="http://schemas.openxmlformats.org/drawingml/2006/table">
            <a:tbl>
              <a:tblPr firstRow="1" bandRow="1">
                <a:tableStyleId>{5C22544A-7EE6-4342-B048-85BDC9FD1C3A}</a:tableStyleId>
              </a:tblPr>
              <a:tblGrid>
                <a:gridCol w="500682">
                  <a:extLst>
                    <a:ext uri="{9D8B030D-6E8A-4147-A177-3AD203B41FA5}">
                      <a16:colId xmlns:a16="http://schemas.microsoft.com/office/drawing/2014/main" val="3975192563"/>
                    </a:ext>
                  </a:extLst>
                </a:gridCol>
                <a:gridCol w="2446867">
                  <a:extLst>
                    <a:ext uri="{9D8B030D-6E8A-4147-A177-3AD203B41FA5}">
                      <a16:colId xmlns:a16="http://schemas.microsoft.com/office/drawing/2014/main" val="3274862622"/>
                    </a:ext>
                  </a:extLst>
                </a:gridCol>
                <a:gridCol w="1754755">
                  <a:extLst>
                    <a:ext uri="{9D8B030D-6E8A-4147-A177-3AD203B41FA5}">
                      <a16:colId xmlns:a16="http://schemas.microsoft.com/office/drawing/2014/main" val="4042351790"/>
                    </a:ext>
                  </a:extLst>
                </a:gridCol>
                <a:gridCol w="1950488">
                  <a:extLst>
                    <a:ext uri="{9D8B030D-6E8A-4147-A177-3AD203B41FA5}">
                      <a16:colId xmlns:a16="http://schemas.microsoft.com/office/drawing/2014/main" val="331189067"/>
                    </a:ext>
                  </a:extLst>
                </a:gridCol>
                <a:gridCol w="1950488">
                  <a:extLst>
                    <a:ext uri="{9D8B030D-6E8A-4147-A177-3AD203B41FA5}">
                      <a16:colId xmlns:a16="http://schemas.microsoft.com/office/drawing/2014/main" val="1293611307"/>
                    </a:ext>
                  </a:extLst>
                </a:gridCol>
              </a:tblGrid>
              <a:tr h="370840">
                <a:tc>
                  <a:txBody>
                    <a:bodyPr/>
                    <a:lstStyle/>
                    <a:p>
                      <a:pPr algn="ctr"/>
                      <a:r>
                        <a:rPr lang="en-US" sz="120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solidFill>
                            <a:schemeClr val="tx1"/>
                          </a:solidFill>
                        </a:rPr>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solidFill>
                            <a:schemeClr val="tx1"/>
                          </a:solidFill>
                        </a:rPr>
                        <a:t>System Service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solidFill>
                            <a:schemeClr val="tx1"/>
                          </a:solidFill>
                        </a:rPr>
                        <a:t>Service Support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solidFill>
                            <a:schemeClr val="tx1"/>
                          </a:solidFill>
                        </a:rPr>
                        <a:t>Recovery Time Objective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5486517"/>
                  </a:ext>
                </a:extLst>
              </a:tr>
              <a:tr h="370840">
                <a:tc>
                  <a:txBody>
                    <a:bodyPr/>
                    <a:lstStyle/>
                    <a:p>
                      <a:pPr algn="ctr"/>
                      <a:r>
                        <a:rPr lang="en-US" sz="1200" b="1">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i="0" u="none" strike="noStrike" kern="1200" baseline="0">
                          <a:solidFill>
                            <a:schemeClr val="dk1"/>
                          </a:solidFill>
                          <a:latin typeface="+mn-lt"/>
                          <a:ea typeface="+mn-ea"/>
                          <a:cs typeface="+mn-cs"/>
                        </a:rPr>
                        <a:t>MMKSI Groupware Support</a:t>
                      </a:r>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24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8 x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Refers to SLA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302331"/>
                  </a:ext>
                </a:extLst>
              </a:tr>
              <a:tr h="370840">
                <a:tc>
                  <a:txBody>
                    <a:bodyPr/>
                    <a:lstStyle/>
                    <a:p>
                      <a:pPr algn="ctr"/>
                      <a:r>
                        <a:rPr lang="en-US" sz="1200" b="1">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i="0" u="none" strike="noStrike" kern="1200" baseline="0">
                          <a:solidFill>
                            <a:schemeClr val="dk1"/>
                          </a:solidFill>
                          <a:latin typeface="+mn-lt"/>
                          <a:ea typeface="+mn-ea"/>
                          <a:cs typeface="+mn-cs"/>
                        </a:rPr>
                        <a:t>Microsoft Azure Infrastructure</a:t>
                      </a:r>
                    </a:p>
                    <a:p>
                      <a:r>
                        <a:rPr lang="en-US" sz="1200" b="0" i="0" u="none" strike="noStrike" kern="1200" baseline="0">
                          <a:solidFill>
                            <a:schemeClr val="dk1"/>
                          </a:solidFill>
                          <a:latin typeface="+mn-lt"/>
                          <a:ea typeface="+mn-ea"/>
                          <a:cs typeface="+mn-cs"/>
                        </a:rPr>
                        <a:t>• Container Apps</a:t>
                      </a:r>
                    </a:p>
                    <a:p>
                      <a:r>
                        <a:rPr lang="en-US" sz="1200" b="0" i="0" u="none" strike="noStrike" kern="1200" baseline="0">
                          <a:solidFill>
                            <a:schemeClr val="dk1"/>
                          </a:solidFill>
                          <a:latin typeface="+mn-lt"/>
                          <a:ea typeface="+mn-ea"/>
                          <a:cs typeface="+mn-cs"/>
                        </a:rPr>
                        <a:t>• Storage Accounts</a:t>
                      </a:r>
                    </a:p>
                    <a:p>
                      <a:r>
                        <a:rPr lang="en-US" sz="1200" b="0" i="0" u="none" strike="noStrike" kern="1200" baseline="0">
                          <a:solidFill>
                            <a:schemeClr val="dk1"/>
                          </a:solidFill>
                          <a:latin typeface="+mn-lt"/>
                          <a:ea typeface="+mn-ea"/>
                          <a:cs typeface="+mn-cs"/>
                        </a:rPr>
                        <a:t>• Azure Monitor</a:t>
                      </a:r>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N/A</a:t>
                      </a:r>
                    </a:p>
                    <a:p>
                      <a:pPr algn="ctr"/>
                      <a:r>
                        <a:rPr lang="en-US" sz="1200"/>
                        <a:t>Refers to Microsoft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N/A</a:t>
                      </a:r>
                    </a:p>
                    <a:p>
                      <a:pPr algn="ctr"/>
                      <a:r>
                        <a:rPr lang="en-US" sz="1200"/>
                        <a:t>Refers to Microsoft</a:t>
                      </a:r>
                    </a:p>
                    <a:p>
                      <a:pPr algn="ctr"/>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N/A</a:t>
                      </a:r>
                    </a:p>
                    <a:p>
                      <a:pPr algn="ctr"/>
                      <a:r>
                        <a:rPr lang="en-US" sz="1200"/>
                        <a:t>Refers to Microsoft</a:t>
                      </a:r>
                    </a:p>
                    <a:p>
                      <a:pPr algn="ctr"/>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570733"/>
                  </a:ext>
                </a:extLst>
              </a:tr>
            </a:tbl>
          </a:graphicData>
        </a:graphic>
      </p:graphicFrame>
      <p:sp>
        <p:nvSpPr>
          <p:cNvPr id="16" name="Rectangle 15">
            <a:extLst>
              <a:ext uri="{FF2B5EF4-FFF2-40B4-BE49-F238E27FC236}">
                <a16:creationId xmlns:a16="http://schemas.microsoft.com/office/drawing/2014/main" id="{78F56AA3-9DC4-F12B-D2E4-6AA35DEED4E9}"/>
              </a:ext>
            </a:extLst>
          </p:cNvPr>
          <p:cNvSpPr/>
          <p:nvPr/>
        </p:nvSpPr>
        <p:spPr>
          <a:xfrm>
            <a:off x="707920" y="1451516"/>
            <a:ext cx="8661612" cy="276999"/>
          </a:xfrm>
          <a:prstGeom prst="rect">
            <a:avLst/>
          </a:prstGeom>
        </p:spPr>
        <p:txBody>
          <a:bodyPr wrap="square">
            <a:spAutoFit/>
          </a:bodyPr>
          <a:lstStyle/>
          <a:p>
            <a:r>
              <a:rPr lang="en-US" sz="1200">
                <a:latin typeface="Calibri" panose="020F0502020204030204" pitchFamily="34" charset="0"/>
              </a:rPr>
              <a:t>BSI will ensure the Service HRD System Service continuity by providing operation service assistance as follow.</a:t>
            </a:r>
            <a:endParaRPr lang="en-US" sz="1200"/>
          </a:p>
        </p:txBody>
      </p:sp>
      <p:sp>
        <p:nvSpPr>
          <p:cNvPr id="17" name="Content Placeholder 2">
            <a:extLst>
              <a:ext uri="{FF2B5EF4-FFF2-40B4-BE49-F238E27FC236}">
                <a16:creationId xmlns:a16="http://schemas.microsoft.com/office/drawing/2014/main" id="{48CADE98-01F6-DB64-1764-0C6CE9578831}"/>
              </a:ext>
            </a:extLst>
          </p:cNvPr>
          <p:cNvSpPr txBox="1">
            <a:spLocks/>
          </p:cNvSpPr>
          <p:nvPr/>
        </p:nvSpPr>
        <p:spPr>
          <a:xfrm>
            <a:off x="670032" y="3693859"/>
            <a:ext cx="9180000" cy="368423"/>
          </a:xfrm>
          <a:prstGeom prst="rect">
            <a:avLst/>
          </a:prstGeom>
        </p:spPr>
        <p:txBody>
          <a:bodyPr vert="horz" lIns="91440" tIns="45720" rIns="91440" bIns="45720" rtlCol="0" anchor="t">
            <a:noAutofit/>
          </a:bodyPr>
          <a:lstStyle>
            <a:lvl1pPr marL="180975" indent="-180975" algn="just" defTabSz="914423" rtl="0" eaLnBrk="1" latinLnBrk="0" hangingPunct="1">
              <a:lnSpc>
                <a:spcPct val="114000"/>
              </a:lnSpc>
              <a:spcBef>
                <a:spcPts val="0"/>
              </a:spcBef>
              <a:buFont typeface="Arial" panose="020B0604020202020204" pitchFamily="34" charset="0"/>
              <a:buChar char="•"/>
              <a:tabLst/>
              <a:defRPr sz="1400" kern="1200">
                <a:solidFill>
                  <a:schemeClr val="tx1"/>
                </a:solidFill>
                <a:latin typeface="Calibri" panose="020F0502020204030204" pitchFamily="34" charset="0"/>
                <a:ea typeface="+mn-ea"/>
                <a:cs typeface="Calibri" panose="020F0502020204030204" pitchFamily="34" charset="0"/>
              </a:defRPr>
            </a:lvl1pPr>
            <a:lvl2pPr marL="360000" indent="-180000" algn="just" defTabSz="914423" rtl="0" eaLnBrk="1" latinLnBrk="0" hangingPunct="1">
              <a:lnSpc>
                <a:spcPct val="114000"/>
              </a:lnSpc>
              <a:spcBef>
                <a:spcPts val="0"/>
              </a:spcBef>
              <a:buFont typeface="Arial" panose="020B0604020202020204" pitchFamily="34" charset="0"/>
              <a:buChar char="•"/>
              <a:tabLst/>
              <a:defRPr sz="1200" kern="1200">
                <a:solidFill>
                  <a:schemeClr val="tx1"/>
                </a:solidFill>
                <a:latin typeface="Calibri" panose="020F0502020204030204" pitchFamily="34" charset="0"/>
                <a:ea typeface="+mn-ea"/>
                <a:cs typeface="Calibri" panose="020F0502020204030204" pitchFamily="34" charset="0"/>
              </a:defRPr>
            </a:lvl2pPr>
            <a:lvl3pPr marL="540000" indent="-180000" algn="l" defTabSz="914423" rtl="0" eaLnBrk="1" latinLnBrk="0" hangingPunct="1">
              <a:lnSpc>
                <a:spcPct val="114000"/>
              </a:lnSpc>
              <a:spcBef>
                <a:spcPts val="0"/>
              </a:spcBef>
              <a:buFont typeface="Arial" panose="020B0604020202020204" pitchFamily="34" charset="0"/>
              <a:buChar char="•"/>
              <a:defRPr sz="1200" kern="1200">
                <a:solidFill>
                  <a:schemeClr val="tx1"/>
                </a:solidFill>
                <a:latin typeface="Calibri" panose="020F0502020204030204" pitchFamily="34" charset="0"/>
                <a:ea typeface="+mn-ea"/>
                <a:cs typeface="Calibri" panose="020F0502020204030204" pitchFamily="34" charset="0"/>
              </a:defRPr>
            </a:lvl3pPr>
            <a:lvl4pPr marL="720000" indent="-180000" algn="just" defTabSz="914423" rtl="0" eaLnBrk="1" latinLnBrk="0" hangingPunct="1">
              <a:lnSpc>
                <a:spcPct val="114000"/>
              </a:lnSpc>
              <a:spcBef>
                <a:spcPts val="0"/>
              </a:spcBef>
              <a:buFont typeface="Arial" panose="020B0604020202020204" pitchFamily="34" charset="0"/>
              <a:buChar char="•"/>
              <a:defRPr sz="1200" kern="1200">
                <a:solidFill>
                  <a:schemeClr val="tx1"/>
                </a:solidFill>
                <a:latin typeface="Calibri" panose="020F0502020204030204" pitchFamily="34" charset="0"/>
                <a:ea typeface="+mn-ea"/>
                <a:cs typeface="Calibri" panose="020F0502020204030204" pitchFamily="34" charset="0"/>
              </a:defRPr>
            </a:lvl4pPr>
            <a:lvl5pPr marL="900000" indent="-180000" algn="just" defTabSz="914423" rtl="0" eaLnBrk="1" latinLnBrk="0" hangingPunct="1">
              <a:lnSpc>
                <a:spcPct val="114000"/>
              </a:lnSpc>
              <a:spcBef>
                <a:spcPts val="0"/>
              </a:spcBef>
              <a:buFont typeface="Arial" panose="020B0604020202020204" pitchFamily="34" charset="0"/>
              <a:buChar char="•"/>
              <a:tabLst/>
              <a:defRPr sz="1200" kern="1200">
                <a:solidFill>
                  <a:schemeClr val="tx1"/>
                </a:solidFill>
                <a:latin typeface="Calibri" panose="020F0502020204030204" pitchFamily="34" charset="0"/>
                <a:ea typeface="+mn-ea"/>
                <a:cs typeface="Calibri" panose="020F0502020204030204" pitchFamily="34" charset="0"/>
              </a:defRPr>
            </a:lvl5pPr>
            <a:lvl6pPr marL="901722" indent="-188918" algn="just" defTabSz="914423"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6pPr>
            <a:lvl7pPr marL="2971874"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tabLst>
                <a:tab pos="361950" algn="l"/>
                <a:tab pos="450850" algn="l"/>
              </a:tabLst>
            </a:pPr>
            <a:r>
              <a:rPr lang="en-US" altLang="ja-JP" b="1">
                <a:latin typeface="Helvetica Neue" panose="02000503000000020004"/>
                <a:ea typeface="ＭＳ Ｐゴシック"/>
                <a:cs typeface="Calibri"/>
              </a:rPr>
              <a:t>III. System Service Availability</a:t>
            </a:r>
          </a:p>
        </p:txBody>
      </p:sp>
    </p:spTree>
    <p:extLst>
      <p:ext uri="{BB962C8B-B14F-4D97-AF65-F5344CB8AC3E}">
        <p14:creationId xmlns:p14="http://schemas.microsoft.com/office/powerpoint/2010/main" val="271775683"/>
      </p:ext>
    </p:extLst>
  </p:cSld>
  <p:clrMapOvr>
    <a:masterClrMapping/>
  </p:clrMapOvr>
  <p:extLst>
    <p:ext uri="{6950BFC3-D8DA-4A85-94F7-54DA5524770B}">
      <p188:commentRel xmlns:p188="http://schemas.microsoft.com/office/powerpoint/2018/8/main" r:id="rId2"/>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FE2C4-8741-1CEA-E09F-EA7AE6F4088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22992DF-6565-F0F9-5BA8-29DBB8A72428}"/>
              </a:ext>
            </a:extLst>
          </p:cNvPr>
          <p:cNvSpPr>
            <a:spLocks noGrp="1"/>
          </p:cNvSpPr>
          <p:nvPr>
            <p:ph type="sldNum" sz="quarter" idx="12"/>
          </p:nvPr>
        </p:nvSpPr>
        <p:spPr/>
        <p:txBody>
          <a:bodyPr/>
          <a:lstStyle/>
          <a:p>
            <a:r>
              <a:rPr lang="en-GB"/>
              <a:t> Page </a:t>
            </a:r>
            <a:fld id="{7A555EF9-59E7-4D74-815B-7A20869232EE}" type="slidenum">
              <a:rPr lang="en-GB" smtClean="0"/>
              <a:pPr/>
              <a:t>46</a:t>
            </a:fld>
            <a:endParaRPr lang="en-GB"/>
          </a:p>
        </p:txBody>
      </p:sp>
      <p:sp>
        <p:nvSpPr>
          <p:cNvPr id="25" name="Title 24">
            <a:extLst>
              <a:ext uri="{FF2B5EF4-FFF2-40B4-BE49-F238E27FC236}">
                <a16:creationId xmlns:a16="http://schemas.microsoft.com/office/drawing/2014/main" id="{1CB16719-22CA-8F67-504C-F215DC89BBC1}"/>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VI. Pain Point &amp; Propose Solution Details</a:t>
            </a:r>
            <a:endParaRPr lang="en-US">
              <a:latin typeface="Helvetica Neue" panose="02000503000000020004"/>
            </a:endParaRPr>
          </a:p>
        </p:txBody>
      </p:sp>
      <p:sp>
        <p:nvSpPr>
          <p:cNvPr id="7" name="Footer Placeholder 4">
            <a:extLst>
              <a:ext uri="{FF2B5EF4-FFF2-40B4-BE49-F238E27FC236}">
                <a16:creationId xmlns:a16="http://schemas.microsoft.com/office/drawing/2014/main" id="{F14E10B5-EA98-2BC5-3E97-FF7B2B75E766}"/>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11EE8283-63A0-8293-8607-43DC66F032A7}"/>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 Performance Evaluation &amp; Logbook</a:t>
            </a:r>
          </a:p>
        </p:txBody>
      </p:sp>
      <p:graphicFrame>
        <p:nvGraphicFramePr>
          <p:cNvPr id="4" name="Table 3">
            <a:extLst>
              <a:ext uri="{FF2B5EF4-FFF2-40B4-BE49-F238E27FC236}">
                <a16:creationId xmlns:a16="http://schemas.microsoft.com/office/drawing/2014/main" id="{C1B7C8B9-E162-7994-D8C0-F06268A757B6}"/>
              </a:ext>
            </a:extLst>
          </p:cNvPr>
          <p:cNvGraphicFramePr>
            <a:graphicFrameLocks noGrp="1"/>
          </p:cNvGraphicFramePr>
          <p:nvPr>
            <p:extLst>
              <p:ext uri="{D42A27DB-BD31-4B8C-83A1-F6EECF244321}">
                <p14:modId xmlns:p14="http://schemas.microsoft.com/office/powerpoint/2010/main" val="553351092"/>
              </p:ext>
            </p:extLst>
          </p:nvPr>
        </p:nvGraphicFramePr>
        <p:xfrm>
          <a:off x="777747" y="1418141"/>
          <a:ext cx="8765253" cy="4001076"/>
        </p:xfrm>
        <a:graphic>
          <a:graphicData uri="http://schemas.openxmlformats.org/drawingml/2006/table">
            <a:tbl>
              <a:tblPr firstRow="1" bandRow="1">
                <a:tableStyleId>{5C22544A-7EE6-4342-B048-85BDC9FD1C3A}</a:tableStyleId>
              </a:tblPr>
              <a:tblGrid>
                <a:gridCol w="1682190">
                  <a:extLst>
                    <a:ext uri="{9D8B030D-6E8A-4147-A177-3AD203B41FA5}">
                      <a16:colId xmlns:a16="http://schemas.microsoft.com/office/drawing/2014/main" val="4144313062"/>
                    </a:ext>
                  </a:extLst>
                </a:gridCol>
                <a:gridCol w="2354835">
                  <a:extLst>
                    <a:ext uri="{9D8B030D-6E8A-4147-A177-3AD203B41FA5}">
                      <a16:colId xmlns:a16="http://schemas.microsoft.com/office/drawing/2014/main" val="115139022"/>
                    </a:ext>
                  </a:extLst>
                </a:gridCol>
                <a:gridCol w="2364114">
                  <a:extLst>
                    <a:ext uri="{9D8B030D-6E8A-4147-A177-3AD203B41FA5}">
                      <a16:colId xmlns:a16="http://schemas.microsoft.com/office/drawing/2014/main" val="3329258466"/>
                    </a:ext>
                  </a:extLst>
                </a:gridCol>
                <a:gridCol w="2364114">
                  <a:extLst>
                    <a:ext uri="{9D8B030D-6E8A-4147-A177-3AD203B41FA5}">
                      <a16:colId xmlns:a16="http://schemas.microsoft.com/office/drawing/2014/main" val="2666873609"/>
                    </a:ext>
                  </a:extLst>
                </a:gridCol>
              </a:tblGrid>
              <a:tr h="319219">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2494071978"/>
                  </a:ext>
                </a:extLst>
              </a:tr>
              <a:tr h="0">
                <a:tc>
                  <a:txBody>
                    <a:bodyPr/>
                    <a:lstStyle/>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Performance Evaluation</a:t>
                      </a:r>
                    </a:p>
                  </a:txBody>
                  <a:tcPr marL="68580" marR="68580" marT="0" marB="0" anchor="ctr"/>
                </a:tc>
                <a:tc>
                  <a:txBody>
                    <a:bodyPr/>
                    <a:lstStyle/>
                    <a:p>
                      <a:pPr marL="171450" marR="0" indent="-171450" algn="l">
                        <a:lnSpc>
                          <a:spcPct val="115000"/>
                        </a:lnSpc>
                        <a:spcAft>
                          <a:spcPts val="0"/>
                        </a:spcAft>
                        <a:buFont typeface="Arial" panose="020B0604020202020204" pitchFamily="34" charset="0"/>
                        <a:buChar char="•"/>
                      </a:pPr>
                      <a:r>
                        <a:rPr lang="en-US" sz="1200" kern="100">
                          <a:effectLst/>
                          <a:latin typeface="+mn-lt"/>
                          <a:ea typeface="DengXian"/>
                          <a:cs typeface="Arial" panose="020B0604020202020204" pitchFamily="34" charset="0"/>
                        </a:rPr>
                        <a:t>Unstructured performance evaluation system</a:t>
                      </a:r>
                    </a:p>
                    <a:p>
                      <a:pPr marL="171450" marR="0" indent="-171450" algn="l">
                        <a:lnSpc>
                          <a:spcPct val="115000"/>
                        </a:lnSpc>
                        <a:spcAft>
                          <a:spcPts val="0"/>
                        </a:spcAft>
                        <a:buFont typeface="Arial" panose="020B0604020202020204" pitchFamily="34" charset="0"/>
                        <a:buChar char="•"/>
                      </a:pPr>
                      <a:r>
                        <a:rPr lang="en-US" sz="1200" kern="100">
                          <a:effectLst/>
                          <a:latin typeface="+mn-lt"/>
                          <a:ea typeface="DengXian"/>
                          <a:cs typeface="Arial" panose="020B0604020202020204" pitchFamily="34" charset="0"/>
                        </a:rPr>
                        <a:t>Misalign employee KPIs with company goals,</a:t>
                      </a:r>
                    </a:p>
                    <a:p>
                      <a:pPr marL="171450" marR="0" indent="-171450" algn="l">
                        <a:lnSpc>
                          <a:spcPct val="115000"/>
                        </a:lnSpc>
                        <a:spcAft>
                          <a:spcPts val="0"/>
                        </a:spcAft>
                        <a:buFont typeface="Arial" panose="020B0604020202020204" pitchFamily="34" charset="0"/>
                        <a:buChar char="•"/>
                      </a:pPr>
                      <a:r>
                        <a:rPr lang="en-US" sz="1200" kern="100">
                          <a:effectLst/>
                          <a:latin typeface="+mn-lt"/>
                          <a:ea typeface="DengXian"/>
                          <a:cs typeface="Arial" panose="020B0604020202020204" pitchFamily="34" charset="0"/>
                        </a:rPr>
                        <a:t>Unsupported multiple review stages</a:t>
                      </a:r>
                    </a:p>
                    <a:p>
                      <a:pPr marL="171450" marR="0" indent="-171450" algn="l">
                        <a:lnSpc>
                          <a:spcPct val="115000"/>
                        </a:lnSpc>
                        <a:spcAft>
                          <a:spcPts val="0"/>
                        </a:spcAft>
                        <a:buFont typeface="Arial" panose="020B0604020202020204" pitchFamily="34" charset="0"/>
                        <a:buChar char="•"/>
                      </a:pPr>
                      <a:r>
                        <a:rPr lang="en-US" sz="1200" kern="100">
                          <a:effectLst/>
                          <a:latin typeface="+mn-lt"/>
                          <a:ea typeface="DengXian"/>
                          <a:cs typeface="Arial" panose="020B0604020202020204" pitchFamily="34" charset="0"/>
                        </a:rPr>
                        <a:t>Unable to provide accurate scoring and calibration.</a:t>
                      </a:r>
                    </a:p>
                  </a:txBody>
                  <a:tcPr marL="68580" marR="68580" marT="0" marB="0"/>
                </a:tc>
                <a:tc>
                  <a:txBody>
                    <a:bodyPr/>
                    <a:lstStyle/>
                    <a:p>
                      <a:pPr marL="0" marR="0" algn="l">
                        <a:lnSpc>
                          <a:spcPct val="115000"/>
                        </a:lnSpc>
                        <a:spcAft>
                          <a:spcPts val="0"/>
                        </a:spcAft>
                        <a:buNone/>
                      </a:pPr>
                      <a:r>
                        <a:rPr lang="en-US" sz="1200" kern="100">
                          <a:effectLst/>
                          <a:latin typeface="+mn-lt"/>
                          <a:ea typeface="DengXian" panose="02010600030101010101" pitchFamily="2" charset="-122"/>
                          <a:cs typeface="Arial" panose="020B0604020202020204" pitchFamily="34" charset="0"/>
                        </a:rPr>
                        <a:t>Provide a system function that enable </a:t>
                      </a:r>
                      <a:r>
                        <a:rPr lang="en-US" sz="1200" b="1" kern="100">
                          <a:effectLst/>
                          <a:latin typeface="+mn-lt"/>
                          <a:ea typeface="DengXian" panose="02010600030101010101" pitchFamily="2" charset="-122"/>
                          <a:cs typeface="Arial" panose="020B0604020202020204" pitchFamily="34" charset="0"/>
                        </a:rPr>
                        <a:t>structured and end-to-end</a:t>
                      </a:r>
                      <a:r>
                        <a:rPr lang="en-US" sz="1200" kern="100">
                          <a:effectLst/>
                          <a:latin typeface="+mn-lt"/>
                          <a:ea typeface="DengXian" panose="02010600030101010101" pitchFamily="2" charset="-122"/>
                          <a:cs typeface="Arial" panose="020B0604020202020204" pitchFamily="34" charset="0"/>
                        </a:rPr>
                        <a:t> Performance Evaluation process starting from individual KPI planning that align with company goals.</a:t>
                      </a:r>
                    </a:p>
                  </a:txBody>
                  <a:tcPr marL="68580" marR="68580" marT="0" marB="0"/>
                </a:tc>
                <a:tc>
                  <a:txBody>
                    <a:bodyPr/>
                    <a:lstStyle/>
                    <a:p>
                      <a:pPr marL="0" marR="0" indent="0" algn="l">
                        <a:lnSpc>
                          <a:spcPct val="115000"/>
                        </a:lnSpc>
                        <a:spcAft>
                          <a:spcPts val="0"/>
                        </a:spcAft>
                        <a:buFont typeface="Arial" panose="020B0604020202020204" pitchFamily="34" charset="0"/>
                        <a:buNone/>
                      </a:pPr>
                      <a:r>
                        <a:rPr lang="en-US" sz="1200">
                          <a:latin typeface="+mn-lt"/>
                          <a:cs typeface="Arial" panose="020B0604020202020204" pitchFamily="34" charset="0"/>
                        </a:rPr>
                        <a:t>Operational efficiency to support Data-driven decisions.</a:t>
                      </a:r>
                      <a:endParaRPr lang="en-US" sz="1200" kern="100">
                        <a:effectLst/>
                        <a:latin typeface="+mn-lt"/>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212780037"/>
                  </a:ext>
                </a:extLst>
              </a:tr>
              <a:tr h="0">
                <a:tc>
                  <a:txBody>
                    <a:bodyPr/>
                    <a:lstStyle/>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Logbook</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Manually input scores in spreadsheets is time-consuming and highly prone to error</a:t>
                      </a:r>
                    </a:p>
                    <a:p>
                      <a:pPr marL="171450" indent="-171450">
                        <a:buFont typeface="Arial" panose="020B0604020202020204" pitchFamily="34" charset="0"/>
                        <a:buChar char="•"/>
                      </a:pPr>
                      <a:r>
                        <a:rPr lang="en-US" sz="1200">
                          <a:latin typeface="+mn-lt"/>
                          <a:cs typeface="Arial" panose="020B0604020202020204" pitchFamily="34" charset="0"/>
                        </a:rPr>
                        <a:t>Hard to track an employee's competency progress</a:t>
                      </a:r>
                    </a:p>
                    <a:p>
                      <a:pPr marL="171450" indent="-171450">
                        <a:buFont typeface="Arial" panose="020B0604020202020204" pitchFamily="34" charset="0"/>
                        <a:buChar char="•"/>
                      </a:pPr>
                      <a:r>
                        <a:rPr lang="en-US" sz="1200">
                          <a:latin typeface="+mn-lt"/>
                          <a:cs typeface="Arial" panose="020B0604020202020204" pitchFamily="34" charset="0"/>
                        </a:rPr>
                        <a:t>Painful compiling process for dozens of individual logbooks into a single department overview</a:t>
                      </a:r>
                    </a:p>
                    <a:p>
                      <a:pPr marL="171450" indent="-171450">
                        <a:buFont typeface="Arial" panose="020B0604020202020204" pitchFamily="34" charset="0"/>
                        <a:buChar char="•"/>
                      </a:pPr>
                      <a:r>
                        <a:rPr lang="en-US" sz="1200">
                          <a:latin typeface="+mn-lt"/>
                          <a:cs typeface="Arial" panose="020B0604020202020204" pitchFamily="34" charset="0"/>
                        </a:rPr>
                        <a:t>No automated remainder for to update the logbook</a:t>
                      </a:r>
                    </a:p>
                  </a:txBody>
                  <a:tcPr marL="68580" marR="68580" marT="0" marB="0"/>
                </a:tc>
                <a:tc>
                  <a:txBody>
                    <a:bodyPr/>
                    <a:lstStyle/>
                    <a:p>
                      <a:pPr marL="0" marR="0" indent="0">
                        <a:lnSpc>
                          <a:spcPct val="115000"/>
                        </a:lnSpc>
                        <a:spcAft>
                          <a:spcPts val="0"/>
                        </a:spcAft>
                        <a:buNone/>
                      </a:pPr>
                      <a:r>
                        <a:rPr lang="en-US" sz="1200" b="0" i="0" u="none" strike="noStrike" kern="100" noProof="0">
                          <a:effectLst/>
                          <a:latin typeface="+mn-lt"/>
                          <a:cs typeface="Arial" panose="020B0604020202020204" pitchFamily="34" charset="0"/>
                        </a:rPr>
                        <a:t>Implement a centralized Logbook &amp; Competency Management System that enables </a:t>
                      </a:r>
                      <a:r>
                        <a:rPr lang="en-US" sz="1200" b="1" i="0" u="none" strike="noStrike" kern="100" noProof="0">
                          <a:effectLst/>
                          <a:latin typeface="+mn-lt"/>
                          <a:cs typeface="Arial" panose="020B0604020202020204" pitchFamily="34" charset="0"/>
                        </a:rPr>
                        <a:t>structured competency tracking, automated data capture, and real-time visibility</a:t>
                      </a:r>
                      <a:r>
                        <a:rPr lang="en-US" sz="1200" b="0" i="0" u="none" strike="noStrike" kern="100" noProof="0">
                          <a:effectLst/>
                          <a:latin typeface="+mn-lt"/>
                          <a:cs typeface="Arial" panose="020B0604020202020204" pitchFamily="34" charset="0"/>
                        </a:rPr>
                        <a:t> across employees and departments.</a:t>
                      </a:r>
                      <a:endParaRPr lang="en-US" sz="120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0" marR="0" lvl="0" indent="0">
                        <a:lnSpc>
                          <a:spcPct val="114999"/>
                        </a:lnSpc>
                        <a:spcAft>
                          <a:spcPts val="0"/>
                        </a:spcAft>
                        <a:buNone/>
                      </a:pPr>
                      <a:r>
                        <a:rPr lang="en-US" sz="1200" b="0" i="0" u="none" strike="noStrike" kern="100" noProof="0">
                          <a:effectLst/>
                          <a:latin typeface="+mn-lt"/>
                          <a:ea typeface="Calibri"/>
                          <a:cs typeface="Arial" panose="020B0604020202020204" pitchFamily="34" charset="0"/>
                        </a:rPr>
                        <a:t>Drive operational efficiency with automated processes, ensure accurate and consistent competency data, and enable real-time insights for faster, more informed decision-making.</a:t>
                      </a:r>
                      <a:endParaRPr lang="en-US" sz="1200">
                        <a:latin typeface="+mn-lt"/>
                        <a:ea typeface="Calibri"/>
                        <a:cs typeface="Arial" panose="020B0604020202020204" pitchFamily="34" charset="0"/>
                      </a:endParaRPr>
                    </a:p>
                  </a:txBody>
                  <a:tcPr marL="68580" marR="68580" marT="0" marB="0"/>
                </a:tc>
                <a:extLst>
                  <a:ext uri="{0D108BD9-81ED-4DB2-BD59-A6C34878D82A}">
                    <a16:rowId xmlns:a16="http://schemas.microsoft.com/office/drawing/2014/main" val="514247245"/>
                  </a:ext>
                </a:extLst>
              </a:tr>
            </a:tbl>
          </a:graphicData>
        </a:graphic>
      </p:graphicFrame>
    </p:spTree>
    <p:extLst>
      <p:ext uri="{BB962C8B-B14F-4D97-AF65-F5344CB8AC3E}">
        <p14:creationId xmlns:p14="http://schemas.microsoft.com/office/powerpoint/2010/main" val="4223156045"/>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981FA-1BED-3238-FF9E-9008082E990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F9C48-2BF8-D86A-B3B4-A6D225CAE9E4}"/>
              </a:ext>
            </a:extLst>
          </p:cNvPr>
          <p:cNvSpPr>
            <a:spLocks noGrp="1"/>
          </p:cNvSpPr>
          <p:nvPr>
            <p:ph type="sldNum" sz="quarter" idx="12"/>
          </p:nvPr>
        </p:nvSpPr>
        <p:spPr/>
        <p:txBody>
          <a:bodyPr/>
          <a:lstStyle/>
          <a:p>
            <a:r>
              <a:rPr lang="en-GB"/>
              <a:t> Page </a:t>
            </a:r>
            <a:fld id="{7A555EF9-59E7-4D74-815B-7A20869232EE}" type="slidenum">
              <a:rPr lang="en-GB" smtClean="0"/>
              <a:pPr/>
              <a:t>47</a:t>
            </a:fld>
            <a:endParaRPr lang="en-GB"/>
          </a:p>
        </p:txBody>
      </p:sp>
      <p:sp>
        <p:nvSpPr>
          <p:cNvPr id="25" name="Title 24">
            <a:extLst>
              <a:ext uri="{FF2B5EF4-FFF2-40B4-BE49-F238E27FC236}">
                <a16:creationId xmlns:a16="http://schemas.microsoft.com/office/drawing/2014/main" id="{B4A32911-FB0D-39B4-0986-7CE35C38ECE0}"/>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VI. Pain Point &amp; Propose Solution Details</a:t>
            </a:r>
            <a:endParaRPr lang="en-US">
              <a:latin typeface="Helvetica Neue" panose="02000503000000020004"/>
            </a:endParaRPr>
          </a:p>
        </p:txBody>
      </p:sp>
      <p:sp>
        <p:nvSpPr>
          <p:cNvPr id="7" name="Footer Placeholder 4">
            <a:extLst>
              <a:ext uri="{FF2B5EF4-FFF2-40B4-BE49-F238E27FC236}">
                <a16:creationId xmlns:a16="http://schemas.microsoft.com/office/drawing/2014/main" id="{C717AFAE-DCC8-C5E5-3273-3AB1F3008F96}"/>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86179CC5-BF6B-C2F3-5F5F-89B5B8254B37}"/>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II. Promotion</a:t>
            </a:r>
          </a:p>
        </p:txBody>
      </p:sp>
      <p:graphicFrame>
        <p:nvGraphicFramePr>
          <p:cNvPr id="2" name="Table 1">
            <a:extLst>
              <a:ext uri="{FF2B5EF4-FFF2-40B4-BE49-F238E27FC236}">
                <a16:creationId xmlns:a16="http://schemas.microsoft.com/office/drawing/2014/main" id="{5DD84F02-AFF5-8F7C-6CF5-D6A740CE49FE}"/>
              </a:ext>
            </a:extLst>
          </p:cNvPr>
          <p:cNvGraphicFramePr>
            <a:graphicFrameLocks noGrp="1"/>
          </p:cNvGraphicFramePr>
          <p:nvPr>
            <p:extLst>
              <p:ext uri="{D42A27DB-BD31-4B8C-83A1-F6EECF244321}">
                <p14:modId xmlns:p14="http://schemas.microsoft.com/office/powerpoint/2010/main" val="1442071796"/>
              </p:ext>
            </p:extLst>
          </p:nvPr>
        </p:nvGraphicFramePr>
        <p:xfrm>
          <a:off x="812155" y="1275099"/>
          <a:ext cx="8765253" cy="3418821"/>
        </p:xfrm>
        <a:graphic>
          <a:graphicData uri="http://schemas.openxmlformats.org/drawingml/2006/table">
            <a:tbl>
              <a:tblPr firstRow="1" bandRow="1">
                <a:tableStyleId>{5C22544A-7EE6-4342-B048-85BDC9FD1C3A}</a:tableStyleId>
              </a:tblPr>
              <a:tblGrid>
                <a:gridCol w="1682190">
                  <a:extLst>
                    <a:ext uri="{9D8B030D-6E8A-4147-A177-3AD203B41FA5}">
                      <a16:colId xmlns:a16="http://schemas.microsoft.com/office/drawing/2014/main" val="39164821"/>
                    </a:ext>
                  </a:extLst>
                </a:gridCol>
                <a:gridCol w="2354835">
                  <a:extLst>
                    <a:ext uri="{9D8B030D-6E8A-4147-A177-3AD203B41FA5}">
                      <a16:colId xmlns:a16="http://schemas.microsoft.com/office/drawing/2014/main" val="1113904390"/>
                    </a:ext>
                  </a:extLst>
                </a:gridCol>
                <a:gridCol w="2364114">
                  <a:extLst>
                    <a:ext uri="{9D8B030D-6E8A-4147-A177-3AD203B41FA5}">
                      <a16:colId xmlns:a16="http://schemas.microsoft.com/office/drawing/2014/main" val="3929712902"/>
                    </a:ext>
                  </a:extLst>
                </a:gridCol>
                <a:gridCol w="2364114">
                  <a:extLst>
                    <a:ext uri="{9D8B030D-6E8A-4147-A177-3AD203B41FA5}">
                      <a16:colId xmlns:a16="http://schemas.microsoft.com/office/drawing/2014/main" val="711725237"/>
                    </a:ext>
                  </a:extLst>
                </a:gridCol>
              </a:tblGrid>
              <a:tr h="309861">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546604770"/>
                  </a:ext>
                </a:extLst>
              </a:tr>
              <a:tr h="0">
                <a:tc>
                  <a:txBody>
                    <a:bodyPr/>
                    <a:lstStyle/>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Promotion</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Time-consuming manual collection of employee data (KPIs, attendance, tenure, past reviews) from multiple spreadsheets and physical files.</a:t>
                      </a:r>
                    </a:p>
                    <a:p>
                      <a:pPr marL="171450" indent="-171450">
                        <a:buFont typeface="Arial" panose="020B0604020202020204" pitchFamily="34" charset="0"/>
                        <a:buChar char="•"/>
                      </a:pPr>
                      <a:r>
                        <a:rPr lang="en-US" sz="1200">
                          <a:latin typeface="+mn-lt"/>
                          <a:cs typeface="Arial" panose="020B0604020202020204" pitchFamily="34" charset="0"/>
                        </a:rPr>
                        <a:t>Lack of standardized criteria often leads to subjective, inconsistent, or biased promotion decisions.</a:t>
                      </a:r>
                    </a:p>
                    <a:p>
                      <a:pPr marL="171450" indent="-171450">
                        <a:buFont typeface="Arial" panose="020B0604020202020204" pitchFamily="34" charset="0"/>
                        <a:buChar char="•"/>
                      </a:pPr>
                      <a:r>
                        <a:rPr lang="en-US" sz="1200">
                          <a:latin typeface="+mn-lt"/>
                          <a:cs typeface="Arial" panose="020B0604020202020204" pitchFamily="34" charset="0"/>
                        </a:rPr>
                        <a:t>No centralized way to track which employees are due or eligible for a promotion evaluation.</a:t>
                      </a:r>
                    </a:p>
                    <a:p>
                      <a:pPr marL="171450" indent="-171450">
                        <a:buFont typeface="Arial" panose="020B0604020202020204" pitchFamily="34" charset="0"/>
                        <a:buChar char="•"/>
                      </a:pPr>
                      <a:r>
                        <a:rPr lang="en-US" sz="1200">
                          <a:latin typeface="+mn-lt"/>
                          <a:cs typeface="Arial" panose="020B0604020202020204" pitchFamily="34" charset="0"/>
                        </a:rPr>
                        <a:t>Difficult to trace the justification, feedback, or historical record of why someone was (or wasn't) promoted.</a:t>
                      </a:r>
                    </a:p>
                  </a:txBody>
                  <a:tcPr marL="68580" marR="68580" marT="0" marB="0"/>
                </a:tc>
                <a:tc>
                  <a:txBody>
                    <a:bodyPr/>
                    <a:lstStyle/>
                    <a:p>
                      <a:pPr marL="171450" indent="-171450">
                        <a:buFont typeface="Arial" panose="020B0604020202020204" pitchFamily="34" charset="0"/>
                        <a:buChar char="•"/>
                      </a:pPr>
                      <a:r>
                        <a:rPr lang="en-US" sz="1200" b="0">
                          <a:latin typeface="+mn-lt"/>
                          <a:cs typeface="Arial" panose="020B0604020202020204" pitchFamily="34" charset="0"/>
                        </a:rPr>
                        <a:t>Centralized data which </a:t>
                      </a:r>
                      <a:r>
                        <a:rPr lang="en-US" sz="1200">
                          <a:latin typeface="+mn-lt"/>
                          <a:cs typeface="Arial" panose="020B0604020202020204" pitchFamily="34" charset="0"/>
                        </a:rPr>
                        <a:t> automatically pulls in real-time employee metrics (performance scores, tenure, attendance) into a single evaluation profile.</a:t>
                      </a:r>
                    </a:p>
                    <a:p>
                      <a:pPr marL="171450" indent="-171450">
                        <a:buFont typeface="Arial" panose="020B0604020202020204" pitchFamily="34" charset="0"/>
                        <a:buChar char="•"/>
                      </a:pPr>
                      <a:r>
                        <a:rPr lang="en-US" sz="1200">
                          <a:latin typeface="+mn-lt"/>
                          <a:cs typeface="Arial" panose="020B0604020202020204" pitchFamily="34" charset="0"/>
                        </a:rPr>
                        <a:t>Pre-configured evaluation templates and scoring rubrics tailored to specific roles or departments.</a:t>
                      </a:r>
                    </a:p>
                    <a:p>
                      <a:pPr marL="171450" indent="-171450">
                        <a:buFont typeface="Arial" panose="020B0604020202020204" pitchFamily="34" charset="0"/>
                        <a:buChar char="•"/>
                      </a:pPr>
                      <a:r>
                        <a:rPr lang="en-US" sz="1200">
                          <a:latin typeface="+mn-lt"/>
                          <a:cs typeface="Arial" panose="020B0604020202020204" pitchFamily="34" charset="0"/>
                        </a:rPr>
                        <a:t>System automatically flags when an employee meets the baseline criteria (e.g., tenure length, KPI threshold) for a promotion review.</a:t>
                      </a:r>
                    </a:p>
                    <a:p>
                      <a:pPr marL="171450" indent="-171450">
                        <a:buFont typeface="Arial" panose="020B0604020202020204" pitchFamily="34" charset="0"/>
                        <a:buChar char="•"/>
                      </a:pPr>
                      <a:r>
                        <a:rPr lang="en-US" sz="1200">
                          <a:latin typeface="+mn-lt"/>
                          <a:cs typeface="Arial" panose="020B0604020202020204" pitchFamily="34" charset="0"/>
                        </a:rPr>
                        <a:t>Secure, digital storage of all past evaluation forms, reviewer comments, and final decisions.</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Eliminates hours of manual administrative work and data compilation for the HR team.</a:t>
                      </a:r>
                    </a:p>
                    <a:p>
                      <a:pPr marL="171450" indent="-171450">
                        <a:buFont typeface="Arial" panose="020B0604020202020204" pitchFamily="34" charset="0"/>
                        <a:buChar char="•"/>
                      </a:pPr>
                      <a:r>
                        <a:rPr lang="en-US" sz="1200">
                          <a:latin typeface="+mn-lt"/>
                          <a:cs typeface="Arial" panose="020B0604020202020204" pitchFamily="34" charset="0"/>
                        </a:rPr>
                        <a:t>Data-driven insights ensure promotions are based on merit, reducing bias.</a:t>
                      </a:r>
                    </a:p>
                    <a:p>
                      <a:pPr marL="171450" indent="-171450">
                        <a:buFont typeface="Arial" panose="020B0604020202020204" pitchFamily="34" charset="0"/>
                        <a:buChar char="•"/>
                      </a:pPr>
                      <a:r>
                        <a:rPr lang="en-US" sz="1200">
                          <a:latin typeface="+mn-lt"/>
                          <a:cs typeface="Arial" panose="020B0604020202020204" pitchFamily="34" charset="0"/>
                        </a:rPr>
                        <a:t>Provides a clear, documented audit trail of the entire decision-making process for compliance and employee feedback.</a:t>
                      </a:r>
                    </a:p>
                  </a:txBody>
                  <a:tcPr marL="68580" marR="68580" marT="0" marB="0"/>
                </a:tc>
                <a:extLst>
                  <a:ext uri="{0D108BD9-81ED-4DB2-BD59-A6C34878D82A}">
                    <a16:rowId xmlns:a16="http://schemas.microsoft.com/office/drawing/2014/main" val="1120366538"/>
                  </a:ext>
                </a:extLst>
              </a:tr>
            </a:tbl>
          </a:graphicData>
        </a:graphic>
      </p:graphicFrame>
    </p:spTree>
    <p:extLst>
      <p:ext uri="{BB962C8B-B14F-4D97-AF65-F5344CB8AC3E}">
        <p14:creationId xmlns:p14="http://schemas.microsoft.com/office/powerpoint/2010/main" val="1845071559"/>
      </p:ext>
    </p:extLst>
  </p:cSld>
  <p:clrMapOvr>
    <a:masterClrMapping/>
  </p:clrMapOvr>
  <p:extLst>
    <p:ext uri="{6950BFC3-D8DA-4A85-94F7-54DA5524770B}">
      <p188:commentRel xmlns:p188="http://schemas.microsoft.com/office/powerpoint/2018/8/main" r:id="rId2"/>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7D99-C41D-8C83-E01F-6D24C1F80CD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96EBC4E-94B6-1270-682C-682286B920A0}"/>
              </a:ext>
            </a:extLst>
          </p:cNvPr>
          <p:cNvSpPr>
            <a:spLocks noGrp="1"/>
          </p:cNvSpPr>
          <p:nvPr>
            <p:ph type="sldNum" sz="quarter" idx="12"/>
          </p:nvPr>
        </p:nvSpPr>
        <p:spPr/>
        <p:txBody>
          <a:bodyPr/>
          <a:lstStyle/>
          <a:p>
            <a:r>
              <a:rPr lang="en-GB"/>
              <a:t> Page </a:t>
            </a:r>
            <a:fld id="{7A555EF9-59E7-4D74-815B-7A20869232EE}" type="slidenum">
              <a:rPr lang="en-GB" smtClean="0"/>
              <a:pPr/>
              <a:t>48</a:t>
            </a:fld>
            <a:endParaRPr lang="en-GB"/>
          </a:p>
        </p:txBody>
      </p:sp>
      <p:sp>
        <p:nvSpPr>
          <p:cNvPr id="25" name="Title 24">
            <a:extLst>
              <a:ext uri="{FF2B5EF4-FFF2-40B4-BE49-F238E27FC236}">
                <a16:creationId xmlns:a16="http://schemas.microsoft.com/office/drawing/2014/main" id="{8203CF17-F758-50DB-D8B3-F12CFB2A4DB1}"/>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VI. Pain Point &amp; Propose Solution Details</a:t>
            </a:r>
            <a:endParaRPr lang="en-US">
              <a:latin typeface="Helvetica Neue" panose="02000503000000020004"/>
            </a:endParaRPr>
          </a:p>
        </p:txBody>
      </p:sp>
      <p:sp>
        <p:nvSpPr>
          <p:cNvPr id="7" name="Footer Placeholder 4">
            <a:extLst>
              <a:ext uri="{FF2B5EF4-FFF2-40B4-BE49-F238E27FC236}">
                <a16:creationId xmlns:a16="http://schemas.microsoft.com/office/drawing/2014/main" id="{1215C80B-DC5F-6EB5-E5FD-AC29F31CA38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2" name="Table 1">
            <a:extLst>
              <a:ext uri="{FF2B5EF4-FFF2-40B4-BE49-F238E27FC236}">
                <a16:creationId xmlns:a16="http://schemas.microsoft.com/office/drawing/2014/main" id="{E460E89D-2C8C-69B8-7CFE-630594695F71}"/>
              </a:ext>
            </a:extLst>
          </p:cNvPr>
          <p:cNvGraphicFramePr>
            <a:graphicFrameLocks noGrp="1"/>
          </p:cNvGraphicFramePr>
          <p:nvPr>
            <p:extLst>
              <p:ext uri="{D42A27DB-BD31-4B8C-83A1-F6EECF244321}">
                <p14:modId xmlns:p14="http://schemas.microsoft.com/office/powerpoint/2010/main" val="3801831661"/>
              </p:ext>
            </p:extLst>
          </p:nvPr>
        </p:nvGraphicFramePr>
        <p:xfrm>
          <a:off x="812155" y="1275099"/>
          <a:ext cx="8765253" cy="4378814"/>
        </p:xfrm>
        <a:graphic>
          <a:graphicData uri="http://schemas.openxmlformats.org/drawingml/2006/table">
            <a:tbl>
              <a:tblPr firstRow="1" bandRow="1">
                <a:tableStyleId>{5C22544A-7EE6-4342-B048-85BDC9FD1C3A}</a:tableStyleId>
              </a:tblPr>
              <a:tblGrid>
                <a:gridCol w="1682190">
                  <a:extLst>
                    <a:ext uri="{9D8B030D-6E8A-4147-A177-3AD203B41FA5}">
                      <a16:colId xmlns:a16="http://schemas.microsoft.com/office/drawing/2014/main" val="39164821"/>
                    </a:ext>
                  </a:extLst>
                </a:gridCol>
                <a:gridCol w="2354835">
                  <a:extLst>
                    <a:ext uri="{9D8B030D-6E8A-4147-A177-3AD203B41FA5}">
                      <a16:colId xmlns:a16="http://schemas.microsoft.com/office/drawing/2014/main" val="1113904390"/>
                    </a:ext>
                  </a:extLst>
                </a:gridCol>
                <a:gridCol w="2364114">
                  <a:extLst>
                    <a:ext uri="{9D8B030D-6E8A-4147-A177-3AD203B41FA5}">
                      <a16:colId xmlns:a16="http://schemas.microsoft.com/office/drawing/2014/main" val="3929712902"/>
                    </a:ext>
                  </a:extLst>
                </a:gridCol>
                <a:gridCol w="2364114">
                  <a:extLst>
                    <a:ext uri="{9D8B030D-6E8A-4147-A177-3AD203B41FA5}">
                      <a16:colId xmlns:a16="http://schemas.microsoft.com/office/drawing/2014/main" val="711725237"/>
                    </a:ext>
                  </a:extLst>
                </a:gridCol>
              </a:tblGrid>
              <a:tr h="340341">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546604770"/>
                  </a:ext>
                </a:extLst>
              </a:tr>
              <a:tr h="0">
                <a:tc>
                  <a:txBody>
                    <a:bodyPr/>
                    <a:lstStyle/>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Training Management</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Difficult to track employees that need training and its status (who has completed it or when certificates expire) </a:t>
                      </a:r>
                    </a:p>
                    <a:p>
                      <a:pPr marL="171450" indent="-171450">
                        <a:buFont typeface="Arial" panose="020B0604020202020204" pitchFamily="34" charset="0"/>
                        <a:buChar char="•"/>
                      </a:pPr>
                      <a:r>
                        <a:rPr lang="en-US" sz="1200">
                          <a:latin typeface="+mn-lt"/>
                          <a:cs typeface="Arial" panose="020B0604020202020204" pitchFamily="34" charset="0"/>
                        </a:rPr>
                        <a:t>HRD wastes hours manually drafting emails to coordinate training schedules, send invites, and track RSVPs back and forth with employees</a:t>
                      </a:r>
                    </a:p>
                    <a:p>
                      <a:pPr marL="171450" indent="-171450">
                        <a:buFont typeface="Arial" panose="020B0604020202020204" pitchFamily="34" charset="0"/>
                        <a:buChar char="•"/>
                      </a:pPr>
                      <a:r>
                        <a:rPr lang="en-US" sz="1200">
                          <a:latin typeface="+mn-lt"/>
                          <a:cs typeface="Arial" panose="020B0604020202020204" pitchFamily="34" charset="0"/>
                        </a:rPr>
                        <a:t>Hard to map competency gaps for each employee</a:t>
                      </a:r>
                    </a:p>
                    <a:p>
                      <a:pPr marL="171450" indent="-171450">
                        <a:buFont typeface="Arial" panose="020B0604020202020204" pitchFamily="34" charset="0"/>
                        <a:buChar char="•"/>
                      </a:pPr>
                      <a:r>
                        <a:rPr lang="en-US" sz="1200">
                          <a:latin typeface="+mn-lt"/>
                          <a:cs typeface="Arial" panose="020B0604020202020204" pitchFamily="34" charset="0"/>
                        </a:rPr>
                        <a:t>Paper based evaluation translate to hard data entry and scattered training history</a:t>
                      </a:r>
                    </a:p>
                  </a:txBody>
                  <a:tcPr marL="68580" marR="68580" marT="0" marB="0"/>
                </a:tc>
                <a:tc>
                  <a:txBody>
                    <a:bodyPr/>
                    <a:lstStyle/>
                    <a:p>
                      <a:pPr marL="171450" indent="-171450">
                        <a:buFont typeface="Arial" panose="020B0604020202020204" pitchFamily="34" charset="0"/>
                        <a:buChar char="•"/>
                      </a:pPr>
                      <a:r>
                        <a:rPr lang="en-US" sz="1200" b="0">
                          <a:latin typeface="+mn-lt"/>
                          <a:cs typeface="Arial" panose="020B0604020202020204" pitchFamily="34" charset="0"/>
                        </a:rPr>
                        <a:t>Centralized Digital Repository to </a:t>
                      </a:r>
                      <a:r>
                        <a:rPr lang="en-US" sz="1200" b="1">
                          <a:latin typeface="+mn-lt"/>
                          <a:cs typeface="Arial" panose="020B0604020202020204" pitchFamily="34" charset="0"/>
                        </a:rPr>
                        <a:t>consolidates all training histories</a:t>
                      </a:r>
                      <a:r>
                        <a:rPr lang="en-US" sz="1200">
                          <a:latin typeface="+mn-lt"/>
                          <a:cs typeface="Arial" panose="020B0604020202020204" pitchFamily="34" charset="0"/>
                        </a:rPr>
                        <a:t>, expired certificates, and attendance records </a:t>
                      </a:r>
                    </a:p>
                    <a:p>
                      <a:pPr marL="171450" indent="-171450">
                        <a:buFont typeface="Arial" panose="020B0604020202020204" pitchFamily="34" charset="0"/>
                        <a:buChar char="•"/>
                      </a:pPr>
                      <a:r>
                        <a:rPr lang="en-US" sz="1200" b="0">
                          <a:latin typeface="+mn-lt"/>
                          <a:cs typeface="Arial" panose="020B0604020202020204" pitchFamily="34" charset="0"/>
                        </a:rPr>
                        <a:t>Automated workflows for</a:t>
                      </a:r>
                      <a:r>
                        <a:rPr lang="en-US" sz="1200" b="1">
                          <a:latin typeface="+mn-lt"/>
                          <a:cs typeface="Arial" panose="020B0604020202020204" pitchFamily="34" charset="0"/>
                        </a:rPr>
                        <a:t> </a:t>
                      </a:r>
                      <a:r>
                        <a:rPr lang="en-US" sz="1200">
                          <a:latin typeface="+mn-lt"/>
                          <a:cs typeface="Arial" panose="020B0604020202020204" pitchFamily="34" charset="0"/>
                        </a:rPr>
                        <a:t>enrollment, scheduling, and reminder notifications for upcoming training.</a:t>
                      </a:r>
                    </a:p>
                    <a:p>
                      <a:pPr marL="171450" indent="-171450">
                        <a:buFont typeface="Arial" panose="020B0604020202020204" pitchFamily="34" charset="0"/>
                        <a:buChar char="•"/>
                      </a:pPr>
                      <a:r>
                        <a:rPr lang="en-US" sz="1200">
                          <a:latin typeface="+mn-lt"/>
                          <a:cs typeface="Arial" panose="020B0604020202020204" pitchFamily="34" charset="0"/>
                        </a:rPr>
                        <a:t>Linking training modules to the performance evaluation and competency logbooks, automatically suggesting courses based on actual skill gaps.</a:t>
                      </a:r>
                    </a:p>
                    <a:p>
                      <a:pPr marL="171450" indent="-171450">
                        <a:buFont typeface="Arial" panose="020B0604020202020204" pitchFamily="34" charset="0"/>
                        <a:buChar char="•"/>
                      </a:pPr>
                      <a:r>
                        <a:rPr lang="en-US" sz="1200">
                          <a:latin typeface="+mn-lt"/>
                          <a:cs typeface="Arial" panose="020B0604020202020204" pitchFamily="34" charset="0"/>
                        </a:rPr>
                        <a:t>Moves pre-tests, post-tests, and trainer evaluations entirely online, automatically calculating scores and updating the employee's record.</a:t>
                      </a:r>
                    </a:p>
                    <a:p>
                      <a:pPr marL="0" indent="0">
                        <a:buFont typeface="Arial" panose="020B0604020202020204" pitchFamily="34" charset="0"/>
                        <a:buNone/>
                      </a:pPr>
                      <a:endParaRPr lang="en-US" sz="1200">
                        <a:latin typeface="+mn-lt"/>
                        <a:cs typeface="Arial" panose="020B0604020202020204" pitchFamily="34" charset="0"/>
                      </a:endParaRPr>
                    </a:p>
                    <a:p>
                      <a:pPr marL="0" indent="0">
                        <a:buFont typeface="Arial" panose="020B0604020202020204" pitchFamily="34" charset="0"/>
                        <a:buNone/>
                      </a:pPr>
                      <a:endParaRPr lang="en-US" sz="1200">
                        <a:latin typeface="+mn-lt"/>
                        <a:cs typeface="Arial" panose="020B0604020202020204" pitchFamily="34" charset="0"/>
                      </a:endParaRPr>
                    </a:p>
                    <a:p>
                      <a:pPr marL="0" indent="0">
                        <a:buFont typeface="Arial" panose="020B0604020202020204" pitchFamily="34" charset="0"/>
                        <a:buNone/>
                      </a:pPr>
                      <a:endParaRPr lang="en-US" sz="1200">
                        <a:latin typeface="+mn-lt"/>
                        <a:cs typeface="Arial" panose="020B0604020202020204" pitchFamily="34" charset="0"/>
                      </a:endParaRPr>
                    </a:p>
                    <a:p>
                      <a:pPr marL="171450" marR="0" indent="-171450">
                        <a:lnSpc>
                          <a:spcPct val="115000"/>
                        </a:lnSpc>
                        <a:spcAft>
                          <a:spcPts val="0"/>
                        </a:spcAft>
                        <a:buFont typeface="Arial" panose="020B0604020202020204" pitchFamily="34" charset="0"/>
                        <a:buChar char="•"/>
                      </a:pPr>
                      <a:endParaRPr lang="en-US" sz="120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Frees the HRD team from tedious administrative data-chasing so they can focus on strategic talent development and curriculum planning.</a:t>
                      </a:r>
                    </a:p>
                    <a:p>
                      <a:pPr marL="171450" indent="-171450">
                        <a:buFont typeface="Arial" panose="020B0604020202020204" pitchFamily="34" charset="0"/>
                        <a:buChar char="•"/>
                      </a:pPr>
                      <a:r>
                        <a:rPr lang="en-US" sz="1200" b="0">
                          <a:latin typeface="+mn-lt"/>
                          <a:cs typeface="Arial" panose="020B0604020202020204" pitchFamily="34" charset="0"/>
                        </a:rPr>
                        <a:t>Real-Time Visibility for overall training effectiveness for employee and management</a:t>
                      </a:r>
                      <a:r>
                        <a:rPr lang="en-US" sz="1200">
                          <a:latin typeface="+mn-lt"/>
                          <a:cs typeface="Arial" panose="020B0604020202020204" pitchFamily="34" charset="0"/>
                        </a:rPr>
                        <a:t>.</a:t>
                      </a:r>
                    </a:p>
                    <a:p>
                      <a:pPr marL="171450" indent="-171450">
                        <a:buFont typeface="Arial" panose="020B0604020202020204" pitchFamily="34" charset="0"/>
                        <a:buChar char="•"/>
                      </a:pPr>
                      <a:r>
                        <a:rPr lang="en-US" sz="1200">
                          <a:latin typeface="+mn-lt"/>
                          <a:cs typeface="Arial" panose="020B0604020202020204" pitchFamily="34" charset="0"/>
                        </a:rPr>
                        <a:t>Provides a self-service portal where employees can proactively view their development plans, request training, and track their own progress.</a:t>
                      </a:r>
                    </a:p>
                    <a:p>
                      <a:pPr marL="171450" indent="-171450">
                        <a:buFont typeface="Arial" panose="020B0604020202020204" pitchFamily="34" charset="0"/>
                        <a:buChar char="•"/>
                      </a:pPr>
                      <a:r>
                        <a:rPr lang="en-US" sz="1200" b="0">
                          <a:latin typeface="+mn-lt"/>
                          <a:cs typeface="Arial" panose="020B0604020202020204" pitchFamily="34" charset="0"/>
                        </a:rPr>
                        <a:t>Data-Driven Decisions for company based on documented performance need and organizational goals</a:t>
                      </a:r>
                    </a:p>
                  </a:txBody>
                  <a:tcPr marL="68580" marR="68580" marT="0" marB="0"/>
                </a:tc>
                <a:extLst>
                  <a:ext uri="{0D108BD9-81ED-4DB2-BD59-A6C34878D82A}">
                    <a16:rowId xmlns:a16="http://schemas.microsoft.com/office/drawing/2014/main" val="1120366538"/>
                  </a:ext>
                </a:extLst>
              </a:tr>
            </a:tbl>
          </a:graphicData>
        </a:graphic>
      </p:graphicFrame>
      <p:sp>
        <p:nvSpPr>
          <p:cNvPr id="3" name="TextBox 2">
            <a:extLst>
              <a:ext uri="{FF2B5EF4-FFF2-40B4-BE49-F238E27FC236}">
                <a16:creationId xmlns:a16="http://schemas.microsoft.com/office/drawing/2014/main" id="{13A59692-1DFC-AA95-4EF2-9BB1848F30DC}"/>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III. Training Management</a:t>
            </a:r>
          </a:p>
        </p:txBody>
      </p:sp>
    </p:spTree>
    <p:extLst>
      <p:ext uri="{BB962C8B-B14F-4D97-AF65-F5344CB8AC3E}">
        <p14:creationId xmlns:p14="http://schemas.microsoft.com/office/powerpoint/2010/main" val="922300803"/>
      </p:ext>
    </p:extLst>
  </p:cSld>
  <p:clrMapOvr>
    <a:masterClrMapping/>
  </p:clrMapOvr>
  <p:extLst>
    <p:ext uri="{6950BFC3-D8DA-4A85-94F7-54DA5524770B}">
      <p188:commentRel xmlns:p188="http://schemas.microsoft.com/office/powerpoint/2018/8/main" r:id="rId2"/>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DE2C-F426-66D5-B1C8-D6EF9C4BE4B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64ABBDC-07F7-C721-DC04-4269E43B0422}"/>
              </a:ext>
            </a:extLst>
          </p:cNvPr>
          <p:cNvSpPr>
            <a:spLocks noGrp="1"/>
          </p:cNvSpPr>
          <p:nvPr>
            <p:ph type="sldNum" sz="quarter" idx="12"/>
          </p:nvPr>
        </p:nvSpPr>
        <p:spPr/>
        <p:txBody>
          <a:bodyPr/>
          <a:lstStyle/>
          <a:p>
            <a:r>
              <a:rPr lang="en-GB"/>
              <a:t> Page </a:t>
            </a:r>
            <a:fld id="{7A555EF9-59E7-4D74-815B-7A20869232EE}" type="slidenum">
              <a:rPr lang="en-GB" smtClean="0"/>
              <a:pPr/>
              <a:t>49</a:t>
            </a:fld>
            <a:endParaRPr lang="en-GB"/>
          </a:p>
        </p:txBody>
      </p:sp>
      <p:sp>
        <p:nvSpPr>
          <p:cNvPr id="7" name="Footer Placeholder 4">
            <a:extLst>
              <a:ext uri="{FF2B5EF4-FFF2-40B4-BE49-F238E27FC236}">
                <a16:creationId xmlns:a16="http://schemas.microsoft.com/office/drawing/2014/main" id="{CB096A1A-5019-D6D3-56F7-A9ECB0BFA016}"/>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2" name="Table 1">
            <a:extLst>
              <a:ext uri="{FF2B5EF4-FFF2-40B4-BE49-F238E27FC236}">
                <a16:creationId xmlns:a16="http://schemas.microsoft.com/office/drawing/2014/main" id="{78AD4492-4A2F-8994-4411-2E19B2361755}"/>
              </a:ext>
            </a:extLst>
          </p:cNvPr>
          <p:cNvGraphicFramePr>
            <a:graphicFrameLocks noGrp="1"/>
          </p:cNvGraphicFramePr>
          <p:nvPr>
            <p:extLst>
              <p:ext uri="{D42A27DB-BD31-4B8C-83A1-F6EECF244321}">
                <p14:modId xmlns:p14="http://schemas.microsoft.com/office/powerpoint/2010/main" val="2051167221"/>
              </p:ext>
            </p:extLst>
          </p:nvPr>
        </p:nvGraphicFramePr>
        <p:xfrm>
          <a:off x="812155" y="1275099"/>
          <a:ext cx="8765253" cy="3296920"/>
        </p:xfrm>
        <a:graphic>
          <a:graphicData uri="http://schemas.openxmlformats.org/drawingml/2006/table">
            <a:tbl>
              <a:tblPr firstRow="1" bandRow="1">
                <a:tableStyleId>{5C22544A-7EE6-4342-B048-85BDC9FD1C3A}</a:tableStyleId>
              </a:tblPr>
              <a:tblGrid>
                <a:gridCol w="1682190">
                  <a:extLst>
                    <a:ext uri="{9D8B030D-6E8A-4147-A177-3AD203B41FA5}">
                      <a16:colId xmlns:a16="http://schemas.microsoft.com/office/drawing/2014/main" val="39164821"/>
                    </a:ext>
                  </a:extLst>
                </a:gridCol>
                <a:gridCol w="2354835">
                  <a:extLst>
                    <a:ext uri="{9D8B030D-6E8A-4147-A177-3AD203B41FA5}">
                      <a16:colId xmlns:a16="http://schemas.microsoft.com/office/drawing/2014/main" val="1113904390"/>
                    </a:ext>
                  </a:extLst>
                </a:gridCol>
                <a:gridCol w="2364114">
                  <a:extLst>
                    <a:ext uri="{9D8B030D-6E8A-4147-A177-3AD203B41FA5}">
                      <a16:colId xmlns:a16="http://schemas.microsoft.com/office/drawing/2014/main" val="3929712902"/>
                    </a:ext>
                  </a:extLst>
                </a:gridCol>
                <a:gridCol w="2364114">
                  <a:extLst>
                    <a:ext uri="{9D8B030D-6E8A-4147-A177-3AD203B41FA5}">
                      <a16:colId xmlns:a16="http://schemas.microsoft.com/office/drawing/2014/main" val="711725237"/>
                    </a:ext>
                  </a:extLst>
                </a:gridCol>
              </a:tblGrid>
              <a:tr h="370840">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546604770"/>
                  </a:ext>
                </a:extLst>
              </a:tr>
              <a:tr h="0">
                <a:tc>
                  <a:txBody>
                    <a:bodyPr/>
                    <a:lstStyle/>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Manpower Planning</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Department heads request new staff through informal channels (emails, chats, paper forms), making it difficult to consolidate and track company-wide needs.</a:t>
                      </a:r>
                    </a:p>
                    <a:p>
                      <a:pPr marL="171450" indent="-171450">
                        <a:buFont typeface="Arial" panose="020B0604020202020204" pitchFamily="34" charset="0"/>
                        <a:buChar char="•"/>
                      </a:pPr>
                      <a:r>
                        <a:rPr lang="en-US" sz="1200">
                          <a:latin typeface="+mn-lt"/>
                          <a:cs typeface="Arial" panose="020B0604020202020204" pitchFamily="34" charset="0"/>
                        </a:rPr>
                        <a:t>Without a forward-looking plan, the HR team is stuck scrambling to backfill roles only after someone resigns, leading to prolonged vacancies.</a:t>
                      </a:r>
                    </a:p>
                    <a:p>
                      <a:pPr marL="171450" indent="-171450">
                        <a:buFont typeface="Arial" panose="020B0604020202020204" pitchFamily="34" charset="0"/>
                        <a:buChar char="•"/>
                      </a:pPr>
                      <a:r>
                        <a:rPr lang="en-US" sz="1200">
                          <a:latin typeface="+mn-lt"/>
                          <a:cs typeface="Arial" panose="020B0604020202020204" pitchFamily="34" charset="0"/>
                        </a:rPr>
                        <a:t>Difficult to instantly visualize which departments are understaffed, overstaffed, or experiencing high turnover.</a:t>
                      </a:r>
                    </a:p>
                    <a:p>
                      <a:pPr marL="0" indent="0">
                        <a:buFont typeface="Arial" panose="020B0604020202020204" pitchFamily="34" charset="0"/>
                        <a:buNone/>
                      </a:pPr>
                      <a:endParaRPr lang="en-US" sz="1200">
                        <a:latin typeface="+mn-lt"/>
                        <a:cs typeface="Arial" panose="020B0604020202020204" pitchFamily="34" charset="0"/>
                      </a:endParaRP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Standardized MPP request workflow, system-based forms for managers to submit annual or ad-hoc headcount requests, complete with justification fields and automated approval routing.</a:t>
                      </a:r>
                    </a:p>
                    <a:p>
                      <a:pPr marL="171450" indent="-171450">
                        <a:buFont typeface="Arial" panose="020B0604020202020204" pitchFamily="34" charset="0"/>
                        <a:buChar char="•"/>
                      </a:pPr>
                      <a:r>
                        <a:rPr lang="en-US" sz="1200">
                          <a:latin typeface="+mn-lt"/>
                          <a:cs typeface="Arial" panose="020B0604020202020204" pitchFamily="34" charset="0"/>
                        </a:rPr>
                        <a:t>Stores historical turnover and hiring data to help departments forecast future manpower needs more accurately.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cs typeface="Arial" panose="020B0604020202020204" pitchFamily="34" charset="0"/>
                        </a:rPr>
                        <a:t>A centralized view that automatically compares current active employees against the approved manpower plan for the year.</a:t>
                      </a:r>
                    </a:p>
                    <a:p>
                      <a:endParaRPr lang="en-US" sz="1200" b="1" i="0" kern="1200">
                        <a:solidFill>
                          <a:schemeClr val="dk1"/>
                        </a:solidFill>
                        <a:effectLst/>
                        <a:latin typeface="+mn-lt"/>
                        <a:ea typeface="+mn-ea"/>
                        <a:cs typeface="+mn-cs"/>
                      </a:endParaRPr>
                    </a:p>
                  </a:txBody>
                  <a:tcPr marL="68580" marR="68580" marT="0" marB="0"/>
                </a:tc>
                <a:tc>
                  <a:txBody>
                    <a:bodyPr/>
                    <a:lstStyle/>
                    <a:p>
                      <a:pPr marL="171450" indent="-171450">
                        <a:buFont typeface="Arial" panose="020B0604020202020204" pitchFamily="34" charset="0"/>
                        <a:buChar char="•"/>
                      </a:pPr>
                      <a:r>
                        <a:rPr lang="en-US" sz="1200" b="0">
                          <a:latin typeface="+mn-lt"/>
                          <a:cs typeface="Arial" panose="020B0604020202020204" pitchFamily="34" charset="0"/>
                        </a:rPr>
                        <a:t>Single Source of Truth</a:t>
                      </a:r>
                      <a:r>
                        <a:rPr lang="en-US" sz="1200" b="1">
                          <a:latin typeface="+mn-lt"/>
                          <a:cs typeface="Arial" panose="020B0604020202020204" pitchFamily="34" charset="0"/>
                        </a:rPr>
                        <a:t> - </a:t>
                      </a:r>
                      <a:r>
                        <a:rPr lang="en-US" sz="1200">
                          <a:latin typeface="+mn-lt"/>
                          <a:cs typeface="Arial" panose="020B0604020202020204" pitchFamily="34" charset="0"/>
                        </a:rPr>
                        <a:t> Eliminates messy spreadsheets and ensures HR, Management, and Department Heads are all looking at the exact same data.</a:t>
                      </a:r>
                    </a:p>
                    <a:p>
                      <a:pPr marL="171450" indent="-171450">
                        <a:buFont typeface="Arial" panose="020B0604020202020204" pitchFamily="34" charset="0"/>
                        <a:buChar char="•"/>
                      </a:pPr>
                      <a:r>
                        <a:rPr lang="en-US" sz="1200">
                          <a:latin typeface="+mn-lt"/>
                          <a:cs typeface="Arial" panose="020B0604020202020204" pitchFamily="34" charset="0"/>
                        </a:rPr>
                        <a:t>Prevents accidental over-hiring and ensures critical departments have the exact headcount they need to meet targets.</a:t>
                      </a:r>
                    </a:p>
                    <a:p>
                      <a:pPr marL="171450" indent="-171450">
                        <a:buFont typeface="Arial" panose="020B0604020202020204" pitchFamily="34" charset="0"/>
                        <a:buChar char="•"/>
                      </a:pPr>
                      <a:r>
                        <a:rPr lang="en-US" sz="1200">
                          <a:latin typeface="+mn-lt"/>
                          <a:cs typeface="Arial" panose="020B0604020202020204" pitchFamily="34" charset="0"/>
                        </a:rPr>
                        <a:t>Allows management to quickly adjust manpower plans system-wide if business goals or structures change mid-year.</a:t>
                      </a:r>
                    </a:p>
                    <a:p>
                      <a:pPr marL="0" marR="0" indent="0">
                        <a:lnSpc>
                          <a:spcPct val="115000"/>
                        </a:lnSpc>
                        <a:spcAft>
                          <a:spcPts val="0"/>
                        </a:spcAft>
                        <a:buFont typeface="Arial" panose="020B0604020202020204" pitchFamily="34" charset="0"/>
                        <a:buNone/>
                      </a:pPr>
                      <a:endParaRPr lang="en-US" sz="1200" kern="100">
                        <a:effectLst/>
                        <a:latin typeface="+mn-lt"/>
                        <a:ea typeface="DengXian" panose="02010600030101010101" pitchFamily="2" charset="-122"/>
                        <a:cs typeface="Arial" panose="020B0604020202020204" pitchFamily="34" charset="0"/>
                      </a:endParaRPr>
                    </a:p>
                    <a:p>
                      <a:pPr marL="0" marR="0" indent="0">
                        <a:lnSpc>
                          <a:spcPct val="115000"/>
                        </a:lnSpc>
                        <a:spcAft>
                          <a:spcPts val="0"/>
                        </a:spcAft>
                        <a:buFont typeface="Arial" panose="020B0604020202020204" pitchFamily="34" charset="0"/>
                        <a:buNone/>
                      </a:pPr>
                      <a:endParaRPr lang="en-US" sz="1200" i="1" kern="100">
                        <a:effectLst/>
                        <a:highlight>
                          <a:srgbClr val="FFFF00"/>
                        </a:highlight>
                        <a:latin typeface="+mn-lt"/>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120366538"/>
                  </a:ext>
                </a:extLst>
              </a:tr>
            </a:tbl>
          </a:graphicData>
        </a:graphic>
      </p:graphicFrame>
      <p:sp>
        <p:nvSpPr>
          <p:cNvPr id="3" name="TextBox 2">
            <a:extLst>
              <a:ext uri="{FF2B5EF4-FFF2-40B4-BE49-F238E27FC236}">
                <a16:creationId xmlns:a16="http://schemas.microsoft.com/office/drawing/2014/main" id="{5128BE59-2764-1227-57CF-27E6DA070CD7}"/>
              </a:ext>
            </a:extLst>
          </p:cNvPr>
          <p:cNvSpPr txBox="1"/>
          <p:nvPr/>
        </p:nvSpPr>
        <p:spPr>
          <a:xfrm>
            <a:off x="812155" y="6606404"/>
            <a:ext cx="8656396" cy="307777"/>
          </a:xfrm>
          <a:prstGeom prst="rect">
            <a:avLst/>
          </a:prstGeom>
          <a:noFill/>
        </p:spPr>
        <p:txBody>
          <a:bodyPr wrap="square">
            <a:spAutoFit/>
          </a:bodyPr>
          <a:lstStyle/>
          <a:p>
            <a:pPr algn="just"/>
            <a:r>
              <a:rPr lang="en-US" sz="1400" i="1"/>
              <a:t>*) Detail Requirement provided in Appendix.</a:t>
            </a:r>
            <a:endParaRPr lang="en-US" sz="1100" b="1" i="1"/>
          </a:p>
        </p:txBody>
      </p:sp>
      <p:sp>
        <p:nvSpPr>
          <p:cNvPr id="4" name="Title 24">
            <a:extLst>
              <a:ext uri="{FF2B5EF4-FFF2-40B4-BE49-F238E27FC236}">
                <a16:creationId xmlns:a16="http://schemas.microsoft.com/office/drawing/2014/main" id="{2D10BDE6-7DEE-3032-6248-7BBE23A3BB83}"/>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 Pain Point &amp; Propose Solution Details</a:t>
            </a:r>
            <a:endParaRPr lang="en-US">
              <a:latin typeface="Helvetica Neue" panose="02000503000000020004"/>
            </a:endParaRPr>
          </a:p>
        </p:txBody>
      </p:sp>
      <p:sp>
        <p:nvSpPr>
          <p:cNvPr id="5" name="TextBox 4">
            <a:extLst>
              <a:ext uri="{FF2B5EF4-FFF2-40B4-BE49-F238E27FC236}">
                <a16:creationId xmlns:a16="http://schemas.microsoft.com/office/drawing/2014/main" id="{F53C8A68-723F-0969-3137-A123D51D9B4D}"/>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IV. Manpower Planning</a:t>
            </a:r>
          </a:p>
        </p:txBody>
      </p:sp>
    </p:spTree>
    <p:extLst>
      <p:ext uri="{BB962C8B-B14F-4D97-AF65-F5344CB8AC3E}">
        <p14:creationId xmlns:p14="http://schemas.microsoft.com/office/powerpoint/2010/main" val="3323892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CA255-B07C-C44C-C530-A571794A012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ADCADA7-E6B7-9165-1BB2-E0EBE924565B}"/>
              </a:ext>
            </a:extLst>
          </p:cNvPr>
          <p:cNvSpPr>
            <a:spLocks noGrp="1"/>
          </p:cNvSpPr>
          <p:nvPr>
            <p:ph type="sldNum" sz="quarter" idx="12"/>
          </p:nvPr>
        </p:nvSpPr>
        <p:spPr/>
        <p:txBody>
          <a:bodyPr/>
          <a:lstStyle/>
          <a:p>
            <a:r>
              <a:rPr lang="en-GB"/>
              <a:t> Page </a:t>
            </a:r>
            <a:fld id="{7A555EF9-59E7-4D74-815B-7A20869232EE}" type="slidenum">
              <a:rPr lang="en-GB" smtClean="0"/>
              <a:pPr/>
              <a:t>50</a:t>
            </a:fld>
            <a:endParaRPr lang="en-GB"/>
          </a:p>
        </p:txBody>
      </p:sp>
      <p:sp>
        <p:nvSpPr>
          <p:cNvPr id="7" name="Footer Placeholder 4">
            <a:extLst>
              <a:ext uri="{FF2B5EF4-FFF2-40B4-BE49-F238E27FC236}">
                <a16:creationId xmlns:a16="http://schemas.microsoft.com/office/drawing/2014/main" id="{6412464B-E132-F7C4-7084-F1D3F04D41E5}"/>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2" name="Table 1">
            <a:extLst>
              <a:ext uri="{FF2B5EF4-FFF2-40B4-BE49-F238E27FC236}">
                <a16:creationId xmlns:a16="http://schemas.microsoft.com/office/drawing/2014/main" id="{A70439CE-696F-7E23-6578-6F1F69E2B341}"/>
              </a:ext>
            </a:extLst>
          </p:cNvPr>
          <p:cNvGraphicFramePr>
            <a:graphicFrameLocks noGrp="1"/>
          </p:cNvGraphicFramePr>
          <p:nvPr>
            <p:extLst>
              <p:ext uri="{D42A27DB-BD31-4B8C-83A1-F6EECF244321}">
                <p14:modId xmlns:p14="http://schemas.microsoft.com/office/powerpoint/2010/main" val="3762473935"/>
              </p:ext>
            </p:extLst>
          </p:nvPr>
        </p:nvGraphicFramePr>
        <p:xfrm>
          <a:off x="812155" y="1275099"/>
          <a:ext cx="8765253" cy="4262057"/>
        </p:xfrm>
        <a:graphic>
          <a:graphicData uri="http://schemas.openxmlformats.org/drawingml/2006/table">
            <a:tbl>
              <a:tblPr firstRow="1" bandRow="1">
                <a:tableStyleId>{5C22544A-7EE6-4342-B048-85BDC9FD1C3A}</a:tableStyleId>
              </a:tblPr>
              <a:tblGrid>
                <a:gridCol w="1682190">
                  <a:extLst>
                    <a:ext uri="{9D8B030D-6E8A-4147-A177-3AD203B41FA5}">
                      <a16:colId xmlns:a16="http://schemas.microsoft.com/office/drawing/2014/main" val="39164821"/>
                    </a:ext>
                  </a:extLst>
                </a:gridCol>
                <a:gridCol w="2354835">
                  <a:extLst>
                    <a:ext uri="{9D8B030D-6E8A-4147-A177-3AD203B41FA5}">
                      <a16:colId xmlns:a16="http://schemas.microsoft.com/office/drawing/2014/main" val="1113904390"/>
                    </a:ext>
                  </a:extLst>
                </a:gridCol>
                <a:gridCol w="2364114">
                  <a:extLst>
                    <a:ext uri="{9D8B030D-6E8A-4147-A177-3AD203B41FA5}">
                      <a16:colId xmlns:a16="http://schemas.microsoft.com/office/drawing/2014/main" val="3929712902"/>
                    </a:ext>
                  </a:extLst>
                </a:gridCol>
                <a:gridCol w="2364114">
                  <a:extLst>
                    <a:ext uri="{9D8B030D-6E8A-4147-A177-3AD203B41FA5}">
                      <a16:colId xmlns:a16="http://schemas.microsoft.com/office/drawing/2014/main" val="711725237"/>
                    </a:ext>
                  </a:extLst>
                </a:gridCol>
              </a:tblGrid>
              <a:tr h="370840">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546604770"/>
                  </a:ext>
                </a:extLst>
              </a:tr>
              <a:tr h="0">
                <a:tc>
                  <a:txBody>
                    <a:bodyPr/>
                    <a:lstStyle/>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endParaRPr lang="en-US" sz="1200" b="1" kern="100">
                        <a:effectLst/>
                        <a:latin typeface="+mn-lt"/>
                        <a:ea typeface="DengXian" panose="02010600030101010101" pitchFamily="2" charset="-122"/>
                        <a:cs typeface="Arial" panose="020B0604020202020204" pitchFamily="34" charset="0"/>
                      </a:endParaRPr>
                    </a:p>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Job Profiling</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Without a centralized system, job postings can end up with mismatched fonts, layouts, or branding on the public-facing site.</a:t>
                      </a:r>
                    </a:p>
                    <a:p>
                      <a:pPr marL="171450" indent="-171450">
                        <a:buFont typeface="Arial" panose="020B0604020202020204" pitchFamily="34" charset="0"/>
                        <a:buChar char="•"/>
                      </a:pPr>
                      <a:r>
                        <a:rPr lang="en-US" sz="1200">
                          <a:latin typeface="+mn-lt"/>
                          <a:cs typeface="Arial" panose="020B0604020202020204" pitchFamily="34" charset="0"/>
                        </a:rPr>
                        <a:t>Manually tracking when to take down filled or expired roles is difficult, often leaving outdated jobs on the website and confusing candidates.</a:t>
                      </a:r>
                    </a:p>
                    <a:p>
                      <a:pPr marL="171450" indent="-171450">
                        <a:buFont typeface="Arial" panose="020B0604020202020204" pitchFamily="34" charset="0"/>
                        <a:buChar char="•"/>
                      </a:pPr>
                      <a:endParaRPr lang="en-US" sz="1200">
                        <a:latin typeface="+mn-lt"/>
                        <a:cs typeface="Arial" panose="020B0604020202020204" pitchFamily="34" charset="0"/>
                      </a:endParaRP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Pre-configured posting templates ensure every public-facing job ad automatically aligns with corporate branding guidelines.</a:t>
                      </a:r>
                    </a:p>
                    <a:p>
                      <a:pPr marL="171450" indent="-171450">
                        <a:buFont typeface="Arial" panose="020B0604020202020204" pitchFamily="34" charset="0"/>
                        <a:buChar char="•"/>
                      </a:pPr>
                      <a:r>
                        <a:rPr lang="en-US" sz="1200">
                          <a:latin typeface="+mn-lt"/>
                          <a:cs typeface="Arial" panose="020B0604020202020204" pitchFamily="34" charset="0"/>
                        </a:rPr>
                        <a:t>Features to schedule a post to go live on a specific date and automatically take it down once the application deadline passes or the quota is filled.</a:t>
                      </a:r>
                    </a:p>
                    <a:p>
                      <a:pPr marL="0" marR="0" indent="0">
                        <a:lnSpc>
                          <a:spcPct val="115000"/>
                        </a:lnSpc>
                        <a:spcAft>
                          <a:spcPts val="0"/>
                        </a:spcAft>
                        <a:buFont typeface="Arial" panose="020B0604020202020204" pitchFamily="34" charset="0"/>
                        <a:buNone/>
                      </a:pPr>
                      <a:endParaRPr lang="en-US" sz="1200" kern="100">
                        <a:effectLst/>
                        <a:latin typeface="+mn-lt"/>
                        <a:ea typeface="DengXian" panose="02010600030101010101" pitchFamily="2" charset="-122"/>
                        <a:cs typeface="Arial" panose="020B0604020202020204" pitchFamily="34" charset="0"/>
                      </a:endParaRPr>
                    </a:p>
                  </a:txBody>
                  <a:tcPr marL="68580" marR="68580" marT="0" marB="0"/>
                </a:tc>
                <a:tc>
                  <a:txBody>
                    <a:bodyPr/>
                    <a:lstStyle/>
                    <a:p>
                      <a:pPr marL="171450" indent="-171450">
                        <a:buFont typeface="Arial" panose="020B0604020202020204" pitchFamily="34" charset="0"/>
                        <a:buChar char="•"/>
                      </a:pPr>
                      <a:r>
                        <a:rPr lang="en-US" sz="1200" b="0">
                          <a:latin typeface="+mn-lt"/>
                          <a:cs typeface="Arial" panose="020B0604020202020204" pitchFamily="34" charset="0"/>
                        </a:rPr>
                        <a:t>Guaranteed Brand Consistency -</a:t>
                      </a:r>
                      <a:r>
                        <a:rPr lang="en-US" sz="1200">
                          <a:latin typeface="+mn-lt"/>
                          <a:cs typeface="Arial" panose="020B0604020202020204" pitchFamily="34" charset="0"/>
                        </a:rPr>
                        <a:t> Ensures a highly professional, uniform look for all open roles, strengthening the employer brand.</a:t>
                      </a:r>
                    </a:p>
                    <a:p>
                      <a:pPr marL="171450" indent="-171450">
                        <a:buFont typeface="Arial" panose="020B0604020202020204" pitchFamily="34" charset="0"/>
                        <a:buChar char="•"/>
                      </a:pPr>
                      <a:r>
                        <a:rPr lang="en-US" sz="1200">
                          <a:latin typeface="+mn-lt"/>
                          <a:cs typeface="Arial" panose="020B0604020202020204" pitchFamily="34" charset="0"/>
                        </a:rPr>
                        <a:t>Automated takedowns guarantee that the public site is always up-to-date, improving the experience for potential applicants.</a:t>
                      </a:r>
                    </a:p>
                    <a:p>
                      <a:pPr marL="171450" indent="-171450">
                        <a:buFont typeface="Arial" panose="020B0604020202020204" pitchFamily="34" charset="0"/>
                        <a:buChar char="•"/>
                      </a:pPr>
                      <a:endParaRPr lang="en-US" sz="1200">
                        <a:latin typeface="+mn-lt"/>
                        <a:cs typeface="Arial" panose="020B0604020202020204" pitchFamily="34" charset="0"/>
                      </a:endParaRPr>
                    </a:p>
                  </a:txBody>
                  <a:tcPr marL="68580" marR="68580" marT="0" marB="0"/>
                </a:tc>
                <a:extLst>
                  <a:ext uri="{0D108BD9-81ED-4DB2-BD59-A6C34878D82A}">
                    <a16:rowId xmlns:a16="http://schemas.microsoft.com/office/drawing/2014/main" val="1120366538"/>
                  </a:ext>
                </a:extLst>
              </a:tr>
              <a:tr h="0">
                <a:tc>
                  <a:txBody>
                    <a:bodyPr/>
                    <a:lstStyle/>
                    <a:p>
                      <a:pPr marL="0" marR="0" algn="ctr">
                        <a:lnSpc>
                          <a:spcPct val="114000"/>
                        </a:lnSpc>
                        <a:spcAft>
                          <a:spcPts val="0"/>
                        </a:spcAft>
                        <a:buNone/>
                      </a:pPr>
                      <a:r>
                        <a:rPr lang="en-US" sz="1200" b="1" kern="100">
                          <a:effectLst/>
                          <a:latin typeface="+mn-lt"/>
                          <a:ea typeface="DengXian" panose="02010600030101010101" pitchFamily="2" charset="-122"/>
                          <a:cs typeface="Arial" panose="020B0604020202020204" pitchFamily="34" charset="0"/>
                        </a:rPr>
                        <a:t>Recruitment</a:t>
                      </a:r>
                    </a:p>
                  </a:txBody>
                  <a:tcPr marL="68580" marR="68580" marT="0" marB="0" anchor="ctr"/>
                </a:tc>
                <a:tc>
                  <a:txBody>
                    <a:bodyPr/>
                    <a:lstStyle/>
                    <a:p>
                      <a:pPr marL="171450" indent="-171450">
                        <a:lnSpc>
                          <a:spcPct val="114000"/>
                        </a:lnSpc>
                        <a:buFont typeface="Arial" panose="020B0604020202020204" pitchFamily="34" charset="0"/>
                        <a:buChar char="•"/>
                      </a:pPr>
                      <a:r>
                        <a:rPr lang="en-US" sz="1200">
                          <a:latin typeface="+mn-lt"/>
                          <a:cs typeface="Arial" panose="020B0604020202020204" pitchFamily="34" charset="0"/>
                        </a:rPr>
                        <a:t>Disconnected candidate data sources that impacted to potential candidates’ loss</a:t>
                      </a:r>
                    </a:p>
                    <a:p>
                      <a:pPr marL="171450" indent="-171450">
                        <a:lnSpc>
                          <a:spcPct val="114000"/>
                        </a:lnSpc>
                        <a:buFont typeface="Arial" panose="020B0604020202020204" pitchFamily="34" charset="0"/>
                        <a:buChar char="•"/>
                      </a:pPr>
                      <a:r>
                        <a:rPr lang="en-US" sz="1200">
                          <a:latin typeface="+mn-lt"/>
                          <a:cs typeface="Arial" panose="020B0604020202020204" pitchFamily="34" charset="0"/>
                        </a:rPr>
                        <a:t>Disintegrated recruitment process with other modules in HRIS System</a:t>
                      </a:r>
                    </a:p>
                    <a:p>
                      <a:pPr marL="171450" indent="-171450">
                        <a:lnSpc>
                          <a:spcPct val="114000"/>
                        </a:lnSpc>
                        <a:buFont typeface="Arial" panose="020B0604020202020204" pitchFamily="34" charset="0"/>
                        <a:buChar char="•"/>
                      </a:pPr>
                      <a:r>
                        <a:rPr lang="en-US" sz="1200">
                          <a:latin typeface="+mn-lt"/>
                          <a:cs typeface="Arial" panose="020B0604020202020204" pitchFamily="34" charset="0"/>
                        </a:rPr>
                        <a:t>Not meet with PDP and company compliance policy.</a:t>
                      </a:r>
                    </a:p>
                    <a:p>
                      <a:pPr marL="0" indent="0">
                        <a:lnSpc>
                          <a:spcPct val="114000"/>
                        </a:lnSpc>
                        <a:buFont typeface="Arial" panose="020B0604020202020204" pitchFamily="34" charset="0"/>
                        <a:buNone/>
                      </a:pPr>
                      <a:endParaRPr lang="en-US" sz="1200">
                        <a:latin typeface="+mn-lt"/>
                        <a:cs typeface="Arial" panose="020B0604020202020204" pitchFamily="34" charset="0"/>
                      </a:endParaRPr>
                    </a:p>
                  </a:txBody>
                  <a:tcPr marL="68580" marR="68580" marT="0" marB="0"/>
                </a:tc>
                <a:tc>
                  <a:txBody>
                    <a:bodyPr/>
                    <a:lstStyle/>
                    <a:p>
                      <a:pPr marL="0" marR="0" indent="0">
                        <a:lnSpc>
                          <a:spcPct val="114000"/>
                        </a:lnSpc>
                        <a:spcAft>
                          <a:spcPts val="0"/>
                        </a:spcAft>
                        <a:buFont typeface="Arial" panose="020B0604020202020204" pitchFamily="34" charset="0"/>
                        <a:buNone/>
                      </a:pPr>
                      <a:r>
                        <a:rPr lang="en-US" sz="1200" kern="100">
                          <a:effectLst/>
                          <a:latin typeface="+mn-lt"/>
                          <a:ea typeface="DengXian" panose="02010600030101010101" pitchFamily="2" charset="-122"/>
                          <a:cs typeface="Arial" panose="020B0604020202020204" pitchFamily="34" charset="0"/>
                        </a:rPr>
                        <a:t>Implement an </a:t>
                      </a:r>
                      <a:r>
                        <a:rPr lang="en-US" sz="1200" b="1" kern="100">
                          <a:effectLst/>
                          <a:latin typeface="+mn-lt"/>
                          <a:ea typeface="DengXian" panose="02010600030101010101" pitchFamily="2" charset="-122"/>
                          <a:cs typeface="Arial" panose="020B0604020202020204" pitchFamily="34" charset="0"/>
                        </a:rPr>
                        <a:t>integrated recruitment management system</a:t>
                      </a:r>
                      <a:r>
                        <a:rPr lang="en-US" sz="1200" kern="100">
                          <a:effectLst/>
                          <a:latin typeface="+mn-lt"/>
                          <a:ea typeface="DengXian" panose="02010600030101010101" pitchFamily="2" charset="-122"/>
                          <a:cs typeface="Arial" panose="020B0604020202020204" pitchFamily="34" charset="0"/>
                        </a:rPr>
                        <a:t> that end-to-end hiring process with centralized and real time visibility related to all recruitment data on single platform</a:t>
                      </a:r>
                    </a:p>
                  </a:txBody>
                  <a:tcPr marL="68580" marR="68580" marT="0" marB="0"/>
                </a:tc>
                <a:tc>
                  <a:txBody>
                    <a:bodyPr/>
                    <a:lstStyle/>
                    <a:p>
                      <a:pPr marL="0" marR="0" lvl="0" indent="0">
                        <a:lnSpc>
                          <a:spcPct val="114000"/>
                        </a:lnSpc>
                        <a:spcAft>
                          <a:spcPts val="0"/>
                        </a:spcAft>
                        <a:buNone/>
                      </a:pPr>
                      <a:r>
                        <a:rPr lang="en-US" sz="1200">
                          <a:latin typeface="+mn-lt"/>
                          <a:ea typeface="Calibri"/>
                          <a:cs typeface="Arial" panose="020B0604020202020204" pitchFamily="34" charset="0"/>
                        </a:rPr>
                        <a:t>Cost efficiency in gaining potential candidates to improve collaboration across stakeholder</a:t>
                      </a:r>
                    </a:p>
                  </a:txBody>
                  <a:tcPr marL="68580" marR="68580" marT="0" marB="0"/>
                </a:tc>
                <a:extLst>
                  <a:ext uri="{0D108BD9-81ED-4DB2-BD59-A6C34878D82A}">
                    <a16:rowId xmlns:a16="http://schemas.microsoft.com/office/drawing/2014/main" val="1106950438"/>
                  </a:ext>
                </a:extLst>
              </a:tr>
            </a:tbl>
          </a:graphicData>
        </a:graphic>
      </p:graphicFrame>
      <p:sp>
        <p:nvSpPr>
          <p:cNvPr id="4" name="Title 24">
            <a:extLst>
              <a:ext uri="{FF2B5EF4-FFF2-40B4-BE49-F238E27FC236}">
                <a16:creationId xmlns:a16="http://schemas.microsoft.com/office/drawing/2014/main" id="{623B4203-10BF-F78B-1019-95E0CCB41B11}"/>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 Pain Point &amp; Propose Solution Details</a:t>
            </a:r>
            <a:endParaRPr lang="en-US">
              <a:latin typeface="Helvetica Neue" panose="02000503000000020004"/>
            </a:endParaRPr>
          </a:p>
        </p:txBody>
      </p:sp>
      <p:sp>
        <p:nvSpPr>
          <p:cNvPr id="5" name="TextBox 4">
            <a:extLst>
              <a:ext uri="{FF2B5EF4-FFF2-40B4-BE49-F238E27FC236}">
                <a16:creationId xmlns:a16="http://schemas.microsoft.com/office/drawing/2014/main" id="{40292DF1-C80F-CD10-037A-D8A77A223D24}"/>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V. Job Profiling &amp; Recruitment</a:t>
            </a:r>
          </a:p>
        </p:txBody>
      </p:sp>
    </p:spTree>
    <p:extLst>
      <p:ext uri="{BB962C8B-B14F-4D97-AF65-F5344CB8AC3E}">
        <p14:creationId xmlns:p14="http://schemas.microsoft.com/office/powerpoint/2010/main" val="10676173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8E4F-FE8E-A3BB-39A5-71CAFF2C6A2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913CC23-62C7-E529-ABD0-6F49C5FE4EDA}"/>
              </a:ext>
            </a:extLst>
          </p:cNvPr>
          <p:cNvSpPr>
            <a:spLocks noGrp="1"/>
          </p:cNvSpPr>
          <p:nvPr>
            <p:ph type="sldNum" sz="quarter" idx="12"/>
          </p:nvPr>
        </p:nvSpPr>
        <p:spPr/>
        <p:txBody>
          <a:bodyPr/>
          <a:lstStyle/>
          <a:p>
            <a:r>
              <a:rPr lang="en-GB"/>
              <a:t> Page </a:t>
            </a:r>
            <a:fld id="{7A555EF9-59E7-4D74-815B-7A20869232EE}" type="slidenum">
              <a:rPr lang="en-GB" smtClean="0"/>
              <a:pPr/>
              <a:t>51</a:t>
            </a:fld>
            <a:endParaRPr lang="en-GB"/>
          </a:p>
        </p:txBody>
      </p:sp>
      <p:sp>
        <p:nvSpPr>
          <p:cNvPr id="7" name="Footer Placeholder 4">
            <a:extLst>
              <a:ext uri="{FF2B5EF4-FFF2-40B4-BE49-F238E27FC236}">
                <a16:creationId xmlns:a16="http://schemas.microsoft.com/office/drawing/2014/main" id="{DC096C23-5EB0-DBB4-9CF1-7C4C21E5BDE4}"/>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2" name="Table 1">
            <a:extLst>
              <a:ext uri="{FF2B5EF4-FFF2-40B4-BE49-F238E27FC236}">
                <a16:creationId xmlns:a16="http://schemas.microsoft.com/office/drawing/2014/main" id="{EB1A0636-890C-64DF-ADDB-1D9D1186DDA7}"/>
              </a:ext>
            </a:extLst>
          </p:cNvPr>
          <p:cNvGraphicFramePr>
            <a:graphicFrameLocks noGrp="1"/>
          </p:cNvGraphicFramePr>
          <p:nvPr>
            <p:extLst>
              <p:ext uri="{D42A27DB-BD31-4B8C-83A1-F6EECF244321}">
                <p14:modId xmlns:p14="http://schemas.microsoft.com/office/powerpoint/2010/main" val="3987401851"/>
              </p:ext>
            </p:extLst>
          </p:nvPr>
        </p:nvGraphicFramePr>
        <p:xfrm>
          <a:off x="777747" y="1356131"/>
          <a:ext cx="8765253" cy="2931160"/>
        </p:xfrm>
        <a:graphic>
          <a:graphicData uri="http://schemas.openxmlformats.org/drawingml/2006/table">
            <a:tbl>
              <a:tblPr firstRow="1" bandRow="1">
                <a:tableStyleId>{5C22544A-7EE6-4342-B048-85BDC9FD1C3A}</a:tableStyleId>
              </a:tblPr>
              <a:tblGrid>
                <a:gridCol w="1740545">
                  <a:extLst>
                    <a:ext uri="{9D8B030D-6E8A-4147-A177-3AD203B41FA5}">
                      <a16:colId xmlns:a16="http://schemas.microsoft.com/office/drawing/2014/main" val="39164821"/>
                    </a:ext>
                  </a:extLst>
                </a:gridCol>
                <a:gridCol w="2296480">
                  <a:extLst>
                    <a:ext uri="{9D8B030D-6E8A-4147-A177-3AD203B41FA5}">
                      <a16:colId xmlns:a16="http://schemas.microsoft.com/office/drawing/2014/main" val="1113904390"/>
                    </a:ext>
                  </a:extLst>
                </a:gridCol>
                <a:gridCol w="2364114">
                  <a:extLst>
                    <a:ext uri="{9D8B030D-6E8A-4147-A177-3AD203B41FA5}">
                      <a16:colId xmlns:a16="http://schemas.microsoft.com/office/drawing/2014/main" val="3929712902"/>
                    </a:ext>
                  </a:extLst>
                </a:gridCol>
                <a:gridCol w="2364114">
                  <a:extLst>
                    <a:ext uri="{9D8B030D-6E8A-4147-A177-3AD203B41FA5}">
                      <a16:colId xmlns:a16="http://schemas.microsoft.com/office/drawing/2014/main" val="711725237"/>
                    </a:ext>
                  </a:extLst>
                </a:gridCol>
              </a:tblGrid>
              <a:tr h="370840">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Module</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Pain Point</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b="1" kern="100">
                          <a:solidFill>
                            <a:schemeClr val="bg1"/>
                          </a:solidFill>
                          <a:effectLst/>
                          <a:latin typeface="+mn-lt"/>
                          <a:ea typeface="DengXian" panose="02010600030101010101" pitchFamily="2" charset="-122"/>
                          <a:cs typeface="Arial" panose="020B0604020202020204" pitchFamily="34" charset="0"/>
                        </a:rPr>
                        <a:t>Propose solution</a:t>
                      </a:r>
                      <a:endParaRPr lang="en-US" sz="1200" kern="100">
                        <a:solidFill>
                          <a:schemeClr val="bg1"/>
                        </a:solidFill>
                        <a:effectLst/>
                        <a:latin typeface="+mn-lt"/>
                        <a:ea typeface="DengXian" panose="02010600030101010101" pitchFamily="2" charset="-122"/>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solidFill>
                            <a:schemeClr val="bg1"/>
                          </a:solidFill>
                          <a:effectLst/>
                          <a:latin typeface="+mn-lt"/>
                          <a:ea typeface="DengXian" panose="02010600030101010101" pitchFamily="2" charset="-122"/>
                          <a:cs typeface="Arial" panose="020B0604020202020204" pitchFamily="34" charset="0"/>
                        </a:rPr>
                        <a:t>Benefit</a:t>
                      </a:r>
                    </a:p>
                  </a:txBody>
                  <a:tcPr marL="68580" marR="68580" marT="0" marB="0" anchor="ctr"/>
                </a:tc>
                <a:extLst>
                  <a:ext uri="{0D108BD9-81ED-4DB2-BD59-A6C34878D82A}">
                    <a16:rowId xmlns:a16="http://schemas.microsoft.com/office/drawing/2014/main" val="546604770"/>
                  </a:ext>
                </a:extLst>
              </a:tr>
              <a:tr h="0">
                <a:tc>
                  <a:txBody>
                    <a:bodyPr/>
                    <a:lstStyle/>
                    <a:p>
                      <a:pPr marL="0" marR="0" algn="ctr">
                        <a:lnSpc>
                          <a:spcPct val="115000"/>
                        </a:lnSpc>
                        <a:spcAft>
                          <a:spcPts val="0"/>
                        </a:spcAft>
                        <a:buNone/>
                      </a:pPr>
                      <a:r>
                        <a:rPr lang="en-US" sz="1200" b="1" kern="100">
                          <a:effectLst/>
                          <a:latin typeface="+mn-lt"/>
                          <a:ea typeface="DengXian" panose="02010600030101010101" pitchFamily="2" charset="-122"/>
                          <a:cs typeface="Arial" panose="020B0604020202020204" pitchFamily="34" charset="0"/>
                        </a:rPr>
                        <a:t>Master Data Configuration</a:t>
                      </a: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Core employee details, department structures, and job titles live in multiple, disconnected Excel spreadsheets across different computers.</a:t>
                      </a:r>
                    </a:p>
                    <a:p>
                      <a:pPr marL="171450" indent="-171450">
                        <a:buFont typeface="Arial" panose="020B0604020202020204" pitchFamily="34" charset="0"/>
                        <a:buChar char="•"/>
                      </a:pPr>
                      <a:r>
                        <a:rPr lang="en-US" sz="1200">
                          <a:latin typeface="+mn-lt"/>
                          <a:cs typeface="Arial" panose="020B0604020202020204" pitchFamily="34" charset="0"/>
                        </a:rPr>
                        <a:t>High risk of mismatched information (e.g., an employee is marked as "active" in one file but "resigned" in another, or job titles are spelled differently).</a:t>
                      </a:r>
                    </a:p>
                    <a:p>
                      <a:pPr marL="171450" indent="-171450">
                        <a:buFont typeface="Arial" panose="020B0604020202020204" pitchFamily="34" charset="0"/>
                        <a:buChar char="•"/>
                      </a:pPr>
                      <a:endParaRPr lang="en-US" sz="1200">
                        <a:latin typeface="+mn-lt"/>
                        <a:cs typeface="Arial" panose="020B0604020202020204" pitchFamily="34" charset="0"/>
                      </a:endParaRPr>
                    </a:p>
                    <a:p>
                      <a:pPr marL="0" indent="0">
                        <a:buFont typeface="Arial" panose="020B0604020202020204" pitchFamily="34" charset="0"/>
                        <a:buNone/>
                      </a:pPr>
                      <a:endParaRPr lang="en-US" sz="1200">
                        <a:latin typeface="+mn-lt"/>
                        <a:cs typeface="Arial" panose="020B0604020202020204" pitchFamily="34" charset="0"/>
                      </a:endParaRP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A centralized, secure database that acts as the ultimate, definitive record for all organizational and employee data.</a:t>
                      </a:r>
                    </a:p>
                    <a:p>
                      <a:pPr marL="171450" indent="-171450">
                        <a:buFont typeface="Arial" panose="020B0604020202020204" pitchFamily="34" charset="0"/>
                        <a:buChar char="•"/>
                      </a:pPr>
                      <a:r>
                        <a:rPr lang="en-US" sz="1200">
                          <a:latin typeface="+mn-lt"/>
                          <a:cs typeface="Arial" panose="020B0604020202020204" pitchFamily="34" charset="0"/>
                        </a:rPr>
                        <a:t>The system automatically pushes master data updates (like a title change) to all other connected HR modules instantly, ensuring uniform data across the board.</a:t>
                      </a:r>
                    </a:p>
                    <a:p>
                      <a:pPr marL="0" marR="0" indent="0">
                        <a:lnSpc>
                          <a:spcPct val="115000"/>
                        </a:lnSpc>
                        <a:spcAft>
                          <a:spcPts val="0"/>
                        </a:spcAft>
                        <a:buFont typeface="Arial" panose="020B0604020202020204" pitchFamily="34" charset="0"/>
                        <a:buNone/>
                      </a:pPr>
                      <a:endParaRPr lang="en-US" sz="1200" kern="100">
                        <a:effectLst/>
                        <a:latin typeface="+mn-lt"/>
                        <a:ea typeface="DengXian" panose="02010600030101010101" pitchFamily="2" charset="-122"/>
                        <a:cs typeface="Arial" panose="020B0604020202020204" pitchFamily="34" charset="0"/>
                      </a:endParaRPr>
                    </a:p>
                    <a:p>
                      <a:endParaRPr lang="en-US" sz="1200" b="1" i="1" kern="1200">
                        <a:solidFill>
                          <a:schemeClr val="dk1"/>
                        </a:solidFill>
                        <a:effectLst/>
                        <a:highlight>
                          <a:srgbClr val="FFFF00"/>
                        </a:highlight>
                        <a:latin typeface="+mn-lt"/>
                        <a:ea typeface="+mn-ea"/>
                        <a:cs typeface="+mn-cs"/>
                      </a:endParaRPr>
                    </a:p>
                  </a:txBody>
                  <a:tcPr marL="68580" marR="68580" marT="0" marB="0"/>
                </a:tc>
                <a:tc>
                  <a:txBody>
                    <a:bodyPr/>
                    <a:lstStyle/>
                    <a:p>
                      <a:pPr marL="171450" indent="-171450">
                        <a:buFont typeface="Arial" panose="020B0604020202020204" pitchFamily="34" charset="0"/>
                        <a:buChar char="•"/>
                      </a:pPr>
                      <a:r>
                        <a:rPr lang="en-US" sz="1200">
                          <a:latin typeface="+mn-lt"/>
                          <a:cs typeface="Arial" panose="020B0604020202020204" pitchFamily="34" charset="0"/>
                        </a:rPr>
                        <a:t>Ensures all future modules you build on top (Promotion, Recruitment, Performance) will pull from 100% accurate, real-time data.</a:t>
                      </a:r>
                    </a:p>
                  </a:txBody>
                  <a:tcPr marL="68580" marR="68580" marT="0" marB="0"/>
                </a:tc>
                <a:extLst>
                  <a:ext uri="{0D108BD9-81ED-4DB2-BD59-A6C34878D82A}">
                    <a16:rowId xmlns:a16="http://schemas.microsoft.com/office/drawing/2014/main" val="1120366538"/>
                  </a:ext>
                </a:extLst>
              </a:tr>
            </a:tbl>
          </a:graphicData>
        </a:graphic>
      </p:graphicFrame>
      <p:sp>
        <p:nvSpPr>
          <p:cNvPr id="4" name="Title 24">
            <a:extLst>
              <a:ext uri="{FF2B5EF4-FFF2-40B4-BE49-F238E27FC236}">
                <a16:creationId xmlns:a16="http://schemas.microsoft.com/office/drawing/2014/main" id="{B7FD1A06-9B7D-9381-2AF6-21CDD5131CFC}"/>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 Pain Point &amp; Propose Solution Details</a:t>
            </a:r>
            <a:endParaRPr lang="en-US">
              <a:latin typeface="Helvetica Neue" panose="02000503000000020004"/>
            </a:endParaRPr>
          </a:p>
        </p:txBody>
      </p:sp>
      <p:sp>
        <p:nvSpPr>
          <p:cNvPr id="5" name="TextBox 4">
            <a:extLst>
              <a:ext uri="{FF2B5EF4-FFF2-40B4-BE49-F238E27FC236}">
                <a16:creationId xmlns:a16="http://schemas.microsoft.com/office/drawing/2014/main" id="{ED65103E-C608-3E62-F0DF-1357541E5D87}"/>
              </a:ext>
            </a:extLst>
          </p:cNvPr>
          <p:cNvSpPr txBox="1"/>
          <p:nvPr/>
        </p:nvSpPr>
        <p:spPr>
          <a:xfrm>
            <a:off x="707920" y="920606"/>
            <a:ext cx="3546580" cy="375552"/>
          </a:xfrm>
          <a:prstGeom prst="rect">
            <a:avLst/>
          </a:prstGeom>
          <a:noFill/>
        </p:spPr>
        <p:txBody>
          <a:bodyPr wrap="square" lIns="91440" tIns="45720" rIns="91440" bIns="45720" anchor="t">
            <a:spAutoFit/>
          </a:bodyPr>
          <a:lstStyle/>
          <a:p>
            <a:pPr marL="0" indent="0">
              <a:lnSpc>
                <a:spcPct val="150000"/>
              </a:lnSpc>
              <a:buNone/>
              <a:tabLst>
                <a:tab pos="449263" algn="l"/>
              </a:tabLst>
            </a:pPr>
            <a:r>
              <a:rPr lang="en-US" sz="1400" b="1">
                <a:latin typeface="Helvetica Neue" panose="02000503000000020004"/>
              </a:rPr>
              <a:t>VI. Master Data Synchronization</a:t>
            </a:r>
          </a:p>
        </p:txBody>
      </p:sp>
    </p:spTree>
    <p:extLst>
      <p:ext uri="{BB962C8B-B14F-4D97-AF65-F5344CB8AC3E}">
        <p14:creationId xmlns:p14="http://schemas.microsoft.com/office/powerpoint/2010/main" val="33148223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25D4E-FF86-4AE8-0ABF-87364C91A66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7A6261C-4474-D7A3-151C-0B9953ADA782}"/>
              </a:ext>
            </a:extLst>
          </p:cNvPr>
          <p:cNvGraphicFramePr>
            <a:graphicFrameLocks noGrp="1"/>
          </p:cNvGraphicFramePr>
          <p:nvPr>
            <p:extLst>
              <p:ext uri="{D42A27DB-BD31-4B8C-83A1-F6EECF244321}">
                <p14:modId xmlns:p14="http://schemas.microsoft.com/office/powerpoint/2010/main" val="411692400"/>
              </p:ext>
            </p:extLst>
          </p:nvPr>
        </p:nvGraphicFramePr>
        <p:xfrm>
          <a:off x="109955" y="1207388"/>
          <a:ext cx="9399804" cy="5131824"/>
        </p:xfrm>
        <a:graphic>
          <a:graphicData uri="http://schemas.openxmlformats.org/drawingml/2006/table">
            <a:tbl>
              <a:tblPr>
                <a:tableStyleId>{8799B23B-EC83-4686-B30A-512413B5E67A}</a:tableStyleId>
              </a:tblPr>
              <a:tblGrid>
                <a:gridCol w="793634">
                  <a:extLst>
                    <a:ext uri="{9D8B030D-6E8A-4147-A177-3AD203B41FA5}">
                      <a16:colId xmlns:a16="http://schemas.microsoft.com/office/drawing/2014/main" val="2722336676"/>
                    </a:ext>
                  </a:extLst>
                </a:gridCol>
                <a:gridCol w="1012411">
                  <a:extLst>
                    <a:ext uri="{9D8B030D-6E8A-4147-A177-3AD203B41FA5}">
                      <a16:colId xmlns:a16="http://schemas.microsoft.com/office/drawing/2014/main" val="2786557618"/>
                    </a:ext>
                  </a:extLst>
                </a:gridCol>
                <a:gridCol w="1467939">
                  <a:extLst>
                    <a:ext uri="{9D8B030D-6E8A-4147-A177-3AD203B41FA5}">
                      <a16:colId xmlns:a16="http://schemas.microsoft.com/office/drawing/2014/main" val="4030446901"/>
                    </a:ext>
                  </a:extLst>
                </a:gridCol>
                <a:gridCol w="1877202">
                  <a:extLst>
                    <a:ext uri="{9D8B030D-6E8A-4147-A177-3AD203B41FA5}">
                      <a16:colId xmlns:a16="http://schemas.microsoft.com/office/drawing/2014/main" val="627719339"/>
                    </a:ext>
                  </a:extLst>
                </a:gridCol>
                <a:gridCol w="2347451">
                  <a:extLst>
                    <a:ext uri="{9D8B030D-6E8A-4147-A177-3AD203B41FA5}">
                      <a16:colId xmlns:a16="http://schemas.microsoft.com/office/drawing/2014/main" val="109071865"/>
                    </a:ext>
                  </a:extLst>
                </a:gridCol>
                <a:gridCol w="1901167">
                  <a:extLst>
                    <a:ext uri="{9D8B030D-6E8A-4147-A177-3AD203B41FA5}">
                      <a16:colId xmlns:a16="http://schemas.microsoft.com/office/drawing/2014/main" val="3746024685"/>
                    </a:ext>
                  </a:extLst>
                </a:gridCol>
              </a:tblGrid>
              <a:tr h="185150">
                <a:tc>
                  <a:txBody>
                    <a:bodyPr/>
                    <a:lstStyle/>
                    <a:p>
                      <a:pPr>
                        <a:buNone/>
                      </a:pPr>
                      <a:r>
                        <a:rPr lang="en-US" sz="1000" b="1">
                          <a:effectLst/>
                        </a:rPr>
                        <a:t>Phase</a:t>
                      </a:r>
                    </a:p>
                  </a:txBody>
                  <a:tcPr marL="48431" marR="48431" marT="24216" marB="24216" anchor="ctr">
                    <a:solidFill>
                      <a:schemeClr val="tx2">
                        <a:lumMod val="10000"/>
                        <a:lumOff val="90000"/>
                      </a:schemeClr>
                    </a:solidFill>
                  </a:tcPr>
                </a:tc>
                <a:tc>
                  <a:txBody>
                    <a:bodyPr/>
                    <a:lstStyle/>
                    <a:p>
                      <a:pPr>
                        <a:buNone/>
                      </a:pPr>
                      <a:r>
                        <a:rPr lang="en-US" sz="1000" b="1">
                          <a:effectLst/>
                        </a:rPr>
                        <a:t>Iteration</a:t>
                      </a:r>
                    </a:p>
                  </a:txBody>
                  <a:tcPr marL="48431" marR="48431" marT="24216" marB="24216" anchor="ctr">
                    <a:solidFill>
                      <a:schemeClr val="tx2">
                        <a:lumMod val="10000"/>
                        <a:lumOff val="90000"/>
                      </a:schemeClr>
                    </a:solidFill>
                  </a:tcPr>
                </a:tc>
                <a:tc>
                  <a:txBody>
                    <a:bodyPr/>
                    <a:lstStyle/>
                    <a:p>
                      <a:pPr>
                        <a:buNone/>
                      </a:pPr>
                      <a:r>
                        <a:rPr lang="en-US" sz="1000" b="1">
                          <a:effectLst/>
                        </a:rPr>
                        <a:t>Period</a:t>
                      </a:r>
                    </a:p>
                  </a:txBody>
                  <a:tcPr marL="48431" marR="48431" marT="24216" marB="24216" anchor="ctr">
                    <a:solidFill>
                      <a:schemeClr val="tx2">
                        <a:lumMod val="10000"/>
                        <a:lumOff val="90000"/>
                      </a:schemeClr>
                    </a:solidFill>
                  </a:tcPr>
                </a:tc>
                <a:tc>
                  <a:txBody>
                    <a:bodyPr/>
                    <a:lstStyle/>
                    <a:p>
                      <a:pPr>
                        <a:buNone/>
                      </a:pPr>
                      <a:r>
                        <a:rPr lang="en-US" sz="1000" b="1">
                          <a:effectLst/>
                        </a:rPr>
                        <a:t>Main Activities</a:t>
                      </a:r>
                    </a:p>
                  </a:txBody>
                  <a:tcPr marL="48431" marR="48431" marT="24216" marB="24216" anchor="ctr">
                    <a:solidFill>
                      <a:schemeClr val="tx2">
                        <a:lumMod val="10000"/>
                        <a:lumOff val="90000"/>
                      </a:schemeClr>
                    </a:solidFill>
                  </a:tcPr>
                </a:tc>
                <a:tc>
                  <a:txBody>
                    <a:bodyPr/>
                    <a:lstStyle/>
                    <a:p>
                      <a:pPr>
                        <a:buNone/>
                      </a:pPr>
                      <a:r>
                        <a:rPr lang="en-US" sz="1000" b="1">
                          <a:effectLst/>
                        </a:rPr>
                        <a:t>Key Deliverables</a:t>
                      </a:r>
                    </a:p>
                  </a:txBody>
                  <a:tcPr marL="48431" marR="48431" marT="24216" marB="24216" anchor="ctr">
                    <a:solidFill>
                      <a:schemeClr val="tx2">
                        <a:lumMod val="10000"/>
                        <a:lumOff val="90000"/>
                      </a:schemeClr>
                    </a:solidFill>
                  </a:tcPr>
                </a:tc>
                <a:tc>
                  <a:txBody>
                    <a:bodyPr/>
                    <a:lstStyle/>
                    <a:p>
                      <a:pPr>
                        <a:buNone/>
                      </a:pPr>
                      <a:r>
                        <a:rPr lang="en-US" sz="1000" b="1">
                          <a:effectLst/>
                        </a:rPr>
                        <a:t>Cost Driver</a:t>
                      </a:r>
                    </a:p>
                  </a:txBody>
                  <a:tcPr marL="48431" marR="48431" marT="24216" marB="24216" anchor="ctr">
                    <a:solidFill>
                      <a:schemeClr val="tx2">
                        <a:lumMod val="10000"/>
                        <a:lumOff val="90000"/>
                      </a:schemeClr>
                    </a:solidFill>
                  </a:tcPr>
                </a:tc>
                <a:extLst>
                  <a:ext uri="{0D108BD9-81ED-4DB2-BD59-A6C34878D82A}">
                    <a16:rowId xmlns:a16="http://schemas.microsoft.com/office/drawing/2014/main" val="1234126129"/>
                  </a:ext>
                </a:extLst>
              </a:tr>
              <a:tr h="361067">
                <a:tc>
                  <a:txBody>
                    <a:bodyPr/>
                    <a:lstStyle/>
                    <a:p>
                      <a:pPr>
                        <a:lnSpc>
                          <a:spcPct val="100000"/>
                        </a:lnSpc>
                        <a:buNone/>
                      </a:pPr>
                      <a:r>
                        <a:rPr lang="en-US" sz="900">
                          <a:effectLst/>
                        </a:rPr>
                        <a:t>Enabler</a:t>
                      </a:r>
                    </a:p>
                  </a:txBody>
                  <a:tcPr marL="48431" marR="48431" marT="24216" marB="24216" anchor="ctr"/>
                </a:tc>
                <a:tc>
                  <a:txBody>
                    <a:bodyPr/>
                    <a:lstStyle/>
                    <a:p>
                      <a:pPr>
                        <a:lnSpc>
                          <a:spcPct val="100000"/>
                        </a:lnSpc>
                        <a:buNone/>
                      </a:pPr>
                      <a:endParaRPr lang="en-US" sz="900">
                        <a:effectLst/>
                      </a:endParaRPr>
                    </a:p>
                  </a:txBody>
                  <a:tcPr marL="48431" marR="48431" marT="24216" marB="24216" anchor="ctr"/>
                </a:tc>
                <a:tc>
                  <a:txBody>
                    <a:bodyPr/>
                    <a:lstStyle/>
                    <a:p>
                      <a:pPr>
                        <a:lnSpc>
                          <a:spcPct val="100000"/>
                        </a:lnSpc>
                        <a:buNone/>
                      </a:pPr>
                      <a:endParaRPr lang="en-US" sz="900">
                        <a:effectLst/>
                      </a:endParaRPr>
                    </a:p>
                  </a:txBody>
                  <a:tcPr marL="48431" marR="48431" marT="24216" marB="24216" anchor="ctr"/>
                </a:tc>
                <a:tc>
                  <a:txBody>
                    <a:bodyPr/>
                    <a:lstStyle/>
                    <a:p>
                      <a:pPr>
                        <a:lnSpc>
                          <a:spcPct val="100000"/>
                        </a:lnSpc>
                        <a:buNone/>
                      </a:pPr>
                      <a:r>
                        <a:rPr lang="en-US" sz="900">
                          <a:effectLst/>
                        </a:rPr>
                        <a:t>Environment, security setup</a:t>
                      </a:r>
                    </a:p>
                  </a:txBody>
                  <a:tcPr marL="48431" marR="48431" marT="24216" marB="24216" anchor="ctr"/>
                </a:tc>
                <a:tc>
                  <a:txBody>
                    <a:bodyPr/>
                    <a:lstStyle/>
                    <a:p>
                      <a:pPr>
                        <a:lnSpc>
                          <a:spcPct val="100000"/>
                        </a:lnSpc>
                        <a:buNone/>
                      </a:pPr>
                      <a:r>
                        <a:rPr lang="en-US" sz="900">
                          <a:effectLst/>
                        </a:rPr>
                        <a:t>Development environment, access authorization, license, all required resources and tools ready to use by Development team</a:t>
                      </a:r>
                    </a:p>
                  </a:txBody>
                  <a:tcPr marL="48431" marR="48431" marT="24216" marB="24216" anchor="ctr"/>
                </a:tc>
                <a:tc>
                  <a:txBody>
                    <a:bodyPr/>
                    <a:lstStyle/>
                    <a:p>
                      <a:pPr fontAlgn="t">
                        <a:lnSpc>
                          <a:spcPct val="100000"/>
                        </a:lnSpc>
                        <a:buNone/>
                      </a:pPr>
                      <a:r>
                        <a:rPr lang="en-US" sz="900" b="0" i="0">
                          <a:effectLst/>
                          <a:latin typeface="Calibri" panose="020F0502020204030204" pitchFamily="34" charset="0"/>
                          <a:ea typeface="Calibri" panose="020F0502020204030204" pitchFamily="34" charset="0"/>
                          <a:cs typeface="Calibri" panose="020F0502020204030204" pitchFamily="34" charset="0"/>
                        </a:rPr>
                        <a:t>Infra team</a:t>
                      </a:r>
                    </a:p>
                  </a:txBody>
                  <a:tcPr marL="74295" marR="74295" marT="37148" marB="37148"/>
                </a:tc>
                <a:extLst>
                  <a:ext uri="{0D108BD9-81ED-4DB2-BD59-A6C34878D82A}">
                    <a16:rowId xmlns:a16="http://schemas.microsoft.com/office/drawing/2014/main" val="4281165008"/>
                  </a:ext>
                </a:extLst>
              </a:tr>
              <a:tr h="361067">
                <a:tc rowSpan="5">
                  <a:txBody>
                    <a:bodyPr/>
                    <a:lstStyle/>
                    <a:p>
                      <a:pPr>
                        <a:lnSpc>
                          <a:spcPct val="100000"/>
                        </a:lnSpc>
                        <a:buNone/>
                      </a:pPr>
                      <a:r>
                        <a:rPr lang="en-US" sz="900">
                          <a:effectLst/>
                        </a:rPr>
                        <a:t>Phase 1</a:t>
                      </a:r>
                    </a:p>
                  </a:txBody>
                  <a:tcPr marL="48431" marR="48431" marT="24216" marB="24216" anchor="ctr"/>
                </a:tc>
                <a:tc>
                  <a:txBody>
                    <a:bodyPr/>
                    <a:lstStyle/>
                    <a:p>
                      <a:pPr>
                        <a:lnSpc>
                          <a:spcPct val="100000"/>
                        </a:lnSpc>
                        <a:buNone/>
                      </a:pPr>
                      <a:r>
                        <a:rPr lang="en-US" sz="900">
                          <a:effectLst/>
                        </a:rPr>
                        <a:t>Iteration 1</a:t>
                      </a:r>
                    </a:p>
                  </a:txBody>
                  <a:tcPr marL="48431" marR="48431" marT="24216" marB="24216" anchor="ctr"/>
                </a:tc>
                <a:tc>
                  <a:txBody>
                    <a:bodyPr/>
                    <a:lstStyle/>
                    <a:p>
                      <a:pPr>
                        <a:lnSpc>
                          <a:spcPct val="100000"/>
                        </a:lnSpc>
                        <a:buNone/>
                      </a:pPr>
                      <a:r>
                        <a:rPr lang="en-US" sz="900">
                          <a:effectLst/>
                        </a:rPr>
                        <a:t>4–8 May 2026</a:t>
                      </a:r>
                    </a:p>
                  </a:txBody>
                  <a:tcPr marL="48431" marR="48431" marT="24216" marB="24216" anchor="ctr"/>
                </a:tc>
                <a:tc>
                  <a:txBody>
                    <a:bodyPr/>
                    <a:lstStyle/>
                    <a:p>
                      <a:pPr>
                        <a:lnSpc>
                          <a:spcPct val="100000"/>
                        </a:lnSpc>
                        <a:buNone/>
                      </a:pPr>
                      <a:r>
                        <a:rPr lang="en-US" sz="900">
                          <a:effectLst/>
                        </a:rPr>
                        <a:t>Iteration Planning #1, </a:t>
                      </a:r>
                    </a:p>
                    <a:p>
                      <a:pPr>
                        <a:lnSpc>
                          <a:spcPct val="100000"/>
                        </a:lnSpc>
                        <a:buNone/>
                      </a:pPr>
                      <a:r>
                        <a:rPr lang="en-US" sz="900">
                          <a:effectLst/>
                        </a:rPr>
                        <a:t>Master Data Configuration</a:t>
                      </a:r>
                    </a:p>
                  </a:txBody>
                  <a:tcPr marL="48431" marR="48431" marT="24216" marB="24216" anchor="ctr"/>
                </a:tc>
                <a:tc>
                  <a:txBody>
                    <a:bodyPr/>
                    <a:lstStyle/>
                    <a:p>
                      <a:pPr>
                        <a:lnSpc>
                          <a:spcPct val="100000"/>
                        </a:lnSpc>
                        <a:buNone/>
                      </a:pPr>
                      <a:r>
                        <a:rPr lang="en-US" sz="900">
                          <a:effectLst/>
                        </a:rPr>
                        <a:t>Core HR data foundation</a:t>
                      </a:r>
                    </a:p>
                  </a:txBody>
                  <a:tcPr marL="48431" marR="48431" marT="24216" marB="24216" anchor="ctr"/>
                </a:tc>
                <a:tc>
                  <a:txBody>
                    <a:bodyPr/>
                    <a:lstStyle/>
                    <a:p>
                      <a:pPr fontAlgn="t">
                        <a:lnSpc>
                          <a:spcPct val="100000"/>
                        </a:lnSpc>
                        <a:buNone/>
                      </a:pPr>
                      <a:r>
                        <a:rPr lang="en-US" sz="900" b="0" i="0">
                          <a:effectLst/>
                          <a:latin typeface="Calibri" panose="020F0502020204030204" pitchFamily="34" charset="0"/>
                          <a:ea typeface="Calibri" panose="020F0502020204030204" pitchFamily="34" charset="0"/>
                          <a:cs typeface="Calibri" panose="020F0502020204030204" pitchFamily="34" charset="0"/>
                        </a:rPr>
                        <a:t>SM, PO, PM, Dev Team, Dev Lead, SA, QA</a:t>
                      </a:r>
                    </a:p>
                  </a:txBody>
                  <a:tcPr marL="74295" marR="74295" marT="37148" marB="37148"/>
                </a:tc>
                <a:extLst>
                  <a:ext uri="{0D108BD9-81ED-4DB2-BD59-A6C34878D82A}">
                    <a16:rowId xmlns:a16="http://schemas.microsoft.com/office/drawing/2014/main" val="2957923026"/>
                  </a:ext>
                </a:extLst>
              </a:tr>
              <a:tr h="361067">
                <a:tc vMerge="1">
                  <a:txBody>
                    <a:bodyPr/>
                    <a:lstStyle/>
                    <a:p>
                      <a:endParaRPr lang="en-US"/>
                    </a:p>
                  </a:txBody>
                  <a:tcPr/>
                </a:tc>
                <a:tc>
                  <a:txBody>
                    <a:bodyPr/>
                    <a:lstStyle/>
                    <a:p>
                      <a:pPr>
                        <a:lnSpc>
                          <a:spcPct val="100000"/>
                        </a:lnSpc>
                        <a:buNone/>
                      </a:pPr>
                      <a:r>
                        <a:rPr lang="en-US" sz="900">
                          <a:effectLst/>
                        </a:rPr>
                        <a:t>Iteration 1</a:t>
                      </a:r>
                    </a:p>
                  </a:txBody>
                  <a:tcPr marL="48431" marR="48431" marT="24216" marB="24216" anchor="ctr"/>
                </a:tc>
                <a:tc>
                  <a:txBody>
                    <a:bodyPr/>
                    <a:lstStyle/>
                    <a:p>
                      <a:pPr>
                        <a:lnSpc>
                          <a:spcPct val="100000"/>
                        </a:lnSpc>
                        <a:buNone/>
                      </a:pPr>
                      <a:r>
                        <a:rPr lang="en-US" sz="900">
                          <a:effectLst/>
                        </a:rPr>
                        <a:t>11 – 15 May 2026</a:t>
                      </a:r>
                    </a:p>
                  </a:txBody>
                  <a:tcPr marL="48431" marR="48431" marT="24216" marB="24216" anchor="ctr"/>
                </a:tc>
                <a:tc>
                  <a:txBody>
                    <a:bodyPr/>
                    <a:lstStyle/>
                    <a:p>
                      <a:pPr>
                        <a:lnSpc>
                          <a:spcPct val="100000"/>
                        </a:lnSpc>
                        <a:buNone/>
                      </a:pPr>
                      <a:r>
                        <a:rPr lang="en-US" sz="900" u="sng">
                          <a:effectLst/>
                        </a:rPr>
                        <a:t>Performance Evaluation Development,</a:t>
                      </a:r>
                      <a:r>
                        <a:rPr lang="en-US" sz="900" u="none">
                          <a:effectLst/>
                        </a:rPr>
                        <a:t> Iteration Review</a:t>
                      </a:r>
                    </a:p>
                  </a:txBody>
                  <a:tcPr marL="48431" marR="48431" marT="24216" marB="24216" anchor="ctr"/>
                </a:tc>
                <a:tc>
                  <a:txBody>
                    <a:bodyPr/>
                    <a:lstStyle/>
                    <a:p>
                      <a:pPr>
                        <a:lnSpc>
                          <a:spcPct val="100000"/>
                        </a:lnSpc>
                        <a:buNone/>
                      </a:pPr>
                      <a:r>
                        <a:rPr lang="en-US" sz="900">
                          <a:effectLst/>
                        </a:rPr>
                        <a:t>Key Function of Performance Evaluation</a:t>
                      </a:r>
                    </a:p>
                  </a:txBody>
                  <a:tcPr marL="48431" marR="48431" marT="24216" marB="24216" anchor="ctr"/>
                </a:tc>
                <a:tc>
                  <a:txBody>
                    <a:bodyPr/>
                    <a:lstStyle/>
                    <a:p>
                      <a:pPr lvl="0">
                        <a:lnSpc>
                          <a:spcPct val="100000"/>
                        </a:lnSpc>
                        <a:buNone/>
                      </a:pPr>
                      <a:r>
                        <a:rPr lang="en-US" sz="900" b="0" i="0" u="none" strike="noStrike" noProof="0">
                          <a:solidFill>
                            <a:srgbClr val="000000"/>
                          </a:solidFill>
                          <a:effectLst/>
                          <a:latin typeface="Calibri"/>
                          <a:ea typeface="Calibri"/>
                          <a:cs typeface="Calibri"/>
                        </a:rPr>
                        <a:t>SM, PO, PM, Dev Team, QA</a:t>
                      </a:r>
                      <a:endParaRPr lang="en-US"/>
                    </a:p>
                  </a:txBody>
                  <a:tcPr marL="74295" marR="74295" marT="37148" marB="37148"/>
                </a:tc>
                <a:extLst>
                  <a:ext uri="{0D108BD9-81ED-4DB2-BD59-A6C34878D82A}">
                    <a16:rowId xmlns:a16="http://schemas.microsoft.com/office/drawing/2014/main" val="201709130"/>
                  </a:ext>
                </a:extLst>
              </a:tr>
              <a:tr h="406433">
                <a:tc vMerge="1">
                  <a:txBody>
                    <a:bodyPr/>
                    <a:lstStyle/>
                    <a:p>
                      <a:endParaRPr/>
                    </a:p>
                  </a:txBody>
                  <a:tcPr marL="48431" marR="48431" marT="24216" marB="24216" anchor="ctr"/>
                </a:tc>
                <a:tc>
                  <a:txBody>
                    <a:bodyPr/>
                    <a:lstStyle/>
                    <a:p>
                      <a:pPr>
                        <a:lnSpc>
                          <a:spcPct val="100000"/>
                        </a:lnSpc>
                        <a:buNone/>
                      </a:pPr>
                      <a:r>
                        <a:rPr lang="en-US" sz="900">
                          <a:effectLst/>
                        </a:rPr>
                        <a:t>Iteration 2</a:t>
                      </a:r>
                    </a:p>
                  </a:txBody>
                  <a:tcPr marL="48431" marR="48431" marT="24216" marB="24216" anchor="ctr"/>
                </a:tc>
                <a:tc>
                  <a:txBody>
                    <a:bodyPr/>
                    <a:lstStyle/>
                    <a:p>
                      <a:pPr>
                        <a:lnSpc>
                          <a:spcPct val="100000"/>
                        </a:lnSpc>
                        <a:buNone/>
                      </a:pPr>
                      <a:r>
                        <a:rPr lang="en-US" sz="900">
                          <a:effectLst/>
                        </a:rPr>
                        <a:t>18–22 May 2026</a:t>
                      </a:r>
                    </a:p>
                  </a:txBody>
                  <a:tcPr marL="48431" marR="48431" marT="24216" marB="24216" anchor="ctr"/>
                </a:tc>
                <a:tc>
                  <a:txBody>
                    <a:bodyPr/>
                    <a:lstStyle/>
                    <a:p>
                      <a:pPr>
                        <a:lnSpc>
                          <a:spcPct val="100000"/>
                        </a:lnSpc>
                        <a:buNone/>
                      </a:pPr>
                      <a:r>
                        <a:rPr lang="en-US" sz="900" u="none">
                          <a:effectLst/>
                        </a:rPr>
                        <a:t>Iteration Planning, </a:t>
                      </a:r>
                      <a:r>
                        <a:rPr lang="en-US" sz="900" u="sng">
                          <a:effectLst/>
                        </a:rPr>
                        <a:t>Performance Evaluation Development </a:t>
                      </a:r>
                      <a:r>
                        <a:rPr lang="en-US" sz="900" u="none">
                          <a:effectLst/>
                        </a:rPr>
                        <a:t>(</a:t>
                      </a:r>
                      <a:r>
                        <a:rPr lang="en-US" sz="900" u="none" err="1">
                          <a:effectLst/>
                        </a:rPr>
                        <a:t>cont</a:t>
                      </a:r>
                      <a:r>
                        <a:rPr lang="en-US" sz="900" u="none">
                          <a:effectLst/>
                        </a:rPr>
                        <a:t>), </a:t>
                      </a:r>
                      <a:r>
                        <a:rPr lang="en-US" sz="900">
                          <a:effectLst/>
                        </a:rPr>
                        <a:t>Iteration Review</a:t>
                      </a:r>
                    </a:p>
                  </a:txBody>
                  <a:tcPr marL="48431" marR="48431" marT="24216" marB="24216" anchor="ctr"/>
                </a:tc>
                <a:tc>
                  <a:txBody>
                    <a:bodyPr/>
                    <a:lstStyle/>
                    <a:p>
                      <a:pPr>
                        <a:lnSpc>
                          <a:spcPct val="100000"/>
                        </a:lnSpc>
                        <a:buNone/>
                      </a:pPr>
                      <a:r>
                        <a:rPr lang="en-US" sz="900">
                          <a:effectLst/>
                        </a:rPr>
                        <a:t>Stable core HR modules</a:t>
                      </a:r>
                    </a:p>
                  </a:txBody>
                  <a:tcPr marL="48431" marR="48431" marT="24216" marB="24216" anchor="ctr"/>
                </a:tc>
                <a:tc>
                  <a:txBody>
                    <a:bodyPr/>
                    <a:lstStyle/>
                    <a:p>
                      <a:pPr fontAlgn="t">
                        <a:lnSpc>
                          <a:spcPct val="100000"/>
                        </a:lnSpc>
                        <a:buNone/>
                      </a:pPr>
                      <a:r>
                        <a:rPr lang="en-US" sz="900" b="0" i="0">
                          <a:effectLst/>
                          <a:latin typeface="Calibri" panose="020F0502020204030204" pitchFamily="34" charset="0"/>
                          <a:ea typeface="Calibri" panose="020F0502020204030204" pitchFamily="34" charset="0"/>
                          <a:cs typeface="Calibri" panose="020F0502020204030204" pitchFamily="34" charset="0"/>
                        </a:rPr>
                        <a:t>SM, PO, PM, Dev Team, QA</a:t>
                      </a:r>
                    </a:p>
                    <a:p>
                      <a:pPr fontAlgn="t">
                        <a:lnSpc>
                          <a:spcPct val="100000"/>
                        </a:lnSpc>
                        <a:buNone/>
                      </a:pPr>
                      <a:endParaRPr lang="en-US" sz="9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2855894171"/>
                  </a:ext>
                </a:extLst>
              </a:tr>
              <a:tr h="294982">
                <a:tc vMerge="1">
                  <a:txBody>
                    <a:bodyPr/>
                    <a:lstStyle/>
                    <a:p>
                      <a:endParaRPr/>
                    </a:p>
                  </a:txBody>
                  <a:tcPr marL="48431" marR="48431" marT="24216" marB="24216" anchor="ctr"/>
                </a:tc>
                <a:tc>
                  <a:txBody>
                    <a:bodyPr/>
                    <a:lstStyle/>
                    <a:p>
                      <a:pPr>
                        <a:lnSpc>
                          <a:spcPct val="100000"/>
                        </a:lnSpc>
                        <a:buNone/>
                      </a:pPr>
                      <a:r>
                        <a:rPr lang="en-US" sz="900">
                          <a:effectLst/>
                        </a:rPr>
                        <a:t>Iteration 3</a:t>
                      </a:r>
                    </a:p>
                  </a:txBody>
                  <a:tcPr marL="48431" marR="48431" marT="24216" marB="24216" anchor="ctr"/>
                </a:tc>
                <a:tc>
                  <a:txBody>
                    <a:bodyPr/>
                    <a:lstStyle/>
                    <a:p>
                      <a:pPr>
                        <a:lnSpc>
                          <a:spcPct val="100000"/>
                        </a:lnSpc>
                        <a:buNone/>
                      </a:pPr>
                      <a:r>
                        <a:rPr lang="en-US" sz="900">
                          <a:effectLst/>
                        </a:rPr>
                        <a:t>25 May – 12 Jun 2026</a:t>
                      </a:r>
                    </a:p>
                  </a:txBody>
                  <a:tcPr marL="48431" marR="48431" marT="24216" marB="24216" anchor="ctr"/>
                </a:tc>
                <a:tc>
                  <a:txBody>
                    <a:bodyPr/>
                    <a:lstStyle/>
                    <a:p>
                      <a:pPr>
                        <a:lnSpc>
                          <a:spcPct val="100000"/>
                        </a:lnSpc>
                        <a:buNone/>
                      </a:pPr>
                      <a:r>
                        <a:rPr lang="en-US" sz="900">
                          <a:effectLst/>
                        </a:rPr>
                        <a:t>Iteration Planning, Master Data Migration, Iteration Review</a:t>
                      </a:r>
                    </a:p>
                  </a:txBody>
                  <a:tcPr marL="48431" marR="48431" marT="24216" marB="24216" anchor="ctr"/>
                </a:tc>
                <a:tc>
                  <a:txBody>
                    <a:bodyPr/>
                    <a:lstStyle/>
                    <a:p>
                      <a:pPr>
                        <a:lnSpc>
                          <a:spcPct val="100000"/>
                        </a:lnSpc>
                        <a:buNone/>
                      </a:pPr>
                      <a:r>
                        <a:rPr lang="en-US" sz="900">
                          <a:effectLst/>
                        </a:rPr>
                        <a:t>Validated HR data</a:t>
                      </a:r>
                    </a:p>
                  </a:txBody>
                  <a:tcPr marL="48431" marR="48431" marT="24216" marB="24216" anchor="ctr"/>
                </a:tc>
                <a:tc>
                  <a:txBody>
                    <a:bodyPr/>
                    <a:lstStyle/>
                    <a:p>
                      <a:pPr>
                        <a:lnSpc>
                          <a:spcPct val="100000"/>
                        </a:lnSpc>
                      </a:pPr>
                      <a:r>
                        <a:rPr lang="en-US" sz="900"/>
                        <a:t>Dev Team, Dev Lead, PO, SA</a:t>
                      </a:r>
                    </a:p>
                  </a:txBody>
                  <a:tcPr marL="74295" marR="74295" marT="37148" marB="37148"/>
                </a:tc>
                <a:extLst>
                  <a:ext uri="{0D108BD9-81ED-4DB2-BD59-A6C34878D82A}">
                    <a16:rowId xmlns:a16="http://schemas.microsoft.com/office/drawing/2014/main" val="81875632"/>
                  </a:ext>
                </a:extLst>
              </a:tr>
              <a:tr h="257312">
                <a:tc vMerge="1">
                  <a:txBody>
                    <a:bodyPr/>
                    <a:lstStyle/>
                    <a:p>
                      <a:endParaRPr/>
                    </a:p>
                  </a:txBody>
                  <a:tcPr marL="48431" marR="48431" marT="24216" marB="24216" anchor="ctr"/>
                </a:tc>
                <a:tc>
                  <a:txBody>
                    <a:bodyPr/>
                    <a:lstStyle/>
                    <a:p>
                      <a:pPr>
                        <a:lnSpc>
                          <a:spcPct val="100000"/>
                        </a:lnSpc>
                        <a:buNone/>
                      </a:pPr>
                      <a:r>
                        <a:rPr lang="en-US" sz="900">
                          <a:effectLst/>
                        </a:rPr>
                        <a:t>Iteration 4</a:t>
                      </a:r>
                    </a:p>
                  </a:txBody>
                  <a:tcPr marL="48431" marR="48431" marT="24216" marB="24216" anchor="ctr"/>
                </a:tc>
                <a:tc>
                  <a:txBody>
                    <a:bodyPr/>
                    <a:lstStyle/>
                    <a:p>
                      <a:pPr>
                        <a:lnSpc>
                          <a:spcPct val="100000"/>
                        </a:lnSpc>
                        <a:buNone/>
                      </a:pPr>
                      <a:r>
                        <a:rPr lang="en-US" sz="900">
                          <a:effectLst/>
                        </a:rPr>
                        <a:t>15–26 Jun 2026</a:t>
                      </a:r>
                    </a:p>
                  </a:txBody>
                  <a:tcPr marL="48431" marR="48431" marT="24216" marB="24216" anchor="ctr"/>
                </a:tc>
                <a:tc>
                  <a:txBody>
                    <a:bodyPr/>
                    <a:lstStyle/>
                    <a:p>
                      <a:pPr>
                        <a:lnSpc>
                          <a:spcPct val="100000"/>
                        </a:lnSpc>
                        <a:buNone/>
                      </a:pPr>
                      <a:r>
                        <a:rPr lang="en-US" sz="900" b="0" u="none">
                          <a:effectLst/>
                        </a:rPr>
                        <a:t>Iteration Planning, </a:t>
                      </a:r>
                      <a:r>
                        <a:rPr lang="en-US" sz="900" b="1" u="sng">
                          <a:effectLst/>
                        </a:rPr>
                        <a:t>Training Activity, UAT, Partial Go‑Live</a:t>
                      </a:r>
                    </a:p>
                  </a:txBody>
                  <a:tcPr marL="48431" marR="48431" marT="24216" marB="24216" anchor="ctr"/>
                </a:tc>
                <a:tc>
                  <a:txBody>
                    <a:bodyPr/>
                    <a:lstStyle/>
                    <a:p>
                      <a:pPr>
                        <a:lnSpc>
                          <a:spcPct val="100000"/>
                        </a:lnSpc>
                        <a:buNone/>
                      </a:pPr>
                      <a:r>
                        <a:rPr lang="en-US" sz="900">
                          <a:effectLst/>
                        </a:rPr>
                        <a:t>System live for limited users</a:t>
                      </a:r>
                    </a:p>
                  </a:txBody>
                  <a:tcPr marL="48431" marR="48431" marT="24216" marB="242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rPr>
                        <a:t>SM, PM, PMO, PO, Dev Team, QA</a:t>
                      </a:r>
                    </a:p>
                  </a:txBody>
                  <a:tcPr marL="48431" marR="48431" marT="24216" marB="24216" anchor="ctr"/>
                </a:tc>
                <a:extLst>
                  <a:ext uri="{0D108BD9-81ED-4DB2-BD59-A6C34878D82A}">
                    <a16:rowId xmlns:a16="http://schemas.microsoft.com/office/drawing/2014/main" val="626040192"/>
                  </a:ext>
                </a:extLst>
              </a:tr>
              <a:tr h="270036">
                <a:tc rowSpan="7">
                  <a:txBody>
                    <a:bodyPr/>
                    <a:lstStyle/>
                    <a:p>
                      <a:pPr>
                        <a:lnSpc>
                          <a:spcPct val="100000"/>
                        </a:lnSpc>
                        <a:buNone/>
                      </a:pPr>
                      <a:r>
                        <a:rPr lang="en-US" sz="900">
                          <a:effectLst/>
                        </a:rPr>
                        <a:t>Phase 2</a:t>
                      </a:r>
                    </a:p>
                  </a:txBody>
                  <a:tcPr marL="48431" marR="48431" marT="24216" marB="24216" anchor="ctr"/>
                </a:tc>
                <a:tc>
                  <a:txBody>
                    <a:bodyPr/>
                    <a:lstStyle/>
                    <a:p>
                      <a:pPr>
                        <a:lnSpc>
                          <a:spcPct val="100000"/>
                        </a:lnSpc>
                        <a:buNone/>
                      </a:pPr>
                      <a:r>
                        <a:rPr lang="en-US" sz="900">
                          <a:effectLst/>
                        </a:rPr>
                        <a:t>Iteration 5–6</a:t>
                      </a:r>
                    </a:p>
                  </a:txBody>
                  <a:tcPr marL="48431" marR="48431" marT="24216" marB="24216" anchor="ctr"/>
                </a:tc>
                <a:tc>
                  <a:txBody>
                    <a:bodyPr/>
                    <a:lstStyle/>
                    <a:p>
                      <a:pPr>
                        <a:lnSpc>
                          <a:spcPct val="100000"/>
                        </a:lnSpc>
                        <a:buNone/>
                      </a:pPr>
                      <a:r>
                        <a:rPr lang="en-US" sz="900">
                          <a:effectLst/>
                        </a:rPr>
                        <a:t>29 Jun – 24 Jul 2026</a:t>
                      </a:r>
                    </a:p>
                  </a:txBody>
                  <a:tcPr marL="48431" marR="48431" marT="24216" marB="24216" anchor="ctr"/>
                </a:tc>
                <a:tc>
                  <a:txBody>
                    <a:bodyPr/>
                    <a:lstStyle/>
                    <a:p>
                      <a:pPr>
                        <a:lnSpc>
                          <a:spcPct val="100000"/>
                        </a:lnSpc>
                        <a:buNone/>
                      </a:pPr>
                      <a:r>
                        <a:rPr lang="en-US" sz="900" u="none">
                          <a:effectLst/>
                        </a:rPr>
                        <a:t>Iteration Planning, </a:t>
                      </a:r>
                      <a:r>
                        <a:rPr lang="en-US" sz="900" u="sng">
                          <a:effectLst/>
                        </a:rPr>
                        <a:t>Logbook &amp; Promotion Development,</a:t>
                      </a:r>
                      <a:r>
                        <a:rPr lang="en-US" sz="900" u="none">
                          <a:effectLst/>
                        </a:rPr>
                        <a:t> Iteration Review</a:t>
                      </a:r>
                    </a:p>
                  </a:txBody>
                  <a:tcPr marL="48431" marR="48431" marT="24216" marB="24216" anchor="ctr"/>
                </a:tc>
                <a:tc>
                  <a:txBody>
                    <a:bodyPr/>
                    <a:lstStyle/>
                    <a:p>
                      <a:pPr>
                        <a:lnSpc>
                          <a:spcPct val="100000"/>
                        </a:lnSpc>
                        <a:buNone/>
                      </a:pPr>
                      <a:r>
                        <a:rPr lang="en-US" sz="900">
                          <a:effectLst/>
                        </a:rPr>
                        <a:t>Promotion workflow</a:t>
                      </a:r>
                    </a:p>
                  </a:txBody>
                  <a:tcPr marL="48431" marR="48431" marT="24216" marB="24216" anchor="ctr"/>
                </a:tc>
                <a:tc>
                  <a:txBody>
                    <a:bodyPr/>
                    <a:lstStyle/>
                    <a:p>
                      <a:pPr fontAlgn="t">
                        <a:lnSpc>
                          <a:spcPct val="100000"/>
                        </a:lnSpc>
                        <a:buNone/>
                      </a:pPr>
                      <a:r>
                        <a:rPr lang="en-US" sz="900" b="0" i="0">
                          <a:effectLst/>
                          <a:latin typeface="Calibri" panose="020F0502020204030204" pitchFamily="34" charset="0"/>
                          <a:ea typeface="Calibri" panose="020F0502020204030204" pitchFamily="34" charset="0"/>
                          <a:cs typeface="Calibri" panose="020F0502020204030204" pitchFamily="34" charset="0"/>
                        </a:rPr>
                        <a:t>SM, PO, PM, Dev Team, QA</a:t>
                      </a:r>
                    </a:p>
                  </a:txBody>
                  <a:tcPr marL="48431" marR="48431" marT="24216" marB="24216" anchor="ctr"/>
                </a:tc>
                <a:extLst>
                  <a:ext uri="{0D108BD9-81ED-4DB2-BD59-A6C34878D82A}">
                    <a16:rowId xmlns:a16="http://schemas.microsoft.com/office/drawing/2014/main" val="327729803"/>
                  </a:ext>
                </a:extLst>
              </a:tr>
              <a:tr h="270036">
                <a:tc vMerge="1">
                  <a:txBody>
                    <a:bodyPr/>
                    <a:lstStyle/>
                    <a:p>
                      <a:endParaRPr/>
                    </a:p>
                  </a:txBody>
                  <a:tcPr marL="48431" marR="48431" marT="24216" marB="24216" anchor="ctr"/>
                </a:tc>
                <a:tc>
                  <a:txBody>
                    <a:bodyPr/>
                    <a:lstStyle/>
                    <a:p>
                      <a:pPr>
                        <a:lnSpc>
                          <a:spcPct val="100000"/>
                        </a:lnSpc>
                        <a:buNone/>
                      </a:pPr>
                      <a:r>
                        <a:rPr lang="en-US" sz="900">
                          <a:effectLst/>
                        </a:rPr>
                        <a:t>Iteration 7–8</a:t>
                      </a:r>
                    </a:p>
                  </a:txBody>
                  <a:tcPr marL="48431" marR="48431" marT="24216" marB="24216" anchor="ctr"/>
                </a:tc>
                <a:tc>
                  <a:txBody>
                    <a:bodyPr/>
                    <a:lstStyle/>
                    <a:p>
                      <a:pPr>
                        <a:lnSpc>
                          <a:spcPct val="100000"/>
                        </a:lnSpc>
                        <a:buNone/>
                      </a:pPr>
                      <a:r>
                        <a:rPr lang="en-US" sz="900">
                          <a:effectLst/>
                        </a:rPr>
                        <a:t>27 Jul – 21 Aug 2026</a:t>
                      </a:r>
                    </a:p>
                  </a:txBody>
                  <a:tcPr marL="48431" marR="48431" marT="24216" marB="24216" anchor="ctr"/>
                </a:tc>
                <a:tc>
                  <a:txBody>
                    <a:bodyPr/>
                    <a:lstStyle/>
                    <a:p>
                      <a:pPr>
                        <a:lnSpc>
                          <a:spcPct val="100000"/>
                        </a:lnSpc>
                        <a:buNone/>
                      </a:pPr>
                      <a:r>
                        <a:rPr lang="en-US" sz="900" u="none">
                          <a:effectLst/>
                        </a:rPr>
                        <a:t>Iteration Planning, </a:t>
                      </a:r>
                      <a:r>
                        <a:rPr lang="en-US" sz="900" u="sng">
                          <a:effectLst/>
                        </a:rPr>
                        <a:t>Training Management Development,</a:t>
                      </a:r>
                      <a:r>
                        <a:rPr lang="en-US" sz="900" u="none">
                          <a:effectLst/>
                        </a:rPr>
                        <a:t> Iteration Review</a:t>
                      </a:r>
                    </a:p>
                  </a:txBody>
                  <a:tcPr marL="48431" marR="48431" marT="24216" marB="24216" anchor="ctr"/>
                </a:tc>
                <a:tc>
                  <a:txBody>
                    <a:bodyPr/>
                    <a:lstStyle/>
                    <a:p>
                      <a:pPr>
                        <a:lnSpc>
                          <a:spcPct val="100000"/>
                        </a:lnSpc>
                        <a:buNone/>
                      </a:pPr>
                      <a:r>
                        <a:rPr lang="en-US" sz="900">
                          <a:effectLst/>
                        </a:rPr>
                        <a:t>Training lifecycle</a:t>
                      </a:r>
                    </a:p>
                  </a:txBody>
                  <a:tcPr marL="48431" marR="48431" marT="24216" marB="242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effectLst/>
                          <a:latin typeface="Calibri" panose="020F0502020204030204" pitchFamily="34" charset="0"/>
                          <a:ea typeface="Calibri" panose="020F0502020204030204" pitchFamily="34" charset="0"/>
                          <a:cs typeface="Calibri" panose="020F0502020204030204" pitchFamily="34" charset="0"/>
                        </a:rPr>
                        <a:t>SM, PO, PM, Dev Team, QA</a:t>
                      </a:r>
                    </a:p>
                  </a:txBody>
                  <a:tcPr marL="48431" marR="48431" marT="24216" marB="24216" anchor="ctr"/>
                </a:tc>
                <a:extLst>
                  <a:ext uri="{0D108BD9-81ED-4DB2-BD59-A6C34878D82A}">
                    <a16:rowId xmlns:a16="http://schemas.microsoft.com/office/drawing/2014/main" val="2258229921"/>
                  </a:ext>
                </a:extLst>
              </a:tr>
              <a:tr h="270036">
                <a:tc vMerge="1">
                  <a:txBody>
                    <a:bodyPr/>
                    <a:lstStyle/>
                    <a:p>
                      <a:endParaRPr/>
                    </a:p>
                  </a:txBody>
                  <a:tcPr marL="48431" marR="48431" marT="24216" marB="24216" anchor="ctr"/>
                </a:tc>
                <a:tc>
                  <a:txBody>
                    <a:bodyPr/>
                    <a:lstStyle/>
                    <a:p>
                      <a:pPr>
                        <a:lnSpc>
                          <a:spcPct val="100000"/>
                        </a:lnSpc>
                        <a:buNone/>
                      </a:pPr>
                      <a:r>
                        <a:rPr lang="en-US" sz="900">
                          <a:effectLst/>
                        </a:rPr>
                        <a:t>Iteration 9–10</a:t>
                      </a:r>
                    </a:p>
                  </a:txBody>
                  <a:tcPr marL="48431" marR="48431" marT="24216" marB="24216" anchor="ctr"/>
                </a:tc>
                <a:tc>
                  <a:txBody>
                    <a:bodyPr/>
                    <a:lstStyle/>
                    <a:p>
                      <a:pPr>
                        <a:lnSpc>
                          <a:spcPct val="100000"/>
                        </a:lnSpc>
                        <a:buNone/>
                      </a:pPr>
                      <a:r>
                        <a:rPr lang="en-US" sz="900">
                          <a:effectLst/>
                        </a:rPr>
                        <a:t>24 Aug – 18 Sep 2026</a:t>
                      </a:r>
                    </a:p>
                  </a:txBody>
                  <a:tcPr marL="48431" marR="48431" marT="24216" marB="24216" anchor="ctr"/>
                </a:tc>
                <a:tc>
                  <a:txBody>
                    <a:bodyPr/>
                    <a:lstStyle/>
                    <a:p>
                      <a:pPr>
                        <a:lnSpc>
                          <a:spcPct val="100000"/>
                        </a:lnSpc>
                        <a:buNone/>
                      </a:pPr>
                      <a:r>
                        <a:rPr lang="en-US" sz="900" u="none">
                          <a:effectLst/>
                        </a:rPr>
                        <a:t>Iteration Planning, </a:t>
                      </a:r>
                      <a:r>
                        <a:rPr lang="en-US" sz="900" u="sng">
                          <a:effectLst/>
                        </a:rPr>
                        <a:t>MPP Development, </a:t>
                      </a:r>
                      <a:r>
                        <a:rPr lang="en-US" sz="900" u="none">
                          <a:effectLst/>
                        </a:rPr>
                        <a:t>Iteration Review</a:t>
                      </a:r>
                    </a:p>
                  </a:txBody>
                  <a:tcPr marL="48431" marR="48431" marT="24216" marB="24216" anchor="ctr"/>
                </a:tc>
                <a:tc>
                  <a:txBody>
                    <a:bodyPr/>
                    <a:lstStyle/>
                    <a:p>
                      <a:pPr>
                        <a:lnSpc>
                          <a:spcPct val="100000"/>
                        </a:lnSpc>
                        <a:buNone/>
                      </a:pPr>
                      <a:r>
                        <a:rPr lang="en-US" sz="900">
                          <a:effectLst/>
                        </a:rPr>
                        <a:t>Workforce planning</a:t>
                      </a:r>
                    </a:p>
                  </a:txBody>
                  <a:tcPr marL="48431" marR="48431" marT="24216" marB="242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effectLst/>
                          <a:latin typeface="Calibri" panose="020F0502020204030204" pitchFamily="34" charset="0"/>
                          <a:ea typeface="Calibri" panose="020F0502020204030204" pitchFamily="34" charset="0"/>
                          <a:cs typeface="Calibri" panose="020F0502020204030204" pitchFamily="34" charset="0"/>
                        </a:rPr>
                        <a:t>SM, PO, PM, Dev Team, QA</a:t>
                      </a:r>
                    </a:p>
                  </a:txBody>
                  <a:tcPr marL="48431" marR="48431" marT="24216" marB="24216" anchor="ctr"/>
                </a:tc>
                <a:extLst>
                  <a:ext uri="{0D108BD9-81ED-4DB2-BD59-A6C34878D82A}">
                    <a16:rowId xmlns:a16="http://schemas.microsoft.com/office/drawing/2014/main" val="227115453"/>
                  </a:ext>
                </a:extLst>
              </a:tr>
              <a:tr h="270036">
                <a:tc vMerge="1">
                  <a:txBody>
                    <a:bodyPr/>
                    <a:lstStyle/>
                    <a:p>
                      <a:endParaRPr/>
                    </a:p>
                  </a:txBody>
                  <a:tcPr marL="48431" marR="48431" marT="24216" marB="24216" anchor="ctr"/>
                </a:tc>
                <a:tc>
                  <a:txBody>
                    <a:bodyPr/>
                    <a:lstStyle/>
                    <a:p>
                      <a:pPr>
                        <a:lnSpc>
                          <a:spcPct val="100000"/>
                        </a:lnSpc>
                        <a:buNone/>
                      </a:pPr>
                      <a:r>
                        <a:rPr lang="en-US" sz="900">
                          <a:effectLst/>
                        </a:rPr>
                        <a:t>Iteration 11–12</a:t>
                      </a:r>
                    </a:p>
                  </a:txBody>
                  <a:tcPr marL="48431" marR="48431" marT="24216" marB="24216" anchor="ctr"/>
                </a:tc>
                <a:tc>
                  <a:txBody>
                    <a:bodyPr/>
                    <a:lstStyle/>
                    <a:p>
                      <a:pPr>
                        <a:lnSpc>
                          <a:spcPct val="100000"/>
                        </a:lnSpc>
                        <a:buNone/>
                      </a:pPr>
                      <a:r>
                        <a:rPr lang="en-US" sz="900">
                          <a:effectLst/>
                        </a:rPr>
                        <a:t>21 Sep – 16 Oct 2026</a:t>
                      </a:r>
                    </a:p>
                  </a:txBody>
                  <a:tcPr marL="48431" marR="48431" marT="24216" marB="24216" anchor="ctr"/>
                </a:tc>
                <a:tc>
                  <a:txBody>
                    <a:bodyPr/>
                    <a:lstStyle/>
                    <a:p>
                      <a:pPr>
                        <a:lnSpc>
                          <a:spcPct val="100000"/>
                        </a:lnSpc>
                        <a:buNone/>
                      </a:pPr>
                      <a:r>
                        <a:rPr lang="en-US" sz="900" u="none">
                          <a:effectLst/>
                        </a:rPr>
                        <a:t>Iteration Planning, </a:t>
                      </a:r>
                      <a:r>
                        <a:rPr lang="en-US" sz="900" u="sng">
                          <a:effectLst/>
                        </a:rPr>
                        <a:t>Recruitment Development,</a:t>
                      </a:r>
                      <a:r>
                        <a:rPr lang="en-US" sz="900" u="none">
                          <a:effectLst/>
                        </a:rPr>
                        <a:t> Iteration Review</a:t>
                      </a:r>
                    </a:p>
                  </a:txBody>
                  <a:tcPr marL="48431" marR="48431" marT="24216" marB="24216" anchor="ctr"/>
                </a:tc>
                <a:tc>
                  <a:txBody>
                    <a:bodyPr/>
                    <a:lstStyle/>
                    <a:p>
                      <a:pPr>
                        <a:lnSpc>
                          <a:spcPct val="100000"/>
                        </a:lnSpc>
                        <a:buNone/>
                      </a:pPr>
                      <a:r>
                        <a:rPr lang="en-US" sz="900">
                          <a:effectLst/>
                        </a:rPr>
                        <a:t>Recruitment process</a:t>
                      </a:r>
                    </a:p>
                  </a:txBody>
                  <a:tcPr marL="48431" marR="48431" marT="24216" marB="242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effectLst/>
                          <a:latin typeface="Calibri" panose="020F0502020204030204" pitchFamily="34" charset="0"/>
                          <a:ea typeface="Calibri" panose="020F0502020204030204" pitchFamily="34" charset="0"/>
                          <a:cs typeface="Calibri" panose="020F0502020204030204" pitchFamily="34" charset="0"/>
                        </a:rPr>
                        <a:t>SM, PO, PM, Dev Team, QA</a:t>
                      </a:r>
                    </a:p>
                  </a:txBody>
                  <a:tcPr marL="48431" marR="48431" marT="24216" marB="24216" anchor="ctr"/>
                </a:tc>
                <a:extLst>
                  <a:ext uri="{0D108BD9-81ED-4DB2-BD59-A6C34878D82A}">
                    <a16:rowId xmlns:a16="http://schemas.microsoft.com/office/drawing/2014/main" val="1379332448"/>
                  </a:ext>
                </a:extLst>
              </a:tr>
              <a:tr h="295538">
                <a:tc vMerge="1">
                  <a:txBody>
                    <a:bodyPr/>
                    <a:lstStyle/>
                    <a:p>
                      <a:endParaRPr/>
                    </a:p>
                  </a:txBody>
                  <a:tcPr marL="48431" marR="48431" marT="24216" marB="24216" anchor="ctr"/>
                </a:tc>
                <a:tc>
                  <a:txBody>
                    <a:bodyPr/>
                    <a:lstStyle/>
                    <a:p>
                      <a:pPr>
                        <a:lnSpc>
                          <a:spcPct val="100000"/>
                        </a:lnSpc>
                        <a:buNone/>
                      </a:pPr>
                      <a:r>
                        <a:rPr lang="en-US" sz="900">
                          <a:effectLst/>
                        </a:rPr>
                        <a:t>Iteration 13</a:t>
                      </a:r>
                    </a:p>
                  </a:txBody>
                  <a:tcPr marL="48431" marR="48431" marT="24216" marB="24216" anchor="ctr"/>
                </a:tc>
                <a:tc>
                  <a:txBody>
                    <a:bodyPr/>
                    <a:lstStyle/>
                    <a:p>
                      <a:pPr>
                        <a:lnSpc>
                          <a:spcPct val="100000"/>
                        </a:lnSpc>
                        <a:buNone/>
                      </a:pPr>
                      <a:r>
                        <a:rPr lang="en-US" sz="900">
                          <a:effectLst/>
                        </a:rPr>
                        <a:t>19 Oct – 30 Oct 2026</a:t>
                      </a:r>
                    </a:p>
                  </a:txBody>
                  <a:tcPr marL="48431" marR="48431" marT="24216" marB="24216" anchor="ctr"/>
                </a:tc>
                <a:tc>
                  <a:txBody>
                    <a:bodyPr/>
                    <a:lstStyle/>
                    <a:p>
                      <a:pPr>
                        <a:lnSpc>
                          <a:spcPct val="100000"/>
                        </a:lnSpc>
                        <a:buNone/>
                      </a:pPr>
                      <a:r>
                        <a:rPr lang="en-US" sz="900">
                          <a:effectLst/>
                        </a:rPr>
                        <a:t>VAPT and remediation</a:t>
                      </a:r>
                    </a:p>
                  </a:txBody>
                  <a:tcPr marL="48431" marR="48431" marT="24216" marB="24216" anchor="ctr"/>
                </a:tc>
                <a:tc>
                  <a:txBody>
                    <a:bodyPr/>
                    <a:lstStyle/>
                    <a:p>
                      <a:pPr>
                        <a:lnSpc>
                          <a:spcPct val="100000"/>
                        </a:lnSpc>
                        <a:buNone/>
                      </a:pPr>
                      <a:r>
                        <a:rPr lang="en-US" sz="900">
                          <a:effectLst/>
                        </a:rPr>
                        <a:t>All of findings is solved</a:t>
                      </a:r>
                    </a:p>
                  </a:txBody>
                  <a:tcPr marL="48431" marR="48431" marT="24216" marB="24216" anchor="ctr"/>
                </a:tc>
                <a:tc>
                  <a:txBody>
                    <a:bodyPr/>
                    <a:lstStyle/>
                    <a:p>
                      <a:pPr>
                        <a:lnSpc>
                          <a:spcPct val="100000"/>
                        </a:lnSpc>
                        <a:buNone/>
                      </a:pPr>
                      <a:r>
                        <a:rPr lang="en-US" sz="900" b="0" i="0">
                          <a:effectLst/>
                          <a:latin typeface="Calibri" panose="020F0502020204030204" pitchFamily="34" charset="0"/>
                          <a:ea typeface="Calibri" panose="020F0502020204030204" pitchFamily="34" charset="0"/>
                          <a:cs typeface="Calibri" panose="020F0502020204030204" pitchFamily="34" charset="0"/>
                        </a:rPr>
                        <a:t>SM, PM, Dev Team, Dev team lead, SA</a:t>
                      </a:r>
                      <a:endParaRPr lang="en-US" sz="900">
                        <a:effectLst/>
                      </a:endParaRPr>
                    </a:p>
                  </a:txBody>
                  <a:tcPr marL="48431" marR="48431" marT="24216" marB="24216" anchor="ctr"/>
                </a:tc>
                <a:extLst>
                  <a:ext uri="{0D108BD9-81ED-4DB2-BD59-A6C34878D82A}">
                    <a16:rowId xmlns:a16="http://schemas.microsoft.com/office/drawing/2014/main" val="1196090662"/>
                  </a:ext>
                </a:extLst>
              </a:tr>
              <a:tr h="295538">
                <a:tc vMerge="1">
                  <a:txBody>
                    <a:bodyPr/>
                    <a:lstStyle/>
                    <a:p>
                      <a:endParaRPr lang="en-US"/>
                    </a:p>
                  </a:txBody>
                  <a:tcPr/>
                </a:tc>
                <a:tc rowSpan="2">
                  <a:txBody>
                    <a:bodyPr/>
                    <a:lstStyle/>
                    <a:p>
                      <a:pPr>
                        <a:lnSpc>
                          <a:spcPct val="100000"/>
                        </a:lnSpc>
                        <a:buNone/>
                      </a:pPr>
                      <a:r>
                        <a:rPr lang="en-US" sz="900">
                          <a:effectLst/>
                        </a:rPr>
                        <a:t>Iteration 14</a:t>
                      </a:r>
                    </a:p>
                  </a:txBody>
                  <a:tcPr marL="48431" marR="48431" marT="24216" marB="24216" anchor="ctr"/>
                </a:tc>
                <a:tc>
                  <a:txBody>
                    <a:bodyPr/>
                    <a:lstStyle/>
                    <a:p>
                      <a:pPr>
                        <a:lnSpc>
                          <a:spcPct val="100000"/>
                        </a:lnSpc>
                        <a:buNone/>
                      </a:pPr>
                      <a:r>
                        <a:rPr lang="en-US" sz="900">
                          <a:effectLst/>
                        </a:rPr>
                        <a:t>2 Nov – 6 Nov 2026</a:t>
                      </a:r>
                    </a:p>
                  </a:txBody>
                  <a:tcPr marL="48431" marR="48431" marT="24216" marB="24216" anchor="ctr"/>
                </a:tc>
                <a:tc>
                  <a:txBody>
                    <a:bodyPr/>
                    <a:lstStyle/>
                    <a:p>
                      <a:pPr>
                        <a:lnSpc>
                          <a:spcPct val="100000"/>
                        </a:lnSpc>
                        <a:buNone/>
                      </a:pPr>
                      <a:r>
                        <a:rPr lang="en-US" sz="900">
                          <a:effectLst/>
                        </a:rPr>
                        <a:t>Training</a:t>
                      </a:r>
                    </a:p>
                  </a:txBody>
                  <a:tcPr marL="48431" marR="48431" marT="24216" marB="24216" anchor="ctr"/>
                </a:tc>
                <a:tc>
                  <a:txBody>
                    <a:bodyPr/>
                    <a:lstStyle/>
                    <a:p>
                      <a:pPr>
                        <a:lnSpc>
                          <a:spcPct val="100000"/>
                        </a:lnSpc>
                        <a:buNone/>
                      </a:pPr>
                      <a:r>
                        <a:rPr lang="en-US" sz="900">
                          <a:effectLst/>
                        </a:rPr>
                        <a:t>Training for Key User for Phase 2 and will involving training with end user</a:t>
                      </a:r>
                    </a:p>
                  </a:txBody>
                  <a:tcPr marL="48431" marR="48431" marT="24216" marB="2421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rPr>
                        <a:t>SM, PM, PMO, PO, Dev Team, QA</a:t>
                      </a:r>
                    </a:p>
                  </a:txBody>
                  <a:tcPr marL="48431" marR="48431" marT="24216" marB="24216" anchor="ctr"/>
                </a:tc>
                <a:extLst>
                  <a:ext uri="{0D108BD9-81ED-4DB2-BD59-A6C34878D82A}">
                    <a16:rowId xmlns:a16="http://schemas.microsoft.com/office/drawing/2014/main" val="3516743997"/>
                  </a:ext>
                </a:extLst>
              </a:tr>
              <a:tr h="423046">
                <a:tc vMerge="1">
                  <a:txBody>
                    <a:bodyPr/>
                    <a:lstStyle/>
                    <a:p>
                      <a:endParaRPr/>
                    </a:p>
                  </a:txBody>
                  <a:tcPr marL="48431" marR="48431" marT="24216" marB="24216" anchor="ctr"/>
                </a:tc>
                <a:tc vMerge="1">
                  <a:txBody>
                    <a:bodyPr/>
                    <a:lstStyle/>
                    <a:p>
                      <a:pPr>
                        <a:lnSpc>
                          <a:spcPct val="100000"/>
                        </a:lnSpc>
                        <a:buNone/>
                      </a:pPr>
                      <a:endParaRPr lang="en-US" sz="1000">
                        <a:effectLst/>
                      </a:endParaRPr>
                    </a:p>
                  </a:txBody>
                  <a:tcPr marL="48431" marR="48431" marT="24216" marB="24216" anchor="ctr"/>
                </a:tc>
                <a:tc>
                  <a:txBody>
                    <a:bodyPr/>
                    <a:lstStyle/>
                    <a:p>
                      <a:pPr>
                        <a:lnSpc>
                          <a:spcPct val="100000"/>
                        </a:lnSpc>
                        <a:buNone/>
                      </a:pPr>
                      <a:r>
                        <a:rPr lang="en-US" sz="900">
                          <a:effectLst/>
                        </a:rPr>
                        <a:t>9 Nov – 13 Nov 2026</a:t>
                      </a:r>
                    </a:p>
                  </a:txBody>
                  <a:tcPr marL="48431" marR="48431" marT="24216" marB="24216" anchor="ctr"/>
                </a:tc>
                <a:tc>
                  <a:txBody>
                    <a:bodyPr/>
                    <a:lstStyle/>
                    <a:p>
                      <a:pPr>
                        <a:lnSpc>
                          <a:spcPct val="100000"/>
                        </a:lnSpc>
                        <a:buNone/>
                      </a:pPr>
                      <a:r>
                        <a:rPr lang="en-US" sz="900" b="1" u="sng">
                          <a:effectLst/>
                        </a:rPr>
                        <a:t>Full Go Live</a:t>
                      </a:r>
                    </a:p>
                  </a:txBody>
                  <a:tcPr marL="48431" marR="48431" marT="24216" marB="24216" anchor="ctr"/>
                </a:tc>
                <a:tc>
                  <a:txBody>
                    <a:bodyPr/>
                    <a:lstStyle/>
                    <a:p>
                      <a:pPr>
                        <a:lnSpc>
                          <a:spcPct val="100000"/>
                        </a:lnSpc>
                        <a:buNone/>
                      </a:pPr>
                      <a:r>
                        <a:rPr lang="en-US" sz="900">
                          <a:effectLst/>
                        </a:rPr>
                        <a:t>Signoff UAT, CAB, Deployment plan, Deployment execution, Publish web application, testing &amp; resolution after deployment</a:t>
                      </a:r>
                    </a:p>
                  </a:txBody>
                  <a:tcPr marL="48431" marR="48431" marT="24216" marB="24216" anchor="ctr"/>
                </a:tc>
                <a:tc>
                  <a:txBody>
                    <a:bodyPr/>
                    <a:lstStyle/>
                    <a:p>
                      <a:pPr>
                        <a:lnSpc>
                          <a:spcPct val="100000"/>
                        </a:lnSpc>
                        <a:buNone/>
                      </a:pPr>
                      <a:r>
                        <a:rPr lang="en-US" sz="900" b="0" i="0">
                          <a:effectLst/>
                          <a:latin typeface="Calibri" panose="020F0502020204030204" pitchFamily="34" charset="0"/>
                          <a:ea typeface="Calibri" panose="020F0502020204030204" pitchFamily="34" charset="0"/>
                          <a:cs typeface="Calibri" panose="020F0502020204030204" pitchFamily="34" charset="0"/>
                        </a:rPr>
                        <a:t>SM, PM, PO, Dev Team, Dev team lead, SA</a:t>
                      </a:r>
                      <a:endParaRPr lang="en-US" sz="900">
                        <a:effectLst/>
                      </a:endParaRPr>
                    </a:p>
                  </a:txBody>
                  <a:tcPr marL="48431" marR="48431" marT="24216" marB="24216" anchor="ctr"/>
                </a:tc>
                <a:extLst>
                  <a:ext uri="{0D108BD9-81ED-4DB2-BD59-A6C34878D82A}">
                    <a16:rowId xmlns:a16="http://schemas.microsoft.com/office/drawing/2014/main" val="1693126861"/>
                  </a:ext>
                </a:extLst>
              </a:tr>
            </a:tbl>
          </a:graphicData>
        </a:graphic>
      </p:graphicFrame>
      <p:graphicFrame>
        <p:nvGraphicFramePr>
          <p:cNvPr id="4" name="Table 3">
            <a:extLst>
              <a:ext uri="{FF2B5EF4-FFF2-40B4-BE49-F238E27FC236}">
                <a16:creationId xmlns:a16="http://schemas.microsoft.com/office/drawing/2014/main" id="{2EFC16FE-218F-00A7-5FB8-4173AB795873}"/>
              </a:ext>
            </a:extLst>
          </p:cNvPr>
          <p:cNvGraphicFramePr>
            <a:graphicFrameLocks noGrp="1"/>
          </p:cNvGraphicFramePr>
          <p:nvPr>
            <p:extLst>
              <p:ext uri="{D42A27DB-BD31-4B8C-83A1-F6EECF244321}">
                <p14:modId xmlns:p14="http://schemas.microsoft.com/office/powerpoint/2010/main" val="1179672189"/>
              </p:ext>
            </p:extLst>
          </p:nvPr>
        </p:nvGraphicFramePr>
        <p:xfrm>
          <a:off x="-1" y="372904"/>
          <a:ext cx="9804392" cy="706757"/>
        </p:xfrm>
        <a:graphic>
          <a:graphicData uri="http://schemas.openxmlformats.org/drawingml/2006/table">
            <a:tbl>
              <a:tblPr firstRow="1" bandRow="1">
                <a:tableStyleId>{5C22544A-7EE6-4342-B048-85BDC9FD1C3A}</a:tableStyleId>
              </a:tblPr>
              <a:tblGrid>
                <a:gridCol w="377092">
                  <a:extLst>
                    <a:ext uri="{9D8B030D-6E8A-4147-A177-3AD203B41FA5}">
                      <a16:colId xmlns:a16="http://schemas.microsoft.com/office/drawing/2014/main" val="3271107328"/>
                    </a:ext>
                  </a:extLst>
                </a:gridCol>
                <a:gridCol w="377092">
                  <a:extLst>
                    <a:ext uri="{9D8B030D-6E8A-4147-A177-3AD203B41FA5}">
                      <a16:colId xmlns:a16="http://schemas.microsoft.com/office/drawing/2014/main" val="1757186031"/>
                    </a:ext>
                  </a:extLst>
                </a:gridCol>
                <a:gridCol w="377092">
                  <a:extLst>
                    <a:ext uri="{9D8B030D-6E8A-4147-A177-3AD203B41FA5}">
                      <a16:colId xmlns:a16="http://schemas.microsoft.com/office/drawing/2014/main" val="4192347074"/>
                    </a:ext>
                  </a:extLst>
                </a:gridCol>
                <a:gridCol w="377092">
                  <a:extLst>
                    <a:ext uri="{9D8B030D-6E8A-4147-A177-3AD203B41FA5}">
                      <a16:colId xmlns:a16="http://schemas.microsoft.com/office/drawing/2014/main" val="4007015890"/>
                    </a:ext>
                  </a:extLst>
                </a:gridCol>
                <a:gridCol w="377092">
                  <a:extLst>
                    <a:ext uri="{9D8B030D-6E8A-4147-A177-3AD203B41FA5}">
                      <a16:colId xmlns:a16="http://schemas.microsoft.com/office/drawing/2014/main" val="1419018623"/>
                    </a:ext>
                  </a:extLst>
                </a:gridCol>
                <a:gridCol w="377092">
                  <a:extLst>
                    <a:ext uri="{9D8B030D-6E8A-4147-A177-3AD203B41FA5}">
                      <a16:colId xmlns:a16="http://schemas.microsoft.com/office/drawing/2014/main" val="2519499074"/>
                    </a:ext>
                  </a:extLst>
                </a:gridCol>
                <a:gridCol w="377092">
                  <a:extLst>
                    <a:ext uri="{9D8B030D-6E8A-4147-A177-3AD203B41FA5}">
                      <a16:colId xmlns:a16="http://schemas.microsoft.com/office/drawing/2014/main" val="2750398652"/>
                    </a:ext>
                  </a:extLst>
                </a:gridCol>
                <a:gridCol w="377092">
                  <a:extLst>
                    <a:ext uri="{9D8B030D-6E8A-4147-A177-3AD203B41FA5}">
                      <a16:colId xmlns:a16="http://schemas.microsoft.com/office/drawing/2014/main" val="876280060"/>
                    </a:ext>
                  </a:extLst>
                </a:gridCol>
                <a:gridCol w="377092">
                  <a:extLst>
                    <a:ext uri="{9D8B030D-6E8A-4147-A177-3AD203B41FA5}">
                      <a16:colId xmlns:a16="http://schemas.microsoft.com/office/drawing/2014/main" val="197933041"/>
                    </a:ext>
                  </a:extLst>
                </a:gridCol>
                <a:gridCol w="377092">
                  <a:extLst>
                    <a:ext uri="{9D8B030D-6E8A-4147-A177-3AD203B41FA5}">
                      <a16:colId xmlns:a16="http://schemas.microsoft.com/office/drawing/2014/main" val="248997324"/>
                    </a:ext>
                  </a:extLst>
                </a:gridCol>
                <a:gridCol w="377092">
                  <a:extLst>
                    <a:ext uri="{9D8B030D-6E8A-4147-A177-3AD203B41FA5}">
                      <a16:colId xmlns:a16="http://schemas.microsoft.com/office/drawing/2014/main" val="1933012801"/>
                    </a:ext>
                  </a:extLst>
                </a:gridCol>
                <a:gridCol w="377092">
                  <a:extLst>
                    <a:ext uri="{9D8B030D-6E8A-4147-A177-3AD203B41FA5}">
                      <a16:colId xmlns:a16="http://schemas.microsoft.com/office/drawing/2014/main" val="4246438408"/>
                    </a:ext>
                  </a:extLst>
                </a:gridCol>
                <a:gridCol w="377092">
                  <a:extLst>
                    <a:ext uri="{9D8B030D-6E8A-4147-A177-3AD203B41FA5}">
                      <a16:colId xmlns:a16="http://schemas.microsoft.com/office/drawing/2014/main" val="3101098814"/>
                    </a:ext>
                  </a:extLst>
                </a:gridCol>
                <a:gridCol w="377092">
                  <a:extLst>
                    <a:ext uri="{9D8B030D-6E8A-4147-A177-3AD203B41FA5}">
                      <a16:colId xmlns:a16="http://schemas.microsoft.com/office/drawing/2014/main" val="721743759"/>
                    </a:ext>
                  </a:extLst>
                </a:gridCol>
                <a:gridCol w="377092">
                  <a:extLst>
                    <a:ext uri="{9D8B030D-6E8A-4147-A177-3AD203B41FA5}">
                      <a16:colId xmlns:a16="http://schemas.microsoft.com/office/drawing/2014/main" val="814638379"/>
                    </a:ext>
                  </a:extLst>
                </a:gridCol>
                <a:gridCol w="377092">
                  <a:extLst>
                    <a:ext uri="{9D8B030D-6E8A-4147-A177-3AD203B41FA5}">
                      <a16:colId xmlns:a16="http://schemas.microsoft.com/office/drawing/2014/main" val="3123370424"/>
                    </a:ext>
                  </a:extLst>
                </a:gridCol>
                <a:gridCol w="377092">
                  <a:extLst>
                    <a:ext uri="{9D8B030D-6E8A-4147-A177-3AD203B41FA5}">
                      <a16:colId xmlns:a16="http://schemas.microsoft.com/office/drawing/2014/main" val="475759463"/>
                    </a:ext>
                  </a:extLst>
                </a:gridCol>
                <a:gridCol w="377092">
                  <a:extLst>
                    <a:ext uri="{9D8B030D-6E8A-4147-A177-3AD203B41FA5}">
                      <a16:colId xmlns:a16="http://schemas.microsoft.com/office/drawing/2014/main" val="3807874699"/>
                    </a:ext>
                  </a:extLst>
                </a:gridCol>
                <a:gridCol w="377092">
                  <a:extLst>
                    <a:ext uri="{9D8B030D-6E8A-4147-A177-3AD203B41FA5}">
                      <a16:colId xmlns:a16="http://schemas.microsoft.com/office/drawing/2014/main" val="542080057"/>
                    </a:ext>
                  </a:extLst>
                </a:gridCol>
                <a:gridCol w="377092">
                  <a:extLst>
                    <a:ext uri="{9D8B030D-6E8A-4147-A177-3AD203B41FA5}">
                      <a16:colId xmlns:a16="http://schemas.microsoft.com/office/drawing/2014/main" val="2274101293"/>
                    </a:ext>
                  </a:extLst>
                </a:gridCol>
                <a:gridCol w="377092">
                  <a:extLst>
                    <a:ext uri="{9D8B030D-6E8A-4147-A177-3AD203B41FA5}">
                      <a16:colId xmlns:a16="http://schemas.microsoft.com/office/drawing/2014/main" val="847366480"/>
                    </a:ext>
                  </a:extLst>
                </a:gridCol>
                <a:gridCol w="377092">
                  <a:extLst>
                    <a:ext uri="{9D8B030D-6E8A-4147-A177-3AD203B41FA5}">
                      <a16:colId xmlns:a16="http://schemas.microsoft.com/office/drawing/2014/main" val="3947054432"/>
                    </a:ext>
                  </a:extLst>
                </a:gridCol>
                <a:gridCol w="377092">
                  <a:extLst>
                    <a:ext uri="{9D8B030D-6E8A-4147-A177-3AD203B41FA5}">
                      <a16:colId xmlns:a16="http://schemas.microsoft.com/office/drawing/2014/main" val="428316025"/>
                    </a:ext>
                  </a:extLst>
                </a:gridCol>
                <a:gridCol w="377092">
                  <a:extLst>
                    <a:ext uri="{9D8B030D-6E8A-4147-A177-3AD203B41FA5}">
                      <a16:colId xmlns:a16="http://schemas.microsoft.com/office/drawing/2014/main" val="1714393027"/>
                    </a:ext>
                  </a:extLst>
                </a:gridCol>
                <a:gridCol w="377092">
                  <a:extLst>
                    <a:ext uri="{9D8B030D-6E8A-4147-A177-3AD203B41FA5}">
                      <a16:colId xmlns:a16="http://schemas.microsoft.com/office/drawing/2014/main" val="2009350469"/>
                    </a:ext>
                  </a:extLst>
                </a:gridCol>
                <a:gridCol w="377092">
                  <a:extLst>
                    <a:ext uri="{9D8B030D-6E8A-4147-A177-3AD203B41FA5}">
                      <a16:colId xmlns:a16="http://schemas.microsoft.com/office/drawing/2014/main" val="4032426885"/>
                    </a:ext>
                  </a:extLst>
                </a:gridCol>
              </a:tblGrid>
              <a:tr h="222885">
                <a:tc gridSpan="4">
                  <a:txBody>
                    <a:bodyPr/>
                    <a:lstStyle/>
                    <a:p>
                      <a:pPr algn="ctr"/>
                      <a:r>
                        <a:rPr lang="en-US" sz="1000">
                          <a:latin typeface="Calibri" panose="020F0502020204030204" pitchFamily="34" charset="0"/>
                          <a:ea typeface="Calibri" panose="020F0502020204030204" pitchFamily="34" charset="0"/>
                          <a:cs typeface="Calibri" panose="020F0502020204030204" pitchFamily="34" charset="0"/>
                        </a:rPr>
                        <a:t>Month 1</a:t>
                      </a:r>
                    </a:p>
                  </a:txBody>
                  <a:tcPr marL="74295" marR="74295" marT="37148" marB="37148"/>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gridSpan="4">
                  <a:txBody>
                    <a:bodyPr/>
                    <a:lstStyle/>
                    <a:p>
                      <a:pPr algn="ctr"/>
                      <a:r>
                        <a:rPr lang="en-US" sz="1000">
                          <a:latin typeface="Calibri"/>
                          <a:ea typeface="Calibri"/>
                          <a:cs typeface="Calibri"/>
                        </a:rPr>
                        <a:t>Month 2</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hMerge="1">
                  <a:txBody>
                    <a:bodyPr/>
                    <a:lstStyle/>
                    <a:p>
                      <a:endParaRPr lang="en-US"/>
                    </a:p>
                  </a:txBody>
                  <a:tcPr marL="74295" marR="74295" marT="37148" marB="37148"/>
                </a:tc>
                <a:tc hMerge="1">
                  <a:txBody>
                    <a:bodyPr/>
                    <a:lstStyle/>
                    <a:p>
                      <a:endParaRPr lang="en-US"/>
                    </a:p>
                  </a:txBody>
                  <a:tcPr marL="74295" marR="74295" marT="37148" marB="37148"/>
                </a:tc>
                <a:tc gridSpan="4">
                  <a:txBody>
                    <a:bodyPr/>
                    <a:lstStyle/>
                    <a:p>
                      <a:pPr algn="ctr"/>
                      <a:r>
                        <a:rPr lang="en-US" sz="1000">
                          <a:latin typeface="Calibri"/>
                          <a:ea typeface="Calibri"/>
                          <a:cs typeface="Calibri"/>
                        </a:rPr>
                        <a:t>Month 3</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hMerge="1">
                  <a:txBody>
                    <a:bodyPr/>
                    <a:lstStyle/>
                    <a:p>
                      <a:endParaRPr lang="en-US"/>
                    </a:p>
                  </a:txBody>
                  <a:tcPr marL="74295" marR="74295" marT="37148" marB="37148"/>
                </a:tc>
                <a:tc hMerge="1">
                  <a:txBody>
                    <a:bodyPr/>
                    <a:lstStyle/>
                    <a:p>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7" marB="37147"/>
                </a:tc>
                <a:tc gridSpan="4">
                  <a:txBody>
                    <a:bodyPr/>
                    <a:lstStyle/>
                    <a:p>
                      <a:pPr lvl="0" algn="ctr">
                        <a:buNone/>
                      </a:pPr>
                      <a:r>
                        <a:rPr lang="en-US" sz="1000">
                          <a:latin typeface="Calibri"/>
                          <a:ea typeface="Calibri"/>
                          <a:cs typeface="Calibri"/>
                        </a:rPr>
                        <a:t>Month 4</a:t>
                      </a: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gridSpan="4">
                  <a:txBody>
                    <a:bodyPr/>
                    <a:lstStyle/>
                    <a:p>
                      <a:pPr lvl="0" algn="ctr">
                        <a:buNone/>
                      </a:pPr>
                      <a:r>
                        <a:rPr lang="en-US" sz="1000">
                          <a:latin typeface="Calibri"/>
                          <a:ea typeface="Calibri"/>
                          <a:cs typeface="Calibri"/>
                        </a:rPr>
                        <a:t>Month 5</a:t>
                      </a: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gridSpan="4">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tc gridSpan="2">
                  <a:txBody>
                    <a:bodyPr/>
                    <a:lstStyle/>
                    <a:p>
                      <a:pPr lvl="0" algn="ctr">
                        <a:buNone/>
                      </a:pPr>
                      <a:endParaRPr lang="en-US" sz="1000">
                        <a:latin typeface="Calibri"/>
                        <a:ea typeface="Calibri"/>
                        <a:cs typeface="Calibri"/>
                      </a:endParaRPr>
                    </a:p>
                  </a:txBody>
                  <a:tcPr marL="74295" marR="74295" marT="37147" marB="37147"/>
                </a:tc>
                <a:tc hMerge="1">
                  <a:txBody>
                    <a:bodyPr/>
                    <a:lstStyle/>
                    <a:p>
                      <a:pPr lvl="0" algn="ctr">
                        <a:buNone/>
                      </a:pPr>
                      <a:endParaRPr lang="en-US" sz="1000">
                        <a:latin typeface="Calibri"/>
                        <a:ea typeface="Calibri"/>
                        <a:cs typeface="Calibri"/>
                      </a:endParaRPr>
                    </a:p>
                  </a:txBody>
                  <a:tcPr marL="74295" marR="74295" marT="37147" marB="37147"/>
                </a:tc>
                <a:extLst>
                  <a:ext uri="{0D108BD9-81ED-4DB2-BD59-A6C34878D82A}">
                    <a16:rowId xmlns:a16="http://schemas.microsoft.com/office/drawing/2014/main" val="159727397"/>
                  </a:ext>
                </a:extLst>
              </a:tr>
              <a:tr h="222885">
                <a:tc gridSpan="2">
                  <a:txBody>
                    <a:bodyPr/>
                    <a:lstStyle/>
                    <a:p>
                      <a:pPr algn="ctr"/>
                      <a:r>
                        <a:rPr lang="en-US" sz="900">
                          <a:latin typeface="Calibri" panose="020F0502020204030204" pitchFamily="34" charset="0"/>
                          <a:ea typeface="Calibri" panose="020F0502020204030204" pitchFamily="34" charset="0"/>
                          <a:cs typeface="Calibri" panose="020F0502020204030204" pitchFamily="34" charset="0"/>
                        </a:rPr>
                        <a:t>Iteration 1</a:t>
                      </a:r>
                    </a:p>
                  </a:txBody>
                  <a:tcPr marL="74295" marR="74295" marT="37148" marB="37148"/>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gridSpan="2">
                  <a:txBody>
                    <a:bodyPr/>
                    <a:lstStyle/>
                    <a:p>
                      <a:pPr algn="ctr"/>
                      <a:r>
                        <a:rPr lang="en-US" sz="900">
                          <a:latin typeface="Calibri" panose="020F0502020204030204" pitchFamily="34" charset="0"/>
                          <a:ea typeface="Calibri" panose="020F0502020204030204" pitchFamily="34" charset="0"/>
                          <a:cs typeface="Calibri" panose="020F0502020204030204" pitchFamily="34" charset="0"/>
                        </a:rPr>
                        <a:t>Iteration 2</a:t>
                      </a:r>
                    </a:p>
                  </a:txBody>
                  <a:tcPr marL="74295" marR="74295" marT="37148" marB="37148"/>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gridSpan="2">
                  <a:txBody>
                    <a:bodyPr/>
                    <a:lstStyle/>
                    <a:p>
                      <a:pPr algn="ctr"/>
                      <a:r>
                        <a:rPr lang="en-US" sz="900">
                          <a:latin typeface="Calibri"/>
                          <a:ea typeface="Calibri"/>
                          <a:cs typeface="Calibri"/>
                        </a:rPr>
                        <a:t>Iteration 3</a:t>
                      </a:r>
                      <a:endParaRPr lang="en-US" sz="9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gridSpan="2">
                  <a:txBody>
                    <a:bodyPr/>
                    <a:lstStyle/>
                    <a:p>
                      <a:pPr algn="ctr"/>
                      <a:r>
                        <a:rPr lang="en-US" sz="900">
                          <a:latin typeface="Calibri"/>
                          <a:ea typeface="Calibri"/>
                          <a:cs typeface="Calibri"/>
                        </a:rPr>
                        <a:t>Iteration 4</a:t>
                      </a:r>
                      <a:endParaRPr lang="en-US" sz="9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gridSpan="2">
                  <a:txBody>
                    <a:bodyPr/>
                    <a:lstStyle/>
                    <a:p>
                      <a:pPr algn="ctr"/>
                      <a:r>
                        <a:rPr lang="en-US" sz="900">
                          <a:latin typeface="Calibri"/>
                          <a:ea typeface="Calibri"/>
                          <a:cs typeface="Calibri"/>
                        </a:rPr>
                        <a:t>Iteration 5</a:t>
                      </a:r>
                      <a:endParaRPr lang="en-US" sz="9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gridSpan="2">
                  <a:txBody>
                    <a:bodyPr/>
                    <a:lstStyle/>
                    <a:p>
                      <a:r>
                        <a:rPr lang="en-US" sz="900">
                          <a:latin typeface="Calibri"/>
                          <a:ea typeface="Calibri"/>
                          <a:cs typeface="Calibri"/>
                        </a:rPr>
                        <a:t>Iteration 6</a:t>
                      </a:r>
                      <a:endParaRPr lang="en-US" sz="9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7" marB="37147"/>
                </a:tc>
                <a:tc gridSpan="2">
                  <a:txBody>
                    <a:bodyPr/>
                    <a:lstStyle/>
                    <a:p>
                      <a:pPr lvl="0" algn="ctr">
                        <a:buNone/>
                      </a:pPr>
                      <a:r>
                        <a:rPr lang="en-US" sz="900">
                          <a:latin typeface="Calibri"/>
                          <a:ea typeface="Calibri"/>
                          <a:cs typeface="Calibri"/>
                        </a:rPr>
                        <a:t>Iteration 7</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tc gridSpan="2">
                  <a:txBody>
                    <a:bodyPr/>
                    <a:lstStyle/>
                    <a:p>
                      <a:pPr lvl="0">
                        <a:buNone/>
                      </a:pPr>
                      <a:r>
                        <a:rPr lang="en-US" sz="900">
                          <a:latin typeface="Calibri"/>
                          <a:ea typeface="Calibri"/>
                          <a:cs typeface="Calibri"/>
                        </a:rPr>
                        <a:t>Iteration 8</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tc gridSpan="2">
                  <a:txBody>
                    <a:bodyPr/>
                    <a:lstStyle/>
                    <a:p>
                      <a:pPr lvl="0">
                        <a:buNone/>
                      </a:pPr>
                      <a:r>
                        <a:rPr lang="en-US" sz="900">
                          <a:latin typeface="Calibri"/>
                          <a:ea typeface="Calibri"/>
                          <a:cs typeface="Calibri"/>
                        </a:rPr>
                        <a:t>Iteration 9</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tc gridSpan="2">
                  <a:txBody>
                    <a:bodyPr/>
                    <a:lstStyle/>
                    <a:p>
                      <a:pPr lvl="0">
                        <a:buNone/>
                      </a:pPr>
                      <a:r>
                        <a:rPr lang="en-US" sz="900">
                          <a:latin typeface="Calibri"/>
                          <a:ea typeface="Calibri"/>
                          <a:cs typeface="Calibri"/>
                        </a:rPr>
                        <a:t>Iteration 10</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tc gridSpan="2">
                  <a:txBody>
                    <a:bodyPr/>
                    <a:lstStyle/>
                    <a:p>
                      <a:pPr lvl="0">
                        <a:buNone/>
                      </a:pPr>
                      <a:r>
                        <a:rPr lang="en-US" sz="900">
                          <a:latin typeface="Calibri"/>
                          <a:ea typeface="Calibri"/>
                          <a:cs typeface="Calibri"/>
                        </a:rPr>
                        <a:t>Iteration 11</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tc gridSpan="2">
                  <a:txBody>
                    <a:bodyPr/>
                    <a:lstStyle/>
                    <a:p>
                      <a:pPr lvl="0">
                        <a:buNone/>
                      </a:pPr>
                      <a:r>
                        <a:rPr lang="en-US" sz="900">
                          <a:latin typeface="Calibri"/>
                          <a:ea typeface="Calibri"/>
                          <a:cs typeface="Calibri"/>
                        </a:rPr>
                        <a:t>Iteration 12</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tc gridSpan="2">
                  <a:txBody>
                    <a:bodyPr/>
                    <a:lstStyle/>
                    <a:p>
                      <a:pPr lvl="0">
                        <a:buNone/>
                      </a:pPr>
                      <a:r>
                        <a:rPr lang="en-US" sz="900">
                          <a:latin typeface="Calibri"/>
                          <a:ea typeface="Calibri"/>
                          <a:cs typeface="Calibri"/>
                        </a:rPr>
                        <a:t>Iteration 13</a:t>
                      </a:r>
                    </a:p>
                  </a:txBody>
                  <a:tcPr marL="74295" marR="74295" marT="37147" marB="37147"/>
                </a:tc>
                <a:tc hMerge="1">
                  <a:txBody>
                    <a:bodyPr/>
                    <a:lstStyle/>
                    <a:p>
                      <a:pPr lvl="0">
                        <a:buNone/>
                      </a:pPr>
                      <a:endParaRPr lang="en-US" sz="1000">
                        <a:latin typeface="Calibri"/>
                        <a:ea typeface="Calibri"/>
                        <a:cs typeface="Calibri"/>
                      </a:endParaRPr>
                    </a:p>
                  </a:txBody>
                  <a:tcPr marL="74295" marR="74295" marT="37147" marB="37147"/>
                </a:tc>
                <a:extLst>
                  <a:ext uri="{0D108BD9-81ED-4DB2-BD59-A6C34878D82A}">
                    <a16:rowId xmlns:a16="http://schemas.microsoft.com/office/drawing/2014/main" val="932257417"/>
                  </a:ext>
                </a:extLst>
              </a:tr>
              <a:tr h="222885">
                <a:tc>
                  <a:txBody>
                    <a:bodyPr/>
                    <a:lstStyle/>
                    <a:p>
                      <a:pPr algn="ctr"/>
                      <a:r>
                        <a:rPr lang="en-US" sz="600">
                          <a:latin typeface="Calibri"/>
                          <a:ea typeface="Calibri"/>
                          <a:cs typeface="Calibri"/>
                        </a:rPr>
                        <a:t>4- 8 May</a:t>
                      </a:r>
                    </a:p>
                  </a:txBody>
                  <a:tcPr marL="74295" marR="74295" marT="37148" marB="37148"/>
                </a:tc>
                <a:tc>
                  <a:txBody>
                    <a:bodyPr/>
                    <a:lstStyle/>
                    <a:p>
                      <a:pPr algn="ctr"/>
                      <a:r>
                        <a:rPr lang="en-US" sz="600">
                          <a:latin typeface="Calibri"/>
                          <a:ea typeface="Calibri"/>
                          <a:cs typeface="Calibri"/>
                        </a:rPr>
                        <a:t>11 – 15 May</a:t>
                      </a:r>
                    </a:p>
                  </a:txBody>
                  <a:tcPr marL="74295" marR="74295" marT="37148" marB="37148"/>
                </a:tc>
                <a:tc>
                  <a:txBody>
                    <a:bodyPr/>
                    <a:lstStyle/>
                    <a:p>
                      <a:pPr algn="ctr"/>
                      <a:r>
                        <a:rPr lang="en-US" sz="600">
                          <a:latin typeface="Calibri"/>
                          <a:ea typeface="Calibri"/>
                          <a:cs typeface="Calibri"/>
                        </a:rPr>
                        <a:t>18 – 22 May</a:t>
                      </a:r>
                    </a:p>
                  </a:txBody>
                  <a:tcPr marL="74295" marR="74295" marT="37148" marB="37148"/>
                </a:tc>
                <a:tc>
                  <a:txBody>
                    <a:bodyPr/>
                    <a:lstStyle/>
                    <a:p>
                      <a:pPr algn="ctr"/>
                      <a:r>
                        <a:rPr lang="en-US" sz="600">
                          <a:latin typeface="Calibri"/>
                          <a:ea typeface="Calibri"/>
                          <a:cs typeface="Calibri"/>
                        </a:rPr>
                        <a:t>25 – 29 May</a:t>
                      </a:r>
                    </a:p>
                  </a:txBody>
                  <a:tcPr marL="74295" marR="74295" marT="37148" marB="37148"/>
                </a:tc>
                <a:tc>
                  <a:txBody>
                    <a:bodyPr/>
                    <a:lstStyle/>
                    <a:p>
                      <a:pPr algn="ctr"/>
                      <a:r>
                        <a:rPr lang="en-US" sz="600">
                          <a:latin typeface="Calibri"/>
                          <a:ea typeface="Calibri"/>
                          <a:cs typeface="Calibri"/>
                        </a:rPr>
                        <a:t>1 – 5 Jun</a:t>
                      </a:r>
                    </a:p>
                  </a:txBody>
                  <a:tcPr marL="74295" marR="74295" marT="37148" marB="37148"/>
                </a:tc>
                <a:tc>
                  <a:txBody>
                    <a:bodyPr/>
                    <a:lstStyle/>
                    <a:p>
                      <a:pPr algn="ctr"/>
                      <a:r>
                        <a:rPr lang="en-US" sz="600">
                          <a:latin typeface="Calibri"/>
                          <a:ea typeface="Calibri"/>
                          <a:cs typeface="Calibri"/>
                        </a:rPr>
                        <a:t>8 – 12 Jun</a:t>
                      </a:r>
                    </a:p>
                  </a:txBody>
                  <a:tcPr marL="74295" marR="74295" marT="37148" marB="37148"/>
                </a:tc>
                <a:tc>
                  <a:txBody>
                    <a:bodyPr/>
                    <a:lstStyle/>
                    <a:p>
                      <a:pPr algn="ctr"/>
                      <a:r>
                        <a:rPr lang="en-US" sz="600">
                          <a:latin typeface="Calibri"/>
                          <a:ea typeface="Calibri"/>
                          <a:cs typeface="Calibri"/>
                        </a:rPr>
                        <a:t>15 – 19 Jun</a:t>
                      </a:r>
                    </a:p>
                  </a:txBody>
                  <a:tcPr marL="74295" marR="74295" marT="37148" marB="37148"/>
                </a:tc>
                <a:tc>
                  <a:txBody>
                    <a:bodyPr/>
                    <a:lstStyle/>
                    <a:p>
                      <a:pPr algn="ctr"/>
                      <a:r>
                        <a:rPr lang="en-US" sz="600">
                          <a:latin typeface="Calibri"/>
                          <a:ea typeface="Calibri"/>
                          <a:cs typeface="Calibri"/>
                        </a:rPr>
                        <a:t>22 – 26 Jun</a:t>
                      </a:r>
                    </a:p>
                  </a:txBody>
                  <a:tcPr marL="74295" marR="74295" marT="37148" marB="37148"/>
                </a:tc>
                <a:tc>
                  <a:txBody>
                    <a:bodyPr/>
                    <a:lstStyle/>
                    <a:p>
                      <a:pPr algn="ctr"/>
                      <a:r>
                        <a:rPr lang="en-US" sz="600">
                          <a:latin typeface="Calibri"/>
                          <a:ea typeface="Calibri"/>
                          <a:cs typeface="Calibri"/>
                        </a:rPr>
                        <a:t>29 Jun – 3 Jul</a:t>
                      </a:r>
                    </a:p>
                  </a:txBody>
                  <a:tcPr marL="74295" marR="74295" marT="37148" marB="37148"/>
                </a:tc>
                <a:tc>
                  <a:txBody>
                    <a:bodyPr/>
                    <a:lstStyle/>
                    <a:p>
                      <a:pPr algn="ctr"/>
                      <a:r>
                        <a:rPr lang="en-US" sz="600">
                          <a:latin typeface="Calibri"/>
                          <a:ea typeface="Calibri"/>
                          <a:cs typeface="Calibri"/>
                        </a:rPr>
                        <a:t>6 – 10 Jul</a:t>
                      </a:r>
                    </a:p>
                  </a:txBody>
                  <a:tcPr marL="74295" marR="74295" marT="37148" marB="37148"/>
                </a:tc>
                <a:tc>
                  <a:txBody>
                    <a:bodyPr/>
                    <a:lstStyle/>
                    <a:p>
                      <a:pPr algn="ctr"/>
                      <a:r>
                        <a:rPr lang="en-US" sz="600">
                          <a:latin typeface="Calibri"/>
                          <a:ea typeface="Calibri"/>
                          <a:cs typeface="Calibri"/>
                        </a:rPr>
                        <a:t>13 – 17 Jul</a:t>
                      </a:r>
                    </a:p>
                  </a:txBody>
                  <a:tcPr marL="74295" marR="74295" marT="37148" marB="37148"/>
                </a:tc>
                <a:tc>
                  <a:txBody>
                    <a:bodyPr/>
                    <a:lstStyle/>
                    <a:p>
                      <a:pPr lvl="0" algn="ctr">
                        <a:buNone/>
                      </a:pPr>
                      <a:r>
                        <a:rPr lang="en-US" sz="600">
                          <a:latin typeface="Calibri"/>
                          <a:ea typeface="Calibri"/>
                          <a:cs typeface="Calibri"/>
                        </a:rPr>
                        <a:t>20 – 24 Jul</a:t>
                      </a:r>
                    </a:p>
                  </a:txBody>
                  <a:tcPr marL="74295" marR="74295" marT="37147" marB="37147"/>
                </a:tc>
                <a:tc>
                  <a:txBody>
                    <a:bodyPr/>
                    <a:lstStyle/>
                    <a:p>
                      <a:pPr lvl="0" algn="ctr">
                        <a:buNone/>
                      </a:pPr>
                      <a:r>
                        <a:rPr lang="en-US" sz="600">
                          <a:latin typeface="Calibri"/>
                          <a:ea typeface="Calibri"/>
                          <a:cs typeface="Calibri"/>
                        </a:rPr>
                        <a:t>27 – 31 Jul</a:t>
                      </a:r>
                    </a:p>
                  </a:txBody>
                  <a:tcPr marL="74295" marR="74295" marT="37147" marB="37147"/>
                </a:tc>
                <a:tc>
                  <a:txBody>
                    <a:bodyPr/>
                    <a:lstStyle/>
                    <a:p>
                      <a:pPr lvl="0" algn="ctr">
                        <a:buNone/>
                      </a:pPr>
                      <a:r>
                        <a:rPr lang="en-US" sz="600">
                          <a:latin typeface="Calibri"/>
                          <a:ea typeface="Calibri"/>
                          <a:cs typeface="Calibri"/>
                        </a:rPr>
                        <a:t>3 – 7 Aug</a:t>
                      </a:r>
                    </a:p>
                  </a:txBody>
                  <a:tcPr marL="74295" marR="74295" marT="37147" marB="37147"/>
                </a:tc>
                <a:tc>
                  <a:txBody>
                    <a:bodyPr/>
                    <a:lstStyle/>
                    <a:p>
                      <a:pPr lvl="0" algn="ctr">
                        <a:buNone/>
                      </a:pPr>
                      <a:r>
                        <a:rPr lang="en-US" sz="600">
                          <a:latin typeface="Calibri"/>
                          <a:ea typeface="Calibri"/>
                          <a:cs typeface="Calibri"/>
                        </a:rPr>
                        <a:t>10 – 14 Aug</a:t>
                      </a:r>
                    </a:p>
                  </a:txBody>
                  <a:tcPr marL="74295" marR="74295" marT="37147" marB="37147"/>
                </a:tc>
                <a:tc>
                  <a:txBody>
                    <a:bodyPr/>
                    <a:lstStyle/>
                    <a:p>
                      <a:pPr lvl="0" algn="ctr">
                        <a:buNone/>
                      </a:pPr>
                      <a:r>
                        <a:rPr lang="en-US" sz="600">
                          <a:latin typeface="Calibri"/>
                          <a:ea typeface="Calibri"/>
                          <a:cs typeface="Calibri"/>
                        </a:rPr>
                        <a:t>17 – 21 Aug</a:t>
                      </a:r>
                    </a:p>
                  </a:txBody>
                  <a:tcPr marL="74295" marR="74295" marT="37147" marB="37147"/>
                </a:tc>
                <a:tc>
                  <a:txBody>
                    <a:bodyPr/>
                    <a:lstStyle/>
                    <a:p>
                      <a:pPr lvl="0" algn="ctr">
                        <a:buNone/>
                      </a:pPr>
                      <a:r>
                        <a:rPr lang="en-US" sz="600">
                          <a:latin typeface="Calibri"/>
                          <a:ea typeface="Calibri"/>
                          <a:cs typeface="Calibri"/>
                        </a:rPr>
                        <a:t>24 – 28 Aug</a:t>
                      </a:r>
                    </a:p>
                  </a:txBody>
                  <a:tcPr marL="74295" marR="74295" marT="37147" marB="37147"/>
                </a:tc>
                <a:tc>
                  <a:txBody>
                    <a:bodyPr/>
                    <a:lstStyle/>
                    <a:p>
                      <a:pPr lvl="0" algn="ctr">
                        <a:buNone/>
                      </a:pPr>
                      <a:r>
                        <a:rPr lang="en-US" sz="600">
                          <a:latin typeface="Calibri"/>
                          <a:ea typeface="Calibri"/>
                          <a:cs typeface="Calibri"/>
                        </a:rPr>
                        <a:t>31 Aug – 4 Sep</a:t>
                      </a:r>
                    </a:p>
                  </a:txBody>
                  <a:tcPr marL="74295" marR="74295" marT="37147" marB="37147"/>
                </a:tc>
                <a:tc>
                  <a:txBody>
                    <a:bodyPr/>
                    <a:lstStyle/>
                    <a:p>
                      <a:pPr lvl="0" algn="ctr">
                        <a:buNone/>
                      </a:pPr>
                      <a:r>
                        <a:rPr lang="en-US" sz="600">
                          <a:latin typeface="Calibri"/>
                          <a:ea typeface="Calibri"/>
                          <a:cs typeface="Calibri"/>
                        </a:rPr>
                        <a:t>7 – 11 Sep</a:t>
                      </a:r>
                    </a:p>
                  </a:txBody>
                  <a:tcPr marL="74295" marR="74295" marT="37147" marB="37147"/>
                </a:tc>
                <a:tc>
                  <a:txBody>
                    <a:bodyPr/>
                    <a:lstStyle/>
                    <a:p>
                      <a:pPr lvl="0" algn="ctr">
                        <a:buNone/>
                      </a:pPr>
                      <a:r>
                        <a:rPr lang="en-US" sz="600">
                          <a:latin typeface="Calibri"/>
                          <a:ea typeface="Calibri"/>
                          <a:cs typeface="Calibri"/>
                        </a:rPr>
                        <a:t>14 – 18 Sep</a:t>
                      </a:r>
                    </a:p>
                  </a:txBody>
                  <a:tcPr marL="74295" marR="74295" marT="37147" marB="37147"/>
                </a:tc>
                <a:tc>
                  <a:txBody>
                    <a:bodyPr/>
                    <a:lstStyle/>
                    <a:p>
                      <a:pPr lvl="0" algn="ctr">
                        <a:buNone/>
                      </a:pPr>
                      <a:r>
                        <a:rPr lang="en-US" sz="600">
                          <a:latin typeface="Calibri"/>
                          <a:ea typeface="Calibri"/>
                          <a:cs typeface="Calibri"/>
                        </a:rPr>
                        <a:t>21 – 25 Sep</a:t>
                      </a:r>
                    </a:p>
                  </a:txBody>
                  <a:tcPr marL="74295" marR="74295" marT="37147" marB="37147"/>
                </a:tc>
                <a:tc>
                  <a:txBody>
                    <a:bodyPr/>
                    <a:lstStyle/>
                    <a:p>
                      <a:pPr lvl="0" algn="ctr">
                        <a:buNone/>
                      </a:pPr>
                      <a:r>
                        <a:rPr lang="en-US" sz="600">
                          <a:latin typeface="Calibri"/>
                          <a:ea typeface="Calibri"/>
                          <a:cs typeface="Calibri"/>
                        </a:rPr>
                        <a:t>28 Sep – 2 Oct</a:t>
                      </a:r>
                    </a:p>
                  </a:txBody>
                  <a:tcPr marL="74295" marR="74295" marT="37147" marB="37147"/>
                </a:tc>
                <a:tc>
                  <a:txBody>
                    <a:bodyPr/>
                    <a:lstStyle/>
                    <a:p>
                      <a:pPr lvl="0" algn="ctr">
                        <a:buNone/>
                      </a:pPr>
                      <a:r>
                        <a:rPr lang="en-US" sz="600">
                          <a:latin typeface="Calibri"/>
                          <a:ea typeface="Calibri"/>
                          <a:cs typeface="Calibri"/>
                        </a:rPr>
                        <a:t>5 –9 Oct</a:t>
                      </a:r>
                    </a:p>
                  </a:txBody>
                  <a:tcPr marL="74295" marR="74295" marT="37147" marB="37147"/>
                </a:tc>
                <a:tc>
                  <a:txBody>
                    <a:bodyPr/>
                    <a:lstStyle/>
                    <a:p>
                      <a:pPr lvl="0" algn="ctr">
                        <a:buNone/>
                      </a:pPr>
                      <a:r>
                        <a:rPr lang="en-US" sz="600">
                          <a:latin typeface="Calibri"/>
                          <a:ea typeface="Calibri"/>
                          <a:cs typeface="Calibri"/>
                        </a:rPr>
                        <a:t>12 – 16 Oct</a:t>
                      </a:r>
                    </a:p>
                  </a:txBody>
                  <a:tcPr marL="74295" marR="74295" marT="37147" marB="37147"/>
                </a:tc>
                <a:tc>
                  <a:txBody>
                    <a:bodyPr/>
                    <a:lstStyle/>
                    <a:p>
                      <a:pPr lvl="0" algn="ctr">
                        <a:buNone/>
                      </a:pPr>
                      <a:r>
                        <a:rPr lang="en-US" sz="600">
                          <a:latin typeface="Calibri"/>
                          <a:ea typeface="Calibri"/>
                          <a:cs typeface="Calibri"/>
                        </a:rPr>
                        <a:t>19 – 23 Oct</a:t>
                      </a:r>
                    </a:p>
                  </a:txBody>
                  <a:tcPr marL="74295" marR="74295" marT="37147" marB="37147"/>
                </a:tc>
                <a:tc>
                  <a:txBody>
                    <a:bodyPr/>
                    <a:lstStyle/>
                    <a:p>
                      <a:pPr lvl="0" algn="ctr">
                        <a:buNone/>
                      </a:pPr>
                      <a:r>
                        <a:rPr lang="en-US" sz="600">
                          <a:latin typeface="Calibri"/>
                          <a:ea typeface="Calibri"/>
                          <a:cs typeface="Calibri"/>
                        </a:rPr>
                        <a:t>26 – 30 Oct</a:t>
                      </a:r>
                    </a:p>
                  </a:txBody>
                  <a:tcPr marL="74295" marR="74295" marT="37147" marB="37147"/>
                </a:tc>
                <a:extLst>
                  <a:ext uri="{0D108BD9-81ED-4DB2-BD59-A6C34878D82A}">
                    <a16:rowId xmlns:a16="http://schemas.microsoft.com/office/drawing/2014/main" val="3432649604"/>
                  </a:ext>
                </a:extLst>
              </a:tr>
            </a:tbl>
          </a:graphicData>
        </a:graphic>
      </p:graphicFrame>
      <p:sp>
        <p:nvSpPr>
          <p:cNvPr id="3" name="TextBox 2">
            <a:extLst>
              <a:ext uri="{FF2B5EF4-FFF2-40B4-BE49-F238E27FC236}">
                <a16:creationId xmlns:a16="http://schemas.microsoft.com/office/drawing/2014/main" id="{35D926A8-F1E3-1479-F840-FE0E4F3EF867}"/>
              </a:ext>
            </a:extLst>
          </p:cNvPr>
          <p:cNvSpPr txBox="1"/>
          <p:nvPr/>
        </p:nvSpPr>
        <p:spPr>
          <a:xfrm>
            <a:off x="0" y="0"/>
            <a:ext cx="2696572" cy="369332"/>
          </a:xfrm>
          <a:prstGeom prst="rect">
            <a:avLst/>
          </a:prstGeom>
          <a:noFill/>
        </p:spPr>
        <p:txBody>
          <a:bodyPr wrap="none" rtlCol="0">
            <a:spAutoFit/>
          </a:bodyPr>
          <a:lstStyle/>
          <a:p>
            <a:r>
              <a:rPr lang="en-US"/>
              <a:t>Timeline &amp; Main Activities </a:t>
            </a:r>
          </a:p>
        </p:txBody>
      </p:sp>
      <p:sp>
        <p:nvSpPr>
          <p:cNvPr id="8" name="TextBox 7">
            <a:extLst>
              <a:ext uri="{FF2B5EF4-FFF2-40B4-BE49-F238E27FC236}">
                <a16:creationId xmlns:a16="http://schemas.microsoft.com/office/drawing/2014/main" id="{438DB3B1-C9EE-7152-30BB-77E581679EF2}"/>
              </a:ext>
            </a:extLst>
          </p:cNvPr>
          <p:cNvSpPr txBox="1"/>
          <p:nvPr/>
        </p:nvSpPr>
        <p:spPr>
          <a:xfrm>
            <a:off x="-1" y="6457890"/>
            <a:ext cx="9804392" cy="400110"/>
          </a:xfrm>
          <a:prstGeom prst="rect">
            <a:avLst/>
          </a:prstGeom>
          <a:noFill/>
        </p:spPr>
        <p:txBody>
          <a:bodyPr wrap="square" rtlCol="0">
            <a:spAutoFit/>
          </a:bodyPr>
          <a:lstStyle/>
          <a:p>
            <a:r>
              <a:rPr lang="en-US" sz="1000"/>
              <a:t>If frequent partial go-lives are required to allow users to utilize certain modules earlier, additional phases will be necessary. Each phase will require an additional one or two week for training and preparation.</a:t>
            </a:r>
          </a:p>
        </p:txBody>
      </p:sp>
      <p:sp>
        <p:nvSpPr>
          <p:cNvPr id="9" name="Rectangle 8">
            <a:extLst>
              <a:ext uri="{FF2B5EF4-FFF2-40B4-BE49-F238E27FC236}">
                <a16:creationId xmlns:a16="http://schemas.microsoft.com/office/drawing/2014/main" id="{75CC6189-CFD4-D998-7B15-7E5EBCE9545C}"/>
              </a:ext>
            </a:extLst>
          </p:cNvPr>
          <p:cNvSpPr/>
          <p:nvPr/>
        </p:nvSpPr>
        <p:spPr>
          <a:xfrm>
            <a:off x="838200" y="4876800"/>
            <a:ext cx="8782050" cy="87076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8776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6D6186C-08A1-7AF5-589D-645134F27B12}"/>
              </a:ext>
            </a:extLst>
          </p:cNvPr>
          <p:cNvGraphicFramePr>
            <a:graphicFrameLocks noGrp="1"/>
          </p:cNvGraphicFramePr>
          <p:nvPr>
            <p:ph idx="1"/>
            <p:extLst>
              <p:ext uri="{D42A27DB-BD31-4B8C-83A1-F6EECF244321}">
                <p14:modId xmlns:p14="http://schemas.microsoft.com/office/powerpoint/2010/main" val="1081898546"/>
              </p:ext>
            </p:extLst>
          </p:nvPr>
        </p:nvGraphicFramePr>
        <p:xfrm>
          <a:off x="576719" y="1550422"/>
          <a:ext cx="9199446" cy="4426737"/>
        </p:xfrm>
        <a:graphic>
          <a:graphicData uri="http://schemas.openxmlformats.org/drawingml/2006/table">
            <a:tbl>
              <a:tblPr firstRow="1" bandRow="1">
                <a:tableStyleId>{5C22544A-7EE6-4342-B048-85BDC9FD1C3A}</a:tableStyleId>
              </a:tblPr>
              <a:tblGrid>
                <a:gridCol w="1150384">
                  <a:extLst>
                    <a:ext uri="{9D8B030D-6E8A-4147-A177-3AD203B41FA5}">
                      <a16:colId xmlns:a16="http://schemas.microsoft.com/office/drawing/2014/main" val="1745479334"/>
                    </a:ext>
                  </a:extLst>
                </a:gridCol>
                <a:gridCol w="1150384">
                  <a:extLst>
                    <a:ext uri="{9D8B030D-6E8A-4147-A177-3AD203B41FA5}">
                      <a16:colId xmlns:a16="http://schemas.microsoft.com/office/drawing/2014/main" val="1950859050"/>
                    </a:ext>
                  </a:extLst>
                </a:gridCol>
                <a:gridCol w="1150384">
                  <a:extLst>
                    <a:ext uri="{9D8B030D-6E8A-4147-A177-3AD203B41FA5}">
                      <a16:colId xmlns:a16="http://schemas.microsoft.com/office/drawing/2014/main" val="1718129303"/>
                    </a:ext>
                  </a:extLst>
                </a:gridCol>
                <a:gridCol w="1150384">
                  <a:extLst>
                    <a:ext uri="{9D8B030D-6E8A-4147-A177-3AD203B41FA5}">
                      <a16:colId xmlns:a16="http://schemas.microsoft.com/office/drawing/2014/main" val="183138621"/>
                    </a:ext>
                  </a:extLst>
                </a:gridCol>
                <a:gridCol w="1149477">
                  <a:extLst>
                    <a:ext uri="{9D8B030D-6E8A-4147-A177-3AD203B41FA5}">
                      <a16:colId xmlns:a16="http://schemas.microsoft.com/office/drawing/2014/main" val="1929853112"/>
                    </a:ext>
                  </a:extLst>
                </a:gridCol>
                <a:gridCol w="1149477">
                  <a:extLst>
                    <a:ext uri="{9D8B030D-6E8A-4147-A177-3AD203B41FA5}">
                      <a16:colId xmlns:a16="http://schemas.microsoft.com/office/drawing/2014/main" val="988942940"/>
                    </a:ext>
                  </a:extLst>
                </a:gridCol>
                <a:gridCol w="1149478">
                  <a:extLst>
                    <a:ext uri="{9D8B030D-6E8A-4147-A177-3AD203B41FA5}">
                      <a16:colId xmlns:a16="http://schemas.microsoft.com/office/drawing/2014/main" val="412586639"/>
                    </a:ext>
                  </a:extLst>
                </a:gridCol>
                <a:gridCol w="1149478">
                  <a:extLst>
                    <a:ext uri="{9D8B030D-6E8A-4147-A177-3AD203B41FA5}">
                      <a16:colId xmlns:a16="http://schemas.microsoft.com/office/drawing/2014/main" val="1079662783"/>
                    </a:ext>
                  </a:extLst>
                </a:gridCol>
              </a:tblGrid>
              <a:tr h="297180">
                <a:tc gridSpan="4">
                  <a:txBody>
                    <a:bodyPr/>
                    <a:lstStyle/>
                    <a:p>
                      <a:pPr algn="ctr"/>
                      <a:r>
                        <a:rPr lang="en-US" sz="1500"/>
                        <a:t>May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tc gridSpan="4">
                  <a:txBody>
                    <a:bodyPr/>
                    <a:lstStyle/>
                    <a:p>
                      <a:pPr algn="ctr"/>
                      <a:r>
                        <a:rPr lang="en-US" sz="1500"/>
                        <a:t>June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4061961932"/>
                  </a:ext>
                </a:extLst>
              </a:tr>
              <a:tr h="297180">
                <a:tc gridSpan="2">
                  <a:txBody>
                    <a:bodyPr/>
                    <a:lstStyle/>
                    <a:p>
                      <a:pPr algn="ctr"/>
                      <a:r>
                        <a:rPr lang="en-US" sz="1500"/>
                        <a:t>Iteration 1</a:t>
                      </a:r>
                    </a:p>
                  </a:txBody>
                  <a:tcPr marL="74295" marR="74295" marT="37148" marB="37148">
                    <a:solidFill>
                      <a:srgbClr val="CCD2D8"/>
                    </a:solidFill>
                  </a:tcPr>
                </a:tc>
                <a:tc hMerge="1">
                  <a:txBody>
                    <a:bodyPr/>
                    <a:lstStyle/>
                    <a:p>
                      <a:pPr algn="ctr"/>
                      <a:endParaRPr lang="en-US"/>
                    </a:p>
                  </a:txBody>
                  <a:tcPr/>
                </a:tc>
                <a:tc gridSpan="2">
                  <a:txBody>
                    <a:bodyPr/>
                    <a:lstStyle/>
                    <a:p>
                      <a:pPr lvl="0" algn="ctr">
                        <a:buNone/>
                      </a:pPr>
                      <a:r>
                        <a:rPr lang="en-US" sz="1500"/>
                        <a:t>Iteration 2</a:t>
                      </a:r>
                    </a:p>
                  </a:txBody>
                  <a:tcPr marL="74295" marR="74295" marT="37148" marB="37148">
                    <a:solidFill>
                      <a:srgbClr val="CCD2D8"/>
                    </a:solidFill>
                  </a:tcPr>
                </a:tc>
                <a:tc hMerge="1">
                  <a:txBody>
                    <a:bodyPr/>
                    <a:lstStyle/>
                    <a:p>
                      <a:pPr lvl="0" algn="ctr">
                        <a:buNone/>
                      </a:pPr>
                      <a:endParaRPr lang="en-US"/>
                    </a:p>
                  </a:txBody>
                  <a:tcPr>
                    <a:solidFill>
                      <a:srgbClr val="CCD2D8"/>
                    </a:solidFill>
                  </a:tcPr>
                </a:tc>
                <a:tc gridSpan="2">
                  <a:txBody>
                    <a:bodyPr/>
                    <a:lstStyle/>
                    <a:p>
                      <a:pPr algn="ctr"/>
                      <a:r>
                        <a:rPr lang="en-US" sz="1500"/>
                        <a:t>Iteration 3</a:t>
                      </a:r>
                    </a:p>
                  </a:txBody>
                  <a:tcPr marL="74295" marR="74295" marT="37148" marB="37148">
                    <a:solidFill>
                      <a:srgbClr val="CCD2D8"/>
                    </a:solidFill>
                  </a:tcPr>
                </a:tc>
                <a:tc hMerge="1">
                  <a:txBody>
                    <a:bodyPr/>
                    <a:lstStyle/>
                    <a:p>
                      <a:pPr algn="ctr"/>
                      <a:endParaRPr lang="en-US"/>
                    </a:p>
                  </a:txBody>
                  <a:tcPr>
                    <a:solidFill>
                      <a:srgbClr val="CCD2D8"/>
                    </a:solidFill>
                  </a:tcPr>
                </a:tc>
                <a:tc gridSpan="2">
                  <a:txBody>
                    <a:bodyPr/>
                    <a:lstStyle/>
                    <a:p>
                      <a:pPr lvl="0" algn="ctr">
                        <a:buNone/>
                      </a:pPr>
                      <a:r>
                        <a:rPr lang="en-US" sz="1500"/>
                        <a:t>Iteration 4</a:t>
                      </a:r>
                    </a:p>
                  </a:txBody>
                  <a:tcPr marL="74295" marR="74295" marT="37148" marB="37148">
                    <a:solidFill>
                      <a:srgbClr val="CCD2D8"/>
                    </a:solidFill>
                  </a:tcPr>
                </a:tc>
                <a:tc hMerge="1">
                  <a:txBody>
                    <a:bodyPr/>
                    <a:lstStyle/>
                    <a:p>
                      <a:pPr lvl="0" algn="ctr">
                        <a:buNone/>
                      </a:pPr>
                      <a:endParaRPr lang="en-US"/>
                    </a:p>
                  </a:txBody>
                  <a:tcPr>
                    <a:solidFill>
                      <a:srgbClr val="CCD2D8"/>
                    </a:solidFill>
                  </a:tcPr>
                </a:tc>
                <a:extLst>
                  <a:ext uri="{0D108BD9-81ED-4DB2-BD59-A6C34878D82A}">
                    <a16:rowId xmlns:a16="http://schemas.microsoft.com/office/drawing/2014/main" val="1834259228"/>
                  </a:ext>
                </a:extLst>
              </a:tr>
              <a:tr h="247650">
                <a:tc>
                  <a:txBody>
                    <a:bodyPr/>
                    <a:lstStyle/>
                    <a:p>
                      <a:pPr lvl="0" algn="ctr">
                        <a:buNone/>
                      </a:pPr>
                      <a:r>
                        <a:rPr lang="en-US" sz="1100"/>
                        <a:t>4 – 8 May</a:t>
                      </a:r>
                    </a:p>
                  </a:txBody>
                  <a:tcPr marL="74295" marR="74295" marT="37148" marB="37148">
                    <a:solidFill>
                      <a:srgbClr val="E7EAED"/>
                    </a:solidFill>
                  </a:tcPr>
                </a:tc>
                <a:tc>
                  <a:txBody>
                    <a:bodyPr/>
                    <a:lstStyle/>
                    <a:p>
                      <a:pPr lvl="0" algn="ctr">
                        <a:buNone/>
                      </a:pPr>
                      <a:r>
                        <a:rPr lang="en-US" sz="1100"/>
                        <a:t>11 – 15 May</a:t>
                      </a:r>
                    </a:p>
                  </a:txBody>
                  <a:tcPr marL="74295" marR="74295" marT="37148" marB="37148">
                    <a:solidFill>
                      <a:srgbClr val="E7EAED"/>
                    </a:solidFill>
                  </a:tcPr>
                </a:tc>
                <a:tc>
                  <a:txBody>
                    <a:bodyPr/>
                    <a:lstStyle/>
                    <a:p>
                      <a:pPr lvl="0" algn="ctr">
                        <a:buNone/>
                      </a:pPr>
                      <a:r>
                        <a:rPr lang="en-US" sz="1100"/>
                        <a:t>18 – 22 May</a:t>
                      </a:r>
                    </a:p>
                  </a:txBody>
                  <a:tcPr marL="74295" marR="74295" marT="37148" marB="37148">
                    <a:solidFill>
                      <a:srgbClr val="E7EAED"/>
                    </a:solidFill>
                  </a:tcPr>
                </a:tc>
                <a:tc>
                  <a:txBody>
                    <a:bodyPr/>
                    <a:lstStyle/>
                    <a:p>
                      <a:pPr lvl="0" algn="ctr">
                        <a:buNone/>
                      </a:pPr>
                      <a:r>
                        <a:rPr lang="en-US" sz="1100"/>
                        <a:t>25 – 29 May</a:t>
                      </a:r>
                    </a:p>
                  </a:txBody>
                  <a:tcPr marL="74295" marR="74295" marT="37148" marB="37148">
                    <a:solidFill>
                      <a:srgbClr val="E7EAED"/>
                    </a:solidFill>
                  </a:tcPr>
                </a:tc>
                <a:tc>
                  <a:txBody>
                    <a:bodyPr/>
                    <a:lstStyle/>
                    <a:p>
                      <a:pPr algn="ctr"/>
                      <a:r>
                        <a:rPr lang="en-US" sz="1100"/>
                        <a:t>1 – 5 Jun</a:t>
                      </a:r>
                    </a:p>
                  </a:txBody>
                  <a:tcPr marL="74295" marR="74295" marT="37148" marB="37148">
                    <a:solidFill>
                      <a:srgbClr val="E7EAED"/>
                    </a:solidFill>
                  </a:tcPr>
                </a:tc>
                <a:tc>
                  <a:txBody>
                    <a:bodyPr/>
                    <a:lstStyle/>
                    <a:p>
                      <a:pPr lvl="0" algn="ctr">
                        <a:buNone/>
                      </a:pPr>
                      <a:r>
                        <a:rPr lang="en-US" sz="1100"/>
                        <a:t>8 – 12 Jun</a:t>
                      </a:r>
                    </a:p>
                  </a:txBody>
                  <a:tcPr marL="74295" marR="74295" marT="37148" marB="37148">
                    <a:solidFill>
                      <a:srgbClr val="E7EAED"/>
                    </a:solidFill>
                  </a:tcPr>
                </a:tc>
                <a:tc>
                  <a:txBody>
                    <a:bodyPr/>
                    <a:lstStyle/>
                    <a:p>
                      <a:pPr lvl="0" algn="ctr">
                        <a:buNone/>
                      </a:pPr>
                      <a:r>
                        <a:rPr lang="en-US" sz="1100"/>
                        <a:t>15 – 19 Jun</a:t>
                      </a:r>
                    </a:p>
                  </a:txBody>
                  <a:tcPr marL="74295" marR="74295" marT="37148" marB="37148">
                    <a:solidFill>
                      <a:srgbClr val="E7EAED"/>
                    </a:solidFill>
                  </a:tcPr>
                </a:tc>
                <a:tc>
                  <a:txBody>
                    <a:bodyPr/>
                    <a:lstStyle/>
                    <a:p>
                      <a:pPr lvl="0" algn="ctr">
                        <a:buNone/>
                      </a:pPr>
                      <a:r>
                        <a:rPr lang="en-US" sz="1100"/>
                        <a:t>22 – 26 Jun</a:t>
                      </a:r>
                    </a:p>
                  </a:txBody>
                  <a:tcPr marL="74295" marR="74295" marT="37148" marB="37148">
                    <a:solidFill>
                      <a:srgbClr val="E7EAED"/>
                    </a:solidFill>
                  </a:tcPr>
                </a:tc>
                <a:extLst>
                  <a:ext uri="{0D108BD9-81ED-4DB2-BD59-A6C34878D82A}">
                    <a16:rowId xmlns:a16="http://schemas.microsoft.com/office/drawing/2014/main" val="3908109281"/>
                  </a:ext>
                </a:extLst>
              </a:tr>
              <a:tr h="3573295">
                <a:tc>
                  <a:txBody>
                    <a:bodyPr/>
                    <a:lstStyle/>
                    <a:p>
                      <a:pPr marL="0" lvl="0" indent="0">
                        <a:buNone/>
                      </a:pPr>
                      <a:endParaRPr lang="en-US" sz="1100"/>
                    </a:p>
                    <a:p>
                      <a:pPr marL="182880" lvl="0" indent="-182880">
                        <a:buFont typeface="Arial"/>
                        <a:buChar char="•"/>
                      </a:pPr>
                      <a:r>
                        <a:rPr lang="en-US" sz="1100"/>
                        <a:t>Iteration Planning #1</a:t>
                      </a:r>
                      <a:endParaRPr lang="en-US" sz="1500"/>
                    </a:p>
                    <a:p>
                      <a:pPr marL="0" lvl="0" indent="0">
                        <a:buNone/>
                      </a:pPr>
                      <a:r>
                        <a:rPr lang="en-US" sz="1100" u="sng">
                          <a:solidFill>
                            <a:schemeClr val="accent1">
                              <a:lumMod val="60000"/>
                              <a:lumOff val="40000"/>
                            </a:schemeClr>
                          </a:solidFill>
                        </a:rPr>
                        <a:t>SM, PO, PM, Dev Team, Dev Lead, SA, QA</a:t>
                      </a:r>
                    </a:p>
                    <a:p>
                      <a:pPr marL="0" lvl="0" indent="0">
                        <a:buNone/>
                      </a:pPr>
                      <a:endParaRPr lang="en-US" sz="1100"/>
                    </a:p>
                    <a:p>
                      <a:pPr marL="182880" lvl="0" indent="-182880">
                        <a:buFont typeface="Arial"/>
                        <a:buChar char="•"/>
                      </a:pPr>
                      <a:r>
                        <a:rPr lang="en-US" sz="1000"/>
                        <a:t>Master Data Configuration</a:t>
                      </a:r>
                      <a:endParaRPr lang="en-US" sz="1500"/>
                    </a:p>
                    <a:p>
                      <a:pPr marL="0" lvl="0" indent="0">
                        <a:buNone/>
                      </a:pPr>
                      <a:r>
                        <a:rPr lang="en-US" sz="1000" u="sng">
                          <a:solidFill>
                            <a:schemeClr val="accent1">
                              <a:lumMod val="60000"/>
                              <a:lumOff val="40000"/>
                            </a:schemeClr>
                          </a:solidFill>
                        </a:rPr>
                        <a:t>Dev Team, Dev Lead, PO, SA</a:t>
                      </a:r>
                    </a:p>
                    <a:p>
                      <a:pPr marL="182880" lvl="0" indent="-182880">
                        <a:buFont typeface="Arial"/>
                        <a:buChar char="•"/>
                      </a:pPr>
                      <a:endParaRPr lang="en-US" sz="1100"/>
                    </a:p>
                    <a:p>
                      <a:pPr lvl="0">
                        <a:buNone/>
                      </a:pPr>
                      <a:endParaRPr lang="en-US" sz="1500"/>
                    </a:p>
                    <a:p>
                      <a:pPr lvl="0">
                        <a:buNone/>
                      </a:pPr>
                      <a:endParaRPr lang="en-US" sz="1500"/>
                    </a:p>
                    <a:p>
                      <a:pPr lvl="0">
                        <a:buNone/>
                      </a:pPr>
                      <a:endParaRPr lang="en-US" sz="1500"/>
                    </a:p>
                    <a:p>
                      <a:pPr lvl="0">
                        <a:buNone/>
                      </a:pPr>
                      <a:endParaRPr lang="en-US" sz="1500"/>
                    </a:p>
                  </a:txBody>
                  <a:tcPr marL="74295" marR="74295" marT="37148" marB="37148">
                    <a:solidFill>
                      <a:schemeClr val="bg1">
                        <a:lumMod val="95000"/>
                      </a:schemeClr>
                    </a:solidFill>
                  </a:tcPr>
                </a:tc>
                <a:tc>
                  <a:txBody>
                    <a:bodyPr/>
                    <a:lstStyle/>
                    <a:p>
                      <a:pPr marL="0" lvl="0" indent="0">
                        <a:buNone/>
                      </a:pPr>
                      <a:endParaRPr lang="en-US" sz="11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0" lvl="0" indent="-274320">
                        <a:buFont typeface="Arial"/>
                        <a:buChar char="•"/>
                      </a:pPr>
                      <a:r>
                        <a:rPr lang="en-US" sz="1000"/>
                        <a:t>Iteration Review</a:t>
                      </a:r>
                    </a:p>
                    <a:p>
                      <a:pPr marL="0" lvl="0" indent="0">
                        <a:buNone/>
                      </a:pPr>
                      <a:r>
                        <a:rPr lang="en-US" sz="1000" u="sng">
                          <a:solidFill>
                            <a:schemeClr val="accent1">
                              <a:lumMod val="60000"/>
                              <a:lumOff val="40000"/>
                            </a:schemeClr>
                          </a:solidFill>
                        </a:rPr>
                        <a:t>SM, PO, PM, QA</a:t>
                      </a:r>
                    </a:p>
                  </a:txBody>
                  <a:tcPr marL="74295" marR="74295" marT="37148" marB="37148">
                    <a:solidFill>
                      <a:schemeClr val="bg1">
                        <a:lumMod val="95000"/>
                      </a:schemeClr>
                    </a:solidFill>
                  </a:tcPr>
                </a:tc>
                <a:tc>
                  <a:txBody>
                    <a:bodyPr/>
                    <a:lstStyle/>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182880" lvl="0" indent="-182880">
                        <a:buFont typeface="Arial"/>
                        <a:buChar char="•"/>
                      </a:pPr>
                      <a:r>
                        <a:rPr lang="en-US" sz="1100"/>
                        <a:t>Iteration Planning #2</a:t>
                      </a:r>
                    </a:p>
                    <a:p>
                      <a:pPr marL="0" lvl="0" indent="0">
                        <a:buNone/>
                      </a:pPr>
                      <a:r>
                        <a:rPr lang="en-US" sz="1100" u="sng">
                          <a:solidFill>
                            <a:schemeClr val="accent1">
                              <a:lumMod val="60000"/>
                              <a:lumOff val="40000"/>
                            </a:schemeClr>
                          </a:solidFill>
                        </a:rPr>
                        <a:t>SM, PO, PM, Dev Team, Dev Lead, SA, QA</a:t>
                      </a:r>
                    </a:p>
                    <a:p>
                      <a:pPr marL="365760" lvl="1" indent="-182880">
                        <a:buFont typeface="Courier New"/>
                        <a:buChar char="o"/>
                      </a:pPr>
                      <a:endParaRPr lang="en-US" sz="1000"/>
                    </a:p>
                    <a:p>
                      <a:pPr marL="182880" lvl="0" indent="-182880">
                        <a:buFont typeface="Arial"/>
                        <a:buChar char="•"/>
                      </a:pPr>
                      <a:endParaRPr lang="en-US" sz="1100"/>
                    </a:p>
                  </a:txBody>
                  <a:tcPr marL="74295" marR="74295" marT="37148" marB="37148">
                    <a:solidFill>
                      <a:schemeClr val="bg1">
                        <a:lumMod val="95000"/>
                      </a:schemeClr>
                    </a:solidFill>
                  </a:tcPr>
                </a:tc>
                <a:tc>
                  <a:txBody>
                    <a:bodyPr/>
                    <a:lstStyle/>
                    <a:p>
                      <a:pPr lvl="0">
                        <a:buNone/>
                      </a:pPr>
                      <a:endParaRPr lang="en-US" sz="1500"/>
                    </a:p>
                    <a:p>
                      <a:pPr lvl="0">
                        <a:buNone/>
                      </a:pPr>
                      <a:endParaRPr lang="en-US" sz="1500"/>
                    </a:p>
                    <a:p>
                      <a:pPr lvl="0">
                        <a:buNone/>
                      </a:pPr>
                      <a:endParaRPr lang="en-US" sz="1500"/>
                    </a:p>
                    <a:p>
                      <a:pPr lvl="0">
                        <a:buNone/>
                      </a:pPr>
                      <a:endParaRPr lang="en-US" sz="1500"/>
                    </a:p>
                    <a:p>
                      <a:pPr lvl="0">
                        <a:buNone/>
                      </a:pPr>
                      <a:endParaRPr lang="en-US" sz="15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chemeClr val="bg1">
                        <a:lumMod val="95000"/>
                      </a:schemeClr>
                    </a:solidFill>
                  </a:tcPr>
                </a:tc>
                <a:tc>
                  <a:txBody>
                    <a:bodyPr/>
                    <a:lstStyle/>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marL="182880" lvl="0" indent="-182880">
                        <a:buClr>
                          <a:srgbClr val="000000"/>
                        </a:buClr>
                        <a:buFont typeface="Arial,Sans-Serif"/>
                        <a:buChar char="•"/>
                      </a:pPr>
                      <a:r>
                        <a:rPr lang="en-US" sz="1100" b="0" i="0" u="none" strike="noStrike" noProof="0">
                          <a:solidFill>
                            <a:srgbClr val="000000"/>
                          </a:solidFill>
                          <a:latin typeface="Aptos"/>
                        </a:rPr>
                        <a:t>Iteration Planning #3</a:t>
                      </a:r>
                    </a:p>
                    <a:p>
                      <a:pPr marL="0" lvl="0" indent="0">
                        <a:buNone/>
                      </a:pPr>
                      <a:r>
                        <a:rPr lang="en-US" sz="1100" b="0" i="0" u="sng" strike="noStrike" noProof="0">
                          <a:solidFill>
                            <a:schemeClr val="accent1">
                              <a:lumMod val="60000"/>
                              <a:lumOff val="40000"/>
                            </a:schemeClr>
                          </a:solidFill>
                          <a:latin typeface="Aptos"/>
                        </a:rPr>
                        <a:t>SM, PO, PM, Dev Team, Dev Lead, SA, QA</a:t>
                      </a:r>
                      <a:endParaRPr lang="en-US" sz="1500"/>
                    </a:p>
                  </a:txBody>
                  <a:tcPr marL="74295" marR="74295" marT="37148" marB="37148">
                    <a:solidFill>
                      <a:srgbClr val="F2F2F2"/>
                    </a:solidFill>
                  </a:tcPr>
                </a:tc>
                <a:tc>
                  <a:txBody>
                    <a:bodyPr/>
                    <a:lstStyle/>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rgbClr val="F2F2F2"/>
                    </a:solidFill>
                  </a:tcPr>
                </a:tc>
                <a:tc>
                  <a:txBody>
                    <a:bodyPr/>
                    <a:lstStyle/>
                    <a:p>
                      <a:pPr marL="285750" marR="0" lvl="0" indent="-285750" algn="l">
                        <a:lnSpc>
                          <a:spcPct val="100000"/>
                        </a:lnSpc>
                        <a:spcBef>
                          <a:spcPts val="0"/>
                        </a:spcBef>
                        <a:spcAft>
                          <a:spcPts val="0"/>
                        </a:spcAft>
                        <a:buClr>
                          <a:srgbClr val="000000"/>
                        </a:buClr>
                        <a:buFont typeface="Arial"/>
                        <a:buChar char="•"/>
                      </a:pPr>
                      <a:r>
                        <a:rPr lang="en-US" sz="1100" b="0" i="0" u="none" strike="noStrike" noProof="0">
                          <a:solidFill>
                            <a:schemeClr val="tx1"/>
                          </a:solidFill>
                          <a:latin typeface="Aptos"/>
                        </a:rPr>
                        <a:t>Training Activity</a:t>
                      </a:r>
                      <a:endParaRPr lang="en-US" sz="1100" b="0" i="0" u="none" strike="noStrike" noProof="0">
                        <a:solidFill>
                          <a:srgbClr val="000000"/>
                        </a:solidFill>
                        <a:latin typeface="Aptos"/>
                      </a:endParaRPr>
                    </a:p>
                    <a:p>
                      <a:pPr marL="0" marR="0" lvl="0" indent="0" algn="l">
                        <a:lnSpc>
                          <a:spcPct val="100000"/>
                        </a:lnSpc>
                        <a:spcBef>
                          <a:spcPts val="0"/>
                        </a:spcBef>
                        <a:spcAft>
                          <a:spcPts val="0"/>
                        </a:spcAft>
                        <a:buClr>
                          <a:srgbClr val="000000"/>
                        </a:buClr>
                        <a:buNone/>
                      </a:pPr>
                      <a:r>
                        <a:rPr lang="en-US" sz="1100" b="0" i="0" u="sng" strike="noStrike" noProof="0">
                          <a:solidFill>
                            <a:schemeClr val="accent1">
                              <a:lumMod val="60000"/>
                              <a:lumOff val="40000"/>
                            </a:schemeClr>
                          </a:solidFill>
                          <a:latin typeface="Aptos"/>
                        </a:rPr>
                        <a:t>PM, PMO</a:t>
                      </a:r>
                      <a:endParaRPr lang="en-US" sz="1500"/>
                    </a:p>
                    <a:p>
                      <a:pPr marL="0" marR="0" lvl="0" indent="0" algn="l">
                        <a:lnSpc>
                          <a:spcPct val="100000"/>
                        </a:lnSpc>
                        <a:spcBef>
                          <a:spcPts val="0"/>
                        </a:spcBef>
                        <a:spcAft>
                          <a:spcPts val="0"/>
                        </a:spcAft>
                        <a:buNone/>
                      </a:pPr>
                      <a:endParaRPr lang="en-US" sz="1100" b="0" i="0" u="sng" strike="noStrike" noProof="0">
                        <a:solidFill>
                          <a:schemeClr val="accent1">
                            <a:lumMod val="60000"/>
                            <a:lumOff val="40000"/>
                          </a:schemeClr>
                        </a:solidFill>
                        <a:latin typeface="Aptos"/>
                      </a:endParaRPr>
                    </a:p>
                    <a:p>
                      <a:pPr marL="182880" lvl="0" indent="-182880">
                        <a:buClr>
                          <a:srgbClr val="000000"/>
                        </a:buClr>
                        <a:buFont typeface="Arial"/>
                        <a:buChar char="•"/>
                      </a:pPr>
                      <a:r>
                        <a:rPr lang="en-US" sz="1100" b="0" i="0" u="none" strike="noStrike" noProof="0">
                          <a:solidFill>
                            <a:srgbClr val="000000"/>
                          </a:solidFill>
                          <a:latin typeface="Aptos"/>
                        </a:rPr>
                        <a:t>Iteration Planning #4</a:t>
                      </a:r>
                      <a:endParaRPr lang="en-US" sz="1500"/>
                    </a:p>
                    <a:p>
                      <a:pPr marL="0" lvl="0" indent="0">
                        <a:buNone/>
                      </a:pPr>
                      <a:r>
                        <a:rPr lang="en-US" sz="1100" b="0" i="0" u="sng" strike="noStrike" noProof="0">
                          <a:solidFill>
                            <a:schemeClr val="accent1">
                              <a:lumMod val="60000"/>
                              <a:lumOff val="40000"/>
                            </a:schemeClr>
                          </a:solidFill>
                          <a:latin typeface="Aptos"/>
                        </a:rPr>
                        <a:t>SM, PO, PM, Dev Team, Dev Lead, SA, QA</a:t>
                      </a:r>
                      <a:endParaRPr lang="en-US" sz="1500" u="sng">
                        <a:solidFill>
                          <a:schemeClr val="accent1">
                            <a:lumMod val="60000"/>
                            <a:lumOff val="40000"/>
                          </a:schemeClr>
                        </a:solidFill>
                      </a:endParaRPr>
                    </a:p>
                    <a:p>
                      <a:pPr marL="0" lvl="0" indent="0">
                        <a:buNone/>
                      </a:pPr>
                      <a:endParaRPr lang="en-US" sz="1100" b="0" i="0" u="sng" strike="noStrike" noProof="0">
                        <a:solidFill>
                          <a:schemeClr val="accent1">
                            <a:lumMod val="60000"/>
                            <a:lumOff val="40000"/>
                          </a:schemeClr>
                        </a:solidFill>
                        <a:latin typeface="Aptos"/>
                      </a:endParaRPr>
                    </a:p>
                    <a:p>
                      <a:pPr marL="171450" lvl="0" indent="-171450">
                        <a:buFont typeface="Arial"/>
                        <a:buChar char="•"/>
                      </a:pPr>
                      <a:r>
                        <a:rPr lang="en-US" sz="1100" b="0" i="0" u="none" strike="noStrike" noProof="0">
                          <a:solidFill>
                            <a:schemeClr val="tx1"/>
                          </a:solidFill>
                          <a:latin typeface="Aptos"/>
                        </a:rPr>
                        <a:t>UAT</a:t>
                      </a:r>
                    </a:p>
                    <a:p>
                      <a:pPr marL="0" lvl="0" indent="0">
                        <a:buNone/>
                      </a:pPr>
                      <a:r>
                        <a:rPr lang="en-US" sz="1100" b="0" i="0" u="sng" strike="noStrike" noProof="0">
                          <a:solidFill>
                            <a:schemeClr val="accent1">
                              <a:lumMod val="60000"/>
                              <a:lumOff val="40000"/>
                            </a:schemeClr>
                          </a:solidFill>
                          <a:latin typeface="Aptos"/>
                        </a:rPr>
                        <a:t>PO, QA, Key Users, SM, Dev Team</a:t>
                      </a:r>
                    </a:p>
                  </a:txBody>
                  <a:tcPr marL="74295" marR="74295" marT="37148" marB="37148">
                    <a:solidFill>
                      <a:srgbClr val="F2F2F2"/>
                    </a:solidFill>
                  </a:tcPr>
                </a:tc>
                <a:tc>
                  <a:txBody>
                    <a:bodyPr/>
                    <a:lstStyle/>
                    <a:p>
                      <a:pPr marL="0" lvl="0" indent="0" algn="l">
                        <a:buNone/>
                      </a:pPr>
                      <a:r>
                        <a:rPr lang="en-US" sz="1100"/>
                        <a:t>Partial Go Live Phase 1</a:t>
                      </a:r>
                    </a:p>
                    <a:p>
                      <a:pPr marL="0" lvl="0" indent="0" algn="l">
                        <a:buNone/>
                      </a:pPr>
                      <a:r>
                        <a:rPr lang="en-US" sz="1100" u="sng">
                          <a:solidFill>
                            <a:schemeClr val="accent1">
                              <a:lumMod val="60000"/>
                              <a:lumOff val="40000"/>
                            </a:schemeClr>
                          </a:solidFill>
                        </a:rPr>
                        <a:t>All</a:t>
                      </a:r>
                    </a:p>
                    <a:p>
                      <a:pPr marL="0" lvl="0" indent="0" algn="l">
                        <a:buNone/>
                      </a:pPr>
                      <a:endParaRPr lang="en-US" sz="1100"/>
                    </a:p>
                  </a:txBody>
                  <a:tcPr marL="74295" marR="74295" marT="37148" marB="37148">
                    <a:solidFill>
                      <a:srgbClr val="F2F2F2"/>
                    </a:solidFill>
                  </a:tcPr>
                </a:tc>
                <a:extLst>
                  <a:ext uri="{0D108BD9-81ED-4DB2-BD59-A6C34878D82A}">
                    <a16:rowId xmlns:a16="http://schemas.microsoft.com/office/drawing/2014/main" val="2927031463"/>
                  </a:ext>
                </a:extLst>
              </a:tr>
            </a:tbl>
          </a:graphicData>
        </a:graphic>
      </p:graphicFrame>
      <p:sp>
        <p:nvSpPr>
          <p:cNvPr id="3" name="Rectangle: Rounded Corners 2">
            <a:extLst>
              <a:ext uri="{FF2B5EF4-FFF2-40B4-BE49-F238E27FC236}">
                <a16:creationId xmlns:a16="http://schemas.microsoft.com/office/drawing/2014/main" id="{BA4987EA-AA75-E6DB-8078-F7EAA6BFBDF1}"/>
              </a:ext>
            </a:extLst>
          </p:cNvPr>
          <p:cNvSpPr/>
          <p:nvPr/>
        </p:nvSpPr>
        <p:spPr>
          <a:xfrm>
            <a:off x="5258706" y="2463493"/>
            <a:ext cx="2131491" cy="59978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1056">
                <a:solidFill>
                  <a:schemeClr val="tx1"/>
                </a:solidFill>
              </a:rPr>
              <a:t>Master Data Migration</a:t>
            </a:r>
          </a:p>
          <a:p>
            <a:endParaRPr lang="en-US" sz="1056" u="sng">
              <a:solidFill>
                <a:schemeClr val="accent1">
                  <a:lumMod val="60000"/>
                  <a:lumOff val="40000"/>
                </a:schemeClr>
              </a:solidFill>
            </a:endParaRPr>
          </a:p>
          <a:p>
            <a:r>
              <a:rPr lang="en-US" sz="1056" u="sng">
                <a:solidFill>
                  <a:schemeClr val="accent1">
                    <a:lumMod val="60000"/>
                    <a:lumOff val="40000"/>
                  </a:schemeClr>
                </a:solidFill>
              </a:rPr>
              <a:t>Dev Team, Dev Lead, PO, SA</a:t>
            </a:r>
            <a:endParaRPr lang="en-US" sz="1056">
              <a:solidFill>
                <a:schemeClr val="accent1">
                  <a:lumMod val="60000"/>
                  <a:lumOff val="40000"/>
                </a:schemeClr>
              </a:solidFill>
            </a:endParaRPr>
          </a:p>
        </p:txBody>
      </p:sp>
      <p:sp>
        <p:nvSpPr>
          <p:cNvPr id="5" name="Rectangle: Rounded Corners 4">
            <a:extLst>
              <a:ext uri="{FF2B5EF4-FFF2-40B4-BE49-F238E27FC236}">
                <a16:creationId xmlns:a16="http://schemas.microsoft.com/office/drawing/2014/main" id="{0772F075-C870-40EB-443E-F1D25044ABEE}"/>
              </a:ext>
            </a:extLst>
          </p:cNvPr>
          <p:cNvSpPr/>
          <p:nvPr/>
        </p:nvSpPr>
        <p:spPr>
          <a:xfrm>
            <a:off x="1806873" y="2463494"/>
            <a:ext cx="3310373" cy="9559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1056">
                <a:solidFill>
                  <a:schemeClr val="tx1"/>
                </a:solidFill>
              </a:rPr>
              <a:t>Development + SIT:</a:t>
            </a:r>
            <a:br>
              <a:rPr lang="en-US" sz="1056"/>
            </a:br>
            <a:r>
              <a:rPr lang="en-US" sz="1056">
                <a:solidFill>
                  <a:schemeClr val="tx1"/>
                </a:solidFill>
              </a:rPr>
              <a:t>Performance Evaluation</a:t>
            </a:r>
          </a:p>
          <a:p>
            <a:endParaRPr lang="en-US" sz="1056">
              <a:solidFill>
                <a:schemeClr val="tx1"/>
              </a:solidFill>
            </a:endParaRPr>
          </a:p>
          <a:p>
            <a:r>
              <a:rPr lang="en-US" sz="1056" u="sng">
                <a:solidFill>
                  <a:schemeClr val="accent1">
                    <a:lumMod val="60000"/>
                    <a:lumOff val="40000"/>
                  </a:schemeClr>
                </a:solidFill>
              </a:rPr>
              <a:t>SM, PO, PM, Dev Team, Dev Lead, SA, QA</a:t>
            </a:r>
            <a:endParaRPr lang="en-US" sz="1056">
              <a:solidFill>
                <a:schemeClr val="accent1">
                  <a:lumMod val="60000"/>
                  <a:lumOff val="40000"/>
                </a:schemeClr>
              </a:solidFill>
            </a:endParaRPr>
          </a:p>
        </p:txBody>
      </p:sp>
      <p:sp>
        <p:nvSpPr>
          <p:cNvPr id="2" name="Title 24">
            <a:extLst>
              <a:ext uri="{FF2B5EF4-FFF2-40B4-BE49-F238E27FC236}">
                <a16:creationId xmlns:a16="http://schemas.microsoft.com/office/drawing/2014/main" id="{AE00434A-8E15-97ED-6A73-10B4F11CA8B6}"/>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VII. Detail iteration activities</a:t>
            </a:r>
            <a:endParaRPr lang="en-US">
              <a:latin typeface="Helvetica Neue" panose="02000503000000020004"/>
            </a:endParaRPr>
          </a:p>
        </p:txBody>
      </p:sp>
      <p:sp>
        <p:nvSpPr>
          <p:cNvPr id="7" name="Title 1">
            <a:extLst>
              <a:ext uri="{FF2B5EF4-FFF2-40B4-BE49-F238E27FC236}">
                <a16:creationId xmlns:a16="http://schemas.microsoft.com/office/drawing/2014/main" id="{DB01C644-85A6-94DB-07AB-A70F8D70FB03}"/>
              </a:ext>
            </a:extLst>
          </p:cNvPr>
          <p:cNvSpPr txBox="1">
            <a:spLocks/>
          </p:cNvSpPr>
          <p:nvPr/>
        </p:nvSpPr>
        <p:spPr>
          <a:xfrm>
            <a:off x="758991" y="874511"/>
            <a:ext cx="7436592" cy="438750"/>
          </a:xfrm>
          <a:prstGeom prst="rect">
            <a:avLst/>
          </a:prstGeom>
          <a:noFill/>
        </p:spPr>
        <p:txBody>
          <a:bodyPr vert="horz" lIns="175500" tIns="37148" rIns="74295" bIns="37148"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sz="2275">
                <a:latin typeface="Helvetica Neue" panose="02000503000000020004"/>
                <a:cs typeface="Calibri"/>
              </a:rPr>
              <a:t>Timeline Phase 1</a:t>
            </a:r>
            <a:endParaRPr lang="en-ID" sz="2275">
              <a:latin typeface="Helvetica Neue" panose="02000503000000020004"/>
              <a:cs typeface="Calibri"/>
            </a:endParaRPr>
          </a:p>
        </p:txBody>
      </p:sp>
    </p:spTree>
    <p:extLst>
      <p:ext uri="{BB962C8B-B14F-4D97-AF65-F5344CB8AC3E}">
        <p14:creationId xmlns:p14="http://schemas.microsoft.com/office/powerpoint/2010/main" val="9931069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E0FA-8AFE-0048-FB89-87C20954A88C}"/>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4BEA795B-0186-B6EA-AEE0-1652C5C43528}"/>
              </a:ext>
            </a:extLst>
          </p:cNvPr>
          <p:cNvGraphicFramePr>
            <a:graphicFrameLocks noGrp="1"/>
          </p:cNvGraphicFramePr>
          <p:nvPr>
            <p:ph idx="1"/>
          </p:nvPr>
        </p:nvGraphicFramePr>
        <p:xfrm>
          <a:off x="576719" y="1550422"/>
          <a:ext cx="9199446" cy="4426737"/>
        </p:xfrm>
        <a:graphic>
          <a:graphicData uri="http://schemas.openxmlformats.org/drawingml/2006/table">
            <a:tbl>
              <a:tblPr firstRow="1" bandRow="1">
                <a:tableStyleId>{5C22544A-7EE6-4342-B048-85BDC9FD1C3A}</a:tableStyleId>
              </a:tblPr>
              <a:tblGrid>
                <a:gridCol w="1150384">
                  <a:extLst>
                    <a:ext uri="{9D8B030D-6E8A-4147-A177-3AD203B41FA5}">
                      <a16:colId xmlns:a16="http://schemas.microsoft.com/office/drawing/2014/main" val="1745479334"/>
                    </a:ext>
                  </a:extLst>
                </a:gridCol>
                <a:gridCol w="1150384">
                  <a:extLst>
                    <a:ext uri="{9D8B030D-6E8A-4147-A177-3AD203B41FA5}">
                      <a16:colId xmlns:a16="http://schemas.microsoft.com/office/drawing/2014/main" val="1950859050"/>
                    </a:ext>
                  </a:extLst>
                </a:gridCol>
                <a:gridCol w="1150384">
                  <a:extLst>
                    <a:ext uri="{9D8B030D-6E8A-4147-A177-3AD203B41FA5}">
                      <a16:colId xmlns:a16="http://schemas.microsoft.com/office/drawing/2014/main" val="1718129303"/>
                    </a:ext>
                  </a:extLst>
                </a:gridCol>
                <a:gridCol w="1150384">
                  <a:extLst>
                    <a:ext uri="{9D8B030D-6E8A-4147-A177-3AD203B41FA5}">
                      <a16:colId xmlns:a16="http://schemas.microsoft.com/office/drawing/2014/main" val="183138621"/>
                    </a:ext>
                  </a:extLst>
                </a:gridCol>
                <a:gridCol w="1149477">
                  <a:extLst>
                    <a:ext uri="{9D8B030D-6E8A-4147-A177-3AD203B41FA5}">
                      <a16:colId xmlns:a16="http://schemas.microsoft.com/office/drawing/2014/main" val="1929853112"/>
                    </a:ext>
                  </a:extLst>
                </a:gridCol>
                <a:gridCol w="1149477">
                  <a:extLst>
                    <a:ext uri="{9D8B030D-6E8A-4147-A177-3AD203B41FA5}">
                      <a16:colId xmlns:a16="http://schemas.microsoft.com/office/drawing/2014/main" val="988942940"/>
                    </a:ext>
                  </a:extLst>
                </a:gridCol>
                <a:gridCol w="1149478">
                  <a:extLst>
                    <a:ext uri="{9D8B030D-6E8A-4147-A177-3AD203B41FA5}">
                      <a16:colId xmlns:a16="http://schemas.microsoft.com/office/drawing/2014/main" val="412586639"/>
                    </a:ext>
                  </a:extLst>
                </a:gridCol>
                <a:gridCol w="1149478">
                  <a:extLst>
                    <a:ext uri="{9D8B030D-6E8A-4147-A177-3AD203B41FA5}">
                      <a16:colId xmlns:a16="http://schemas.microsoft.com/office/drawing/2014/main" val="1079662783"/>
                    </a:ext>
                  </a:extLst>
                </a:gridCol>
              </a:tblGrid>
              <a:tr h="297180">
                <a:tc gridSpan="4">
                  <a:txBody>
                    <a:bodyPr/>
                    <a:lstStyle/>
                    <a:p>
                      <a:pPr algn="ctr"/>
                      <a:r>
                        <a:rPr lang="en-US" sz="1500"/>
                        <a:t>July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tc gridSpan="4">
                  <a:txBody>
                    <a:bodyPr/>
                    <a:lstStyle/>
                    <a:p>
                      <a:pPr algn="ctr"/>
                      <a:r>
                        <a:rPr lang="en-US" sz="1500"/>
                        <a:t>Jul-August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4061961932"/>
                  </a:ext>
                </a:extLst>
              </a:tr>
              <a:tr h="297180">
                <a:tc gridSpan="2">
                  <a:txBody>
                    <a:bodyPr/>
                    <a:lstStyle/>
                    <a:p>
                      <a:pPr algn="ctr"/>
                      <a:r>
                        <a:rPr lang="en-US" sz="1500"/>
                        <a:t>Iteration 5</a:t>
                      </a:r>
                    </a:p>
                  </a:txBody>
                  <a:tcPr marL="74295" marR="74295" marT="37148" marB="37148">
                    <a:solidFill>
                      <a:srgbClr val="CCD2D8"/>
                    </a:solidFill>
                  </a:tcPr>
                </a:tc>
                <a:tc hMerge="1">
                  <a:txBody>
                    <a:bodyPr/>
                    <a:lstStyle/>
                    <a:p>
                      <a:pPr algn="ctr"/>
                      <a:endParaRPr lang="en-US"/>
                    </a:p>
                  </a:txBody>
                  <a:tcPr/>
                </a:tc>
                <a:tc gridSpan="2">
                  <a:txBody>
                    <a:bodyPr/>
                    <a:lstStyle/>
                    <a:p>
                      <a:pPr lvl="0" algn="ctr">
                        <a:buNone/>
                      </a:pPr>
                      <a:r>
                        <a:rPr lang="en-US" sz="1500"/>
                        <a:t>Iteration 6</a:t>
                      </a:r>
                    </a:p>
                  </a:txBody>
                  <a:tcPr marL="74295" marR="74295" marT="37148" marB="37148">
                    <a:solidFill>
                      <a:srgbClr val="CCD2D8"/>
                    </a:solidFill>
                  </a:tcPr>
                </a:tc>
                <a:tc hMerge="1">
                  <a:txBody>
                    <a:bodyPr/>
                    <a:lstStyle/>
                    <a:p>
                      <a:pPr lvl="0" algn="ctr">
                        <a:buNone/>
                      </a:pPr>
                      <a:endParaRPr lang="en-US"/>
                    </a:p>
                  </a:txBody>
                  <a:tcPr>
                    <a:solidFill>
                      <a:srgbClr val="CCD2D8"/>
                    </a:solidFill>
                  </a:tcPr>
                </a:tc>
                <a:tc gridSpan="2">
                  <a:txBody>
                    <a:bodyPr/>
                    <a:lstStyle/>
                    <a:p>
                      <a:pPr algn="ctr"/>
                      <a:r>
                        <a:rPr lang="en-US" sz="1500"/>
                        <a:t>Iteration 7</a:t>
                      </a:r>
                    </a:p>
                  </a:txBody>
                  <a:tcPr marL="74295" marR="74295" marT="37148" marB="37148">
                    <a:solidFill>
                      <a:srgbClr val="CCD2D8"/>
                    </a:solidFill>
                  </a:tcPr>
                </a:tc>
                <a:tc hMerge="1">
                  <a:txBody>
                    <a:bodyPr/>
                    <a:lstStyle/>
                    <a:p>
                      <a:pPr algn="ctr"/>
                      <a:endParaRPr lang="en-US"/>
                    </a:p>
                  </a:txBody>
                  <a:tcPr>
                    <a:solidFill>
                      <a:srgbClr val="CCD2D8"/>
                    </a:solidFill>
                  </a:tcPr>
                </a:tc>
                <a:tc gridSpan="2">
                  <a:txBody>
                    <a:bodyPr/>
                    <a:lstStyle/>
                    <a:p>
                      <a:pPr lvl="0" algn="ctr">
                        <a:buNone/>
                      </a:pPr>
                      <a:r>
                        <a:rPr lang="en-US" sz="1500"/>
                        <a:t>Iteration 8</a:t>
                      </a:r>
                    </a:p>
                  </a:txBody>
                  <a:tcPr marL="74295" marR="74295" marT="37148" marB="37148">
                    <a:solidFill>
                      <a:srgbClr val="CCD2D8"/>
                    </a:solidFill>
                  </a:tcPr>
                </a:tc>
                <a:tc hMerge="1">
                  <a:txBody>
                    <a:bodyPr/>
                    <a:lstStyle/>
                    <a:p>
                      <a:pPr lvl="0" algn="ctr">
                        <a:buNone/>
                      </a:pPr>
                      <a:endParaRPr lang="en-US"/>
                    </a:p>
                  </a:txBody>
                  <a:tcPr>
                    <a:solidFill>
                      <a:srgbClr val="CCD2D8"/>
                    </a:solidFill>
                  </a:tcPr>
                </a:tc>
                <a:extLst>
                  <a:ext uri="{0D108BD9-81ED-4DB2-BD59-A6C34878D82A}">
                    <a16:rowId xmlns:a16="http://schemas.microsoft.com/office/drawing/2014/main" val="1834259228"/>
                  </a:ext>
                </a:extLst>
              </a:tr>
              <a:tr h="247650">
                <a:tc>
                  <a:txBody>
                    <a:bodyPr/>
                    <a:lstStyle/>
                    <a:p>
                      <a:pPr lvl="0" algn="ctr">
                        <a:buNone/>
                      </a:pPr>
                      <a:r>
                        <a:rPr lang="en-US" sz="1100"/>
                        <a:t>29 Jun – 3 Jul</a:t>
                      </a:r>
                    </a:p>
                  </a:txBody>
                  <a:tcPr marL="74295" marR="74295" marT="37148" marB="37148">
                    <a:solidFill>
                      <a:srgbClr val="E7EAED"/>
                    </a:solidFill>
                  </a:tcPr>
                </a:tc>
                <a:tc>
                  <a:txBody>
                    <a:bodyPr/>
                    <a:lstStyle/>
                    <a:p>
                      <a:pPr lvl="0" algn="ctr">
                        <a:buNone/>
                      </a:pPr>
                      <a:r>
                        <a:rPr lang="en-US" sz="1100"/>
                        <a:t>6 – 10 Jul</a:t>
                      </a:r>
                    </a:p>
                  </a:txBody>
                  <a:tcPr marL="74295" marR="74295" marT="37148" marB="37148">
                    <a:solidFill>
                      <a:srgbClr val="E7EAED"/>
                    </a:solidFill>
                  </a:tcPr>
                </a:tc>
                <a:tc>
                  <a:txBody>
                    <a:bodyPr/>
                    <a:lstStyle/>
                    <a:p>
                      <a:pPr lvl="0" algn="ctr">
                        <a:buNone/>
                      </a:pPr>
                      <a:r>
                        <a:rPr lang="en-US" sz="1100"/>
                        <a:t>13 – 17 Jul</a:t>
                      </a:r>
                    </a:p>
                  </a:txBody>
                  <a:tcPr marL="74295" marR="74295" marT="37148" marB="37148">
                    <a:solidFill>
                      <a:srgbClr val="E7EAED"/>
                    </a:solidFill>
                  </a:tcPr>
                </a:tc>
                <a:tc>
                  <a:txBody>
                    <a:bodyPr/>
                    <a:lstStyle/>
                    <a:p>
                      <a:pPr lvl="0" algn="ctr">
                        <a:buNone/>
                      </a:pPr>
                      <a:r>
                        <a:rPr lang="en-US" sz="1100"/>
                        <a:t>20 – 24 Jul</a:t>
                      </a:r>
                    </a:p>
                  </a:txBody>
                  <a:tcPr marL="74295" marR="74295" marT="37148" marB="37148">
                    <a:solidFill>
                      <a:srgbClr val="E7EAED"/>
                    </a:solidFill>
                  </a:tcPr>
                </a:tc>
                <a:tc>
                  <a:txBody>
                    <a:bodyPr/>
                    <a:lstStyle/>
                    <a:p>
                      <a:pPr algn="ctr"/>
                      <a:r>
                        <a:rPr lang="en-US" sz="1100"/>
                        <a:t>27 – 31 Jul</a:t>
                      </a:r>
                    </a:p>
                  </a:txBody>
                  <a:tcPr marL="74295" marR="74295" marT="37148" marB="37148">
                    <a:solidFill>
                      <a:srgbClr val="E7EAED"/>
                    </a:solidFill>
                  </a:tcPr>
                </a:tc>
                <a:tc>
                  <a:txBody>
                    <a:bodyPr/>
                    <a:lstStyle/>
                    <a:p>
                      <a:pPr lvl="0" algn="ctr">
                        <a:buNone/>
                      </a:pPr>
                      <a:r>
                        <a:rPr lang="en-US" sz="1100"/>
                        <a:t>3 – 7 Aug</a:t>
                      </a:r>
                    </a:p>
                  </a:txBody>
                  <a:tcPr marL="74295" marR="74295" marT="37148" marB="37148">
                    <a:solidFill>
                      <a:srgbClr val="E7EAED"/>
                    </a:solidFill>
                  </a:tcPr>
                </a:tc>
                <a:tc>
                  <a:txBody>
                    <a:bodyPr/>
                    <a:lstStyle/>
                    <a:p>
                      <a:pPr lvl="0" algn="ctr">
                        <a:buNone/>
                      </a:pPr>
                      <a:r>
                        <a:rPr lang="en-US" sz="1100"/>
                        <a:t>10 – 14 Aug</a:t>
                      </a:r>
                    </a:p>
                  </a:txBody>
                  <a:tcPr marL="74295" marR="74295" marT="37148" marB="37148">
                    <a:solidFill>
                      <a:srgbClr val="E7EAED"/>
                    </a:solidFill>
                  </a:tcPr>
                </a:tc>
                <a:tc>
                  <a:txBody>
                    <a:bodyPr/>
                    <a:lstStyle/>
                    <a:p>
                      <a:pPr lvl="0" algn="ctr">
                        <a:buNone/>
                      </a:pPr>
                      <a:r>
                        <a:rPr lang="en-US" sz="1100"/>
                        <a:t>17 – 21 Aug</a:t>
                      </a:r>
                    </a:p>
                  </a:txBody>
                  <a:tcPr marL="74295" marR="74295" marT="37148" marB="37148">
                    <a:solidFill>
                      <a:srgbClr val="E7EAED"/>
                    </a:solidFill>
                  </a:tcPr>
                </a:tc>
                <a:extLst>
                  <a:ext uri="{0D108BD9-81ED-4DB2-BD59-A6C34878D82A}">
                    <a16:rowId xmlns:a16="http://schemas.microsoft.com/office/drawing/2014/main" val="3908109281"/>
                  </a:ext>
                </a:extLst>
              </a:tr>
              <a:tr h="3573295">
                <a:tc>
                  <a:txBody>
                    <a:bodyPr/>
                    <a:lstStyle/>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182880" lvl="0" indent="-182880">
                        <a:buFont typeface="Arial"/>
                        <a:buChar char="•"/>
                      </a:pPr>
                      <a:r>
                        <a:rPr lang="en-US" sz="1100"/>
                        <a:t>Iteration Planning #5</a:t>
                      </a:r>
                      <a:endParaRPr lang="en-US" sz="1500"/>
                    </a:p>
                    <a:p>
                      <a:pPr marL="0" lvl="0" indent="0">
                        <a:buNone/>
                      </a:pPr>
                      <a:r>
                        <a:rPr lang="en-US" sz="1100" u="sng">
                          <a:solidFill>
                            <a:schemeClr val="accent1">
                              <a:lumMod val="60000"/>
                              <a:lumOff val="40000"/>
                            </a:schemeClr>
                          </a:solidFill>
                        </a:rPr>
                        <a:t>SM, PO, PM, Dev Team, Dev Lead, SA, QA</a:t>
                      </a:r>
                    </a:p>
                    <a:p>
                      <a:pPr marL="182880" lvl="0" indent="-182880">
                        <a:buFont typeface="Arial"/>
                        <a:buChar char="•"/>
                      </a:pPr>
                      <a:endParaRPr lang="en-US" sz="1100"/>
                    </a:p>
                    <a:p>
                      <a:pPr lvl="0">
                        <a:buNone/>
                      </a:pPr>
                      <a:endParaRPr lang="en-US" sz="1500"/>
                    </a:p>
                    <a:p>
                      <a:pPr lvl="0">
                        <a:buNone/>
                      </a:pPr>
                      <a:endParaRPr lang="en-US" sz="1500"/>
                    </a:p>
                    <a:p>
                      <a:pPr lvl="0">
                        <a:buNone/>
                      </a:pPr>
                      <a:endParaRPr lang="en-US" sz="1500"/>
                    </a:p>
                    <a:p>
                      <a:pPr lvl="0">
                        <a:buNone/>
                      </a:pPr>
                      <a:endParaRPr lang="en-US" sz="1500"/>
                    </a:p>
                  </a:txBody>
                  <a:tcPr marL="74295" marR="74295" marT="37148" marB="37148">
                    <a:solidFill>
                      <a:schemeClr val="bg1">
                        <a:lumMod val="95000"/>
                      </a:schemeClr>
                    </a:solidFill>
                  </a:tcPr>
                </a:tc>
                <a:tc>
                  <a:txBody>
                    <a:bodyPr/>
                    <a:lstStyle/>
                    <a:p>
                      <a:pPr marL="0" lvl="0" indent="0">
                        <a:buNone/>
                      </a:pPr>
                      <a:endParaRPr lang="en-US" sz="11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0" lvl="0" indent="-274320">
                        <a:buFont typeface="Arial"/>
                        <a:buChar char="•"/>
                      </a:pPr>
                      <a:r>
                        <a:rPr lang="en-US" sz="1000"/>
                        <a:t>Iteration Review + Demo</a:t>
                      </a:r>
                    </a:p>
                    <a:p>
                      <a:pPr marL="0" lvl="0" indent="0">
                        <a:buNone/>
                      </a:pPr>
                      <a:r>
                        <a:rPr lang="en-US" sz="1000" u="sng">
                          <a:solidFill>
                            <a:schemeClr val="accent1">
                              <a:lumMod val="60000"/>
                              <a:lumOff val="40000"/>
                            </a:schemeClr>
                          </a:solidFill>
                        </a:rPr>
                        <a:t>SM, PO, PM, QA, Key Users</a:t>
                      </a:r>
                    </a:p>
                  </a:txBody>
                  <a:tcPr marL="74295" marR="74295" marT="37148" marB="37148">
                    <a:solidFill>
                      <a:schemeClr val="bg1">
                        <a:lumMod val="95000"/>
                      </a:schemeClr>
                    </a:solidFill>
                  </a:tcPr>
                </a:tc>
                <a:tc>
                  <a:txBody>
                    <a:bodyPr/>
                    <a:lstStyle/>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182880" lvl="0" indent="-182880">
                        <a:buFont typeface="Arial"/>
                        <a:buChar char="•"/>
                      </a:pPr>
                      <a:r>
                        <a:rPr lang="en-US" sz="1100"/>
                        <a:t>Iteration Planning #6</a:t>
                      </a:r>
                    </a:p>
                    <a:p>
                      <a:pPr marL="0" lvl="0" indent="0">
                        <a:buNone/>
                      </a:pPr>
                      <a:r>
                        <a:rPr lang="en-US" sz="1100" u="sng">
                          <a:solidFill>
                            <a:schemeClr val="accent1">
                              <a:lumMod val="60000"/>
                              <a:lumOff val="40000"/>
                            </a:schemeClr>
                          </a:solidFill>
                        </a:rPr>
                        <a:t>SM, PO, PM, Dev Team, Dev Lead, SA, QA</a:t>
                      </a:r>
                    </a:p>
                    <a:p>
                      <a:pPr marL="365760" lvl="1" indent="-182880">
                        <a:buFont typeface="Courier New"/>
                        <a:buChar char="o"/>
                      </a:pPr>
                      <a:endParaRPr lang="en-US" sz="1000"/>
                    </a:p>
                    <a:p>
                      <a:pPr marL="182880" lvl="0" indent="-182880">
                        <a:buFont typeface="Arial"/>
                        <a:buChar char="•"/>
                      </a:pPr>
                      <a:endParaRPr lang="en-US" sz="1100"/>
                    </a:p>
                  </a:txBody>
                  <a:tcPr marL="74295" marR="74295" marT="37148" marB="37148">
                    <a:solidFill>
                      <a:schemeClr val="bg1">
                        <a:lumMod val="95000"/>
                      </a:schemeClr>
                    </a:solidFill>
                  </a:tcPr>
                </a:tc>
                <a:tc>
                  <a:txBody>
                    <a:bodyPr/>
                    <a:lstStyle/>
                    <a:p>
                      <a:pPr lvl="0">
                        <a:buNone/>
                      </a:pPr>
                      <a:endParaRPr lang="en-US" sz="1500"/>
                    </a:p>
                    <a:p>
                      <a:pPr lvl="0">
                        <a:buNone/>
                      </a:pPr>
                      <a:endParaRPr lang="en-US" sz="1500"/>
                    </a:p>
                    <a:p>
                      <a:pPr lvl="0">
                        <a:buNone/>
                      </a:pPr>
                      <a:endParaRPr lang="en-US" sz="1500"/>
                    </a:p>
                    <a:p>
                      <a:pPr lvl="0">
                        <a:buNone/>
                      </a:pPr>
                      <a:endParaRPr lang="en-US" sz="1500"/>
                    </a:p>
                    <a:p>
                      <a:pPr lvl="0">
                        <a:buNone/>
                      </a:pPr>
                      <a:endParaRPr lang="en-US" sz="15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chemeClr val="bg1">
                        <a:lumMod val="95000"/>
                      </a:schemeClr>
                    </a:solidFill>
                  </a:tcPr>
                </a:tc>
                <a:tc>
                  <a:txBody>
                    <a:bodyPr/>
                    <a:lstStyle/>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marL="182880" lvl="0" indent="-182880">
                        <a:buClr>
                          <a:srgbClr val="000000"/>
                        </a:buClr>
                        <a:buFont typeface="Arial,Sans-Serif"/>
                        <a:buChar char="•"/>
                      </a:pPr>
                      <a:r>
                        <a:rPr lang="en-US" sz="1100" b="0" i="0" u="none" strike="noStrike" noProof="0">
                          <a:solidFill>
                            <a:srgbClr val="000000"/>
                          </a:solidFill>
                          <a:latin typeface="Aptos"/>
                        </a:rPr>
                        <a:t>Iteration Planning #7</a:t>
                      </a:r>
                    </a:p>
                    <a:p>
                      <a:pPr marL="0" lvl="0" indent="0">
                        <a:buNone/>
                      </a:pPr>
                      <a:r>
                        <a:rPr lang="en-US" sz="1100" b="0" i="0" u="sng" strike="noStrike" noProof="0">
                          <a:solidFill>
                            <a:schemeClr val="accent1">
                              <a:lumMod val="60000"/>
                              <a:lumOff val="40000"/>
                            </a:schemeClr>
                          </a:solidFill>
                          <a:latin typeface="Aptos"/>
                        </a:rPr>
                        <a:t>SM, PO, PM, Dev Team, Dev Lead, SA, QA</a:t>
                      </a:r>
                      <a:endParaRPr lang="en-US" sz="1500"/>
                    </a:p>
                  </a:txBody>
                  <a:tcPr marL="74295" marR="74295" marT="37148" marB="37148">
                    <a:solidFill>
                      <a:srgbClr val="F2F2F2"/>
                    </a:solidFill>
                  </a:tcPr>
                </a:tc>
                <a:tc>
                  <a:txBody>
                    <a:bodyPr/>
                    <a:lstStyle/>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rgbClr val="F2F2F2"/>
                    </a:solidFill>
                  </a:tcPr>
                </a:tc>
                <a:tc>
                  <a:txBody>
                    <a:bodyPr/>
                    <a:lstStyle/>
                    <a:p>
                      <a:pPr marL="0" marR="0" lvl="0" indent="0" algn="l">
                        <a:lnSpc>
                          <a:spcPct val="100000"/>
                        </a:lnSpc>
                        <a:spcBef>
                          <a:spcPts val="0"/>
                        </a:spcBef>
                        <a:spcAft>
                          <a:spcPts val="0"/>
                        </a:spcAft>
                        <a:buClr>
                          <a:srgbClr val="000000"/>
                        </a:buClr>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sng" strike="noStrike" noProof="0">
                        <a:solidFill>
                          <a:schemeClr val="accent1">
                            <a:lumMod val="60000"/>
                            <a:lumOff val="40000"/>
                          </a:schemeClr>
                        </a:solidFill>
                        <a:latin typeface="Aptos"/>
                      </a:endParaRPr>
                    </a:p>
                    <a:p>
                      <a:pPr marL="0" marR="0" lvl="0" indent="0" algn="l">
                        <a:lnSpc>
                          <a:spcPct val="100000"/>
                        </a:lnSpc>
                        <a:spcBef>
                          <a:spcPts val="0"/>
                        </a:spcBef>
                        <a:spcAft>
                          <a:spcPts val="0"/>
                        </a:spcAft>
                        <a:buNone/>
                      </a:pPr>
                      <a:endParaRPr lang="en-US" sz="1100" b="0" i="0" u="sng" strike="noStrike" noProof="0">
                        <a:solidFill>
                          <a:schemeClr val="accent1">
                            <a:lumMod val="60000"/>
                            <a:lumOff val="40000"/>
                          </a:schemeClr>
                        </a:solidFill>
                        <a:latin typeface="Aptos"/>
                      </a:endParaRPr>
                    </a:p>
                    <a:p>
                      <a:pPr marL="182880" lvl="0" indent="-182880">
                        <a:buClr>
                          <a:srgbClr val="000000"/>
                        </a:buClr>
                        <a:buFont typeface="Arial,Sans-Serif"/>
                        <a:buChar char="•"/>
                      </a:pPr>
                      <a:r>
                        <a:rPr lang="en-US" sz="1100" b="0" i="0" u="none" strike="noStrike" noProof="0">
                          <a:solidFill>
                            <a:srgbClr val="000000"/>
                          </a:solidFill>
                          <a:latin typeface="Aptos"/>
                        </a:rPr>
                        <a:t>Iteration Planning #8</a:t>
                      </a:r>
                      <a:endParaRPr lang="en-US" sz="1500"/>
                    </a:p>
                    <a:p>
                      <a:pPr marL="0" lvl="0" indent="0">
                        <a:buNone/>
                      </a:pPr>
                      <a:r>
                        <a:rPr lang="en-US" sz="1100" b="0" i="0" u="sng" strike="noStrike" noProof="0">
                          <a:solidFill>
                            <a:schemeClr val="accent1">
                              <a:lumMod val="60000"/>
                              <a:lumOff val="40000"/>
                            </a:schemeClr>
                          </a:solidFill>
                          <a:latin typeface="Aptos"/>
                        </a:rPr>
                        <a:t>SM, PO, PM, Dev Team, Dev Lead, SA, QA</a:t>
                      </a:r>
                      <a:endParaRPr lang="en-US" sz="1500" u="sng">
                        <a:solidFill>
                          <a:schemeClr val="accent1">
                            <a:lumMod val="60000"/>
                            <a:lumOff val="40000"/>
                          </a:schemeClr>
                        </a:solidFill>
                      </a:endParaRPr>
                    </a:p>
                  </a:txBody>
                  <a:tcPr marL="74295" marR="74295" marT="37148" marB="37148">
                    <a:solidFill>
                      <a:srgbClr val="F2F2F2"/>
                    </a:solidFill>
                  </a:tcPr>
                </a:tc>
                <a:tc>
                  <a:txBody>
                    <a:bodyPr/>
                    <a:lstStyle/>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rgbClr val="F2F2F2"/>
                    </a:solidFill>
                  </a:tcPr>
                </a:tc>
                <a:extLst>
                  <a:ext uri="{0D108BD9-81ED-4DB2-BD59-A6C34878D82A}">
                    <a16:rowId xmlns:a16="http://schemas.microsoft.com/office/drawing/2014/main" val="2927031463"/>
                  </a:ext>
                </a:extLst>
              </a:tr>
            </a:tbl>
          </a:graphicData>
        </a:graphic>
      </p:graphicFrame>
      <p:sp>
        <p:nvSpPr>
          <p:cNvPr id="5" name="Rectangle: Rounded Corners 4">
            <a:extLst>
              <a:ext uri="{FF2B5EF4-FFF2-40B4-BE49-F238E27FC236}">
                <a16:creationId xmlns:a16="http://schemas.microsoft.com/office/drawing/2014/main" id="{D0AD1B51-5BA4-6BBB-8C5A-5B23CCD118E8}"/>
              </a:ext>
            </a:extLst>
          </p:cNvPr>
          <p:cNvSpPr/>
          <p:nvPr/>
        </p:nvSpPr>
        <p:spPr>
          <a:xfrm>
            <a:off x="614147" y="2463493"/>
            <a:ext cx="4530413" cy="96510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1056">
                <a:solidFill>
                  <a:schemeClr val="tx1"/>
                </a:solidFill>
              </a:rPr>
              <a:t>Development + SIT:</a:t>
            </a:r>
            <a:br>
              <a:rPr lang="en-US" sz="1056"/>
            </a:br>
            <a:r>
              <a:rPr lang="en-US" sz="1056">
                <a:solidFill>
                  <a:schemeClr val="tx1"/>
                </a:solidFill>
              </a:rPr>
              <a:t>Logbook Promotion</a:t>
            </a:r>
          </a:p>
          <a:p>
            <a:endParaRPr lang="en-US" sz="1056">
              <a:solidFill>
                <a:schemeClr val="tx1"/>
              </a:solidFill>
            </a:endParaRPr>
          </a:p>
          <a:p>
            <a:r>
              <a:rPr lang="en-US" sz="1056" u="sng">
                <a:solidFill>
                  <a:schemeClr val="accent1">
                    <a:lumMod val="60000"/>
                    <a:lumOff val="40000"/>
                  </a:schemeClr>
                </a:solidFill>
              </a:rPr>
              <a:t>SM, PO, PM, Dev Team, Dev Lead, SA, QA</a:t>
            </a:r>
            <a:endParaRPr lang="en-US" sz="1056">
              <a:solidFill>
                <a:schemeClr val="accent1">
                  <a:lumMod val="60000"/>
                  <a:lumOff val="40000"/>
                </a:schemeClr>
              </a:solidFill>
            </a:endParaRPr>
          </a:p>
        </p:txBody>
      </p:sp>
      <p:sp>
        <p:nvSpPr>
          <p:cNvPr id="2" name="Rectangle: Rounded Corners 1">
            <a:extLst>
              <a:ext uri="{FF2B5EF4-FFF2-40B4-BE49-F238E27FC236}">
                <a16:creationId xmlns:a16="http://schemas.microsoft.com/office/drawing/2014/main" id="{3B7AD591-9AE1-EF9C-25F8-A881646CBAE7}"/>
              </a:ext>
            </a:extLst>
          </p:cNvPr>
          <p:cNvSpPr/>
          <p:nvPr/>
        </p:nvSpPr>
        <p:spPr>
          <a:xfrm>
            <a:off x="5175642" y="2463493"/>
            <a:ext cx="4530413" cy="96510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1056">
                <a:solidFill>
                  <a:schemeClr val="tx1"/>
                </a:solidFill>
              </a:rPr>
              <a:t>Development + SIT:</a:t>
            </a:r>
            <a:br>
              <a:rPr lang="en-US" sz="1056"/>
            </a:br>
            <a:r>
              <a:rPr lang="en-US" sz="1056">
                <a:solidFill>
                  <a:schemeClr val="tx1"/>
                </a:solidFill>
              </a:rPr>
              <a:t>Training Management</a:t>
            </a:r>
          </a:p>
          <a:p>
            <a:endParaRPr lang="en-US" sz="1056">
              <a:solidFill>
                <a:schemeClr val="tx1"/>
              </a:solidFill>
            </a:endParaRPr>
          </a:p>
          <a:p>
            <a:r>
              <a:rPr lang="en-US" sz="1056" u="sng">
                <a:solidFill>
                  <a:schemeClr val="accent1">
                    <a:lumMod val="60000"/>
                    <a:lumOff val="40000"/>
                  </a:schemeClr>
                </a:solidFill>
              </a:rPr>
              <a:t>SM, PO, PM, Dev Team, Dev Lead, SA, QA</a:t>
            </a:r>
            <a:endParaRPr lang="en-US" sz="1056">
              <a:solidFill>
                <a:schemeClr val="accent1">
                  <a:lumMod val="60000"/>
                  <a:lumOff val="40000"/>
                </a:schemeClr>
              </a:solidFill>
            </a:endParaRPr>
          </a:p>
        </p:txBody>
      </p:sp>
      <p:sp>
        <p:nvSpPr>
          <p:cNvPr id="3" name="Title 24">
            <a:extLst>
              <a:ext uri="{FF2B5EF4-FFF2-40B4-BE49-F238E27FC236}">
                <a16:creationId xmlns:a16="http://schemas.microsoft.com/office/drawing/2014/main" id="{75ADB74E-6082-E5D1-E6B0-25F2B4A228A3}"/>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VII. Detail iteration activities</a:t>
            </a:r>
            <a:endParaRPr lang="en-US">
              <a:latin typeface="Helvetica Neue" panose="02000503000000020004"/>
            </a:endParaRPr>
          </a:p>
        </p:txBody>
      </p:sp>
      <p:sp>
        <p:nvSpPr>
          <p:cNvPr id="7" name="Title 1">
            <a:extLst>
              <a:ext uri="{FF2B5EF4-FFF2-40B4-BE49-F238E27FC236}">
                <a16:creationId xmlns:a16="http://schemas.microsoft.com/office/drawing/2014/main" id="{7C4C68C3-D31D-720D-79D7-22DC8B9F80D0}"/>
              </a:ext>
            </a:extLst>
          </p:cNvPr>
          <p:cNvSpPr txBox="1">
            <a:spLocks/>
          </p:cNvSpPr>
          <p:nvPr/>
        </p:nvSpPr>
        <p:spPr>
          <a:xfrm>
            <a:off x="638082" y="844212"/>
            <a:ext cx="7436592" cy="438750"/>
          </a:xfrm>
          <a:prstGeom prst="rect">
            <a:avLst/>
          </a:prstGeom>
          <a:noFill/>
        </p:spPr>
        <p:txBody>
          <a:bodyPr vert="horz" lIns="175500" tIns="37148" rIns="74295" bIns="37148"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sz="2275">
                <a:latin typeface="Helvetica Neue" panose="02000503000000020004"/>
                <a:cs typeface="Calibri"/>
              </a:rPr>
              <a:t>Timeline Phase 2 (1)</a:t>
            </a:r>
            <a:endParaRPr lang="en-ID" sz="2275">
              <a:latin typeface="Helvetica Neue" panose="02000503000000020004"/>
              <a:cs typeface="Calibri"/>
            </a:endParaRPr>
          </a:p>
        </p:txBody>
      </p:sp>
    </p:spTree>
    <p:extLst>
      <p:ext uri="{BB962C8B-B14F-4D97-AF65-F5344CB8AC3E}">
        <p14:creationId xmlns:p14="http://schemas.microsoft.com/office/powerpoint/2010/main" val="17720048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9B84-5092-73A7-0D22-0166E2FBD7C7}"/>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72DE63B-DF29-EAFD-914A-8907918A6189}"/>
              </a:ext>
            </a:extLst>
          </p:cNvPr>
          <p:cNvGraphicFramePr>
            <a:graphicFrameLocks noGrp="1"/>
          </p:cNvGraphicFramePr>
          <p:nvPr>
            <p:ph idx="1"/>
          </p:nvPr>
        </p:nvGraphicFramePr>
        <p:xfrm>
          <a:off x="576719" y="1550422"/>
          <a:ext cx="9199446" cy="4426737"/>
        </p:xfrm>
        <a:graphic>
          <a:graphicData uri="http://schemas.openxmlformats.org/drawingml/2006/table">
            <a:tbl>
              <a:tblPr firstRow="1" bandRow="1">
                <a:tableStyleId>{5C22544A-7EE6-4342-B048-85BDC9FD1C3A}</a:tableStyleId>
              </a:tblPr>
              <a:tblGrid>
                <a:gridCol w="1150384">
                  <a:extLst>
                    <a:ext uri="{9D8B030D-6E8A-4147-A177-3AD203B41FA5}">
                      <a16:colId xmlns:a16="http://schemas.microsoft.com/office/drawing/2014/main" val="1745479334"/>
                    </a:ext>
                  </a:extLst>
                </a:gridCol>
                <a:gridCol w="1150384">
                  <a:extLst>
                    <a:ext uri="{9D8B030D-6E8A-4147-A177-3AD203B41FA5}">
                      <a16:colId xmlns:a16="http://schemas.microsoft.com/office/drawing/2014/main" val="1950859050"/>
                    </a:ext>
                  </a:extLst>
                </a:gridCol>
                <a:gridCol w="1150384">
                  <a:extLst>
                    <a:ext uri="{9D8B030D-6E8A-4147-A177-3AD203B41FA5}">
                      <a16:colId xmlns:a16="http://schemas.microsoft.com/office/drawing/2014/main" val="1718129303"/>
                    </a:ext>
                  </a:extLst>
                </a:gridCol>
                <a:gridCol w="1150384">
                  <a:extLst>
                    <a:ext uri="{9D8B030D-6E8A-4147-A177-3AD203B41FA5}">
                      <a16:colId xmlns:a16="http://schemas.microsoft.com/office/drawing/2014/main" val="183138621"/>
                    </a:ext>
                  </a:extLst>
                </a:gridCol>
                <a:gridCol w="1149477">
                  <a:extLst>
                    <a:ext uri="{9D8B030D-6E8A-4147-A177-3AD203B41FA5}">
                      <a16:colId xmlns:a16="http://schemas.microsoft.com/office/drawing/2014/main" val="1929853112"/>
                    </a:ext>
                  </a:extLst>
                </a:gridCol>
                <a:gridCol w="1149477">
                  <a:extLst>
                    <a:ext uri="{9D8B030D-6E8A-4147-A177-3AD203B41FA5}">
                      <a16:colId xmlns:a16="http://schemas.microsoft.com/office/drawing/2014/main" val="988942940"/>
                    </a:ext>
                  </a:extLst>
                </a:gridCol>
                <a:gridCol w="1149478">
                  <a:extLst>
                    <a:ext uri="{9D8B030D-6E8A-4147-A177-3AD203B41FA5}">
                      <a16:colId xmlns:a16="http://schemas.microsoft.com/office/drawing/2014/main" val="412586639"/>
                    </a:ext>
                  </a:extLst>
                </a:gridCol>
                <a:gridCol w="1149478">
                  <a:extLst>
                    <a:ext uri="{9D8B030D-6E8A-4147-A177-3AD203B41FA5}">
                      <a16:colId xmlns:a16="http://schemas.microsoft.com/office/drawing/2014/main" val="1079662783"/>
                    </a:ext>
                  </a:extLst>
                </a:gridCol>
              </a:tblGrid>
              <a:tr h="297180">
                <a:tc gridSpan="4">
                  <a:txBody>
                    <a:bodyPr/>
                    <a:lstStyle/>
                    <a:p>
                      <a:pPr algn="ctr"/>
                      <a:r>
                        <a:rPr lang="en-US" sz="1500"/>
                        <a:t>Aug-Sept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tc gridSpan="4">
                  <a:txBody>
                    <a:bodyPr/>
                    <a:lstStyle/>
                    <a:p>
                      <a:pPr algn="ctr"/>
                      <a:r>
                        <a:rPr lang="en-US" sz="1500"/>
                        <a:t>Sep-Oct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4061961932"/>
                  </a:ext>
                </a:extLst>
              </a:tr>
              <a:tr h="297180">
                <a:tc gridSpan="2">
                  <a:txBody>
                    <a:bodyPr/>
                    <a:lstStyle/>
                    <a:p>
                      <a:pPr algn="ctr"/>
                      <a:r>
                        <a:rPr lang="en-US" sz="1500"/>
                        <a:t>Iteration 9</a:t>
                      </a:r>
                    </a:p>
                  </a:txBody>
                  <a:tcPr marL="74295" marR="74295" marT="37148" marB="37148">
                    <a:solidFill>
                      <a:srgbClr val="CCD2D8"/>
                    </a:solidFill>
                  </a:tcPr>
                </a:tc>
                <a:tc hMerge="1">
                  <a:txBody>
                    <a:bodyPr/>
                    <a:lstStyle/>
                    <a:p>
                      <a:pPr algn="ctr"/>
                      <a:endParaRPr lang="en-US"/>
                    </a:p>
                  </a:txBody>
                  <a:tcPr/>
                </a:tc>
                <a:tc gridSpan="2">
                  <a:txBody>
                    <a:bodyPr/>
                    <a:lstStyle/>
                    <a:p>
                      <a:pPr lvl="0" algn="ctr">
                        <a:buNone/>
                      </a:pPr>
                      <a:r>
                        <a:rPr lang="en-US" sz="1500"/>
                        <a:t>Iteration 10</a:t>
                      </a:r>
                    </a:p>
                  </a:txBody>
                  <a:tcPr marL="74295" marR="74295" marT="37148" marB="37148">
                    <a:solidFill>
                      <a:srgbClr val="CCD2D8"/>
                    </a:solidFill>
                  </a:tcPr>
                </a:tc>
                <a:tc hMerge="1">
                  <a:txBody>
                    <a:bodyPr/>
                    <a:lstStyle/>
                    <a:p>
                      <a:pPr lvl="0" algn="ctr">
                        <a:buNone/>
                      </a:pPr>
                      <a:endParaRPr lang="en-US"/>
                    </a:p>
                  </a:txBody>
                  <a:tcPr>
                    <a:solidFill>
                      <a:srgbClr val="CCD2D8"/>
                    </a:solidFill>
                  </a:tcPr>
                </a:tc>
                <a:tc gridSpan="2">
                  <a:txBody>
                    <a:bodyPr/>
                    <a:lstStyle/>
                    <a:p>
                      <a:pPr algn="ctr"/>
                      <a:r>
                        <a:rPr lang="en-US" sz="1500"/>
                        <a:t>Iteration 11</a:t>
                      </a:r>
                    </a:p>
                  </a:txBody>
                  <a:tcPr marL="74295" marR="74295" marT="37148" marB="37148">
                    <a:solidFill>
                      <a:srgbClr val="CCD2D8"/>
                    </a:solidFill>
                  </a:tcPr>
                </a:tc>
                <a:tc hMerge="1">
                  <a:txBody>
                    <a:bodyPr/>
                    <a:lstStyle/>
                    <a:p>
                      <a:pPr algn="ctr"/>
                      <a:endParaRPr lang="en-US"/>
                    </a:p>
                  </a:txBody>
                  <a:tcPr>
                    <a:solidFill>
                      <a:srgbClr val="CCD2D8"/>
                    </a:solidFill>
                  </a:tcPr>
                </a:tc>
                <a:tc gridSpan="2">
                  <a:txBody>
                    <a:bodyPr/>
                    <a:lstStyle/>
                    <a:p>
                      <a:pPr lvl="0" algn="ctr">
                        <a:buNone/>
                      </a:pPr>
                      <a:r>
                        <a:rPr lang="en-US" sz="1500"/>
                        <a:t>Iteration 12</a:t>
                      </a:r>
                    </a:p>
                  </a:txBody>
                  <a:tcPr marL="74295" marR="74295" marT="37148" marB="37148">
                    <a:solidFill>
                      <a:srgbClr val="CCD2D8"/>
                    </a:solidFill>
                  </a:tcPr>
                </a:tc>
                <a:tc hMerge="1">
                  <a:txBody>
                    <a:bodyPr/>
                    <a:lstStyle/>
                    <a:p>
                      <a:pPr lvl="0" algn="ctr">
                        <a:buNone/>
                      </a:pPr>
                      <a:endParaRPr lang="en-US"/>
                    </a:p>
                  </a:txBody>
                  <a:tcPr>
                    <a:solidFill>
                      <a:srgbClr val="CCD2D8"/>
                    </a:solidFill>
                  </a:tcPr>
                </a:tc>
                <a:extLst>
                  <a:ext uri="{0D108BD9-81ED-4DB2-BD59-A6C34878D82A}">
                    <a16:rowId xmlns:a16="http://schemas.microsoft.com/office/drawing/2014/main" val="1834259228"/>
                  </a:ext>
                </a:extLst>
              </a:tr>
              <a:tr h="247650">
                <a:tc>
                  <a:txBody>
                    <a:bodyPr/>
                    <a:lstStyle/>
                    <a:p>
                      <a:pPr lvl="0" algn="ctr">
                        <a:buNone/>
                      </a:pPr>
                      <a:r>
                        <a:rPr lang="en-US" sz="1100"/>
                        <a:t>24 – 28 Aug</a:t>
                      </a:r>
                    </a:p>
                  </a:txBody>
                  <a:tcPr marL="74295" marR="74295" marT="37148" marB="37148">
                    <a:solidFill>
                      <a:srgbClr val="E7EAED"/>
                    </a:solidFill>
                  </a:tcPr>
                </a:tc>
                <a:tc>
                  <a:txBody>
                    <a:bodyPr/>
                    <a:lstStyle/>
                    <a:p>
                      <a:pPr lvl="0" algn="ctr">
                        <a:buNone/>
                      </a:pPr>
                      <a:r>
                        <a:rPr lang="en-US" sz="1100"/>
                        <a:t>31 Aug – 4 Sep</a:t>
                      </a:r>
                    </a:p>
                  </a:txBody>
                  <a:tcPr marL="74295" marR="74295" marT="37148" marB="37148">
                    <a:solidFill>
                      <a:srgbClr val="E7EAED"/>
                    </a:solidFill>
                  </a:tcPr>
                </a:tc>
                <a:tc>
                  <a:txBody>
                    <a:bodyPr/>
                    <a:lstStyle/>
                    <a:p>
                      <a:pPr lvl="0" algn="ctr">
                        <a:buNone/>
                      </a:pPr>
                      <a:r>
                        <a:rPr lang="en-US" sz="1100"/>
                        <a:t>7 – 11 Sep</a:t>
                      </a:r>
                    </a:p>
                  </a:txBody>
                  <a:tcPr marL="74295" marR="74295" marT="37148" marB="37148">
                    <a:solidFill>
                      <a:srgbClr val="E7EAED"/>
                    </a:solidFill>
                  </a:tcPr>
                </a:tc>
                <a:tc>
                  <a:txBody>
                    <a:bodyPr/>
                    <a:lstStyle/>
                    <a:p>
                      <a:pPr lvl="0" algn="ctr">
                        <a:buNone/>
                      </a:pPr>
                      <a:r>
                        <a:rPr lang="en-US" sz="1100"/>
                        <a:t>14 – 18 Sep</a:t>
                      </a:r>
                    </a:p>
                  </a:txBody>
                  <a:tcPr marL="74295" marR="74295" marT="37148" marB="37148">
                    <a:solidFill>
                      <a:srgbClr val="E7EAED"/>
                    </a:solidFill>
                  </a:tcPr>
                </a:tc>
                <a:tc>
                  <a:txBody>
                    <a:bodyPr/>
                    <a:lstStyle/>
                    <a:p>
                      <a:pPr algn="ctr"/>
                      <a:r>
                        <a:rPr lang="en-US" sz="1100"/>
                        <a:t>21 – 25 Sep</a:t>
                      </a:r>
                    </a:p>
                  </a:txBody>
                  <a:tcPr marL="74295" marR="74295" marT="37148" marB="37148">
                    <a:solidFill>
                      <a:srgbClr val="E7EAED"/>
                    </a:solidFill>
                  </a:tcPr>
                </a:tc>
                <a:tc>
                  <a:txBody>
                    <a:bodyPr/>
                    <a:lstStyle/>
                    <a:p>
                      <a:pPr lvl="0" algn="ctr">
                        <a:buNone/>
                      </a:pPr>
                      <a:r>
                        <a:rPr lang="en-US" sz="1100"/>
                        <a:t>28 Sep – 2 Oct</a:t>
                      </a:r>
                    </a:p>
                  </a:txBody>
                  <a:tcPr marL="74295" marR="74295" marT="37148" marB="37148">
                    <a:solidFill>
                      <a:srgbClr val="E7EAED"/>
                    </a:solidFill>
                  </a:tcPr>
                </a:tc>
                <a:tc>
                  <a:txBody>
                    <a:bodyPr/>
                    <a:lstStyle/>
                    <a:p>
                      <a:pPr lvl="0" algn="ctr">
                        <a:buNone/>
                      </a:pPr>
                      <a:r>
                        <a:rPr lang="en-US" sz="1100"/>
                        <a:t>5 – 9 Oct</a:t>
                      </a:r>
                    </a:p>
                  </a:txBody>
                  <a:tcPr marL="74295" marR="74295" marT="37148" marB="37148">
                    <a:solidFill>
                      <a:srgbClr val="E7EAED"/>
                    </a:solidFill>
                  </a:tcPr>
                </a:tc>
                <a:tc>
                  <a:txBody>
                    <a:bodyPr/>
                    <a:lstStyle/>
                    <a:p>
                      <a:pPr lvl="0" algn="ctr">
                        <a:buNone/>
                      </a:pPr>
                      <a:r>
                        <a:rPr lang="en-US" sz="1100"/>
                        <a:t>12 – 16 Oct</a:t>
                      </a:r>
                    </a:p>
                  </a:txBody>
                  <a:tcPr marL="74295" marR="74295" marT="37148" marB="37148">
                    <a:solidFill>
                      <a:srgbClr val="E7EAED"/>
                    </a:solidFill>
                  </a:tcPr>
                </a:tc>
                <a:extLst>
                  <a:ext uri="{0D108BD9-81ED-4DB2-BD59-A6C34878D82A}">
                    <a16:rowId xmlns:a16="http://schemas.microsoft.com/office/drawing/2014/main" val="3908109281"/>
                  </a:ext>
                </a:extLst>
              </a:tr>
              <a:tr h="3573295">
                <a:tc>
                  <a:txBody>
                    <a:bodyPr/>
                    <a:lstStyle/>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182880" lvl="0" indent="-182880">
                        <a:buFont typeface="Arial"/>
                        <a:buChar char="•"/>
                      </a:pPr>
                      <a:r>
                        <a:rPr lang="en-US" sz="1100"/>
                        <a:t>Iteration Planning #9</a:t>
                      </a:r>
                      <a:endParaRPr lang="en-US" sz="1500"/>
                    </a:p>
                    <a:p>
                      <a:pPr marL="0" lvl="0" indent="0">
                        <a:buNone/>
                      </a:pPr>
                      <a:r>
                        <a:rPr lang="en-US" sz="1100" u="sng">
                          <a:solidFill>
                            <a:schemeClr val="accent1">
                              <a:lumMod val="60000"/>
                              <a:lumOff val="40000"/>
                            </a:schemeClr>
                          </a:solidFill>
                        </a:rPr>
                        <a:t>SM, PO, PM, Dev Team, Dev Lead, SA, QA</a:t>
                      </a:r>
                    </a:p>
                    <a:p>
                      <a:pPr marL="182880" lvl="0" indent="-182880">
                        <a:buFont typeface="Arial"/>
                        <a:buChar char="•"/>
                      </a:pPr>
                      <a:endParaRPr lang="en-US" sz="1100"/>
                    </a:p>
                    <a:p>
                      <a:pPr lvl="0">
                        <a:buNone/>
                      </a:pPr>
                      <a:endParaRPr lang="en-US" sz="1500"/>
                    </a:p>
                    <a:p>
                      <a:pPr lvl="0">
                        <a:buNone/>
                      </a:pPr>
                      <a:endParaRPr lang="en-US" sz="1500"/>
                    </a:p>
                    <a:p>
                      <a:pPr lvl="0">
                        <a:buNone/>
                      </a:pPr>
                      <a:endParaRPr lang="en-US" sz="1500"/>
                    </a:p>
                    <a:p>
                      <a:pPr lvl="0">
                        <a:buNone/>
                      </a:pPr>
                      <a:endParaRPr lang="en-US" sz="1500"/>
                    </a:p>
                  </a:txBody>
                  <a:tcPr marL="74295" marR="74295" marT="37148" marB="37148">
                    <a:solidFill>
                      <a:schemeClr val="bg1">
                        <a:lumMod val="95000"/>
                      </a:schemeClr>
                    </a:solidFill>
                  </a:tcPr>
                </a:tc>
                <a:tc>
                  <a:txBody>
                    <a:bodyPr/>
                    <a:lstStyle/>
                    <a:p>
                      <a:pPr marL="0" lvl="0" indent="0">
                        <a:buNone/>
                      </a:pPr>
                      <a:endParaRPr lang="en-US" sz="11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0" lvl="0" indent="-274320">
                        <a:buFont typeface="Arial"/>
                        <a:buChar char="•"/>
                      </a:pPr>
                      <a:r>
                        <a:rPr lang="en-US" sz="1000"/>
                        <a:t>Iteration Review + Demo</a:t>
                      </a:r>
                    </a:p>
                    <a:p>
                      <a:pPr marL="0" lvl="0" indent="0">
                        <a:buNone/>
                      </a:pPr>
                      <a:r>
                        <a:rPr lang="en-US" sz="1000" u="sng">
                          <a:solidFill>
                            <a:schemeClr val="accent1">
                              <a:lumMod val="60000"/>
                              <a:lumOff val="40000"/>
                            </a:schemeClr>
                          </a:solidFill>
                        </a:rPr>
                        <a:t>SM, PO, PM, QA, Key Users</a:t>
                      </a:r>
                    </a:p>
                  </a:txBody>
                  <a:tcPr marL="74295" marR="74295" marT="37148" marB="37148">
                    <a:solidFill>
                      <a:schemeClr val="bg1">
                        <a:lumMod val="95000"/>
                      </a:schemeClr>
                    </a:solidFill>
                  </a:tcPr>
                </a:tc>
                <a:tc>
                  <a:txBody>
                    <a:bodyPr/>
                    <a:lstStyle/>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0" lvl="0" indent="0">
                        <a:buNone/>
                      </a:pPr>
                      <a:endParaRPr lang="en-US" sz="1100"/>
                    </a:p>
                    <a:p>
                      <a:pPr marL="182880" lvl="0" indent="-182880">
                        <a:buFont typeface="Arial"/>
                        <a:buChar char="•"/>
                      </a:pPr>
                      <a:r>
                        <a:rPr lang="en-US" sz="1100"/>
                        <a:t>Iteration Planning #10</a:t>
                      </a:r>
                    </a:p>
                    <a:p>
                      <a:pPr marL="0" lvl="0" indent="0">
                        <a:buNone/>
                      </a:pPr>
                      <a:r>
                        <a:rPr lang="en-US" sz="1100" u="sng">
                          <a:solidFill>
                            <a:schemeClr val="accent1">
                              <a:lumMod val="60000"/>
                              <a:lumOff val="40000"/>
                            </a:schemeClr>
                          </a:solidFill>
                        </a:rPr>
                        <a:t>SM, PO, PM, Dev Team, Dev Lead, SA, QA</a:t>
                      </a:r>
                    </a:p>
                    <a:p>
                      <a:pPr marL="365760" lvl="1" indent="-182880">
                        <a:buFont typeface="Courier New"/>
                        <a:buChar char="o"/>
                      </a:pPr>
                      <a:endParaRPr lang="en-US" sz="1000"/>
                    </a:p>
                    <a:p>
                      <a:pPr marL="182880" lvl="0" indent="-182880">
                        <a:buFont typeface="Arial"/>
                        <a:buChar char="•"/>
                      </a:pPr>
                      <a:endParaRPr lang="en-US" sz="1100"/>
                    </a:p>
                  </a:txBody>
                  <a:tcPr marL="74295" marR="74295" marT="37148" marB="37148">
                    <a:solidFill>
                      <a:schemeClr val="bg1">
                        <a:lumMod val="95000"/>
                      </a:schemeClr>
                    </a:solidFill>
                  </a:tcPr>
                </a:tc>
                <a:tc>
                  <a:txBody>
                    <a:bodyPr/>
                    <a:lstStyle/>
                    <a:p>
                      <a:pPr lvl="0">
                        <a:buNone/>
                      </a:pPr>
                      <a:endParaRPr lang="en-US" sz="1500"/>
                    </a:p>
                    <a:p>
                      <a:pPr lvl="0">
                        <a:buNone/>
                      </a:pPr>
                      <a:endParaRPr lang="en-US" sz="1500"/>
                    </a:p>
                    <a:p>
                      <a:pPr lvl="0">
                        <a:buNone/>
                      </a:pPr>
                      <a:endParaRPr lang="en-US" sz="1500"/>
                    </a:p>
                    <a:p>
                      <a:pPr lvl="0">
                        <a:buNone/>
                      </a:pPr>
                      <a:endParaRPr lang="en-US" sz="1500"/>
                    </a:p>
                    <a:p>
                      <a:pPr lvl="0">
                        <a:buNone/>
                      </a:pPr>
                      <a:endParaRPr lang="en-US" sz="15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chemeClr val="bg1">
                        <a:lumMod val="95000"/>
                      </a:schemeClr>
                    </a:solidFill>
                  </a:tcPr>
                </a:tc>
                <a:tc>
                  <a:txBody>
                    <a:bodyPr/>
                    <a:lstStyle/>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marL="182880" lvl="0" indent="-182880">
                        <a:buClr>
                          <a:srgbClr val="000000"/>
                        </a:buClr>
                        <a:buFont typeface="Arial,Sans-Serif"/>
                        <a:buChar char="•"/>
                      </a:pPr>
                      <a:r>
                        <a:rPr lang="en-US" sz="1100" b="0" i="0" u="none" strike="noStrike" noProof="0">
                          <a:solidFill>
                            <a:srgbClr val="000000"/>
                          </a:solidFill>
                          <a:latin typeface="Aptos"/>
                        </a:rPr>
                        <a:t>Iteration Planning #11</a:t>
                      </a:r>
                    </a:p>
                    <a:p>
                      <a:pPr marL="0" lvl="0" indent="0">
                        <a:buNone/>
                      </a:pPr>
                      <a:r>
                        <a:rPr lang="en-US" sz="1100" b="0" i="0" u="sng" strike="noStrike" noProof="0">
                          <a:solidFill>
                            <a:schemeClr val="accent1">
                              <a:lumMod val="60000"/>
                              <a:lumOff val="40000"/>
                            </a:schemeClr>
                          </a:solidFill>
                          <a:latin typeface="Aptos"/>
                        </a:rPr>
                        <a:t>SM, PO, PM, Dev Team, Dev Lead, SA, QA</a:t>
                      </a:r>
                      <a:endParaRPr lang="en-US" sz="1500"/>
                    </a:p>
                  </a:txBody>
                  <a:tcPr marL="74295" marR="74295" marT="37148" marB="37148">
                    <a:solidFill>
                      <a:srgbClr val="F2F2F2"/>
                    </a:solidFill>
                  </a:tcPr>
                </a:tc>
                <a:tc>
                  <a:txBody>
                    <a:bodyPr/>
                    <a:lstStyle/>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lvl="0">
                        <a:buNone/>
                      </a:pPr>
                      <a:endParaRPr lang="en-US" sz="11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rgbClr val="F2F2F2"/>
                    </a:solidFill>
                  </a:tcPr>
                </a:tc>
                <a:tc>
                  <a:txBody>
                    <a:bodyPr/>
                    <a:lstStyle/>
                    <a:p>
                      <a:pPr marL="0" marR="0" lvl="0" indent="0" algn="l">
                        <a:lnSpc>
                          <a:spcPct val="100000"/>
                        </a:lnSpc>
                        <a:spcBef>
                          <a:spcPts val="0"/>
                        </a:spcBef>
                        <a:spcAft>
                          <a:spcPts val="0"/>
                        </a:spcAft>
                        <a:buClr>
                          <a:srgbClr val="000000"/>
                        </a:buClr>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none" strike="noStrike" noProof="0">
                        <a:solidFill>
                          <a:schemeClr val="tx1"/>
                        </a:solidFill>
                        <a:latin typeface="Aptos"/>
                      </a:endParaRPr>
                    </a:p>
                    <a:p>
                      <a:pPr marL="0" marR="0" lvl="0" indent="0" algn="l">
                        <a:lnSpc>
                          <a:spcPct val="100000"/>
                        </a:lnSpc>
                        <a:spcBef>
                          <a:spcPts val="0"/>
                        </a:spcBef>
                        <a:spcAft>
                          <a:spcPts val="0"/>
                        </a:spcAft>
                        <a:buNone/>
                      </a:pPr>
                      <a:endParaRPr lang="en-US" sz="1100" b="0" i="0" u="sng" strike="noStrike" noProof="0">
                        <a:solidFill>
                          <a:schemeClr val="accent1">
                            <a:lumMod val="60000"/>
                            <a:lumOff val="40000"/>
                          </a:schemeClr>
                        </a:solidFill>
                        <a:latin typeface="Aptos"/>
                      </a:endParaRPr>
                    </a:p>
                    <a:p>
                      <a:pPr marL="0" marR="0" lvl="0" indent="0" algn="l">
                        <a:lnSpc>
                          <a:spcPct val="100000"/>
                        </a:lnSpc>
                        <a:spcBef>
                          <a:spcPts val="0"/>
                        </a:spcBef>
                        <a:spcAft>
                          <a:spcPts val="0"/>
                        </a:spcAft>
                        <a:buNone/>
                      </a:pPr>
                      <a:endParaRPr lang="en-US" sz="1100" b="0" i="0" u="sng" strike="noStrike" noProof="0">
                        <a:solidFill>
                          <a:schemeClr val="accent1">
                            <a:lumMod val="60000"/>
                            <a:lumOff val="40000"/>
                          </a:schemeClr>
                        </a:solidFill>
                        <a:latin typeface="Aptos"/>
                      </a:endParaRPr>
                    </a:p>
                    <a:p>
                      <a:pPr marL="182880" lvl="0" indent="-182880">
                        <a:buClr>
                          <a:srgbClr val="000000"/>
                        </a:buClr>
                        <a:buFont typeface="Arial,Sans-Serif"/>
                        <a:buChar char="•"/>
                      </a:pPr>
                      <a:r>
                        <a:rPr lang="en-US" sz="1100" b="0" i="0" u="none" strike="noStrike" noProof="0">
                          <a:solidFill>
                            <a:srgbClr val="000000"/>
                          </a:solidFill>
                          <a:latin typeface="Aptos"/>
                        </a:rPr>
                        <a:t>Iteration Planning #12</a:t>
                      </a:r>
                      <a:endParaRPr lang="en-US" sz="1500"/>
                    </a:p>
                    <a:p>
                      <a:pPr marL="0" lvl="0" indent="0">
                        <a:buNone/>
                      </a:pPr>
                      <a:r>
                        <a:rPr lang="en-US" sz="1100" b="0" i="0" u="sng" strike="noStrike" noProof="0">
                          <a:solidFill>
                            <a:schemeClr val="accent1">
                              <a:lumMod val="60000"/>
                              <a:lumOff val="40000"/>
                            </a:schemeClr>
                          </a:solidFill>
                          <a:latin typeface="Aptos"/>
                        </a:rPr>
                        <a:t>SM, PO, PM, Dev Team, Dev Lead, SA, QA</a:t>
                      </a:r>
                      <a:endParaRPr lang="en-US" sz="1500" u="sng">
                        <a:solidFill>
                          <a:schemeClr val="accent1">
                            <a:lumMod val="60000"/>
                            <a:lumOff val="40000"/>
                          </a:schemeClr>
                        </a:solidFill>
                      </a:endParaRPr>
                    </a:p>
                  </a:txBody>
                  <a:tcPr marL="74295" marR="74295" marT="37148" marB="37148">
                    <a:solidFill>
                      <a:srgbClr val="F2F2F2"/>
                    </a:solidFill>
                  </a:tcPr>
                </a:tc>
                <a:tc>
                  <a:txBody>
                    <a:bodyPr/>
                    <a:lstStyle/>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0" algn="l">
                        <a:buNone/>
                      </a:pPr>
                      <a:endParaRPr lang="en-US" sz="1100"/>
                    </a:p>
                    <a:p>
                      <a:pPr marL="0" lvl="0" indent="-274320">
                        <a:buClr>
                          <a:srgbClr val="000000"/>
                        </a:buClr>
                        <a:buFont typeface="Arial,Sans-Serif"/>
                        <a:buChar char="•"/>
                      </a:pPr>
                      <a:r>
                        <a:rPr lang="en-US" sz="1000" b="0" i="0" u="none" strike="noStrike" noProof="0">
                          <a:solidFill>
                            <a:srgbClr val="000000"/>
                          </a:solidFill>
                          <a:latin typeface="Aptos"/>
                        </a:rPr>
                        <a:t>Iteration Review + Demo</a:t>
                      </a:r>
                    </a:p>
                    <a:p>
                      <a:pPr marL="0" lvl="0" indent="0">
                        <a:buNone/>
                      </a:pPr>
                      <a:r>
                        <a:rPr lang="en-US" sz="1000" b="0" i="0" u="sng" strike="noStrike" noProof="0">
                          <a:solidFill>
                            <a:schemeClr val="accent1">
                              <a:lumMod val="60000"/>
                              <a:lumOff val="40000"/>
                            </a:schemeClr>
                          </a:solidFill>
                          <a:latin typeface="Aptos"/>
                        </a:rPr>
                        <a:t>SM, PO, PM, QA, Key Users</a:t>
                      </a:r>
                      <a:endParaRPr lang="en-US" sz="1500"/>
                    </a:p>
                  </a:txBody>
                  <a:tcPr marL="74295" marR="74295" marT="37148" marB="37148">
                    <a:solidFill>
                      <a:srgbClr val="F2F2F2"/>
                    </a:solidFill>
                  </a:tcPr>
                </a:tc>
                <a:extLst>
                  <a:ext uri="{0D108BD9-81ED-4DB2-BD59-A6C34878D82A}">
                    <a16:rowId xmlns:a16="http://schemas.microsoft.com/office/drawing/2014/main" val="2927031463"/>
                  </a:ext>
                </a:extLst>
              </a:tr>
            </a:tbl>
          </a:graphicData>
        </a:graphic>
      </p:graphicFrame>
      <p:sp>
        <p:nvSpPr>
          <p:cNvPr id="4" name="Title 1">
            <a:extLst>
              <a:ext uri="{FF2B5EF4-FFF2-40B4-BE49-F238E27FC236}">
                <a16:creationId xmlns:a16="http://schemas.microsoft.com/office/drawing/2014/main" id="{0F01DEEB-4D8E-6CCD-BF9F-999344C435D1}"/>
              </a:ext>
            </a:extLst>
          </p:cNvPr>
          <p:cNvSpPr txBox="1">
            <a:spLocks/>
          </p:cNvSpPr>
          <p:nvPr/>
        </p:nvSpPr>
        <p:spPr>
          <a:xfrm>
            <a:off x="638082" y="844212"/>
            <a:ext cx="7436592" cy="438750"/>
          </a:xfrm>
          <a:prstGeom prst="rect">
            <a:avLst/>
          </a:prstGeom>
          <a:noFill/>
        </p:spPr>
        <p:txBody>
          <a:bodyPr vert="horz" lIns="175500" tIns="37148" rIns="74295" bIns="37148"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sz="2275">
                <a:latin typeface="Helvetica Neue" panose="02000503000000020004"/>
                <a:cs typeface="Calibri"/>
              </a:rPr>
              <a:t>Timeline Phase 2 (2)</a:t>
            </a:r>
            <a:endParaRPr lang="en-ID" sz="2275">
              <a:latin typeface="Helvetica Neue" panose="02000503000000020004"/>
              <a:cs typeface="Calibri"/>
            </a:endParaRPr>
          </a:p>
        </p:txBody>
      </p:sp>
      <p:sp>
        <p:nvSpPr>
          <p:cNvPr id="5" name="Rectangle: Rounded Corners 4">
            <a:extLst>
              <a:ext uri="{FF2B5EF4-FFF2-40B4-BE49-F238E27FC236}">
                <a16:creationId xmlns:a16="http://schemas.microsoft.com/office/drawing/2014/main" id="{49723BB1-B3B8-96B4-B06F-618BFD799050}"/>
              </a:ext>
            </a:extLst>
          </p:cNvPr>
          <p:cNvSpPr/>
          <p:nvPr/>
        </p:nvSpPr>
        <p:spPr>
          <a:xfrm>
            <a:off x="614147" y="2463493"/>
            <a:ext cx="4530413" cy="96510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1056">
                <a:solidFill>
                  <a:schemeClr val="tx1"/>
                </a:solidFill>
              </a:rPr>
              <a:t>Development + SIT:</a:t>
            </a:r>
            <a:br>
              <a:rPr lang="en-US" sz="1056"/>
            </a:br>
            <a:r>
              <a:rPr lang="en-US" sz="1056">
                <a:solidFill>
                  <a:schemeClr val="tx1"/>
                </a:solidFill>
              </a:rPr>
              <a:t>MPP</a:t>
            </a:r>
          </a:p>
          <a:p>
            <a:endParaRPr lang="en-US" sz="1056">
              <a:solidFill>
                <a:schemeClr val="tx1"/>
              </a:solidFill>
            </a:endParaRPr>
          </a:p>
          <a:p>
            <a:r>
              <a:rPr lang="en-US" sz="1056" u="sng">
                <a:solidFill>
                  <a:schemeClr val="accent1">
                    <a:lumMod val="60000"/>
                    <a:lumOff val="40000"/>
                  </a:schemeClr>
                </a:solidFill>
              </a:rPr>
              <a:t>SM, PO, PM, Dev Team, Dev Lead, SA, QA</a:t>
            </a:r>
            <a:endParaRPr lang="en-US" sz="1056">
              <a:solidFill>
                <a:schemeClr val="accent1">
                  <a:lumMod val="60000"/>
                  <a:lumOff val="40000"/>
                </a:schemeClr>
              </a:solidFill>
            </a:endParaRPr>
          </a:p>
        </p:txBody>
      </p:sp>
      <p:sp>
        <p:nvSpPr>
          <p:cNvPr id="2" name="Rectangle: Rounded Corners 1">
            <a:extLst>
              <a:ext uri="{FF2B5EF4-FFF2-40B4-BE49-F238E27FC236}">
                <a16:creationId xmlns:a16="http://schemas.microsoft.com/office/drawing/2014/main" id="{27452BF2-EB3E-C205-662A-3FF77FC94E48}"/>
              </a:ext>
            </a:extLst>
          </p:cNvPr>
          <p:cNvSpPr/>
          <p:nvPr/>
        </p:nvSpPr>
        <p:spPr>
          <a:xfrm>
            <a:off x="5175642" y="2463493"/>
            <a:ext cx="4530413" cy="96510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74295" tIns="37148" rIns="74295" bIns="37148" rtlCol="0" anchor="ctr"/>
          <a:lstStyle/>
          <a:p>
            <a:r>
              <a:rPr lang="en-US" sz="1056">
                <a:solidFill>
                  <a:schemeClr val="tx1"/>
                </a:solidFill>
              </a:rPr>
              <a:t>Development + SIT:</a:t>
            </a:r>
            <a:br>
              <a:rPr lang="en-US" sz="1056"/>
            </a:br>
            <a:r>
              <a:rPr lang="en-US" sz="1056">
                <a:solidFill>
                  <a:schemeClr val="tx1"/>
                </a:solidFill>
              </a:rPr>
              <a:t>Recruitment</a:t>
            </a:r>
          </a:p>
          <a:p>
            <a:endParaRPr lang="en-US" sz="1056">
              <a:solidFill>
                <a:schemeClr val="tx1"/>
              </a:solidFill>
            </a:endParaRPr>
          </a:p>
          <a:p>
            <a:r>
              <a:rPr lang="en-US" sz="1056" u="sng">
                <a:solidFill>
                  <a:schemeClr val="accent1">
                    <a:lumMod val="60000"/>
                    <a:lumOff val="40000"/>
                  </a:schemeClr>
                </a:solidFill>
              </a:rPr>
              <a:t>SM, PO, PM, Dev Team, Dev Lead, SA, QA</a:t>
            </a:r>
            <a:endParaRPr lang="en-US" sz="1056">
              <a:solidFill>
                <a:schemeClr val="accent1">
                  <a:lumMod val="60000"/>
                  <a:lumOff val="40000"/>
                </a:schemeClr>
              </a:solidFill>
            </a:endParaRPr>
          </a:p>
        </p:txBody>
      </p:sp>
      <p:sp>
        <p:nvSpPr>
          <p:cNvPr id="3" name="Title 24">
            <a:extLst>
              <a:ext uri="{FF2B5EF4-FFF2-40B4-BE49-F238E27FC236}">
                <a16:creationId xmlns:a16="http://schemas.microsoft.com/office/drawing/2014/main" id="{07EDB202-EB29-B811-68FE-65FCC2D02656}"/>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VII. Detail iteration activities</a:t>
            </a:r>
            <a:endParaRPr lang="en-US">
              <a:latin typeface="Helvetica Neue" panose="02000503000000020004"/>
            </a:endParaRPr>
          </a:p>
        </p:txBody>
      </p:sp>
    </p:spTree>
    <p:extLst>
      <p:ext uri="{BB962C8B-B14F-4D97-AF65-F5344CB8AC3E}">
        <p14:creationId xmlns:p14="http://schemas.microsoft.com/office/powerpoint/2010/main" val="22750407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82D31-0AAC-A34F-1227-7E6C24B22996}"/>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27B680A6-61B3-CDD0-92C4-24FD6DA44505}"/>
              </a:ext>
            </a:extLst>
          </p:cNvPr>
          <p:cNvGraphicFramePr>
            <a:graphicFrameLocks noGrp="1"/>
          </p:cNvGraphicFramePr>
          <p:nvPr>
            <p:ph idx="1"/>
          </p:nvPr>
        </p:nvGraphicFramePr>
        <p:xfrm>
          <a:off x="2815747" y="1524979"/>
          <a:ext cx="4601536" cy="4426737"/>
        </p:xfrm>
        <a:graphic>
          <a:graphicData uri="http://schemas.openxmlformats.org/drawingml/2006/table">
            <a:tbl>
              <a:tblPr firstRow="1" bandRow="1">
                <a:tableStyleId>{5C22544A-7EE6-4342-B048-85BDC9FD1C3A}</a:tableStyleId>
              </a:tblPr>
              <a:tblGrid>
                <a:gridCol w="1150384">
                  <a:extLst>
                    <a:ext uri="{9D8B030D-6E8A-4147-A177-3AD203B41FA5}">
                      <a16:colId xmlns:a16="http://schemas.microsoft.com/office/drawing/2014/main" val="1745479334"/>
                    </a:ext>
                  </a:extLst>
                </a:gridCol>
                <a:gridCol w="1150384">
                  <a:extLst>
                    <a:ext uri="{9D8B030D-6E8A-4147-A177-3AD203B41FA5}">
                      <a16:colId xmlns:a16="http://schemas.microsoft.com/office/drawing/2014/main" val="1950859050"/>
                    </a:ext>
                  </a:extLst>
                </a:gridCol>
                <a:gridCol w="1150384">
                  <a:extLst>
                    <a:ext uri="{9D8B030D-6E8A-4147-A177-3AD203B41FA5}">
                      <a16:colId xmlns:a16="http://schemas.microsoft.com/office/drawing/2014/main" val="1718129303"/>
                    </a:ext>
                  </a:extLst>
                </a:gridCol>
                <a:gridCol w="1150384">
                  <a:extLst>
                    <a:ext uri="{9D8B030D-6E8A-4147-A177-3AD203B41FA5}">
                      <a16:colId xmlns:a16="http://schemas.microsoft.com/office/drawing/2014/main" val="183138621"/>
                    </a:ext>
                  </a:extLst>
                </a:gridCol>
              </a:tblGrid>
              <a:tr h="297180">
                <a:tc gridSpan="4">
                  <a:txBody>
                    <a:bodyPr/>
                    <a:lstStyle/>
                    <a:p>
                      <a:pPr algn="ctr"/>
                      <a:r>
                        <a:rPr lang="en-US" sz="1500"/>
                        <a:t>Oct-Nov 2026</a:t>
                      </a:r>
                    </a:p>
                  </a:txBody>
                  <a:tcPr marL="74295" marR="74295" marT="37148" marB="37148"/>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4061961932"/>
                  </a:ext>
                </a:extLst>
              </a:tr>
              <a:tr h="297180">
                <a:tc gridSpan="2">
                  <a:txBody>
                    <a:bodyPr/>
                    <a:lstStyle/>
                    <a:p>
                      <a:pPr algn="ctr"/>
                      <a:r>
                        <a:rPr lang="en-US" sz="1500"/>
                        <a:t>Iteration 13</a:t>
                      </a:r>
                    </a:p>
                  </a:txBody>
                  <a:tcPr marL="74295" marR="74295" marT="37148" marB="37148">
                    <a:solidFill>
                      <a:srgbClr val="CCD2D8"/>
                    </a:solidFill>
                  </a:tcPr>
                </a:tc>
                <a:tc hMerge="1">
                  <a:txBody>
                    <a:bodyPr/>
                    <a:lstStyle/>
                    <a:p>
                      <a:pPr algn="ctr"/>
                      <a:endParaRPr lang="en-US"/>
                    </a:p>
                  </a:txBody>
                  <a:tcPr/>
                </a:tc>
                <a:tc gridSpan="2">
                  <a:txBody>
                    <a:bodyPr/>
                    <a:lstStyle/>
                    <a:p>
                      <a:pPr lvl="0" algn="ctr">
                        <a:buNone/>
                      </a:pPr>
                      <a:r>
                        <a:rPr lang="en-US" sz="1500"/>
                        <a:t>Iteration 14</a:t>
                      </a:r>
                    </a:p>
                  </a:txBody>
                  <a:tcPr marL="74295" marR="74295" marT="37148" marB="37148">
                    <a:solidFill>
                      <a:srgbClr val="CCD2D8"/>
                    </a:solidFill>
                  </a:tcPr>
                </a:tc>
                <a:tc hMerge="1">
                  <a:txBody>
                    <a:bodyPr/>
                    <a:lstStyle/>
                    <a:p>
                      <a:pPr lvl="0" algn="ctr">
                        <a:buNone/>
                      </a:pPr>
                      <a:endParaRPr lang="en-US"/>
                    </a:p>
                  </a:txBody>
                  <a:tcPr>
                    <a:solidFill>
                      <a:srgbClr val="CCD2D8"/>
                    </a:solidFill>
                  </a:tcPr>
                </a:tc>
                <a:extLst>
                  <a:ext uri="{0D108BD9-81ED-4DB2-BD59-A6C34878D82A}">
                    <a16:rowId xmlns:a16="http://schemas.microsoft.com/office/drawing/2014/main" val="1834259228"/>
                  </a:ext>
                </a:extLst>
              </a:tr>
              <a:tr h="247650">
                <a:tc>
                  <a:txBody>
                    <a:bodyPr/>
                    <a:lstStyle/>
                    <a:p>
                      <a:pPr lvl="0" algn="ctr">
                        <a:buNone/>
                      </a:pPr>
                      <a:r>
                        <a:rPr lang="en-US" sz="1100"/>
                        <a:t>19 – 23 Oct</a:t>
                      </a:r>
                    </a:p>
                  </a:txBody>
                  <a:tcPr marL="74295" marR="74295" marT="37148" marB="37148">
                    <a:solidFill>
                      <a:srgbClr val="E7EAED"/>
                    </a:solidFill>
                  </a:tcPr>
                </a:tc>
                <a:tc>
                  <a:txBody>
                    <a:bodyPr/>
                    <a:lstStyle/>
                    <a:p>
                      <a:pPr lvl="0" algn="ctr">
                        <a:buNone/>
                      </a:pPr>
                      <a:r>
                        <a:rPr lang="en-US" sz="1100"/>
                        <a:t>26 – 30 Oct</a:t>
                      </a:r>
                    </a:p>
                  </a:txBody>
                  <a:tcPr marL="74295" marR="74295" marT="37148" marB="37148">
                    <a:solidFill>
                      <a:srgbClr val="E7EAED"/>
                    </a:solidFill>
                  </a:tcPr>
                </a:tc>
                <a:tc>
                  <a:txBody>
                    <a:bodyPr/>
                    <a:lstStyle/>
                    <a:p>
                      <a:pPr lvl="0" algn="ctr">
                        <a:buNone/>
                      </a:pPr>
                      <a:r>
                        <a:rPr lang="en-US" sz="1100"/>
                        <a:t>2 – 6 Nov</a:t>
                      </a:r>
                    </a:p>
                  </a:txBody>
                  <a:tcPr marL="74295" marR="74295" marT="37148" marB="37148">
                    <a:solidFill>
                      <a:srgbClr val="E7EAED"/>
                    </a:solidFill>
                  </a:tcPr>
                </a:tc>
                <a:tc>
                  <a:txBody>
                    <a:bodyPr/>
                    <a:lstStyle/>
                    <a:p>
                      <a:pPr lvl="0" algn="ctr">
                        <a:buNone/>
                      </a:pPr>
                      <a:r>
                        <a:rPr lang="en-US" sz="1100"/>
                        <a:t>9 – 13 Nov</a:t>
                      </a:r>
                    </a:p>
                  </a:txBody>
                  <a:tcPr marL="74295" marR="74295" marT="37148" marB="37148">
                    <a:solidFill>
                      <a:srgbClr val="E7EAED"/>
                    </a:solidFill>
                  </a:tcPr>
                </a:tc>
                <a:extLst>
                  <a:ext uri="{0D108BD9-81ED-4DB2-BD59-A6C34878D82A}">
                    <a16:rowId xmlns:a16="http://schemas.microsoft.com/office/drawing/2014/main" val="3908109281"/>
                  </a:ext>
                </a:extLst>
              </a:tr>
              <a:tr h="3573295">
                <a:tc>
                  <a:txBody>
                    <a:bodyPr/>
                    <a:lstStyle/>
                    <a:p>
                      <a:pPr marL="182880" lvl="0" indent="-182880">
                        <a:buFont typeface="Arial"/>
                        <a:buChar char="•"/>
                      </a:pPr>
                      <a:r>
                        <a:rPr lang="en-US" sz="1100"/>
                        <a:t>VAPT</a:t>
                      </a:r>
                    </a:p>
                    <a:p>
                      <a:pPr marL="182880" lvl="0" indent="-182880">
                        <a:buFont typeface="Arial"/>
                        <a:buChar char="•"/>
                      </a:pPr>
                      <a:endParaRPr lang="en-US" sz="1100"/>
                    </a:p>
                    <a:p>
                      <a:pPr marL="0" lvl="0" indent="0">
                        <a:buNone/>
                      </a:pPr>
                      <a:endParaRPr lang="en-US" sz="1100"/>
                    </a:p>
                    <a:p>
                      <a:pPr marL="182880" lvl="0" indent="-182880">
                        <a:buFont typeface="Arial"/>
                        <a:buChar char="•"/>
                      </a:pPr>
                      <a:endParaRPr lang="en-US" sz="1100"/>
                    </a:p>
                    <a:p>
                      <a:pPr lvl="0">
                        <a:buNone/>
                      </a:pPr>
                      <a:endParaRPr lang="en-US" sz="1500"/>
                    </a:p>
                    <a:p>
                      <a:pPr lvl="0">
                        <a:buNone/>
                      </a:pPr>
                      <a:endParaRPr lang="en-US" sz="1500"/>
                    </a:p>
                    <a:p>
                      <a:pPr lvl="0">
                        <a:buNone/>
                      </a:pPr>
                      <a:endParaRPr lang="en-US" sz="1500"/>
                    </a:p>
                    <a:p>
                      <a:pPr lvl="0">
                        <a:buNone/>
                      </a:pPr>
                      <a:endParaRPr lang="en-US" sz="1500"/>
                    </a:p>
                  </a:txBody>
                  <a:tcPr marL="74295" marR="74295" marT="37148" marB="37148">
                    <a:solidFill>
                      <a:schemeClr val="bg1">
                        <a:lumMod val="95000"/>
                      </a:schemeClr>
                    </a:solidFill>
                  </a:tcPr>
                </a:tc>
                <a:tc>
                  <a:txBody>
                    <a:bodyPr/>
                    <a:lstStyle/>
                    <a:p>
                      <a:pPr marL="0" lvl="0" indent="-274320">
                        <a:buFont typeface="Arial"/>
                        <a:buChar char="•"/>
                      </a:pPr>
                      <a:r>
                        <a:rPr lang="en-US" sz="1000"/>
                        <a:t>VAPT</a:t>
                      </a:r>
                      <a:endParaRPr lang="en-US" sz="15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365760" lvl="1" indent="-182880">
                        <a:buFont typeface="Courier New"/>
                        <a:buChar char="o"/>
                      </a:pPr>
                      <a:endParaRPr lang="en-US" sz="1000"/>
                    </a:p>
                    <a:p>
                      <a:pPr marL="0" lvl="0" indent="0">
                        <a:buNone/>
                      </a:pPr>
                      <a:endParaRPr lang="en-US" sz="1000"/>
                    </a:p>
                  </a:txBody>
                  <a:tcPr marL="74295" marR="74295" marT="37148" marB="37148">
                    <a:solidFill>
                      <a:schemeClr val="bg1">
                        <a:lumMod val="95000"/>
                      </a:schemeClr>
                    </a:solidFill>
                  </a:tcPr>
                </a:tc>
                <a:tc>
                  <a:txBody>
                    <a:bodyPr/>
                    <a:lstStyle/>
                    <a:p>
                      <a:pPr marL="0" lvl="0" indent="0">
                        <a:buNone/>
                      </a:pPr>
                      <a:endParaRPr lang="en-US" sz="1100"/>
                    </a:p>
                    <a:p>
                      <a:pPr marL="285750" lvl="0" indent="-285750">
                        <a:buFont typeface="Arial"/>
                        <a:buChar char="•"/>
                      </a:pPr>
                      <a:r>
                        <a:rPr lang="en-US" sz="1100" kern="1200">
                          <a:solidFill>
                            <a:schemeClr val="dk1"/>
                          </a:solidFill>
                          <a:latin typeface="+mn-lt"/>
                          <a:ea typeface="+mn-ea"/>
                          <a:cs typeface="+mn-cs"/>
                        </a:rPr>
                        <a:t>Training</a:t>
                      </a:r>
                    </a:p>
                    <a:p>
                      <a:pPr marL="0" lvl="0" indent="0">
                        <a:buNone/>
                      </a:pPr>
                      <a:endParaRPr lang="en-US" sz="1100"/>
                    </a:p>
                    <a:p>
                      <a:pPr marL="182880" lvl="0" indent="-182880">
                        <a:buFont typeface="Arial"/>
                        <a:buChar char="•"/>
                      </a:pPr>
                      <a:endParaRPr lang="en-US" sz="1100"/>
                    </a:p>
                  </a:txBody>
                  <a:tcPr marL="74295" marR="74295" marT="37148" marB="37148">
                    <a:solidFill>
                      <a:schemeClr val="bg1">
                        <a:lumMod val="95000"/>
                      </a:schemeClr>
                    </a:solidFill>
                  </a:tcPr>
                </a:tc>
                <a:tc>
                  <a:txBody>
                    <a:bodyPr/>
                    <a:lstStyle/>
                    <a:p>
                      <a:pPr lvl="0">
                        <a:buNone/>
                      </a:pPr>
                      <a:r>
                        <a:rPr lang="en-US" sz="1500"/>
                        <a:t>Full Go Live</a:t>
                      </a:r>
                    </a:p>
                    <a:p>
                      <a:pPr lvl="0">
                        <a:buNone/>
                      </a:pPr>
                      <a:r>
                        <a:rPr lang="en-US" sz="1500" u="sng">
                          <a:solidFill>
                            <a:schemeClr val="accent1">
                              <a:lumMod val="60000"/>
                              <a:lumOff val="40000"/>
                            </a:schemeClr>
                          </a:solidFill>
                        </a:rPr>
                        <a:t>All</a:t>
                      </a:r>
                    </a:p>
                    <a:p>
                      <a:pPr marL="0" lvl="0" indent="0">
                        <a:buNone/>
                      </a:pPr>
                      <a:endParaRPr lang="en-US" sz="1000" b="0" i="0" u="sng" strike="noStrike" noProof="0">
                        <a:solidFill>
                          <a:schemeClr val="accent1">
                            <a:lumMod val="60000"/>
                            <a:lumOff val="40000"/>
                          </a:schemeClr>
                        </a:solidFill>
                        <a:latin typeface="Aptos"/>
                      </a:endParaRPr>
                    </a:p>
                  </a:txBody>
                  <a:tcPr marL="74295" marR="74295" marT="37148" marB="37148">
                    <a:solidFill>
                      <a:schemeClr val="bg1">
                        <a:lumMod val="95000"/>
                      </a:schemeClr>
                    </a:solidFill>
                  </a:tcPr>
                </a:tc>
                <a:extLst>
                  <a:ext uri="{0D108BD9-81ED-4DB2-BD59-A6C34878D82A}">
                    <a16:rowId xmlns:a16="http://schemas.microsoft.com/office/drawing/2014/main" val="2927031463"/>
                  </a:ext>
                </a:extLst>
              </a:tr>
            </a:tbl>
          </a:graphicData>
        </a:graphic>
      </p:graphicFrame>
      <p:sp>
        <p:nvSpPr>
          <p:cNvPr id="2" name="Title 1">
            <a:extLst>
              <a:ext uri="{FF2B5EF4-FFF2-40B4-BE49-F238E27FC236}">
                <a16:creationId xmlns:a16="http://schemas.microsoft.com/office/drawing/2014/main" id="{B704B675-FDE8-540D-3064-7AA5E5A8B454}"/>
              </a:ext>
            </a:extLst>
          </p:cNvPr>
          <p:cNvSpPr txBox="1">
            <a:spLocks/>
          </p:cNvSpPr>
          <p:nvPr/>
        </p:nvSpPr>
        <p:spPr>
          <a:xfrm>
            <a:off x="638082" y="844212"/>
            <a:ext cx="7436592" cy="438750"/>
          </a:xfrm>
          <a:prstGeom prst="rect">
            <a:avLst/>
          </a:prstGeom>
          <a:noFill/>
        </p:spPr>
        <p:txBody>
          <a:bodyPr vert="horz" lIns="175500" tIns="37148" rIns="74295" bIns="37148"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sz="2275">
                <a:latin typeface="Helvetica Neue" panose="02000503000000020004"/>
                <a:cs typeface="Calibri"/>
              </a:rPr>
              <a:t>Timeline Phase 2 (3)</a:t>
            </a:r>
            <a:endParaRPr lang="en-ID" sz="2275">
              <a:latin typeface="Helvetica Neue" panose="02000503000000020004"/>
              <a:cs typeface="Calibri"/>
            </a:endParaRPr>
          </a:p>
        </p:txBody>
      </p:sp>
      <p:sp>
        <p:nvSpPr>
          <p:cNvPr id="3" name="Title 24">
            <a:extLst>
              <a:ext uri="{FF2B5EF4-FFF2-40B4-BE49-F238E27FC236}">
                <a16:creationId xmlns:a16="http://schemas.microsoft.com/office/drawing/2014/main" id="{18B531AF-0FB0-F072-8E65-0EFA4D896BCC}"/>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VII. Detail iteration activities</a:t>
            </a:r>
            <a:endParaRPr lang="en-US">
              <a:latin typeface="Helvetica Neue" panose="02000503000000020004"/>
            </a:endParaRPr>
          </a:p>
        </p:txBody>
      </p:sp>
    </p:spTree>
    <p:extLst>
      <p:ext uri="{BB962C8B-B14F-4D97-AF65-F5344CB8AC3E}">
        <p14:creationId xmlns:p14="http://schemas.microsoft.com/office/powerpoint/2010/main" val="2096311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87BB36-A1D4-7900-F282-9E822E9DD2F3}"/>
              </a:ext>
            </a:extLst>
          </p:cNvPr>
          <p:cNvSpPr>
            <a:spLocks noGrp="1"/>
          </p:cNvSpPr>
          <p:nvPr>
            <p:ph idx="1"/>
          </p:nvPr>
        </p:nvSpPr>
        <p:spPr/>
        <p:txBody>
          <a:bodyPr vert="horz" lIns="91440" tIns="45720" rIns="91440" bIns="45720" rtlCol="0" anchor="t">
            <a:noAutofit/>
          </a:bodyPr>
          <a:lstStyle/>
          <a:p>
            <a:pPr marL="0" indent="0">
              <a:buNone/>
            </a:pPr>
            <a:r>
              <a:rPr lang="en-US" b="1">
                <a:latin typeface="Calibri"/>
                <a:ea typeface="Calibri"/>
                <a:cs typeface="Calibri"/>
              </a:rPr>
              <a:t>Project Manager</a:t>
            </a:r>
            <a:endParaRPr lang="en-US" b="1">
              <a:ea typeface="Calibri" panose="020F0502020204030204" pitchFamily="34" charset="0"/>
            </a:endParaRPr>
          </a:p>
          <a:p>
            <a:pPr marL="531495" lvl="1" indent="-342900">
              <a:lnSpc>
                <a:spcPct val="113999"/>
              </a:lnSpc>
              <a:buFont typeface="Courier New" panose="020B0604020202020204" pitchFamily="34" charset="0"/>
              <a:buChar char="o"/>
            </a:pPr>
            <a:r>
              <a:rPr lang="en-US">
                <a:latin typeface="Calibri"/>
                <a:ea typeface="Calibri"/>
                <a:cs typeface="Calibri"/>
              </a:rPr>
              <a:t>Accountabilities:</a:t>
            </a:r>
          </a:p>
          <a:p>
            <a:pPr marL="730250" indent="-285750">
              <a:lnSpc>
                <a:spcPct val="113999"/>
              </a:lnSpc>
            </a:pPr>
            <a:r>
              <a:rPr lang="en-US" sz="1400">
                <a:latin typeface="Calibri"/>
                <a:ea typeface="Calibri"/>
                <a:cs typeface="Calibri"/>
              </a:rPr>
              <a:t>Delivery project </a:t>
            </a:r>
            <a:r>
              <a:rPr lang="en-US" sz="1400" err="1">
                <a:latin typeface="Calibri"/>
                <a:ea typeface="Calibri"/>
                <a:cs typeface="Calibri"/>
              </a:rPr>
              <a:t>sesuai</a:t>
            </a:r>
            <a:r>
              <a:rPr lang="en-US" sz="1400">
                <a:latin typeface="Calibri"/>
                <a:ea typeface="Calibri"/>
                <a:cs typeface="Calibri"/>
              </a:rPr>
              <a:t> </a:t>
            </a:r>
            <a:r>
              <a:rPr lang="en-US" sz="1400" b="1">
                <a:latin typeface="Calibri"/>
                <a:ea typeface="Calibri"/>
                <a:cs typeface="Calibri"/>
              </a:rPr>
              <a:t>scope, timeline, budget</a:t>
            </a:r>
            <a:r>
              <a:rPr lang="en-US" sz="1400">
                <a:latin typeface="Calibri"/>
                <a:ea typeface="Calibri"/>
                <a:cs typeface="Calibri"/>
              </a:rPr>
              <a:t> </a:t>
            </a:r>
          </a:p>
          <a:p>
            <a:pPr lvl="2">
              <a:lnSpc>
                <a:spcPct val="113999"/>
              </a:lnSpc>
            </a:pPr>
            <a:r>
              <a:rPr lang="en-US" err="1">
                <a:latin typeface="Calibri"/>
                <a:ea typeface="Calibri"/>
                <a:cs typeface="Calibri"/>
              </a:rPr>
              <a:t>Manajemen</a:t>
            </a:r>
            <a:r>
              <a:rPr lang="en-US">
                <a:latin typeface="Calibri"/>
                <a:ea typeface="Calibri"/>
                <a:cs typeface="Calibri"/>
              </a:rPr>
              <a:t> </a:t>
            </a:r>
            <a:r>
              <a:rPr lang="en-US" err="1">
                <a:latin typeface="Calibri"/>
                <a:ea typeface="Calibri"/>
                <a:cs typeface="Calibri"/>
              </a:rPr>
              <a:t>risiko</a:t>
            </a:r>
            <a:r>
              <a:rPr lang="en-US">
                <a:latin typeface="Calibri"/>
                <a:ea typeface="Calibri"/>
                <a:cs typeface="Calibri"/>
              </a:rPr>
              <a:t> dan </a:t>
            </a:r>
            <a:r>
              <a:rPr lang="en-US" err="1">
                <a:latin typeface="Calibri"/>
                <a:ea typeface="Calibri"/>
                <a:cs typeface="Calibri"/>
              </a:rPr>
              <a:t>dependensi</a:t>
            </a:r>
            <a:r>
              <a:rPr lang="en-US">
                <a:latin typeface="Calibri"/>
                <a:ea typeface="Calibri"/>
                <a:cs typeface="Calibri"/>
              </a:rPr>
              <a:t> </a:t>
            </a:r>
            <a:endParaRPr lang="en-US"/>
          </a:p>
          <a:p>
            <a:pPr lvl="2">
              <a:lnSpc>
                <a:spcPct val="113999"/>
              </a:lnSpc>
            </a:pPr>
            <a:r>
              <a:rPr lang="en-US">
                <a:latin typeface="Calibri"/>
                <a:ea typeface="Calibri"/>
                <a:cs typeface="Calibri"/>
              </a:rPr>
              <a:t>Stakeholder alignment</a:t>
            </a:r>
          </a:p>
          <a:p>
            <a:pPr marL="530225" lvl="1" indent="-274320">
              <a:lnSpc>
                <a:spcPct val="113999"/>
              </a:lnSpc>
              <a:buFont typeface="Courier New" panose="020B0604020202020204" pitchFamily="34" charset="0"/>
              <a:buChar char="o"/>
            </a:pPr>
            <a:r>
              <a:rPr lang="en-US">
                <a:latin typeface="Calibri"/>
                <a:ea typeface="Calibri"/>
                <a:cs typeface="Calibri"/>
              </a:rPr>
              <a:t>Responsibilities:</a:t>
            </a:r>
            <a:endParaRPr lang="en-US">
              <a:ea typeface="Calibri" panose="020F0502020204030204" pitchFamily="34" charset="0"/>
            </a:endParaRPr>
          </a:p>
          <a:p>
            <a:pPr marL="631825" indent="-187325">
              <a:lnSpc>
                <a:spcPct val="113999"/>
              </a:lnSpc>
            </a:pPr>
            <a:r>
              <a:rPr lang="en-US" sz="1400" err="1">
                <a:latin typeface="Calibri"/>
                <a:ea typeface="Calibri"/>
                <a:cs typeface="Calibri"/>
              </a:rPr>
              <a:t>Membuat</a:t>
            </a:r>
            <a:r>
              <a:rPr lang="en-US" sz="1400">
                <a:latin typeface="Calibri"/>
                <a:ea typeface="Calibri"/>
                <a:cs typeface="Calibri"/>
              </a:rPr>
              <a:t> dan </a:t>
            </a:r>
            <a:r>
              <a:rPr lang="en-US" sz="1400" err="1">
                <a:latin typeface="Calibri"/>
                <a:ea typeface="Calibri"/>
                <a:cs typeface="Calibri"/>
              </a:rPr>
              <a:t>mengelola</a:t>
            </a:r>
            <a:r>
              <a:rPr lang="en-US" sz="1400">
                <a:latin typeface="Calibri"/>
                <a:ea typeface="Calibri"/>
                <a:cs typeface="Calibri"/>
              </a:rPr>
              <a:t> project plan </a:t>
            </a:r>
          </a:p>
          <a:p>
            <a:pPr lvl="2">
              <a:lnSpc>
                <a:spcPct val="113999"/>
              </a:lnSpc>
            </a:pPr>
            <a:r>
              <a:rPr lang="en-US">
                <a:latin typeface="Calibri"/>
                <a:ea typeface="Calibri"/>
                <a:cs typeface="Calibri"/>
              </a:rPr>
              <a:t>Monitoring progress and reporting </a:t>
            </a:r>
            <a:endParaRPr lang="en-US"/>
          </a:p>
          <a:p>
            <a:pPr lvl="2">
              <a:lnSpc>
                <a:spcPct val="113999"/>
              </a:lnSpc>
            </a:pPr>
            <a:r>
              <a:rPr lang="en-US">
                <a:latin typeface="Calibri"/>
                <a:ea typeface="Calibri"/>
                <a:cs typeface="Calibri"/>
              </a:rPr>
              <a:t>Managing risk and issue log </a:t>
            </a:r>
            <a:endParaRPr lang="en-US"/>
          </a:p>
          <a:p>
            <a:pPr lvl="2">
              <a:lnSpc>
                <a:spcPct val="113999"/>
              </a:lnSpc>
            </a:pPr>
            <a:r>
              <a:rPr lang="en-US" err="1">
                <a:latin typeface="Calibri"/>
                <a:ea typeface="Calibri"/>
                <a:cs typeface="Calibri"/>
              </a:rPr>
              <a:t>Koordinasi</a:t>
            </a:r>
            <a:r>
              <a:rPr lang="en-US">
                <a:latin typeface="Calibri"/>
                <a:ea typeface="Calibri"/>
                <a:cs typeface="Calibri"/>
              </a:rPr>
              <a:t> </a:t>
            </a:r>
            <a:r>
              <a:rPr lang="en-US" err="1">
                <a:latin typeface="Calibri"/>
                <a:ea typeface="Calibri"/>
                <a:cs typeface="Calibri"/>
              </a:rPr>
              <a:t>lintas</a:t>
            </a:r>
            <a:r>
              <a:rPr lang="en-US">
                <a:latin typeface="Calibri"/>
                <a:ea typeface="Calibri"/>
                <a:cs typeface="Calibri"/>
              </a:rPr>
              <a:t> </a:t>
            </a:r>
            <a:r>
              <a:rPr lang="en-US" err="1">
                <a:latin typeface="Calibri"/>
                <a:ea typeface="Calibri"/>
                <a:cs typeface="Calibri"/>
              </a:rPr>
              <a:t>tim</a:t>
            </a:r>
            <a:r>
              <a:rPr lang="en-US">
                <a:latin typeface="Calibri"/>
                <a:ea typeface="Calibri"/>
                <a:cs typeface="Calibri"/>
              </a:rPr>
              <a:t> </a:t>
            </a:r>
            <a:endParaRPr lang="en-US"/>
          </a:p>
          <a:p>
            <a:pPr lvl="2">
              <a:lnSpc>
                <a:spcPct val="113999"/>
              </a:lnSpc>
            </a:pPr>
            <a:r>
              <a:rPr lang="en-US">
                <a:latin typeface="Calibri"/>
                <a:ea typeface="Calibri"/>
                <a:cs typeface="Calibri"/>
              </a:rPr>
              <a:t>Escalation management</a:t>
            </a:r>
            <a:endParaRPr lang="en-US">
              <a:ea typeface="Calibri" panose="020F0502020204030204" pitchFamily="34" charset="0"/>
            </a:endParaRPr>
          </a:p>
          <a:p>
            <a:pPr marL="444500" lvl="2" indent="0">
              <a:lnSpc>
                <a:spcPct val="113999"/>
              </a:lnSpc>
              <a:buNone/>
            </a:pPr>
            <a:endParaRPr lang="en-US">
              <a:latin typeface="Calibri"/>
              <a:ea typeface="Calibri"/>
              <a:cs typeface="Calibri"/>
            </a:endParaRPr>
          </a:p>
          <a:p>
            <a:pPr marL="0" indent="0">
              <a:lnSpc>
                <a:spcPct val="113999"/>
              </a:lnSpc>
              <a:buNone/>
            </a:pPr>
            <a:r>
              <a:rPr lang="en-US" b="1">
                <a:latin typeface="Calibri"/>
                <a:ea typeface="Calibri"/>
                <a:cs typeface="Calibri"/>
              </a:rPr>
              <a:t>Product Manager (PM)</a:t>
            </a:r>
            <a:endParaRPr lang="en-US" b="1">
              <a:ea typeface="Calibri" panose="020F0502020204030204" pitchFamily="34" charset="0"/>
            </a:endParaRPr>
          </a:p>
          <a:p>
            <a:pPr marL="363220" lvl="1" indent="-188595">
              <a:lnSpc>
                <a:spcPct val="113999"/>
              </a:lnSpc>
              <a:buFont typeface="Courier New" panose="020B0604020202020204" pitchFamily="34" charset="0"/>
              <a:buChar char="o"/>
            </a:pPr>
            <a:r>
              <a:rPr lang="en-US">
                <a:latin typeface="Calibri"/>
                <a:ea typeface="Calibri"/>
                <a:cs typeface="Calibri"/>
              </a:rPr>
              <a:t>Accountabilities:</a:t>
            </a:r>
          </a:p>
          <a:p>
            <a:pPr lvl="2">
              <a:lnSpc>
                <a:spcPct val="113999"/>
              </a:lnSpc>
            </a:pPr>
            <a:r>
              <a:rPr lang="en-US" err="1">
                <a:latin typeface="Calibri"/>
                <a:ea typeface="Calibri"/>
                <a:cs typeface="Calibri"/>
              </a:rPr>
              <a:t>Kesuksesan</a:t>
            </a:r>
            <a:r>
              <a:rPr lang="en-US">
                <a:latin typeface="Calibri"/>
                <a:ea typeface="Calibri"/>
                <a:cs typeface="Calibri"/>
              </a:rPr>
              <a:t> </a:t>
            </a:r>
            <a:r>
              <a:rPr lang="en-US" err="1">
                <a:latin typeface="Calibri"/>
                <a:ea typeface="Calibri"/>
                <a:cs typeface="Calibri"/>
              </a:rPr>
              <a:t>produk</a:t>
            </a:r>
            <a:r>
              <a:rPr lang="en-US">
                <a:latin typeface="Calibri"/>
                <a:ea typeface="Calibri"/>
                <a:cs typeface="Calibri"/>
              </a:rPr>
              <a:t> </a:t>
            </a:r>
            <a:r>
              <a:rPr lang="en-US" err="1">
                <a:latin typeface="Calibri"/>
                <a:ea typeface="Calibri"/>
                <a:cs typeface="Calibri"/>
              </a:rPr>
              <a:t>secara</a:t>
            </a:r>
            <a:r>
              <a:rPr lang="en-US">
                <a:latin typeface="Calibri"/>
                <a:ea typeface="Calibri"/>
                <a:cs typeface="Calibri"/>
              </a:rPr>
              <a:t> </a:t>
            </a:r>
            <a:r>
              <a:rPr lang="en-US" b="1">
                <a:latin typeface="Calibri"/>
                <a:ea typeface="Calibri"/>
                <a:cs typeface="Calibri"/>
              </a:rPr>
              <a:t>end-to-end (business value)</a:t>
            </a:r>
            <a:r>
              <a:rPr lang="en-US">
                <a:latin typeface="Calibri"/>
                <a:ea typeface="Calibri"/>
                <a:cs typeface="Calibri"/>
              </a:rPr>
              <a:t> </a:t>
            </a:r>
          </a:p>
          <a:p>
            <a:pPr lvl="2">
              <a:lnSpc>
                <a:spcPct val="113999"/>
              </a:lnSpc>
            </a:pPr>
            <a:r>
              <a:rPr lang="en-US">
                <a:latin typeface="Calibri"/>
                <a:ea typeface="Calibri"/>
                <a:cs typeface="Calibri"/>
              </a:rPr>
              <a:t>Product vision &amp; strategy </a:t>
            </a:r>
            <a:endParaRPr lang="en-US"/>
          </a:p>
          <a:p>
            <a:pPr marL="363220" lvl="1" indent="-188595">
              <a:lnSpc>
                <a:spcPct val="113999"/>
              </a:lnSpc>
              <a:buFont typeface="Courier New" panose="020B0604020202020204" pitchFamily="34" charset="0"/>
              <a:buChar char="o"/>
            </a:pPr>
            <a:r>
              <a:rPr lang="en-US">
                <a:latin typeface="Calibri"/>
                <a:ea typeface="Calibri"/>
                <a:cs typeface="Calibri"/>
              </a:rPr>
              <a:t>Responsibilities:</a:t>
            </a:r>
          </a:p>
          <a:p>
            <a:pPr lvl="2">
              <a:lnSpc>
                <a:spcPct val="113999"/>
              </a:lnSpc>
            </a:pPr>
            <a:r>
              <a:rPr lang="en-US" err="1">
                <a:latin typeface="Calibri"/>
                <a:ea typeface="Calibri"/>
                <a:cs typeface="Calibri"/>
              </a:rPr>
              <a:t>Membuat</a:t>
            </a:r>
            <a:r>
              <a:rPr lang="en-US">
                <a:latin typeface="Calibri"/>
                <a:ea typeface="Calibri"/>
                <a:cs typeface="Calibri"/>
              </a:rPr>
              <a:t> product roadmap</a:t>
            </a:r>
          </a:p>
          <a:p>
            <a:pPr lvl="2">
              <a:lnSpc>
                <a:spcPct val="113999"/>
              </a:lnSpc>
            </a:pPr>
            <a:r>
              <a:rPr lang="en-US" err="1">
                <a:latin typeface="Calibri"/>
                <a:ea typeface="Calibri"/>
                <a:cs typeface="Calibri"/>
              </a:rPr>
              <a:t>Menentukan</a:t>
            </a:r>
            <a:r>
              <a:rPr lang="en-US">
                <a:latin typeface="Calibri"/>
                <a:ea typeface="Calibri"/>
                <a:cs typeface="Calibri"/>
              </a:rPr>
              <a:t> </a:t>
            </a:r>
            <a:r>
              <a:rPr lang="en-US" err="1">
                <a:latin typeface="Calibri"/>
                <a:ea typeface="Calibri"/>
                <a:cs typeface="Calibri"/>
              </a:rPr>
              <a:t>prioritas</a:t>
            </a:r>
            <a:r>
              <a:rPr lang="en-US">
                <a:latin typeface="Calibri"/>
                <a:ea typeface="Calibri"/>
                <a:cs typeface="Calibri"/>
              </a:rPr>
              <a:t> </a:t>
            </a:r>
            <a:r>
              <a:rPr lang="en-US" err="1">
                <a:latin typeface="Calibri"/>
                <a:ea typeface="Calibri"/>
                <a:cs typeface="Calibri"/>
              </a:rPr>
              <a:t>fitur</a:t>
            </a:r>
            <a:r>
              <a:rPr lang="en-US">
                <a:latin typeface="Calibri"/>
                <a:ea typeface="Calibri"/>
                <a:cs typeface="Calibri"/>
              </a:rPr>
              <a:t> (value-driven)</a:t>
            </a:r>
          </a:p>
          <a:p>
            <a:pPr lvl="2">
              <a:lnSpc>
                <a:spcPct val="113999"/>
              </a:lnSpc>
            </a:pPr>
            <a:r>
              <a:rPr lang="en-US">
                <a:latin typeface="Calibri"/>
                <a:ea typeface="Calibri"/>
                <a:cs typeface="Calibri"/>
              </a:rPr>
              <a:t>Market &amp; user research</a:t>
            </a:r>
          </a:p>
          <a:p>
            <a:pPr lvl="2">
              <a:lnSpc>
                <a:spcPct val="113999"/>
              </a:lnSpc>
            </a:pPr>
            <a:r>
              <a:rPr lang="en-US">
                <a:latin typeface="Calibri"/>
                <a:ea typeface="Calibri"/>
                <a:cs typeface="Calibri"/>
              </a:rPr>
              <a:t>Stakeholder business alignment</a:t>
            </a:r>
          </a:p>
          <a:p>
            <a:pPr marL="0" indent="0">
              <a:lnSpc>
                <a:spcPct val="113999"/>
              </a:lnSpc>
              <a:buNone/>
            </a:pPr>
            <a:endParaRPr lang="en-US">
              <a:ea typeface="Calibri"/>
            </a:endParaRPr>
          </a:p>
        </p:txBody>
      </p:sp>
      <p:sp>
        <p:nvSpPr>
          <p:cNvPr id="4" name="Date Placeholder 3">
            <a:extLst>
              <a:ext uri="{FF2B5EF4-FFF2-40B4-BE49-F238E27FC236}">
                <a16:creationId xmlns:a16="http://schemas.microsoft.com/office/drawing/2014/main" id="{A8C70050-CA31-B83A-4DA8-F56D9ED52BBF}"/>
              </a:ext>
            </a:extLst>
          </p:cNvPr>
          <p:cNvSpPr>
            <a:spLocks noGrp="1"/>
          </p:cNvSpPr>
          <p:nvPr>
            <p:ph type="dt" sz="half" idx="10"/>
          </p:nvPr>
        </p:nvSpPr>
        <p:spPr/>
        <p:txBody>
          <a:bodyPr/>
          <a:lstStyle/>
          <a:p>
            <a:fld id="{5189F29F-C5E4-414E-A18A-4BD422769183}" type="datetime1">
              <a:t>4/27/2026</a:t>
            </a:fld>
            <a:endParaRPr lang="en-US"/>
          </a:p>
        </p:txBody>
      </p:sp>
      <p:sp>
        <p:nvSpPr>
          <p:cNvPr id="5" name="Footer Placeholder 4">
            <a:extLst>
              <a:ext uri="{FF2B5EF4-FFF2-40B4-BE49-F238E27FC236}">
                <a16:creationId xmlns:a16="http://schemas.microsoft.com/office/drawing/2014/main" id="{02CB6F1B-C8AE-CB8D-7DB1-9B02A38D9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CAF395-EF40-0B17-B18A-FC2888DE98B8}"/>
              </a:ext>
            </a:extLst>
          </p:cNvPr>
          <p:cNvSpPr>
            <a:spLocks noGrp="1"/>
          </p:cNvSpPr>
          <p:nvPr>
            <p:ph type="sldNum" sz="quarter" idx="12"/>
          </p:nvPr>
        </p:nvSpPr>
        <p:spPr/>
        <p:txBody>
          <a:bodyPr/>
          <a:lstStyle/>
          <a:p>
            <a:fld id="{5750AA2C-6EEF-494E-BD18-FC6BC4ADA65A}" type="slidenum">
              <a:rPr lang="en-US" smtClean="0"/>
              <a:t>57</a:t>
            </a:fld>
            <a:endParaRPr lang="en-US"/>
          </a:p>
        </p:txBody>
      </p:sp>
      <p:sp>
        <p:nvSpPr>
          <p:cNvPr id="8" name="Title 24">
            <a:extLst>
              <a:ext uri="{FF2B5EF4-FFF2-40B4-BE49-F238E27FC236}">
                <a16:creationId xmlns:a16="http://schemas.microsoft.com/office/drawing/2014/main" id="{CA39F5F3-B135-4091-710F-209CF644703A}"/>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cs typeface="Calibri"/>
              </a:rPr>
              <a:t>Role, Accountabilities &amp; Responsibilities</a:t>
            </a:r>
            <a:endParaRPr lang="en-US">
              <a:latin typeface="Helvetica Neue" panose="02000503000000020004"/>
            </a:endParaRPr>
          </a:p>
        </p:txBody>
      </p:sp>
    </p:spTree>
    <p:extLst>
      <p:ext uri="{BB962C8B-B14F-4D97-AF65-F5344CB8AC3E}">
        <p14:creationId xmlns:p14="http://schemas.microsoft.com/office/powerpoint/2010/main" val="39403222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01DD95C-B31D-FA57-C49A-02E33F17D68D}"/>
              </a:ext>
            </a:extLst>
          </p:cNvPr>
          <p:cNvSpPr>
            <a:spLocks noGrp="1"/>
          </p:cNvSpPr>
          <p:nvPr>
            <p:ph type="dt" sz="half" idx="10"/>
          </p:nvPr>
        </p:nvSpPr>
        <p:spPr/>
        <p:txBody>
          <a:bodyPr/>
          <a:lstStyle/>
          <a:p>
            <a:fld id="{2564078B-0C1D-4325-B338-7805436D156E}" type="datetime1">
              <a:rPr lang="en-US" smtClean="0"/>
              <a:t>4/27/2026</a:t>
            </a:fld>
            <a:endParaRPr lang="en-US"/>
          </a:p>
        </p:txBody>
      </p:sp>
      <p:sp>
        <p:nvSpPr>
          <p:cNvPr id="5" name="Footer Placeholder 4">
            <a:extLst>
              <a:ext uri="{FF2B5EF4-FFF2-40B4-BE49-F238E27FC236}">
                <a16:creationId xmlns:a16="http://schemas.microsoft.com/office/drawing/2014/main" id="{212F7E62-EBD9-1E82-AAC6-8C664567D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45494D-43E3-B322-86C8-D09C297F0233}"/>
              </a:ext>
            </a:extLst>
          </p:cNvPr>
          <p:cNvSpPr>
            <a:spLocks noGrp="1"/>
          </p:cNvSpPr>
          <p:nvPr>
            <p:ph type="sldNum" sz="quarter" idx="12"/>
          </p:nvPr>
        </p:nvSpPr>
        <p:spPr/>
        <p:txBody>
          <a:bodyPr/>
          <a:lstStyle/>
          <a:p>
            <a:fld id="{5750AA2C-6EEF-494E-BD18-FC6BC4ADA65A}" type="slidenum">
              <a:rPr lang="en-US" smtClean="0"/>
              <a:t>58</a:t>
            </a:fld>
            <a:endParaRPr lang="en-US"/>
          </a:p>
        </p:txBody>
      </p:sp>
      <p:graphicFrame>
        <p:nvGraphicFramePr>
          <p:cNvPr id="7" name="Table 6">
            <a:extLst>
              <a:ext uri="{FF2B5EF4-FFF2-40B4-BE49-F238E27FC236}">
                <a16:creationId xmlns:a16="http://schemas.microsoft.com/office/drawing/2014/main" id="{602DF3F2-9D30-B2D2-1818-C4824DA7B0C5}"/>
              </a:ext>
            </a:extLst>
          </p:cNvPr>
          <p:cNvGraphicFramePr>
            <a:graphicFrameLocks noGrp="1"/>
          </p:cNvGraphicFramePr>
          <p:nvPr>
            <p:extLst>
              <p:ext uri="{D42A27DB-BD31-4B8C-83A1-F6EECF244321}">
                <p14:modId xmlns:p14="http://schemas.microsoft.com/office/powerpoint/2010/main" val="408088355"/>
              </p:ext>
            </p:extLst>
          </p:nvPr>
        </p:nvGraphicFramePr>
        <p:xfrm>
          <a:off x="482600" y="597746"/>
          <a:ext cx="8519160" cy="1446721"/>
        </p:xfrm>
        <a:graphic>
          <a:graphicData uri="http://schemas.openxmlformats.org/drawingml/2006/table">
            <a:tbl>
              <a:tblPr firstRow="1" bandRow="1">
                <a:tableStyleId>{5C22544A-7EE6-4342-B048-85BDC9FD1C3A}</a:tableStyleId>
              </a:tblPr>
              <a:tblGrid>
                <a:gridCol w="1661160">
                  <a:extLst>
                    <a:ext uri="{9D8B030D-6E8A-4147-A177-3AD203B41FA5}">
                      <a16:colId xmlns:a16="http://schemas.microsoft.com/office/drawing/2014/main" val="3984932178"/>
                    </a:ext>
                  </a:extLst>
                </a:gridCol>
                <a:gridCol w="4018280">
                  <a:extLst>
                    <a:ext uri="{9D8B030D-6E8A-4147-A177-3AD203B41FA5}">
                      <a16:colId xmlns:a16="http://schemas.microsoft.com/office/drawing/2014/main" val="2063395988"/>
                    </a:ext>
                  </a:extLst>
                </a:gridCol>
                <a:gridCol w="2839720">
                  <a:extLst>
                    <a:ext uri="{9D8B030D-6E8A-4147-A177-3AD203B41FA5}">
                      <a16:colId xmlns:a16="http://schemas.microsoft.com/office/drawing/2014/main" val="4120184257"/>
                    </a:ext>
                  </a:extLst>
                </a:gridCol>
              </a:tblGrid>
              <a:tr h="370840">
                <a:tc>
                  <a:txBody>
                    <a:bodyPr/>
                    <a:lstStyle/>
                    <a:p>
                      <a:r>
                        <a:rPr lang="en-US" sz="1200"/>
                        <a:t>Role</a:t>
                      </a:r>
                    </a:p>
                  </a:txBody>
                  <a:tcPr/>
                </a:tc>
                <a:tc>
                  <a:txBody>
                    <a:bodyPr/>
                    <a:lstStyle/>
                    <a:p>
                      <a:r>
                        <a:rPr lang="en-US" sz="1200"/>
                        <a:t>Accountability</a:t>
                      </a:r>
                    </a:p>
                  </a:txBody>
                  <a:tcPr/>
                </a:tc>
                <a:tc>
                  <a:txBody>
                    <a:bodyPr/>
                    <a:lstStyle/>
                    <a:p>
                      <a:r>
                        <a:rPr lang="en-US" sz="1200"/>
                        <a:t>Responsibility</a:t>
                      </a:r>
                    </a:p>
                  </a:txBody>
                  <a:tcPr/>
                </a:tc>
                <a:extLst>
                  <a:ext uri="{0D108BD9-81ED-4DB2-BD59-A6C34878D82A}">
                    <a16:rowId xmlns:a16="http://schemas.microsoft.com/office/drawing/2014/main" val="1521247487"/>
                  </a:ext>
                </a:extLst>
              </a:tr>
              <a:tr h="370840">
                <a:tc>
                  <a:txBody>
                    <a:bodyPr/>
                    <a:lstStyle/>
                    <a:p>
                      <a:r>
                        <a:rPr lang="en-US" sz="1200"/>
                        <a:t>Project Manager</a:t>
                      </a:r>
                    </a:p>
                  </a:txBody>
                  <a:tcPr/>
                </a:tc>
                <a:tc>
                  <a:txBody>
                    <a:bodyPr/>
                    <a:lstStyle/>
                    <a:p>
                      <a:pPr marL="111125" indent="-111125" algn="l">
                        <a:lnSpc>
                          <a:spcPct val="113999"/>
                        </a:lnSpc>
                        <a:buFont typeface="Arial" panose="020B0604020202020204" pitchFamily="34" charset="0"/>
                        <a:buChar char="•"/>
                      </a:pPr>
                      <a:r>
                        <a:rPr lang="en-US" sz="1200" b="0">
                          <a:latin typeface="+mn-lt"/>
                          <a:ea typeface="Calibri"/>
                          <a:cs typeface="Calibri"/>
                        </a:rPr>
                        <a:t>Project deliverable on scope , timeline and budget</a:t>
                      </a:r>
                    </a:p>
                    <a:p>
                      <a:pPr marL="111125" indent="-111125" algn="l">
                        <a:lnSpc>
                          <a:spcPct val="113999"/>
                        </a:lnSpc>
                        <a:buFont typeface="Arial" panose="020B0604020202020204" pitchFamily="34" charset="0"/>
                        <a:buChar char="•"/>
                      </a:pPr>
                      <a:r>
                        <a:rPr lang="en-US" sz="1200" b="0">
                          <a:latin typeface="+mn-lt"/>
                          <a:ea typeface="Calibri"/>
                          <a:cs typeface="Calibri"/>
                        </a:rPr>
                        <a:t>Risk management and dependency</a:t>
                      </a:r>
                      <a:endParaRPr lang="en-US" sz="1200" b="0"/>
                    </a:p>
                    <a:p>
                      <a:pPr marL="111125" lvl="2" indent="-111125" algn="l">
                        <a:lnSpc>
                          <a:spcPct val="113999"/>
                        </a:lnSpc>
                        <a:buFont typeface="Arial" panose="020B0604020202020204" pitchFamily="34" charset="0"/>
                        <a:buChar char="•"/>
                      </a:pPr>
                      <a:r>
                        <a:rPr lang="en-US" sz="1200" b="0">
                          <a:latin typeface="+mn-lt"/>
                          <a:ea typeface="Calibri"/>
                          <a:cs typeface="Calibri"/>
                        </a:rPr>
                        <a:t>Stakeholder alignment</a:t>
                      </a:r>
                    </a:p>
                  </a:txBody>
                  <a:tcPr/>
                </a:tc>
                <a:tc>
                  <a:txBody>
                    <a:bodyPr/>
                    <a:lstStyle/>
                    <a:p>
                      <a:endParaRPr lang="en-US" sz="1200"/>
                    </a:p>
                  </a:txBody>
                  <a:tcPr/>
                </a:tc>
                <a:extLst>
                  <a:ext uri="{0D108BD9-81ED-4DB2-BD59-A6C34878D82A}">
                    <a16:rowId xmlns:a16="http://schemas.microsoft.com/office/drawing/2014/main" val="4253113113"/>
                  </a:ext>
                </a:extLst>
              </a:tr>
              <a:tr h="370840">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740619325"/>
                  </a:ext>
                </a:extLst>
              </a:tr>
            </a:tbl>
          </a:graphicData>
        </a:graphic>
      </p:graphicFrame>
    </p:spTree>
    <p:extLst>
      <p:ext uri="{BB962C8B-B14F-4D97-AF65-F5344CB8AC3E}">
        <p14:creationId xmlns:p14="http://schemas.microsoft.com/office/powerpoint/2010/main" val="3709388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11F0-3D7E-D96E-20D3-D6112234F1D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C9F4EFB-5AB8-C5BA-AB85-BFC148E81678}"/>
              </a:ext>
            </a:extLst>
          </p:cNvPr>
          <p:cNvSpPr>
            <a:spLocks noGrp="1"/>
          </p:cNvSpPr>
          <p:nvPr>
            <p:ph idx="1"/>
          </p:nvPr>
        </p:nvSpPr>
        <p:spPr/>
        <p:txBody>
          <a:bodyPr vert="horz" lIns="91440" tIns="45720" rIns="91440" bIns="45720" rtlCol="0" anchor="t">
            <a:noAutofit/>
          </a:bodyPr>
          <a:lstStyle/>
          <a:p>
            <a:pPr marL="0" lvl="2" indent="0">
              <a:lnSpc>
                <a:spcPct val="113999"/>
              </a:lnSpc>
              <a:buNone/>
            </a:pPr>
            <a:r>
              <a:rPr lang="en-US" sz="1600" b="1">
                <a:latin typeface="Calibri"/>
                <a:ea typeface="Calibri"/>
                <a:cs typeface="Calibri"/>
              </a:rPr>
              <a:t>PMO</a:t>
            </a:r>
            <a:endParaRPr lang="en-US" sz="1600">
              <a:ea typeface="Calibri" panose="020F0502020204030204" pitchFamily="34" charset="0"/>
            </a:endParaRPr>
          </a:p>
          <a:p>
            <a:pPr marL="366395" lvl="4" indent="-285750">
              <a:lnSpc>
                <a:spcPct val="113999"/>
              </a:lnSpc>
              <a:buFont typeface="Courier New" panose="020B0604020202020204" pitchFamily="34" charset="0"/>
              <a:buChar char="o"/>
            </a:pPr>
            <a:r>
              <a:rPr lang="en-US">
                <a:latin typeface="Calibri"/>
                <a:ea typeface="Calibri"/>
                <a:cs typeface="Calibri"/>
              </a:rPr>
              <a:t>Accountabilities:</a:t>
            </a:r>
          </a:p>
          <a:p>
            <a:pPr marL="712470">
              <a:lnSpc>
                <a:spcPct val="113999"/>
              </a:lnSpc>
            </a:pPr>
            <a:r>
              <a:rPr lang="en-US" sz="1400">
                <a:latin typeface="Calibri"/>
                <a:ea typeface="Calibri"/>
                <a:cs typeface="Calibri"/>
              </a:rPr>
              <a:t>Governance &amp; </a:t>
            </a:r>
            <a:r>
              <a:rPr lang="en-US" sz="1400" err="1">
                <a:latin typeface="Calibri"/>
                <a:ea typeface="Calibri"/>
                <a:cs typeface="Calibri"/>
              </a:rPr>
              <a:t>standardisasi</a:t>
            </a:r>
            <a:r>
              <a:rPr lang="en-US" sz="1400">
                <a:latin typeface="Calibri"/>
                <a:ea typeface="Calibri"/>
                <a:cs typeface="Calibri"/>
              </a:rPr>
              <a:t> project delivery </a:t>
            </a:r>
          </a:p>
          <a:p>
            <a:pPr marL="712470" lvl="4">
              <a:lnSpc>
                <a:spcPct val="113999"/>
              </a:lnSpc>
            </a:pPr>
            <a:r>
              <a:rPr lang="en-US" err="1">
                <a:latin typeface="Calibri"/>
                <a:ea typeface="Calibri"/>
                <a:cs typeface="Calibri"/>
              </a:rPr>
              <a:t>Konsistensi</a:t>
            </a:r>
            <a:r>
              <a:rPr lang="en-US">
                <a:latin typeface="Calibri"/>
                <a:ea typeface="Calibri"/>
                <a:cs typeface="Calibri"/>
              </a:rPr>
              <a:t> </a:t>
            </a:r>
            <a:r>
              <a:rPr lang="en-US" err="1">
                <a:latin typeface="Calibri"/>
                <a:ea typeface="Calibri"/>
                <a:cs typeface="Calibri"/>
              </a:rPr>
              <a:t>metodologi</a:t>
            </a:r>
            <a:r>
              <a:rPr lang="en-US">
                <a:latin typeface="Calibri"/>
                <a:ea typeface="Calibri"/>
                <a:cs typeface="Calibri"/>
              </a:rPr>
              <a:t> &amp; reporting</a:t>
            </a:r>
            <a:endParaRPr lang="en-US"/>
          </a:p>
          <a:p>
            <a:pPr marL="366395" lvl="4" indent="-285750">
              <a:lnSpc>
                <a:spcPct val="113999"/>
              </a:lnSpc>
              <a:buFont typeface="Courier New" panose="020B0604020202020204" pitchFamily="34" charset="0"/>
              <a:buChar char="o"/>
            </a:pPr>
            <a:r>
              <a:rPr lang="en-US">
                <a:latin typeface="Calibri"/>
                <a:ea typeface="Calibri"/>
                <a:cs typeface="Calibri"/>
              </a:rPr>
              <a:t>Responsibilities:</a:t>
            </a:r>
          </a:p>
          <a:p>
            <a:pPr marL="742950" indent="-171450">
              <a:lnSpc>
                <a:spcPct val="90000"/>
              </a:lnSpc>
            </a:pPr>
            <a:r>
              <a:rPr lang="en-US" sz="1400">
                <a:latin typeface="+mn-lt"/>
                <a:ea typeface="+mn-lt"/>
                <a:cs typeface="+mn-lt"/>
              </a:rPr>
              <a:t>Menyusun template &amp; framework project </a:t>
            </a:r>
            <a:endParaRPr lang="en-US" sz="1400">
              <a:latin typeface="Calibri"/>
              <a:ea typeface="Calibri"/>
              <a:cs typeface="Calibri"/>
            </a:endParaRPr>
          </a:p>
          <a:p>
            <a:pPr marL="742950" lvl="5" indent="-171450"/>
            <a:r>
              <a:rPr lang="en-US">
                <a:ea typeface="+mn-lt"/>
                <a:cs typeface="+mn-lt"/>
              </a:rPr>
              <a:t>Monitoring portfolio project </a:t>
            </a:r>
            <a:endParaRPr lang="en-US">
              <a:ea typeface="Calibri" panose="020F0502020204030204"/>
              <a:cs typeface="Calibri" panose="020F0502020204030204"/>
            </a:endParaRPr>
          </a:p>
          <a:p>
            <a:pPr marL="742950" lvl="5" indent="-171450"/>
            <a:r>
              <a:rPr lang="en-US">
                <a:ea typeface="+mn-lt"/>
                <a:cs typeface="+mn-lt"/>
              </a:rPr>
              <a:t>Reporting </a:t>
            </a:r>
            <a:r>
              <a:rPr lang="en-US" err="1">
                <a:ea typeface="+mn-lt"/>
                <a:cs typeface="+mn-lt"/>
              </a:rPr>
              <a:t>ke</a:t>
            </a:r>
            <a:r>
              <a:rPr lang="en-US">
                <a:ea typeface="+mn-lt"/>
                <a:cs typeface="+mn-lt"/>
              </a:rPr>
              <a:t> management </a:t>
            </a:r>
            <a:endParaRPr lang="en-US">
              <a:ea typeface="Calibri" panose="020F0502020204030204"/>
              <a:cs typeface="Calibri" panose="020F0502020204030204"/>
            </a:endParaRPr>
          </a:p>
          <a:p>
            <a:pPr marL="742950" lvl="5" indent="-171450"/>
            <a:r>
              <a:rPr lang="en-US">
                <a:ea typeface="+mn-lt"/>
                <a:cs typeface="+mn-lt"/>
              </a:rPr>
              <a:t>Audit &amp; compliance project </a:t>
            </a:r>
            <a:endParaRPr lang="en-US">
              <a:ea typeface="Calibri" panose="020F0502020204030204"/>
              <a:cs typeface="Calibri" panose="020F0502020204030204"/>
            </a:endParaRPr>
          </a:p>
          <a:p>
            <a:pPr marL="742950" lvl="5" indent="-171450"/>
            <a:r>
              <a:rPr lang="en-US">
                <a:ea typeface="+mn-lt"/>
                <a:cs typeface="+mn-lt"/>
              </a:rPr>
              <a:t>Support tools &amp; best practices</a:t>
            </a:r>
            <a:endParaRPr lang="en-US">
              <a:ea typeface="Calibri" panose="020F0502020204030204"/>
              <a:cs typeface="Calibri" panose="020F0502020204030204"/>
            </a:endParaRPr>
          </a:p>
          <a:p>
            <a:pPr marL="713105" lvl="5" indent="0">
              <a:buNone/>
            </a:pPr>
            <a:endParaRPr lang="en-US">
              <a:latin typeface="Calibri"/>
              <a:ea typeface="Calibri"/>
              <a:cs typeface="Calibri"/>
            </a:endParaRPr>
          </a:p>
          <a:p>
            <a:pPr marL="0" indent="0">
              <a:lnSpc>
                <a:spcPct val="113999"/>
              </a:lnSpc>
              <a:buNone/>
            </a:pPr>
            <a:r>
              <a:rPr lang="en-US" b="1">
                <a:latin typeface="Calibri"/>
                <a:ea typeface="Calibri"/>
                <a:cs typeface="Calibri"/>
              </a:rPr>
              <a:t>Scrum Master (SM)</a:t>
            </a:r>
            <a:endParaRPr lang="en-US">
              <a:ea typeface="Calibri" panose="020F0502020204030204" pitchFamily="34" charset="0"/>
            </a:endParaRPr>
          </a:p>
          <a:p>
            <a:pPr marL="531495" lvl="1" indent="-342900">
              <a:lnSpc>
                <a:spcPct val="113999"/>
              </a:lnSpc>
              <a:buFont typeface="Courier New" panose="020B0604020202020204" pitchFamily="34" charset="0"/>
              <a:buChar char="o"/>
            </a:pPr>
            <a:r>
              <a:rPr lang="en-US">
                <a:latin typeface="Calibri"/>
                <a:ea typeface="Calibri"/>
                <a:cs typeface="Calibri"/>
              </a:rPr>
              <a:t>Accountabilities:</a:t>
            </a:r>
            <a:endParaRPr lang="en-US">
              <a:ea typeface="Calibri"/>
            </a:endParaRPr>
          </a:p>
          <a:p>
            <a:pPr marL="631825" indent="-187325">
              <a:lnSpc>
                <a:spcPct val="113999"/>
              </a:lnSpc>
            </a:pPr>
            <a:r>
              <a:rPr lang="en-US" sz="1400" err="1">
                <a:latin typeface="Calibri"/>
                <a:ea typeface="Calibri"/>
                <a:cs typeface="Calibri"/>
              </a:rPr>
              <a:t>Menjaga</a:t>
            </a:r>
            <a:r>
              <a:rPr lang="en-US" sz="1400">
                <a:latin typeface="Calibri"/>
                <a:ea typeface="Calibri"/>
                <a:cs typeface="Calibri"/>
              </a:rPr>
              <a:t> </a:t>
            </a:r>
            <a:r>
              <a:rPr lang="en-US" sz="1400" err="1">
                <a:latin typeface="Calibri"/>
                <a:ea typeface="Calibri"/>
                <a:cs typeface="Calibri"/>
              </a:rPr>
              <a:t>implementasi</a:t>
            </a:r>
            <a:r>
              <a:rPr lang="en-US" sz="1400">
                <a:latin typeface="Calibri"/>
                <a:ea typeface="Calibri"/>
                <a:cs typeface="Calibri"/>
              </a:rPr>
              <a:t> </a:t>
            </a:r>
            <a:r>
              <a:rPr lang="en-US" sz="1400" b="1">
                <a:latin typeface="Calibri"/>
                <a:ea typeface="Calibri"/>
                <a:cs typeface="Calibri"/>
              </a:rPr>
              <a:t>Agile/Scrum </a:t>
            </a:r>
            <a:r>
              <a:rPr lang="en-US" sz="1400" b="1" err="1">
                <a:latin typeface="Calibri"/>
                <a:ea typeface="Calibri"/>
                <a:cs typeface="Calibri"/>
              </a:rPr>
              <a:t>berjalan</a:t>
            </a:r>
            <a:r>
              <a:rPr lang="en-US" sz="1400" b="1">
                <a:latin typeface="Calibri"/>
                <a:ea typeface="Calibri"/>
                <a:cs typeface="Calibri"/>
              </a:rPr>
              <a:t> </a:t>
            </a:r>
            <a:r>
              <a:rPr lang="en-US" sz="1400" b="1" err="1">
                <a:latin typeface="Calibri"/>
                <a:ea typeface="Calibri"/>
                <a:cs typeface="Calibri"/>
              </a:rPr>
              <a:t>efektif</a:t>
            </a:r>
            <a:r>
              <a:rPr lang="en-US" sz="1400">
                <a:latin typeface="Calibri"/>
                <a:ea typeface="Calibri"/>
                <a:cs typeface="Calibri"/>
              </a:rPr>
              <a:t> </a:t>
            </a:r>
          </a:p>
          <a:p>
            <a:pPr lvl="2">
              <a:lnSpc>
                <a:spcPct val="113999"/>
              </a:lnSpc>
            </a:pPr>
            <a:r>
              <a:rPr lang="en-US" err="1">
                <a:latin typeface="Calibri"/>
                <a:ea typeface="Calibri"/>
                <a:cs typeface="Calibri"/>
              </a:rPr>
              <a:t>Memastikan</a:t>
            </a:r>
            <a:r>
              <a:rPr lang="en-US">
                <a:latin typeface="Calibri"/>
                <a:ea typeface="Calibri"/>
                <a:cs typeface="Calibri"/>
              </a:rPr>
              <a:t> </a:t>
            </a:r>
            <a:r>
              <a:rPr lang="en-US" err="1">
                <a:latin typeface="Calibri"/>
                <a:ea typeface="Calibri"/>
                <a:cs typeface="Calibri"/>
              </a:rPr>
              <a:t>tim</a:t>
            </a:r>
            <a:r>
              <a:rPr lang="en-US">
                <a:latin typeface="Calibri"/>
                <a:ea typeface="Calibri"/>
                <a:cs typeface="Calibri"/>
              </a:rPr>
              <a:t> </a:t>
            </a:r>
            <a:r>
              <a:rPr lang="en-US" err="1">
                <a:latin typeface="Calibri"/>
                <a:ea typeface="Calibri"/>
                <a:cs typeface="Calibri"/>
              </a:rPr>
              <a:t>mencapai</a:t>
            </a:r>
            <a:r>
              <a:rPr lang="en-US">
                <a:latin typeface="Calibri"/>
                <a:ea typeface="Calibri"/>
                <a:cs typeface="Calibri"/>
              </a:rPr>
              <a:t> </a:t>
            </a:r>
            <a:r>
              <a:rPr lang="en-US" b="1">
                <a:latin typeface="Calibri"/>
                <a:ea typeface="Calibri"/>
                <a:cs typeface="Calibri"/>
              </a:rPr>
              <a:t>continuous improvement</a:t>
            </a:r>
            <a:r>
              <a:rPr lang="en-US">
                <a:latin typeface="Calibri"/>
                <a:ea typeface="Calibri"/>
                <a:cs typeface="Calibri"/>
              </a:rPr>
              <a:t> </a:t>
            </a:r>
            <a:endParaRPr lang="en-US">
              <a:latin typeface="Calibri"/>
              <a:cs typeface="Calibri"/>
            </a:endParaRPr>
          </a:p>
          <a:p>
            <a:pPr lvl="2">
              <a:lnSpc>
                <a:spcPct val="113999"/>
              </a:lnSpc>
            </a:pPr>
            <a:r>
              <a:rPr lang="en-US" err="1">
                <a:latin typeface="Calibri"/>
                <a:ea typeface="Calibri"/>
                <a:cs typeface="Calibri"/>
              </a:rPr>
              <a:t>Menghilangkan</a:t>
            </a:r>
            <a:r>
              <a:rPr lang="en-US">
                <a:latin typeface="Calibri"/>
                <a:ea typeface="Calibri"/>
                <a:cs typeface="Calibri"/>
              </a:rPr>
              <a:t> </a:t>
            </a:r>
            <a:r>
              <a:rPr lang="en-US" err="1">
                <a:latin typeface="Calibri"/>
                <a:ea typeface="Calibri"/>
                <a:cs typeface="Calibri"/>
              </a:rPr>
              <a:t>hambatan</a:t>
            </a:r>
            <a:r>
              <a:rPr lang="en-US">
                <a:latin typeface="Calibri"/>
                <a:ea typeface="Calibri"/>
                <a:cs typeface="Calibri"/>
              </a:rPr>
              <a:t> (</a:t>
            </a:r>
            <a:r>
              <a:rPr lang="en-US" i="1">
                <a:latin typeface="Calibri"/>
                <a:ea typeface="Calibri"/>
                <a:cs typeface="Calibri"/>
              </a:rPr>
              <a:t>impediments</a:t>
            </a:r>
            <a:r>
              <a:rPr lang="en-US">
                <a:latin typeface="Calibri"/>
                <a:ea typeface="Calibri"/>
                <a:cs typeface="Calibri"/>
              </a:rPr>
              <a:t>) </a:t>
            </a:r>
            <a:r>
              <a:rPr lang="en-US" err="1">
                <a:latin typeface="Calibri"/>
                <a:ea typeface="Calibri"/>
                <a:cs typeface="Calibri"/>
              </a:rPr>
              <a:t>tim</a:t>
            </a:r>
            <a:endParaRPr lang="en-US" err="1">
              <a:latin typeface="Calibri"/>
              <a:cs typeface="Calibri"/>
            </a:endParaRPr>
          </a:p>
          <a:p>
            <a:pPr marL="363220" lvl="1" indent="-188595">
              <a:lnSpc>
                <a:spcPct val="113999"/>
              </a:lnSpc>
              <a:buFont typeface="Courier New" panose="020B0604020202020204" pitchFamily="34" charset="0"/>
              <a:buChar char="o"/>
            </a:pPr>
            <a:r>
              <a:rPr lang="en-US" err="1">
                <a:latin typeface="Calibri"/>
                <a:ea typeface="Calibri"/>
                <a:cs typeface="Calibri"/>
              </a:rPr>
              <a:t>Responsibiliies</a:t>
            </a:r>
            <a:r>
              <a:rPr lang="en-US">
                <a:latin typeface="Calibri"/>
                <a:ea typeface="Calibri"/>
                <a:cs typeface="Calibri"/>
              </a:rPr>
              <a:t>:</a:t>
            </a:r>
            <a:endParaRPr lang="en-US">
              <a:ea typeface="Calibri"/>
            </a:endParaRPr>
          </a:p>
          <a:p>
            <a:pPr lvl="2" indent="-174625">
              <a:lnSpc>
                <a:spcPct val="113999"/>
              </a:lnSpc>
            </a:pPr>
            <a:r>
              <a:rPr lang="en-US" err="1">
                <a:latin typeface="Calibri"/>
                <a:ea typeface="Calibri"/>
                <a:cs typeface="Calibri"/>
              </a:rPr>
              <a:t>Memfasilitasi</a:t>
            </a:r>
            <a:r>
              <a:rPr lang="en-US">
                <a:latin typeface="Calibri"/>
                <a:ea typeface="Calibri"/>
                <a:cs typeface="Calibri"/>
              </a:rPr>
              <a:t> Scrum events (Daily, Sprint Planning, Review, Retrospective) </a:t>
            </a:r>
          </a:p>
          <a:p>
            <a:pPr lvl="2">
              <a:lnSpc>
                <a:spcPct val="113999"/>
              </a:lnSpc>
            </a:pPr>
            <a:r>
              <a:rPr lang="en-US">
                <a:latin typeface="Calibri"/>
                <a:ea typeface="Calibri"/>
                <a:cs typeface="Calibri"/>
              </a:rPr>
              <a:t>Coaching </a:t>
            </a:r>
            <a:r>
              <a:rPr lang="en-US" err="1">
                <a:latin typeface="Calibri"/>
                <a:ea typeface="Calibri"/>
                <a:cs typeface="Calibri"/>
              </a:rPr>
              <a:t>tim</a:t>
            </a:r>
            <a:r>
              <a:rPr lang="en-US">
                <a:latin typeface="Calibri"/>
                <a:ea typeface="Calibri"/>
                <a:cs typeface="Calibri"/>
              </a:rPr>
              <a:t> </a:t>
            </a:r>
            <a:r>
              <a:rPr lang="en-US" err="1">
                <a:latin typeface="Calibri"/>
                <a:ea typeface="Calibri"/>
                <a:cs typeface="Calibri"/>
              </a:rPr>
              <a:t>terkait</a:t>
            </a:r>
            <a:r>
              <a:rPr lang="en-US">
                <a:latin typeface="Calibri"/>
                <a:ea typeface="Calibri"/>
                <a:cs typeface="Calibri"/>
              </a:rPr>
              <a:t> Agile mindset </a:t>
            </a:r>
            <a:endParaRPr lang="en-US">
              <a:latin typeface="Calibri"/>
              <a:cs typeface="Calibri"/>
            </a:endParaRPr>
          </a:p>
          <a:p>
            <a:pPr lvl="2">
              <a:lnSpc>
                <a:spcPct val="113999"/>
              </a:lnSpc>
            </a:pPr>
            <a:r>
              <a:rPr lang="en-US" err="1">
                <a:latin typeface="Calibri"/>
                <a:ea typeface="Calibri"/>
                <a:cs typeface="Calibri"/>
              </a:rPr>
              <a:t>Melindungi</a:t>
            </a:r>
            <a:r>
              <a:rPr lang="en-US">
                <a:latin typeface="Calibri"/>
                <a:ea typeface="Calibri"/>
                <a:cs typeface="Calibri"/>
              </a:rPr>
              <a:t> </a:t>
            </a:r>
            <a:r>
              <a:rPr lang="en-US" err="1">
                <a:latin typeface="Calibri"/>
                <a:ea typeface="Calibri"/>
                <a:cs typeface="Calibri"/>
              </a:rPr>
              <a:t>tim</a:t>
            </a:r>
            <a:r>
              <a:rPr lang="en-US">
                <a:latin typeface="Calibri"/>
                <a:ea typeface="Calibri"/>
                <a:cs typeface="Calibri"/>
              </a:rPr>
              <a:t> </a:t>
            </a:r>
            <a:r>
              <a:rPr lang="en-US" err="1">
                <a:latin typeface="Calibri"/>
                <a:ea typeface="Calibri"/>
                <a:cs typeface="Calibri"/>
              </a:rPr>
              <a:t>dari</a:t>
            </a:r>
            <a:r>
              <a:rPr lang="en-US">
                <a:latin typeface="Calibri"/>
                <a:ea typeface="Calibri"/>
                <a:cs typeface="Calibri"/>
              </a:rPr>
              <a:t> </a:t>
            </a:r>
            <a:r>
              <a:rPr lang="en-US" err="1">
                <a:latin typeface="Calibri"/>
                <a:ea typeface="Calibri"/>
                <a:cs typeface="Calibri"/>
              </a:rPr>
              <a:t>gangguan</a:t>
            </a:r>
            <a:r>
              <a:rPr lang="en-US">
                <a:latin typeface="Calibri"/>
                <a:ea typeface="Calibri"/>
                <a:cs typeface="Calibri"/>
              </a:rPr>
              <a:t> </a:t>
            </a:r>
            <a:r>
              <a:rPr lang="en-US" err="1">
                <a:latin typeface="Calibri"/>
                <a:ea typeface="Calibri"/>
                <a:cs typeface="Calibri"/>
              </a:rPr>
              <a:t>eksternal</a:t>
            </a:r>
            <a:r>
              <a:rPr lang="en-US">
                <a:latin typeface="Calibri"/>
                <a:ea typeface="Calibri"/>
                <a:cs typeface="Calibri"/>
              </a:rPr>
              <a:t> </a:t>
            </a:r>
            <a:endParaRPr lang="en-US">
              <a:latin typeface="Calibri"/>
              <a:cs typeface="Calibri"/>
            </a:endParaRPr>
          </a:p>
          <a:p>
            <a:pPr lvl="2">
              <a:lnSpc>
                <a:spcPct val="113999"/>
              </a:lnSpc>
            </a:pPr>
            <a:r>
              <a:rPr lang="en-US" err="1">
                <a:latin typeface="Calibri"/>
                <a:ea typeface="Calibri"/>
                <a:cs typeface="Calibri"/>
              </a:rPr>
              <a:t>Membantu</a:t>
            </a:r>
            <a:r>
              <a:rPr lang="en-US">
                <a:latin typeface="Calibri"/>
                <a:ea typeface="Calibri"/>
                <a:cs typeface="Calibri"/>
              </a:rPr>
              <a:t> stakeholder </a:t>
            </a:r>
            <a:r>
              <a:rPr lang="en-US" err="1">
                <a:latin typeface="Calibri"/>
                <a:ea typeface="Calibri"/>
                <a:cs typeface="Calibri"/>
              </a:rPr>
              <a:t>memahami</a:t>
            </a:r>
            <a:r>
              <a:rPr lang="en-US">
                <a:latin typeface="Calibri"/>
                <a:ea typeface="Calibri"/>
                <a:cs typeface="Calibri"/>
              </a:rPr>
              <a:t> Scrum </a:t>
            </a:r>
            <a:endParaRPr lang="en-US">
              <a:latin typeface="Calibri"/>
              <a:cs typeface="Calibri"/>
            </a:endParaRPr>
          </a:p>
          <a:p>
            <a:pPr lvl="2">
              <a:lnSpc>
                <a:spcPct val="113999"/>
              </a:lnSpc>
            </a:pPr>
            <a:r>
              <a:rPr lang="en-US">
                <a:ea typeface="Calibri"/>
              </a:rPr>
              <a:t>Tracking dan improving team velocity</a:t>
            </a:r>
            <a:endParaRPr lang="en-US"/>
          </a:p>
          <a:p>
            <a:pPr lvl="2">
              <a:lnSpc>
                <a:spcPct val="113999"/>
              </a:lnSpc>
            </a:pPr>
            <a:endParaRPr lang="en-US">
              <a:ea typeface="Calibri"/>
            </a:endParaRPr>
          </a:p>
          <a:p>
            <a:pPr>
              <a:lnSpc>
                <a:spcPct val="113999"/>
              </a:lnSpc>
            </a:pPr>
            <a:endParaRPr lang="en-US">
              <a:ea typeface="Calibri"/>
            </a:endParaRPr>
          </a:p>
        </p:txBody>
      </p:sp>
      <p:sp>
        <p:nvSpPr>
          <p:cNvPr id="4" name="Date Placeholder 3">
            <a:extLst>
              <a:ext uri="{FF2B5EF4-FFF2-40B4-BE49-F238E27FC236}">
                <a16:creationId xmlns:a16="http://schemas.microsoft.com/office/drawing/2014/main" id="{3206EB01-EEC0-2644-3EED-A78C88CC40DD}"/>
              </a:ext>
            </a:extLst>
          </p:cNvPr>
          <p:cNvSpPr>
            <a:spLocks noGrp="1"/>
          </p:cNvSpPr>
          <p:nvPr>
            <p:ph type="dt" sz="half" idx="10"/>
          </p:nvPr>
        </p:nvSpPr>
        <p:spPr/>
        <p:txBody>
          <a:bodyPr/>
          <a:lstStyle/>
          <a:p>
            <a:fld id="{5189F29F-C5E4-414E-A18A-4BD422769183}" type="datetime1">
              <a:t>4/27/2026</a:t>
            </a:fld>
            <a:endParaRPr lang="en-US"/>
          </a:p>
        </p:txBody>
      </p:sp>
      <p:sp>
        <p:nvSpPr>
          <p:cNvPr id="5" name="Footer Placeholder 4">
            <a:extLst>
              <a:ext uri="{FF2B5EF4-FFF2-40B4-BE49-F238E27FC236}">
                <a16:creationId xmlns:a16="http://schemas.microsoft.com/office/drawing/2014/main" id="{C8EC20DB-543C-173C-E7C5-1704AA605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F759B-6F72-6F4B-7350-3AF3C937D8EE}"/>
              </a:ext>
            </a:extLst>
          </p:cNvPr>
          <p:cNvSpPr>
            <a:spLocks noGrp="1"/>
          </p:cNvSpPr>
          <p:nvPr>
            <p:ph type="sldNum" sz="quarter" idx="12"/>
          </p:nvPr>
        </p:nvSpPr>
        <p:spPr/>
        <p:txBody>
          <a:bodyPr/>
          <a:lstStyle/>
          <a:p>
            <a:fld id="{5750AA2C-6EEF-494E-BD18-FC6BC4ADA65A}" type="slidenum">
              <a:rPr lang="en-US" smtClean="0"/>
              <a:t>59</a:t>
            </a:fld>
            <a:endParaRPr lang="en-US"/>
          </a:p>
        </p:txBody>
      </p:sp>
      <p:sp>
        <p:nvSpPr>
          <p:cNvPr id="8" name="Title 24">
            <a:extLst>
              <a:ext uri="{FF2B5EF4-FFF2-40B4-BE49-F238E27FC236}">
                <a16:creationId xmlns:a16="http://schemas.microsoft.com/office/drawing/2014/main" id="{A46AB08A-C7AF-A93F-F427-FA307AF32536}"/>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cs typeface="Calibri"/>
              </a:rPr>
              <a:t>Role, Accountabilities &amp; Responsibilities</a:t>
            </a:r>
            <a:endParaRPr lang="en-US">
              <a:latin typeface="Helvetica Neue" panose="02000503000000020004"/>
            </a:endParaRPr>
          </a:p>
        </p:txBody>
      </p:sp>
    </p:spTree>
    <p:extLst>
      <p:ext uri="{BB962C8B-B14F-4D97-AF65-F5344CB8AC3E}">
        <p14:creationId xmlns:p14="http://schemas.microsoft.com/office/powerpoint/2010/main" val="2822816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82174-2F74-C133-5CF1-187BA3FFC11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C298F7-270E-6A78-20F0-0B1A18ECB814}"/>
              </a:ext>
            </a:extLst>
          </p:cNvPr>
          <p:cNvSpPr>
            <a:spLocks noGrp="1"/>
          </p:cNvSpPr>
          <p:nvPr>
            <p:ph idx="1"/>
          </p:nvPr>
        </p:nvSpPr>
        <p:spPr/>
        <p:txBody>
          <a:bodyPr vert="horz" lIns="91440" tIns="45720" rIns="91440" bIns="45720" rtlCol="0" anchor="t">
            <a:noAutofit/>
          </a:bodyPr>
          <a:lstStyle/>
          <a:p>
            <a:pPr marL="0" lvl="2" indent="0">
              <a:lnSpc>
                <a:spcPct val="113999"/>
              </a:lnSpc>
              <a:buNone/>
            </a:pPr>
            <a:r>
              <a:rPr lang="en-US" sz="1600" b="1">
                <a:latin typeface="Calibri"/>
                <a:ea typeface="Calibri"/>
                <a:cs typeface="Calibri"/>
              </a:rPr>
              <a:t>Product Owner (PO)</a:t>
            </a:r>
            <a:endParaRPr lang="en-US" sz="1600">
              <a:ea typeface="Calibri" panose="020F0502020204030204" pitchFamily="34" charset="0"/>
            </a:endParaRPr>
          </a:p>
          <a:p>
            <a:pPr marL="366395" lvl="4" indent="-285750">
              <a:lnSpc>
                <a:spcPct val="113999"/>
              </a:lnSpc>
              <a:buFont typeface="Courier New" panose="020B0604020202020204" pitchFamily="34" charset="0"/>
              <a:buChar char="o"/>
            </a:pPr>
            <a:r>
              <a:rPr lang="en-US">
                <a:latin typeface="Calibri"/>
                <a:ea typeface="Calibri"/>
                <a:cs typeface="Calibri"/>
              </a:rPr>
              <a:t>Accountabilities:</a:t>
            </a:r>
            <a:endParaRPr lang="en-US">
              <a:ea typeface="Calibri"/>
            </a:endParaRPr>
          </a:p>
          <a:p>
            <a:pPr marL="901700" indent="-188595">
              <a:lnSpc>
                <a:spcPct val="90000"/>
              </a:lnSpc>
            </a:pPr>
            <a:r>
              <a:rPr lang="en-US" sz="1400">
                <a:latin typeface="+mn-lt"/>
                <a:ea typeface="+mn-lt"/>
                <a:cs typeface="+mn-lt"/>
              </a:rPr>
              <a:t>Maximizing value </a:t>
            </a:r>
            <a:r>
              <a:rPr lang="en-US" sz="1400" err="1">
                <a:latin typeface="+mn-lt"/>
                <a:ea typeface="+mn-lt"/>
                <a:cs typeface="+mn-lt"/>
              </a:rPr>
              <a:t>dari</a:t>
            </a:r>
            <a:r>
              <a:rPr lang="en-US" sz="1400">
                <a:latin typeface="+mn-lt"/>
                <a:ea typeface="+mn-lt"/>
                <a:cs typeface="+mn-lt"/>
              </a:rPr>
              <a:t> </a:t>
            </a:r>
            <a:r>
              <a:rPr lang="en-US" sz="1400" b="1">
                <a:latin typeface="+mn-lt"/>
                <a:ea typeface="+mn-lt"/>
                <a:cs typeface="+mn-lt"/>
              </a:rPr>
              <a:t>product backlog</a:t>
            </a:r>
            <a:r>
              <a:rPr lang="en-US" sz="1400">
                <a:latin typeface="+mn-lt"/>
                <a:ea typeface="+mn-lt"/>
                <a:cs typeface="+mn-lt"/>
              </a:rPr>
              <a:t> </a:t>
            </a:r>
            <a:endParaRPr lang="en-US" sz="1400">
              <a:latin typeface="Calibri"/>
              <a:ea typeface="Calibri"/>
              <a:cs typeface="Calibri"/>
            </a:endParaRPr>
          </a:p>
          <a:p>
            <a:pPr lvl="5" indent="-188595">
              <a:buFont typeface="Courier New" panose="020B0604020202020204" pitchFamily="34" charset="0"/>
              <a:buChar char="o"/>
            </a:pPr>
            <a:r>
              <a:rPr lang="en-US" err="1">
                <a:ea typeface="+mn-lt"/>
                <a:cs typeface="+mn-lt"/>
              </a:rPr>
              <a:t>Kejelasan</a:t>
            </a:r>
            <a:r>
              <a:rPr lang="en-US">
                <a:ea typeface="+mn-lt"/>
                <a:cs typeface="+mn-lt"/>
              </a:rPr>
              <a:t> requirement </a:t>
            </a:r>
            <a:r>
              <a:rPr lang="en-US" err="1">
                <a:ea typeface="+mn-lt"/>
                <a:cs typeface="+mn-lt"/>
              </a:rPr>
              <a:t>untuk</a:t>
            </a:r>
            <a:r>
              <a:rPr lang="en-US">
                <a:ea typeface="+mn-lt"/>
                <a:cs typeface="+mn-lt"/>
              </a:rPr>
              <a:t> </a:t>
            </a:r>
            <a:r>
              <a:rPr lang="en-US" err="1">
                <a:ea typeface="+mn-lt"/>
                <a:cs typeface="+mn-lt"/>
              </a:rPr>
              <a:t>tim</a:t>
            </a:r>
            <a:endParaRPr lang="en-US" err="1">
              <a:ea typeface="Calibri" panose="020F0502020204030204"/>
              <a:cs typeface="Calibri" panose="020F0502020204030204"/>
            </a:endParaRPr>
          </a:p>
          <a:p>
            <a:pPr marL="366395" lvl="4" indent="-285750">
              <a:lnSpc>
                <a:spcPct val="113999"/>
              </a:lnSpc>
              <a:buFont typeface="Courier New" panose="020B0604020202020204" pitchFamily="34" charset="0"/>
              <a:buChar char="o"/>
            </a:pPr>
            <a:r>
              <a:rPr lang="en-US">
                <a:latin typeface="Calibri"/>
                <a:ea typeface="Calibri"/>
                <a:cs typeface="Calibri"/>
              </a:rPr>
              <a:t>Responsibilities:</a:t>
            </a:r>
            <a:endParaRPr lang="en-US">
              <a:ea typeface="Calibri"/>
            </a:endParaRPr>
          </a:p>
          <a:p>
            <a:pPr marL="901700" indent="-188595">
              <a:lnSpc>
                <a:spcPct val="90000"/>
              </a:lnSpc>
            </a:pPr>
            <a:r>
              <a:rPr lang="en-US" sz="1400" err="1">
                <a:latin typeface="+mn-lt"/>
                <a:ea typeface="+mn-lt"/>
                <a:cs typeface="+mn-lt"/>
              </a:rPr>
              <a:t>Mengelola</a:t>
            </a:r>
            <a:r>
              <a:rPr lang="en-US" sz="1400">
                <a:latin typeface="+mn-lt"/>
                <a:ea typeface="+mn-lt"/>
                <a:cs typeface="+mn-lt"/>
              </a:rPr>
              <a:t> dan </a:t>
            </a:r>
            <a:r>
              <a:rPr lang="en-US" sz="1400" err="1">
                <a:latin typeface="+mn-lt"/>
                <a:ea typeface="+mn-lt"/>
                <a:cs typeface="+mn-lt"/>
              </a:rPr>
              <a:t>memprioritaskan</a:t>
            </a:r>
            <a:r>
              <a:rPr lang="en-US" sz="1400">
                <a:latin typeface="+mn-lt"/>
                <a:ea typeface="+mn-lt"/>
                <a:cs typeface="+mn-lt"/>
              </a:rPr>
              <a:t> backlog </a:t>
            </a:r>
            <a:endParaRPr lang="en-US" sz="1400">
              <a:ea typeface="Calibri"/>
            </a:endParaRPr>
          </a:p>
          <a:p>
            <a:pPr lvl="5" indent="-188595">
              <a:buFont typeface="Courier New" panose="020B0604020202020204" pitchFamily="34" charset="0"/>
              <a:buChar char="o"/>
            </a:pPr>
            <a:r>
              <a:rPr lang="en-US" err="1">
                <a:ea typeface="+mn-lt"/>
                <a:cs typeface="+mn-lt"/>
              </a:rPr>
              <a:t>Menulis</a:t>
            </a:r>
            <a:r>
              <a:rPr lang="en-US">
                <a:ea typeface="+mn-lt"/>
                <a:cs typeface="+mn-lt"/>
              </a:rPr>
              <a:t> user stories &amp; acceptance criteria </a:t>
            </a:r>
            <a:endParaRPr lang="en-US">
              <a:ea typeface="Calibri" panose="020F0502020204030204"/>
              <a:cs typeface="Calibri" panose="020F0502020204030204"/>
            </a:endParaRPr>
          </a:p>
          <a:p>
            <a:pPr lvl="5" indent="-188595">
              <a:buFont typeface="Courier New" panose="020B0604020202020204" pitchFamily="34" charset="0"/>
              <a:buChar char="o"/>
            </a:pPr>
            <a:r>
              <a:rPr lang="en-US" err="1">
                <a:ea typeface="+mn-lt"/>
                <a:cs typeface="+mn-lt"/>
              </a:rPr>
              <a:t>Berkolaborasi</a:t>
            </a:r>
            <a:r>
              <a:rPr lang="en-US">
                <a:ea typeface="+mn-lt"/>
                <a:cs typeface="+mn-lt"/>
              </a:rPr>
              <a:t> </a:t>
            </a:r>
            <a:r>
              <a:rPr lang="en-US" err="1">
                <a:ea typeface="+mn-lt"/>
                <a:cs typeface="+mn-lt"/>
              </a:rPr>
              <a:t>dengan</a:t>
            </a:r>
            <a:r>
              <a:rPr lang="en-US">
                <a:ea typeface="+mn-lt"/>
                <a:cs typeface="+mn-lt"/>
              </a:rPr>
              <a:t> </a:t>
            </a:r>
            <a:r>
              <a:rPr lang="en-US" err="1">
                <a:ea typeface="+mn-lt"/>
                <a:cs typeface="+mn-lt"/>
              </a:rPr>
              <a:t>tim</a:t>
            </a:r>
            <a:r>
              <a:rPr lang="en-US">
                <a:ea typeface="+mn-lt"/>
                <a:cs typeface="+mn-lt"/>
              </a:rPr>
              <a:t> dev </a:t>
            </a:r>
            <a:endParaRPr lang="en-US">
              <a:ea typeface="Calibri" panose="020F0502020204030204"/>
              <a:cs typeface="Calibri" panose="020F0502020204030204"/>
            </a:endParaRPr>
          </a:p>
          <a:p>
            <a:pPr lvl="5" indent="-188595">
              <a:buFont typeface="Courier New" panose="020B0604020202020204" pitchFamily="34" charset="0"/>
              <a:buChar char="o"/>
            </a:pPr>
            <a:r>
              <a:rPr lang="en-US">
                <a:ea typeface="+mn-lt"/>
                <a:cs typeface="+mn-lt"/>
              </a:rPr>
              <a:t>Accept/reject </a:t>
            </a:r>
            <a:r>
              <a:rPr lang="en-US" err="1">
                <a:ea typeface="+mn-lt"/>
                <a:cs typeface="+mn-lt"/>
              </a:rPr>
              <a:t>hasil</a:t>
            </a:r>
            <a:r>
              <a:rPr lang="en-US">
                <a:ea typeface="+mn-lt"/>
                <a:cs typeface="+mn-lt"/>
              </a:rPr>
              <a:t> </a:t>
            </a:r>
            <a:r>
              <a:rPr lang="en-US" err="1">
                <a:ea typeface="+mn-lt"/>
                <a:cs typeface="+mn-lt"/>
              </a:rPr>
              <a:t>kerja</a:t>
            </a:r>
            <a:r>
              <a:rPr lang="en-US">
                <a:ea typeface="+mn-lt"/>
                <a:cs typeface="+mn-lt"/>
              </a:rPr>
              <a:t> </a:t>
            </a:r>
            <a:r>
              <a:rPr lang="en-US" err="1">
                <a:ea typeface="+mn-lt"/>
                <a:cs typeface="+mn-lt"/>
              </a:rPr>
              <a:t>tim</a:t>
            </a:r>
            <a:r>
              <a:rPr lang="en-US">
                <a:ea typeface="+mn-lt"/>
                <a:cs typeface="+mn-lt"/>
              </a:rPr>
              <a:t> </a:t>
            </a:r>
            <a:endParaRPr lang="en-US">
              <a:ea typeface="Calibri" panose="020F0502020204030204"/>
              <a:cs typeface="Calibri" panose="020F0502020204030204"/>
            </a:endParaRPr>
          </a:p>
          <a:p>
            <a:pPr lvl="5" indent="-188595">
              <a:buFont typeface="Courier New" panose="020B0604020202020204" pitchFamily="34" charset="0"/>
              <a:buChar char="o"/>
            </a:pPr>
            <a:r>
              <a:rPr lang="en-US">
                <a:ea typeface="+mn-lt"/>
                <a:cs typeface="+mn-lt"/>
              </a:rPr>
              <a:t>Clarify requirement </a:t>
            </a:r>
            <a:r>
              <a:rPr lang="en-US" err="1">
                <a:ea typeface="+mn-lt"/>
                <a:cs typeface="+mn-lt"/>
              </a:rPr>
              <a:t>harian</a:t>
            </a:r>
            <a:endParaRPr lang="en-US" err="1">
              <a:ea typeface="Calibri" panose="020F0502020204030204"/>
              <a:cs typeface="Calibri" panose="020F0502020204030204"/>
            </a:endParaRPr>
          </a:p>
          <a:p>
            <a:pPr marL="713105" lvl="5" indent="0">
              <a:buNone/>
            </a:pPr>
            <a:endParaRPr lang="en-US">
              <a:ea typeface="Calibri"/>
              <a:cs typeface="Calibri" panose="020F0502020204030204"/>
            </a:endParaRPr>
          </a:p>
          <a:p>
            <a:pPr marL="0" lvl="5" indent="0">
              <a:buNone/>
            </a:pPr>
            <a:r>
              <a:rPr lang="en-US" sz="1600" b="1">
                <a:ea typeface="Calibri"/>
                <a:cs typeface="Calibri" panose="020F0502020204030204"/>
              </a:rPr>
              <a:t>Dev Lead</a:t>
            </a:r>
          </a:p>
          <a:p>
            <a:pPr marL="285750" lvl="5" indent="-285750">
              <a:buFont typeface="Courier New" panose="020B0604020202020204" pitchFamily="34" charset="0"/>
              <a:buChar char="o"/>
            </a:pPr>
            <a:r>
              <a:rPr lang="en-US">
                <a:ea typeface="Calibri"/>
                <a:cs typeface="Calibri"/>
              </a:rPr>
              <a:t>Accountabilities:</a:t>
            </a:r>
            <a:endParaRPr lang="en-US">
              <a:ea typeface="+mn-lt"/>
              <a:cs typeface="+mn-lt"/>
            </a:endParaRPr>
          </a:p>
          <a:p>
            <a:pPr marL="971550" lvl="6"/>
            <a:r>
              <a:rPr lang="en-US" sz="1400">
                <a:latin typeface="+mn-lt"/>
                <a:ea typeface="+mn-lt"/>
                <a:cs typeface="+mn-lt"/>
              </a:rPr>
              <a:t>Kualitas </a:t>
            </a:r>
            <a:r>
              <a:rPr lang="en-US" sz="1400" err="1">
                <a:latin typeface="+mn-lt"/>
                <a:ea typeface="+mn-lt"/>
                <a:cs typeface="+mn-lt"/>
              </a:rPr>
              <a:t>teknis</a:t>
            </a:r>
            <a:r>
              <a:rPr lang="en-US" sz="1400">
                <a:latin typeface="+mn-lt"/>
                <a:ea typeface="+mn-lt"/>
                <a:cs typeface="+mn-lt"/>
              </a:rPr>
              <a:t> dan delivery </a:t>
            </a:r>
            <a:r>
              <a:rPr lang="en-US" sz="1400" err="1">
                <a:latin typeface="+mn-lt"/>
                <a:ea typeface="+mn-lt"/>
                <a:cs typeface="+mn-lt"/>
              </a:rPr>
              <a:t>tim</a:t>
            </a:r>
            <a:r>
              <a:rPr lang="en-US" sz="1400">
                <a:latin typeface="+mn-lt"/>
                <a:ea typeface="+mn-lt"/>
                <a:cs typeface="+mn-lt"/>
              </a:rPr>
              <a:t> development </a:t>
            </a:r>
            <a:endParaRPr lang="en-US">
              <a:ea typeface="+mn-lt"/>
              <a:cs typeface="+mn-lt"/>
            </a:endParaRPr>
          </a:p>
          <a:p>
            <a:pPr marL="971550" lvl="6"/>
            <a:r>
              <a:rPr lang="en-US" sz="1400">
                <a:ea typeface="+mn-lt"/>
                <a:cs typeface="+mn-lt"/>
              </a:rPr>
              <a:t>Keputusan </a:t>
            </a:r>
            <a:r>
              <a:rPr lang="en-US" sz="1400" err="1">
                <a:ea typeface="+mn-lt"/>
                <a:cs typeface="+mn-lt"/>
              </a:rPr>
              <a:t>teknis</a:t>
            </a:r>
            <a:r>
              <a:rPr lang="en-US" sz="1400">
                <a:ea typeface="+mn-lt"/>
                <a:cs typeface="+mn-lt"/>
              </a:rPr>
              <a:t> di level tim</a:t>
            </a:r>
            <a:endParaRPr lang="en-US" sz="1400">
              <a:ea typeface="Calibri" panose="020F0502020204030204"/>
              <a:cs typeface="Calibri" panose="020F0502020204030204"/>
            </a:endParaRPr>
          </a:p>
          <a:p>
            <a:pPr marL="285750" lvl="5" indent="-285750">
              <a:buFont typeface="Courier New" panose="020B0604020202020204" pitchFamily="34" charset="0"/>
              <a:buChar char="o"/>
            </a:pPr>
            <a:r>
              <a:rPr lang="en-US">
                <a:ea typeface="Calibri"/>
                <a:cs typeface="Calibri"/>
              </a:rPr>
              <a:t>Responsibilities:</a:t>
            </a:r>
          </a:p>
          <a:p>
            <a:pPr marL="1028700" lvl="6"/>
            <a:r>
              <a:rPr lang="en-US" sz="1400" err="1">
                <a:ea typeface="Calibri"/>
                <a:cs typeface="Calibri"/>
              </a:rPr>
              <a:t>Membantu</a:t>
            </a:r>
            <a:r>
              <a:rPr lang="en-US" sz="1400">
                <a:ea typeface="Calibri"/>
                <a:cs typeface="Calibri"/>
              </a:rPr>
              <a:t> Solution Architect (SA) </a:t>
            </a:r>
            <a:r>
              <a:rPr lang="en-US" sz="1400" err="1">
                <a:ea typeface="Calibri"/>
                <a:cs typeface="Calibri"/>
              </a:rPr>
              <a:t>dalam</a:t>
            </a:r>
            <a:r>
              <a:rPr lang="en-US" sz="1400">
                <a:ea typeface="Calibri"/>
                <a:cs typeface="Calibri"/>
              </a:rPr>
              <a:t> Code review</a:t>
            </a:r>
          </a:p>
          <a:p>
            <a:pPr marL="1028700" lvl="6"/>
            <a:r>
              <a:rPr lang="en-US" sz="1400">
                <a:ea typeface="Calibri"/>
                <a:cs typeface="Calibri"/>
              </a:rPr>
              <a:t>Mentoring developer</a:t>
            </a:r>
            <a:endParaRPr lang="en-US"/>
          </a:p>
          <a:p>
            <a:pPr marL="1028700" lvl="6"/>
            <a:r>
              <a:rPr lang="en-US" sz="1400" err="1">
                <a:ea typeface="Calibri"/>
                <a:cs typeface="Calibri"/>
              </a:rPr>
              <a:t>Mendesain</a:t>
            </a:r>
            <a:r>
              <a:rPr lang="en-US" sz="1400">
                <a:ea typeface="Calibri"/>
                <a:cs typeface="Calibri"/>
              </a:rPr>
              <a:t> </a:t>
            </a:r>
            <a:r>
              <a:rPr lang="en-US" sz="1400" err="1">
                <a:ea typeface="Calibri"/>
                <a:cs typeface="Calibri"/>
              </a:rPr>
              <a:t>solusi</a:t>
            </a:r>
            <a:r>
              <a:rPr lang="en-US" sz="1400">
                <a:ea typeface="Calibri"/>
                <a:cs typeface="Calibri"/>
              </a:rPr>
              <a:t> </a:t>
            </a:r>
            <a:r>
              <a:rPr lang="en-US" sz="1400" err="1">
                <a:ea typeface="Calibri"/>
                <a:cs typeface="Calibri"/>
              </a:rPr>
              <a:t>teknis</a:t>
            </a:r>
            <a:r>
              <a:rPr lang="en-US" sz="1400">
                <a:ea typeface="Calibri"/>
                <a:cs typeface="Calibri"/>
              </a:rPr>
              <a:t> (detail level)</a:t>
            </a:r>
            <a:endParaRPr lang="en-US">
              <a:ea typeface="Calibri"/>
              <a:cs typeface="Calibri"/>
            </a:endParaRPr>
          </a:p>
          <a:p>
            <a:pPr marL="1028700" lvl="6"/>
            <a:endParaRPr lang="en-US">
              <a:ea typeface="Calibri"/>
              <a:cs typeface="Calibri"/>
            </a:endParaRPr>
          </a:p>
          <a:p>
            <a:pPr marL="285750" lvl="5" indent="-285750">
              <a:buFont typeface="Courier New" panose="020B0604020202020204" pitchFamily="34" charset="0"/>
              <a:buChar char="o"/>
            </a:pPr>
            <a:endParaRPr lang="en-US">
              <a:ea typeface="Calibri"/>
            </a:endParaRPr>
          </a:p>
          <a:p>
            <a:pPr marL="80645" lvl="4" indent="0">
              <a:lnSpc>
                <a:spcPct val="113999"/>
              </a:lnSpc>
              <a:buNone/>
            </a:pPr>
            <a:endParaRPr lang="en-US">
              <a:ea typeface="Calibri"/>
            </a:endParaRPr>
          </a:p>
          <a:p>
            <a:pPr lvl="2">
              <a:lnSpc>
                <a:spcPct val="113999"/>
              </a:lnSpc>
            </a:pPr>
            <a:endParaRPr lang="en-US">
              <a:ea typeface="Calibri"/>
            </a:endParaRPr>
          </a:p>
          <a:p>
            <a:pPr>
              <a:lnSpc>
                <a:spcPct val="113999"/>
              </a:lnSpc>
            </a:pPr>
            <a:endParaRPr lang="en-US">
              <a:ea typeface="Calibri"/>
            </a:endParaRPr>
          </a:p>
        </p:txBody>
      </p:sp>
      <p:sp>
        <p:nvSpPr>
          <p:cNvPr id="4" name="Date Placeholder 3">
            <a:extLst>
              <a:ext uri="{FF2B5EF4-FFF2-40B4-BE49-F238E27FC236}">
                <a16:creationId xmlns:a16="http://schemas.microsoft.com/office/drawing/2014/main" id="{9945E0AC-03A0-2D09-1524-63D79DC22626}"/>
              </a:ext>
            </a:extLst>
          </p:cNvPr>
          <p:cNvSpPr>
            <a:spLocks noGrp="1"/>
          </p:cNvSpPr>
          <p:nvPr>
            <p:ph type="dt" sz="half" idx="10"/>
          </p:nvPr>
        </p:nvSpPr>
        <p:spPr/>
        <p:txBody>
          <a:bodyPr/>
          <a:lstStyle/>
          <a:p>
            <a:fld id="{5189F29F-C5E4-414E-A18A-4BD422769183}" type="datetime1">
              <a:t>4/27/2026</a:t>
            </a:fld>
            <a:endParaRPr lang="en-US"/>
          </a:p>
        </p:txBody>
      </p:sp>
      <p:sp>
        <p:nvSpPr>
          <p:cNvPr id="5" name="Footer Placeholder 4">
            <a:extLst>
              <a:ext uri="{FF2B5EF4-FFF2-40B4-BE49-F238E27FC236}">
                <a16:creationId xmlns:a16="http://schemas.microsoft.com/office/drawing/2014/main" id="{41B4B355-0001-7B67-8AF9-3F74E2092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81726-373B-DB17-71CE-C4B77A3DB6FC}"/>
              </a:ext>
            </a:extLst>
          </p:cNvPr>
          <p:cNvSpPr>
            <a:spLocks noGrp="1"/>
          </p:cNvSpPr>
          <p:nvPr>
            <p:ph type="sldNum" sz="quarter" idx="12"/>
          </p:nvPr>
        </p:nvSpPr>
        <p:spPr/>
        <p:txBody>
          <a:bodyPr/>
          <a:lstStyle/>
          <a:p>
            <a:fld id="{5750AA2C-6EEF-494E-BD18-FC6BC4ADA65A}" type="slidenum">
              <a:rPr lang="en-US" smtClean="0"/>
              <a:t>60</a:t>
            </a:fld>
            <a:endParaRPr lang="en-US"/>
          </a:p>
        </p:txBody>
      </p:sp>
      <p:sp>
        <p:nvSpPr>
          <p:cNvPr id="8" name="Title 24">
            <a:extLst>
              <a:ext uri="{FF2B5EF4-FFF2-40B4-BE49-F238E27FC236}">
                <a16:creationId xmlns:a16="http://schemas.microsoft.com/office/drawing/2014/main" id="{C931FD7F-5D33-5328-CD5E-CA0AEAA60BBB}"/>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cs typeface="Calibri"/>
              </a:rPr>
              <a:t>Role, Accountabilities &amp; Responsibilities</a:t>
            </a:r>
            <a:endParaRPr lang="en-US">
              <a:latin typeface="Helvetica Neue" panose="02000503000000020004"/>
            </a:endParaRPr>
          </a:p>
        </p:txBody>
      </p:sp>
    </p:spTree>
    <p:extLst>
      <p:ext uri="{BB962C8B-B14F-4D97-AF65-F5344CB8AC3E}">
        <p14:creationId xmlns:p14="http://schemas.microsoft.com/office/powerpoint/2010/main" val="42018618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74CA3-BA4F-DAC3-0693-18A2D38BCD3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0128221-EEC1-D1CC-0F7F-B6FA7C83607A}"/>
              </a:ext>
            </a:extLst>
          </p:cNvPr>
          <p:cNvSpPr>
            <a:spLocks noGrp="1"/>
          </p:cNvSpPr>
          <p:nvPr>
            <p:ph idx="1"/>
          </p:nvPr>
        </p:nvSpPr>
        <p:spPr/>
        <p:txBody>
          <a:bodyPr vert="horz" lIns="91440" tIns="45720" rIns="91440" bIns="45720" rtlCol="0" anchor="t">
            <a:noAutofit/>
          </a:bodyPr>
          <a:lstStyle/>
          <a:p>
            <a:pPr marL="0" lvl="2" indent="0">
              <a:lnSpc>
                <a:spcPct val="113999"/>
              </a:lnSpc>
              <a:buNone/>
            </a:pPr>
            <a:r>
              <a:rPr lang="en-US" sz="1600" b="1">
                <a:latin typeface="Calibri"/>
                <a:ea typeface="Calibri"/>
                <a:cs typeface="Calibri"/>
              </a:rPr>
              <a:t>Solution Architect (SA)</a:t>
            </a:r>
            <a:endParaRPr lang="en-US" sz="1600" b="1">
              <a:ea typeface="Calibri" panose="020F0502020204030204" pitchFamily="34" charset="0"/>
            </a:endParaRPr>
          </a:p>
          <a:p>
            <a:pPr marL="285750" lvl="2" indent="-285750">
              <a:lnSpc>
                <a:spcPct val="113999"/>
              </a:lnSpc>
            </a:pPr>
            <a:r>
              <a:rPr lang="en-US">
                <a:latin typeface="Calibri"/>
                <a:ea typeface="Calibri"/>
                <a:cs typeface="Calibri"/>
              </a:rPr>
              <a:t>Accountabilities:</a:t>
            </a:r>
            <a:endParaRPr lang="en-US">
              <a:ea typeface="Calibri"/>
              <a:cs typeface="Calibri"/>
            </a:endParaRPr>
          </a:p>
          <a:p>
            <a:pPr marL="712470">
              <a:lnSpc>
                <a:spcPct val="113999"/>
              </a:lnSpc>
            </a:pPr>
            <a:r>
              <a:rPr lang="en-US" sz="1400" err="1">
                <a:latin typeface="Calibri"/>
                <a:ea typeface="Calibri"/>
                <a:cs typeface="Calibri"/>
              </a:rPr>
              <a:t>Arsitektur</a:t>
            </a:r>
            <a:r>
              <a:rPr lang="en-US" sz="1400">
                <a:latin typeface="Calibri"/>
                <a:ea typeface="Calibri"/>
                <a:cs typeface="Calibri"/>
              </a:rPr>
              <a:t> </a:t>
            </a:r>
            <a:r>
              <a:rPr lang="en-US" sz="1400" err="1">
                <a:latin typeface="Calibri"/>
                <a:ea typeface="Calibri"/>
                <a:cs typeface="Calibri"/>
              </a:rPr>
              <a:t>sistem</a:t>
            </a:r>
            <a:r>
              <a:rPr lang="en-US" sz="1400">
                <a:latin typeface="Calibri"/>
                <a:ea typeface="Calibri"/>
                <a:cs typeface="Calibri"/>
              </a:rPr>
              <a:t> </a:t>
            </a:r>
            <a:r>
              <a:rPr lang="en-US" sz="1400" err="1">
                <a:latin typeface="Calibri"/>
                <a:ea typeface="Calibri"/>
                <a:cs typeface="Calibri"/>
              </a:rPr>
              <a:t>secara</a:t>
            </a:r>
            <a:r>
              <a:rPr lang="en-US" sz="1400">
                <a:latin typeface="Calibri"/>
                <a:ea typeface="Calibri"/>
                <a:cs typeface="Calibri"/>
              </a:rPr>
              <a:t> </a:t>
            </a:r>
            <a:r>
              <a:rPr lang="en-US" sz="1400" err="1">
                <a:latin typeface="Calibri"/>
                <a:ea typeface="Calibri"/>
                <a:cs typeface="Calibri"/>
              </a:rPr>
              <a:t>keseluruhan</a:t>
            </a:r>
            <a:r>
              <a:rPr lang="en-US" sz="1400">
                <a:latin typeface="Calibri"/>
                <a:ea typeface="Calibri"/>
                <a:cs typeface="Calibri"/>
              </a:rPr>
              <a:t> </a:t>
            </a:r>
          </a:p>
          <a:p>
            <a:pPr marL="712470" lvl="4">
              <a:lnSpc>
                <a:spcPct val="113999"/>
              </a:lnSpc>
            </a:pPr>
            <a:r>
              <a:rPr lang="en-US">
                <a:latin typeface="Calibri"/>
                <a:ea typeface="Calibri"/>
                <a:cs typeface="Calibri"/>
              </a:rPr>
              <a:t>Scalability, security, dan </a:t>
            </a:r>
            <a:r>
              <a:rPr lang="en-US" err="1">
                <a:latin typeface="Calibri"/>
                <a:ea typeface="Calibri"/>
                <a:cs typeface="Calibri"/>
              </a:rPr>
              <a:t>integrasi</a:t>
            </a:r>
            <a:r>
              <a:rPr lang="en-US">
                <a:latin typeface="Calibri"/>
                <a:ea typeface="Calibri"/>
                <a:cs typeface="Calibri"/>
              </a:rPr>
              <a:t> </a:t>
            </a:r>
            <a:r>
              <a:rPr lang="en-US" err="1">
                <a:latin typeface="Calibri"/>
                <a:ea typeface="Calibri"/>
                <a:cs typeface="Calibri"/>
              </a:rPr>
              <a:t>sistem</a:t>
            </a:r>
            <a:endParaRPr lang="en-US">
              <a:latin typeface="Calibri"/>
              <a:ea typeface="Calibri"/>
              <a:cs typeface="Calibri"/>
            </a:endParaRPr>
          </a:p>
          <a:p>
            <a:pPr marL="274320" lvl="2" indent="-285750">
              <a:lnSpc>
                <a:spcPct val="113999"/>
              </a:lnSpc>
            </a:pPr>
            <a:r>
              <a:rPr lang="en-US">
                <a:latin typeface="Calibri"/>
                <a:ea typeface="Calibri"/>
                <a:cs typeface="Calibri"/>
              </a:rPr>
              <a:t>Responsibilities:</a:t>
            </a:r>
            <a:endParaRPr lang="en-US">
              <a:ea typeface="Calibri"/>
              <a:cs typeface="Calibri"/>
            </a:endParaRPr>
          </a:p>
          <a:p>
            <a:pPr marL="712470">
              <a:lnSpc>
                <a:spcPct val="113999"/>
              </a:lnSpc>
            </a:pPr>
            <a:r>
              <a:rPr lang="en-US" sz="1400" err="1">
                <a:latin typeface="Calibri"/>
                <a:ea typeface="Calibri"/>
                <a:cs typeface="Calibri"/>
              </a:rPr>
              <a:t>Mendesain</a:t>
            </a:r>
            <a:r>
              <a:rPr lang="en-US" sz="1400">
                <a:latin typeface="Calibri"/>
                <a:ea typeface="Calibri"/>
                <a:cs typeface="Calibri"/>
              </a:rPr>
              <a:t> high-level architecture </a:t>
            </a:r>
          </a:p>
          <a:p>
            <a:pPr marL="712470" lvl="4">
              <a:lnSpc>
                <a:spcPct val="113999"/>
              </a:lnSpc>
            </a:pPr>
            <a:r>
              <a:rPr lang="en-US" err="1">
                <a:latin typeface="Calibri"/>
                <a:ea typeface="Calibri"/>
                <a:cs typeface="Calibri"/>
              </a:rPr>
              <a:t>Menentukan</a:t>
            </a:r>
            <a:r>
              <a:rPr lang="en-US">
                <a:latin typeface="Calibri"/>
                <a:ea typeface="Calibri"/>
                <a:cs typeface="Calibri"/>
              </a:rPr>
              <a:t> </a:t>
            </a:r>
            <a:r>
              <a:rPr lang="en-US" err="1">
                <a:latin typeface="Calibri"/>
                <a:ea typeface="Calibri"/>
                <a:cs typeface="Calibri"/>
              </a:rPr>
              <a:t>teknologi</a:t>
            </a:r>
            <a:r>
              <a:rPr lang="en-US">
                <a:latin typeface="Calibri"/>
                <a:ea typeface="Calibri"/>
                <a:cs typeface="Calibri"/>
              </a:rPr>
              <a:t> &amp; framework </a:t>
            </a:r>
            <a:endParaRPr lang="en-US">
              <a:latin typeface="Calibri"/>
            </a:endParaRPr>
          </a:p>
          <a:p>
            <a:pPr marL="712470" lvl="4">
              <a:lnSpc>
                <a:spcPct val="113999"/>
              </a:lnSpc>
            </a:pPr>
            <a:r>
              <a:rPr lang="en-US">
                <a:latin typeface="Calibri"/>
                <a:ea typeface="Calibri"/>
                <a:cs typeface="Calibri"/>
              </a:rPr>
              <a:t>Alignment </a:t>
            </a:r>
            <a:r>
              <a:rPr lang="en-US" err="1">
                <a:latin typeface="Calibri"/>
                <a:ea typeface="Calibri"/>
                <a:cs typeface="Calibri"/>
              </a:rPr>
              <a:t>dengan</a:t>
            </a:r>
            <a:r>
              <a:rPr lang="en-US">
                <a:latin typeface="Calibri"/>
                <a:ea typeface="Calibri"/>
                <a:cs typeface="Calibri"/>
              </a:rPr>
              <a:t> business &amp; IT strategy </a:t>
            </a:r>
            <a:endParaRPr lang="en-US">
              <a:latin typeface="Calibri"/>
            </a:endParaRPr>
          </a:p>
          <a:p>
            <a:pPr marL="712470" lvl="4">
              <a:lnSpc>
                <a:spcPct val="113999"/>
              </a:lnSpc>
            </a:pPr>
            <a:r>
              <a:rPr lang="en-US">
                <a:latin typeface="Calibri"/>
                <a:ea typeface="Calibri"/>
                <a:cs typeface="Calibri"/>
              </a:rPr>
              <a:t>Review code dan </a:t>
            </a:r>
            <a:r>
              <a:rPr lang="en-US" err="1">
                <a:latin typeface="Calibri"/>
                <a:ea typeface="Calibri"/>
                <a:cs typeface="Calibri"/>
              </a:rPr>
              <a:t>solusi</a:t>
            </a:r>
            <a:r>
              <a:rPr lang="en-US">
                <a:latin typeface="Calibri"/>
                <a:ea typeface="Calibri"/>
                <a:cs typeface="Calibri"/>
              </a:rPr>
              <a:t> </a:t>
            </a:r>
            <a:r>
              <a:rPr lang="en-US" err="1">
                <a:latin typeface="Calibri"/>
                <a:ea typeface="Calibri"/>
                <a:cs typeface="Calibri"/>
              </a:rPr>
              <a:t>teknis</a:t>
            </a:r>
            <a:r>
              <a:rPr lang="en-US">
                <a:latin typeface="Calibri"/>
                <a:ea typeface="Calibri"/>
                <a:cs typeface="Calibri"/>
              </a:rPr>
              <a:t> </a:t>
            </a:r>
            <a:r>
              <a:rPr lang="en-US" err="1">
                <a:latin typeface="Calibri"/>
                <a:ea typeface="Calibri"/>
                <a:cs typeface="Calibri"/>
              </a:rPr>
              <a:t>dari</a:t>
            </a:r>
            <a:r>
              <a:rPr lang="en-US">
                <a:latin typeface="Calibri"/>
                <a:ea typeface="Calibri"/>
                <a:cs typeface="Calibri"/>
              </a:rPr>
              <a:t> </a:t>
            </a:r>
            <a:r>
              <a:rPr lang="en-US" err="1">
                <a:latin typeface="Calibri"/>
                <a:ea typeface="Calibri"/>
                <a:cs typeface="Calibri"/>
              </a:rPr>
              <a:t>tim</a:t>
            </a:r>
            <a:r>
              <a:rPr lang="en-US">
                <a:latin typeface="Calibri"/>
                <a:ea typeface="Calibri"/>
                <a:cs typeface="Calibri"/>
              </a:rPr>
              <a:t> dev </a:t>
            </a:r>
            <a:endParaRPr lang="en-US">
              <a:latin typeface="Calibri"/>
            </a:endParaRPr>
          </a:p>
          <a:p>
            <a:pPr marL="712470" lvl="4">
              <a:lnSpc>
                <a:spcPct val="113999"/>
              </a:lnSpc>
            </a:pPr>
            <a:r>
              <a:rPr lang="en-US" err="1">
                <a:latin typeface="Calibri"/>
                <a:ea typeface="Calibri"/>
                <a:cs typeface="Calibri"/>
              </a:rPr>
              <a:t>Menjaga</a:t>
            </a:r>
            <a:r>
              <a:rPr lang="en-US">
                <a:latin typeface="Calibri"/>
                <a:ea typeface="Calibri"/>
                <a:cs typeface="Calibri"/>
              </a:rPr>
              <a:t> compliance arsitektur</a:t>
            </a:r>
            <a:endParaRPr lang="en-US">
              <a:latin typeface="Calibri"/>
            </a:endParaRPr>
          </a:p>
          <a:p>
            <a:pPr marL="0" lvl="4" indent="537845">
              <a:lnSpc>
                <a:spcPct val="113999"/>
              </a:lnSpc>
              <a:buNone/>
            </a:pPr>
            <a:endParaRPr lang="en-US">
              <a:ea typeface="Calibri"/>
              <a:cs typeface="Calibri"/>
            </a:endParaRPr>
          </a:p>
          <a:p>
            <a:pPr marL="0" lvl="4" indent="0">
              <a:lnSpc>
                <a:spcPct val="113999"/>
              </a:lnSpc>
              <a:buNone/>
            </a:pPr>
            <a:r>
              <a:rPr lang="en-US" b="1">
                <a:latin typeface="Calibri"/>
                <a:ea typeface="Calibri"/>
                <a:cs typeface="Calibri"/>
              </a:rPr>
              <a:t>Quality Assurance (QA)</a:t>
            </a:r>
            <a:endParaRPr lang="en-US" b="1">
              <a:ea typeface="Calibri"/>
              <a:cs typeface="Calibri"/>
            </a:endParaRPr>
          </a:p>
          <a:p>
            <a:pPr marL="285750" lvl="4" indent="-285750">
              <a:lnSpc>
                <a:spcPct val="113999"/>
              </a:lnSpc>
            </a:pPr>
            <a:r>
              <a:rPr lang="en-US" err="1">
                <a:latin typeface="Calibri"/>
                <a:ea typeface="Calibri"/>
                <a:cs typeface="Calibri"/>
              </a:rPr>
              <a:t>Accountabililities</a:t>
            </a:r>
            <a:r>
              <a:rPr lang="en-US">
                <a:latin typeface="Calibri"/>
                <a:ea typeface="Calibri"/>
                <a:cs typeface="Calibri"/>
              </a:rPr>
              <a:t>:</a:t>
            </a:r>
            <a:endParaRPr lang="en-US">
              <a:ea typeface="Calibri"/>
              <a:cs typeface="Calibri"/>
            </a:endParaRPr>
          </a:p>
          <a:p>
            <a:pPr marL="901700" indent="-188595">
              <a:lnSpc>
                <a:spcPct val="90000"/>
              </a:lnSpc>
            </a:pPr>
            <a:r>
              <a:rPr lang="en-US" sz="1400" err="1">
                <a:latin typeface="+mn-lt"/>
                <a:ea typeface="+mn-lt"/>
                <a:cs typeface="+mn-lt"/>
              </a:rPr>
              <a:t>Kualitas</a:t>
            </a:r>
            <a:r>
              <a:rPr lang="en-US" sz="1400">
                <a:latin typeface="+mn-lt"/>
                <a:ea typeface="+mn-lt"/>
                <a:cs typeface="+mn-lt"/>
              </a:rPr>
              <a:t> </a:t>
            </a:r>
            <a:r>
              <a:rPr lang="en-US" sz="1400" err="1">
                <a:latin typeface="+mn-lt"/>
                <a:ea typeface="+mn-lt"/>
                <a:cs typeface="+mn-lt"/>
              </a:rPr>
              <a:t>produk</a:t>
            </a:r>
            <a:r>
              <a:rPr lang="en-US" sz="1400">
                <a:latin typeface="+mn-lt"/>
                <a:ea typeface="+mn-lt"/>
                <a:cs typeface="+mn-lt"/>
              </a:rPr>
              <a:t> </a:t>
            </a:r>
            <a:r>
              <a:rPr lang="en-US" sz="1400" err="1">
                <a:latin typeface="+mn-lt"/>
                <a:ea typeface="+mn-lt"/>
                <a:cs typeface="+mn-lt"/>
              </a:rPr>
              <a:t>sebelum</a:t>
            </a:r>
            <a:r>
              <a:rPr lang="en-US" sz="1400">
                <a:latin typeface="+mn-lt"/>
                <a:ea typeface="+mn-lt"/>
                <a:cs typeface="+mn-lt"/>
              </a:rPr>
              <a:t> release </a:t>
            </a:r>
            <a:endParaRPr lang="en-US" sz="1400">
              <a:ea typeface="Calibri"/>
              <a:cs typeface="Calibri"/>
            </a:endParaRPr>
          </a:p>
          <a:p>
            <a:pPr lvl="5" indent="-188595"/>
            <a:r>
              <a:rPr lang="en-US" err="1">
                <a:ea typeface="+mn-lt"/>
                <a:cs typeface="+mn-lt"/>
              </a:rPr>
              <a:t>Memastikan</a:t>
            </a:r>
            <a:r>
              <a:rPr lang="en-US">
                <a:ea typeface="+mn-lt"/>
                <a:cs typeface="+mn-lt"/>
              </a:rPr>
              <a:t> </a:t>
            </a:r>
            <a:r>
              <a:rPr lang="en-US" err="1">
                <a:ea typeface="+mn-lt"/>
                <a:cs typeface="+mn-lt"/>
              </a:rPr>
              <a:t>sistem</a:t>
            </a:r>
            <a:r>
              <a:rPr lang="en-US">
                <a:ea typeface="+mn-lt"/>
                <a:cs typeface="+mn-lt"/>
              </a:rPr>
              <a:t> </a:t>
            </a:r>
            <a:r>
              <a:rPr lang="en-US" err="1">
                <a:ea typeface="+mn-lt"/>
                <a:cs typeface="+mn-lt"/>
              </a:rPr>
              <a:t>sesuai</a:t>
            </a:r>
            <a:r>
              <a:rPr lang="en-US">
                <a:ea typeface="+mn-lt"/>
                <a:cs typeface="+mn-lt"/>
              </a:rPr>
              <a:t> requirement</a:t>
            </a:r>
            <a:endParaRPr lang="en-US"/>
          </a:p>
          <a:p>
            <a:pPr marL="274320" lvl="4" indent="-285750">
              <a:lnSpc>
                <a:spcPct val="113999"/>
              </a:lnSpc>
            </a:pPr>
            <a:r>
              <a:rPr lang="en-US">
                <a:latin typeface="Calibri" panose="020F0502020204030204"/>
                <a:ea typeface="Calibri"/>
                <a:cs typeface="Calibri"/>
              </a:rPr>
              <a:t>Responsibilities:</a:t>
            </a:r>
            <a:endParaRPr lang="en-US">
              <a:ea typeface="Calibri"/>
              <a:cs typeface="Calibri"/>
            </a:endParaRPr>
          </a:p>
          <a:p>
            <a:pPr marL="901700" indent="-188595">
              <a:lnSpc>
                <a:spcPct val="90000"/>
              </a:lnSpc>
            </a:pPr>
            <a:r>
              <a:rPr lang="en-US" sz="1400">
                <a:latin typeface="+mn-lt"/>
                <a:ea typeface="+mn-lt"/>
                <a:cs typeface="+mn-lt"/>
              </a:rPr>
              <a:t>Membuat test plan &amp; test case </a:t>
            </a:r>
            <a:endParaRPr lang="en-US" sz="1400">
              <a:ea typeface="Calibri"/>
              <a:cs typeface="Calibri"/>
            </a:endParaRPr>
          </a:p>
          <a:p>
            <a:pPr lvl="5" indent="-188595"/>
            <a:r>
              <a:rPr lang="en-US" err="1">
                <a:ea typeface="+mn-lt"/>
                <a:cs typeface="+mn-lt"/>
              </a:rPr>
              <a:t>Melakukan</a:t>
            </a:r>
            <a:r>
              <a:rPr lang="en-US">
                <a:ea typeface="+mn-lt"/>
                <a:cs typeface="+mn-lt"/>
              </a:rPr>
              <a:t> testing (manual/automation) </a:t>
            </a:r>
            <a:endParaRPr lang="en-US"/>
          </a:p>
          <a:p>
            <a:pPr lvl="5" indent="-188595"/>
            <a:r>
              <a:rPr lang="en-US">
                <a:ea typeface="+mn-lt"/>
                <a:cs typeface="+mn-lt"/>
              </a:rPr>
              <a:t>Bug tracking &amp; reporting </a:t>
            </a:r>
            <a:endParaRPr lang="en-US"/>
          </a:p>
          <a:p>
            <a:pPr lvl="5" indent="-188595"/>
            <a:r>
              <a:rPr lang="en-US" err="1">
                <a:ea typeface="+mn-lt"/>
                <a:cs typeface="+mn-lt"/>
              </a:rPr>
              <a:t>Validasi</a:t>
            </a:r>
            <a:r>
              <a:rPr lang="en-US">
                <a:ea typeface="+mn-lt"/>
                <a:cs typeface="+mn-lt"/>
              </a:rPr>
              <a:t> </a:t>
            </a:r>
            <a:r>
              <a:rPr lang="en-US" err="1">
                <a:ea typeface="+mn-lt"/>
                <a:cs typeface="+mn-lt"/>
              </a:rPr>
              <a:t>terhadap</a:t>
            </a:r>
            <a:r>
              <a:rPr lang="en-US">
                <a:ea typeface="+mn-lt"/>
                <a:cs typeface="+mn-lt"/>
              </a:rPr>
              <a:t> acceptance criteria </a:t>
            </a:r>
            <a:endParaRPr lang="en-US"/>
          </a:p>
          <a:p>
            <a:pPr lvl="5" indent="-188595"/>
            <a:r>
              <a:rPr lang="en-US">
                <a:ea typeface="+mn-lt"/>
                <a:cs typeface="+mn-lt"/>
              </a:rPr>
              <a:t>Regression testing </a:t>
            </a:r>
            <a:r>
              <a:rPr lang="en-US" err="1">
                <a:ea typeface="+mn-lt"/>
                <a:cs typeface="+mn-lt"/>
              </a:rPr>
              <a:t>sebelum</a:t>
            </a:r>
            <a:r>
              <a:rPr lang="en-US">
                <a:ea typeface="+mn-lt"/>
                <a:cs typeface="+mn-lt"/>
              </a:rPr>
              <a:t> release</a:t>
            </a:r>
            <a:endParaRPr lang="en-US"/>
          </a:p>
          <a:p>
            <a:pPr marL="463550" lvl="5" indent="-285750">
              <a:lnSpc>
                <a:spcPct val="113999"/>
              </a:lnSpc>
              <a:buFont typeface="Courier New" panose="020B0604020202020204" pitchFamily="34" charset="0"/>
              <a:buChar char="o"/>
            </a:pPr>
            <a:endParaRPr lang="en-US">
              <a:latin typeface="Calibri" panose="020F0502020204030204" pitchFamily="34" charset="0"/>
              <a:ea typeface="Calibri"/>
              <a:cs typeface="Calibri"/>
            </a:endParaRPr>
          </a:p>
          <a:p>
            <a:pPr marL="474980" lvl="5" indent="-285750">
              <a:lnSpc>
                <a:spcPct val="113999"/>
              </a:lnSpc>
              <a:buFont typeface="Courier New" panose="020B0604020202020204" pitchFamily="34" charset="0"/>
              <a:buChar char="o"/>
            </a:pPr>
            <a:endParaRPr lang="en-US">
              <a:latin typeface="Calibri" panose="020F0502020204030204" pitchFamily="34" charset="0"/>
              <a:ea typeface="Calibri"/>
              <a:cs typeface="Calibri"/>
            </a:endParaRPr>
          </a:p>
          <a:p>
            <a:pPr marL="354965" lvl="4" indent="-285750">
              <a:lnSpc>
                <a:spcPct val="113999"/>
              </a:lnSpc>
            </a:pPr>
            <a:endParaRPr lang="en-US">
              <a:ea typeface="Calibri"/>
              <a:cs typeface="Calibri"/>
            </a:endParaRPr>
          </a:p>
          <a:p>
            <a:pPr marL="366395" lvl="4" indent="-285750">
              <a:lnSpc>
                <a:spcPct val="113999"/>
              </a:lnSpc>
            </a:pPr>
            <a:endParaRPr lang="en-US">
              <a:ea typeface="Calibri"/>
              <a:cs typeface="Calibri"/>
            </a:endParaRPr>
          </a:p>
          <a:p>
            <a:pPr marL="1028700" lvl="6"/>
            <a:endParaRPr lang="en-US">
              <a:ea typeface="Calibri"/>
              <a:cs typeface="Calibri"/>
            </a:endParaRPr>
          </a:p>
          <a:p>
            <a:pPr marL="285750" lvl="5" indent="-285750">
              <a:buFont typeface="Courier New" panose="020B0604020202020204" pitchFamily="34" charset="0"/>
              <a:buChar char="o"/>
            </a:pPr>
            <a:endParaRPr lang="en-US">
              <a:ea typeface="Calibri"/>
            </a:endParaRPr>
          </a:p>
          <a:p>
            <a:pPr marL="80645" lvl="4" indent="0">
              <a:lnSpc>
                <a:spcPct val="113999"/>
              </a:lnSpc>
              <a:buNone/>
            </a:pPr>
            <a:endParaRPr lang="en-US">
              <a:ea typeface="Calibri"/>
            </a:endParaRPr>
          </a:p>
          <a:p>
            <a:pPr lvl="2">
              <a:lnSpc>
                <a:spcPct val="113999"/>
              </a:lnSpc>
            </a:pPr>
            <a:endParaRPr lang="en-US">
              <a:ea typeface="Calibri"/>
            </a:endParaRPr>
          </a:p>
          <a:p>
            <a:pPr>
              <a:lnSpc>
                <a:spcPct val="113999"/>
              </a:lnSpc>
            </a:pPr>
            <a:endParaRPr lang="en-US">
              <a:ea typeface="Calibri"/>
            </a:endParaRPr>
          </a:p>
        </p:txBody>
      </p:sp>
      <p:sp>
        <p:nvSpPr>
          <p:cNvPr id="4" name="Date Placeholder 3">
            <a:extLst>
              <a:ext uri="{FF2B5EF4-FFF2-40B4-BE49-F238E27FC236}">
                <a16:creationId xmlns:a16="http://schemas.microsoft.com/office/drawing/2014/main" id="{46941E13-FA5D-F46F-9F91-8266979EFF5A}"/>
              </a:ext>
            </a:extLst>
          </p:cNvPr>
          <p:cNvSpPr>
            <a:spLocks noGrp="1"/>
          </p:cNvSpPr>
          <p:nvPr>
            <p:ph type="dt" sz="half" idx="10"/>
          </p:nvPr>
        </p:nvSpPr>
        <p:spPr/>
        <p:txBody>
          <a:bodyPr/>
          <a:lstStyle/>
          <a:p>
            <a:fld id="{5189F29F-C5E4-414E-A18A-4BD422769183}" type="datetime1">
              <a:t>4/27/2026</a:t>
            </a:fld>
            <a:endParaRPr lang="en-US"/>
          </a:p>
        </p:txBody>
      </p:sp>
      <p:sp>
        <p:nvSpPr>
          <p:cNvPr id="5" name="Footer Placeholder 4">
            <a:extLst>
              <a:ext uri="{FF2B5EF4-FFF2-40B4-BE49-F238E27FC236}">
                <a16:creationId xmlns:a16="http://schemas.microsoft.com/office/drawing/2014/main" id="{A3E20BDA-16DF-60B0-7F1A-948228D71A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937EE9-9698-CA4B-22AB-BAB671BB5C88}"/>
              </a:ext>
            </a:extLst>
          </p:cNvPr>
          <p:cNvSpPr>
            <a:spLocks noGrp="1"/>
          </p:cNvSpPr>
          <p:nvPr>
            <p:ph type="sldNum" sz="quarter" idx="12"/>
          </p:nvPr>
        </p:nvSpPr>
        <p:spPr/>
        <p:txBody>
          <a:bodyPr/>
          <a:lstStyle/>
          <a:p>
            <a:fld id="{5750AA2C-6EEF-494E-BD18-FC6BC4ADA65A}" type="slidenum">
              <a:rPr lang="en-US" smtClean="0"/>
              <a:t>61</a:t>
            </a:fld>
            <a:endParaRPr lang="en-US"/>
          </a:p>
        </p:txBody>
      </p:sp>
      <p:sp>
        <p:nvSpPr>
          <p:cNvPr id="8" name="Title 24">
            <a:extLst>
              <a:ext uri="{FF2B5EF4-FFF2-40B4-BE49-F238E27FC236}">
                <a16:creationId xmlns:a16="http://schemas.microsoft.com/office/drawing/2014/main" id="{3CA54042-5557-EC6C-9562-ED250079D74B}"/>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cs typeface="Calibri"/>
              </a:rPr>
              <a:t>Role, Accountabilities &amp; Responsibilities</a:t>
            </a:r>
            <a:endParaRPr lang="en-US">
              <a:latin typeface="Helvetica Neue" panose="02000503000000020004"/>
            </a:endParaRPr>
          </a:p>
        </p:txBody>
      </p:sp>
    </p:spTree>
    <p:extLst>
      <p:ext uri="{BB962C8B-B14F-4D97-AF65-F5344CB8AC3E}">
        <p14:creationId xmlns:p14="http://schemas.microsoft.com/office/powerpoint/2010/main" val="2934962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458FD-B044-D89C-DBC3-3CFEDDE2FCF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005B0C3-06B0-65C6-9689-C14BA0407156}"/>
              </a:ext>
            </a:extLst>
          </p:cNvPr>
          <p:cNvSpPr>
            <a:spLocks noGrp="1"/>
          </p:cNvSpPr>
          <p:nvPr>
            <p:ph idx="1"/>
          </p:nvPr>
        </p:nvSpPr>
        <p:spPr/>
        <p:txBody>
          <a:bodyPr vert="horz" lIns="91440" tIns="45720" rIns="91440" bIns="45720" rtlCol="0" anchor="t">
            <a:noAutofit/>
          </a:bodyPr>
          <a:lstStyle/>
          <a:p>
            <a:pPr marL="0" lvl="2" indent="0">
              <a:lnSpc>
                <a:spcPct val="113999"/>
              </a:lnSpc>
              <a:buNone/>
            </a:pPr>
            <a:r>
              <a:rPr lang="en-US" sz="1600" b="1">
                <a:latin typeface="Calibri"/>
                <a:ea typeface="Calibri"/>
                <a:cs typeface="Calibri"/>
              </a:rPr>
              <a:t>Development Team</a:t>
            </a:r>
            <a:endParaRPr lang="en-US"/>
          </a:p>
          <a:p>
            <a:pPr marL="285750" lvl="2" indent="-285750">
              <a:lnSpc>
                <a:spcPct val="113999"/>
              </a:lnSpc>
            </a:pPr>
            <a:r>
              <a:rPr lang="en-US" sz="1600">
                <a:latin typeface="Calibri"/>
                <a:ea typeface="Calibri"/>
                <a:cs typeface="Calibri"/>
              </a:rPr>
              <a:t>Accountabilities:</a:t>
            </a:r>
            <a:endParaRPr lang="en-US" sz="1600">
              <a:ea typeface="Calibri"/>
              <a:cs typeface="Calibri"/>
            </a:endParaRPr>
          </a:p>
          <a:p>
            <a:pPr marL="901700" indent="-188595">
              <a:lnSpc>
                <a:spcPct val="90000"/>
              </a:lnSpc>
            </a:pPr>
            <a:r>
              <a:rPr lang="en-US" sz="1400">
                <a:latin typeface="+mn-lt"/>
                <a:ea typeface="+mn-lt"/>
                <a:cs typeface="+mn-lt"/>
              </a:rPr>
              <a:t>Deliver increment </a:t>
            </a:r>
            <a:r>
              <a:rPr lang="en-US" sz="1400" err="1">
                <a:latin typeface="+mn-lt"/>
                <a:ea typeface="+mn-lt"/>
                <a:cs typeface="+mn-lt"/>
              </a:rPr>
              <a:t>produk</a:t>
            </a:r>
            <a:r>
              <a:rPr lang="en-US" sz="1400">
                <a:latin typeface="+mn-lt"/>
                <a:ea typeface="+mn-lt"/>
                <a:cs typeface="+mn-lt"/>
              </a:rPr>
              <a:t> yang </a:t>
            </a:r>
            <a:r>
              <a:rPr lang="en-US" sz="1400" err="1">
                <a:latin typeface="+mn-lt"/>
                <a:ea typeface="+mn-lt"/>
                <a:cs typeface="+mn-lt"/>
              </a:rPr>
              <a:t>siap</a:t>
            </a:r>
            <a:r>
              <a:rPr lang="en-US" sz="1400">
                <a:latin typeface="+mn-lt"/>
                <a:ea typeface="+mn-lt"/>
                <a:cs typeface="+mn-lt"/>
              </a:rPr>
              <a:t> </a:t>
            </a:r>
            <a:r>
              <a:rPr lang="en-US" sz="1400" err="1">
                <a:latin typeface="+mn-lt"/>
                <a:ea typeface="+mn-lt"/>
                <a:cs typeface="+mn-lt"/>
              </a:rPr>
              <a:t>digunakan</a:t>
            </a:r>
            <a:r>
              <a:rPr lang="en-US" sz="1400">
                <a:latin typeface="+mn-lt"/>
                <a:ea typeface="+mn-lt"/>
                <a:cs typeface="+mn-lt"/>
              </a:rPr>
              <a:t> (potentially shippable) </a:t>
            </a:r>
            <a:r>
              <a:rPr lang="en-US" sz="1400" err="1">
                <a:latin typeface="+mn-lt"/>
                <a:ea typeface="+mn-lt"/>
                <a:cs typeface="+mn-lt"/>
              </a:rPr>
              <a:t>setiap</a:t>
            </a:r>
            <a:r>
              <a:rPr lang="en-US" sz="1400">
                <a:latin typeface="+mn-lt"/>
                <a:ea typeface="+mn-lt"/>
                <a:cs typeface="+mn-lt"/>
              </a:rPr>
              <a:t> sprint </a:t>
            </a:r>
            <a:endParaRPr lang="en-US" sz="1400">
              <a:ea typeface="Calibri"/>
              <a:cs typeface="Calibri"/>
            </a:endParaRPr>
          </a:p>
          <a:p>
            <a:pPr lvl="5" indent="-188595"/>
            <a:r>
              <a:rPr lang="en-US" err="1">
                <a:ea typeface="+mn-lt"/>
                <a:cs typeface="+mn-lt"/>
              </a:rPr>
              <a:t>Menjaga</a:t>
            </a:r>
            <a:r>
              <a:rPr lang="en-US">
                <a:ea typeface="+mn-lt"/>
                <a:cs typeface="+mn-lt"/>
              </a:rPr>
              <a:t> </a:t>
            </a:r>
            <a:r>
              <a:rPr lang="en-US" err="1">
                <a:ea typeface="+mn-lt"/>
                <a:cs typeface="+mn-lt"/>
              </a:rPr>
              <a:t>kualitas</a:t>
            </a:r>
            <a:r>
              <a:rPr lang="en-US">
                <a:ea typeface="+mn-lt"/>
                <a:cs typeface="+mn-lt"/>
              </a:rPr>
              <a:t> </a:t>
            </a:r>
            <a:r>
              <a:rPr lang="en-US" err="1">
                <a:ea typeface="+mn-lt"/>
                <a:cs typeface="+mn-lt"/>
              </a:rPr>
              <a:t>teknis</a:t>
            </a:r>
            <a:r>
              <a:rPr lang="en-US">
                <a:ea typeface="+mn-lt"/>
                <a:cs typeface="+mn-lt"/>
              </a:rPr>
              <a:t> dan </a:t>
            </a:r>
            <a:r>
              <a:rPr lang="en-US" err="1">
                <a:ea typeface="+mn-lt"/>
                <a:cs typeface="+mn-lt"/>
              </a:rPr>
              <a:t>fungsional</a:t>
            </a:r>
            <a:r>
              <a:rPr lang="en-US">
                <a:ea typeface="+mn-lt"/>
                <a:cs typeface="+mn-lt"/>
              </a:rPr>
              <a:t> </a:t>
            </a:r>
            <a:r>
              <a:rPr lang="en-US" err="1">
                <a:ea typeface="+mn-lt"/>
                <a:cs typeface="+mn-lt"/>
              </a:rPr>
              <a:t>dari</a:t>
            </a:r>
            <a:r>
              <a:rPr lang="en-US">
                <a:ea typeface="+mn-lt"/>
                <a:cs typeface="+mn-lt"/>
              </a:rPr>
              <a:t> </a:t>
            </a:r>
            <a:r>
              <a:rPr lang="en-US" err="1">
                <a:ea typeface="+mn-lt"/>
                <a:cs typeface="+mn-lt"/>
              </a:rPr>
              <a:t>hasil</a:t>
            </a:r>
            <a:r>
              <a:rPr lang="en-US">
                <a:ea typeface="+mn-lt"/>
                <a:cs typeface="+mn-lt"/>
              </a:rPr>
              <a:t> development </a:t>
            </a:r>
            <a:endParaRPr lang="en-US">
              <a:ea typeface="Calibri"/>
              <a:cs typeface="Calibri"/>
            </a:endParaRPr>
          </a:p>
          <a:p>
            <a:pPr lvl="5" indent="-188595"/>
            <a:r>
              <a:rPr lang="en-US" err="1">
                <a:ea typeface="+mn-lt"/>
                <a:cs typeface="+mn-lt"/>
              </a:rPr>
              <a:t>Komitmen</a:t>
            </a:r>
            <a:r>
              <a:rPr lang="en-US">
                <a:ea typeface="+mn-lt"/>
                <a:cs typeface="+mn-lt"/>
              </a:rPr>
              <a:t> </a:t>
            </a:r>
            <a:r>
              <a:rPr lang="en-US" err="1">
                <a:ea typeface="+mn-lt"/>
                <a:cs typeface="+mn-lt"/>
              </a:rPr>
              <a:t>terhadap</a:t>
            </a:r>
            <a:r>
              <a:rPr lang="en-US">
                <a:ea typeface="+mn-lt"/>
                <a:cs typeface="+mn-lt"/>
              </a:rPr>
              <a:t> Sprint Goal</a:t>
            </a:r>
            <a:endParaRPr lang="en-US">
              <a:ea typeface="Calibri"/>
              <a:cs typeface="Calibri"/>
            </a:endParaRPr>
          </a:p>
          <a:p>
            <a:pPr marL="274320" lvl="5" indent="-285750">
              <a:lnSpc>
                <a:spcPct val="113999"/>
              </a:lnSpc>
            </a:pPr>
            <a:r>
              <a:rPr lang="en-US" sz="1600">
                <a:latin typeface="Calibri"/>
                <a:ea typeface="Calibri"/>
                <a:cs typeface="Calibri"/>
              </a:rPr>
              <a:t>Responsibilities:</a:t>
            </a:r>
            <a:endParaRPr lang="en-US" sz="1600">
              <a:latin typeface="Calibri" panose="020F0502020204030204" pitchFamily="34" charset="0"/>
              <a:ea typeface="Calibri"/>
              <a:cs typeface="Calibri"/>
            </a:endParaRPr>
          </a:p>
          <a:p>
            <a:pPr marL="901700" indent="-188595">
              <a:lnSpc>
                <a:spcPct val="90000"/>
              </a:lnSpc>
            </a:pPr>
            <a:r>
              <a:rPr lang="en-US" sz="1400" err="1">
                <a:latin typeface="+mn-lt"/>
                <a:ea typeface="+mn-lt"/>
                <a:cs typeface="+mn-lt"/>
              </a:rPr>
              <a:t>Mengembangkan</a:t>
            </a:r>
            <a:r>
              <a:rPr lang="en-US" sz="1400">
                <a:latin typeface="+mn-lt"/>
                <a:ea typeface="+mn-lt"/>
                <a:cs typeface="+mn-lt"/>
              </a:rPr>
              <a:t> </a:t>
            </a:r>
            <a:r>
              <a:rPr lang="en-US" sz="1400" err="1">
                <a:latin typeface="+mn-lt"/>
                <a:ea typeface="+mn-lt"/>
                <a:cs typeface="+mn-lt"/>
              </a:rPr>
              <a:t>fitur</a:t>
            </a:r>
            <a:r>
              <a:rPr lang="en-US" sz="1400">
                <a:latin typeface="+mn-lt"/>
                <a:ea typeface="+mn-lt"/>
                <a:cs typeface="+mn-lt"/>
              </a:rPr>
              <a:t> </a:t>
            </a:r>
            <a:r>
              <a:rPr lang="en-US" sz="1400" err="1">
                <a:latin typeface="+mn-lt"/>
                <a:ea typeface="+mn-lt"/>
                <a:cs typeface="+mn-lt"/>
              </a:rPr>
              <a:t>sesuai</a:t>
            </a:r>
            <a:r>
              <a:rPr lang="en-US" sz="1400">
                <a:latin typeface="+mn-lt"/>
                <a:ea typeface="+mn-lt"/>
                <a:cs typeface="+mn-lt"/>
              </a:rPr>
              <a:t> user story &amp; acceptance criteria </a:t>
            </a:r>
            <a:endParaRPr lang="en-US" sz="1400">
              <a:ea typeface="Calibri"/>
              <a:cs typeface="Calibri"/>
            </a:endParaRPr>
          </a:p>
          <a:p>
            <a:pPr lvl="5" indent="-188595"/>
            <a:r>
              <a:rPr lang="en-US" err="1">
                <a:ea typeface="+mn-lt"/>
                <a:cs typeface="+mn-lt"/>
              </a:rPr>
              <a:t>Melakukan</a:t>
            </a:r>
            <a:r>
              <a:rPr lang="en-US">
                <a:ea typeface="+mn-lt"/>
                <a:cs typeface="+mn-lt"/>
              </a:rPr>
              <a:t> coding, unit testing, dan </a:t>
            </a:r>
            <a:r>
              <a:rPr lang="en-US" err="1">
                <a:ea typeface="+mn-lt"/>
                <a:cs typeface="+mn-lt"/>
              </a:rPr>
              <a:t>integrasi</a:t>
            </a:r>
            <a:r>
              <a:rPr lang="en-US">
                <a:ea typeface="+mn-lt"/>
                <a:cs typeface="+mn-lt"/>
              </a:rPr>
              <a:t> </a:t>
            </a:r>
            <a:endParaRPr lang="en-US"/>
          </a:p>
          <a:p>
            <a:pPr lvl="5" indent="-188595"/>
            <a:r>
              <a:rPr lang="en-US" err="1">
                <a:ea typeface="+mn-lt"/>
                <a:cs typeface="+mn-lt"/>
              </a:rPr>
              <a:t>Berkolaborasi</a:t>
            </a:r>
            <a:r>
              <a:rPr lang="en-US">
                <a:ea typeface="+mn-lt"/>
                <a:cs typeface="+mn-lt"/>
              </a:rPr>
              <a:t> </a:t>
            </a:r>
            <a:r>
              <a:rPr lang="en-US" err="1">
                <a:ea typeface="+mn-lt"/>
                <a:cs typeface="+mn-lt"/>
              </a:rPr>
              <a:t>dengan</a:t>
            </a:r>
            <a:r>
              <a:rPr lang="en-US">
                <a:ea typeface="+mn-lt"/>
                <a:cs typeface="+mn-lt"/>
              </a:rPr>
              <a:t> Product Owner </a:t>
            </a:r>
            <a:r>
              <a:rPr lang="en-US" err="1">
                <a:ea typeface="+mn-lt"/>
                <a:cs typeface="+mn-lt"/>
              </a:rPr>
              <a:t>untuk</a:t>
            </a:r>
            <a:r>
              <a:rPr lang="en-US">
                <a:ea typeface="+mn-lt"/>
                <a:cs typeface="+mn-lt"/>
              </a:rPr>
              <a:t> </a:t>
            </a:r>
            <a:r>
              <a:rPr lang="en-US" err="1">
                <a:ea typeface="+mn-lt"/>
                <a:cs typeface="+mn-lt"/>
              </a:rPr>
              <a:t>klarifikasi</a:t>
            </a:r>
            <a:r>
              <a:rPr lang="en-US">
                <a:ea typeface="+mn-lt"/>
                <a:cs typeface="+mn-lt"/>
              </a:rPr>
              <a:t> requirement </a:t>
            </a:r>
            <a:endParaRPr lang="en-US"/>
          </a:p>
          <a:p>
            <a:pPr lvl="5" indent="-188595"/>
            <a:r>
              <a:rPr lang="en-US" err="1">
                <a:ea typeface="+mn-lt"/>
                <a:cs typeface="+mn-lt"/>
              </a:rPr>
              <a:t>Berpartisipasi</a:t>
            </a:r>
            <a:r>
              <a:rPr lang="en-US">
                <a:ea typeface="+mn-lt"/>
                <a:cs typeface="+mn-lt"/>
              </a:rPr>
              <a:t> </a:t>
            </a:r>
            <a:r>
              <a:rPr lang="en-US" err="1">
                <a:ea typeface="+mn-lt"/>
                <a:cs typeface="+mn-lt"/>
              </a:rPr>
              <a:t>aktif</a:t>
            </a:r>
            <a:r>
              <a:rPr lang="en-US">
                <a:ea typeface="+mn-lt"/>
                <a:cs typeface="+mn-lt"/>
              </a:rPr>
              <a:t> </a:t>
            </a:r>
            <a:r>
              <a:rPr lang="en-US" err="1">
                <a:ea typeface="+mn-lt"/>
                <a:cs typeface="+mn-lt"/>
              </a:rPr>
              <a:t>dalam</a:t>
            </a:r>
            <a:r>
              <a:rPr lang="en-US">
                <a:ea typeface="+mn-lt"/>
                <a:cs typeface="+mn-lt"/>
              </a:rPr>
              <a:t> </a:t>
            </a:r>
            <a:r>
              <a:rPr lang="en-US" err="1">
                <a:ea typeface="+mn-lt"/>
                <a:cs typeface="+mn-lt"/>
              </a:rPr>
              <a:t>semua</a:t>
            </a:r>
            <a:r>
              <a:rPr lang="en-US">
                <a:ea typeface="+mn-lt"/>
                <a:cs typeface="+mn-lt"/>
              </a:rPr>
              <a:t> Scrum events </a:t>
            </a:r>
            <a:endParaRPr lang="en-US"/>
          </a:p>
          <a:p>
            <a:pPr lvl="5" indent="-188595"/>
            <a:r>
              <a:rPr lang="en-US" err="1">
                <a:ea typeface="+mn-lt"/>
                <a:cs typeface="+mn-lt"/>
              </a:rPr>
              <a:t>Melakukan</a:t>
            </a:r>
            <a:r>
              <a:rPr lang="en-US">
                <a:ea typeface="+mn-lt"/>
                <a:cs typeface="+mn-lt"/>
              </a:rPr>
              <a:t> </a:t>
            </a:r>
            <a:r>
              <a:rPr lang="en-US" err="1">
                <a:ea typeface="+mn-lt"/>
                <a:cs typeface="+mn-lt"/>
              </a:rPr>
              <a:t>estimasi</a:t>
            </a:r>
            <a:r>
              <a:rPr lang="en-US">
                <a:ea typeface="+mn-lt"/>
                <a:cs typeface="+mn-lt"/>
              </a:rPr>
              <a:t> </a:t>
            </a:r>
            <a:r>
              <a:rPr lang="en-US" err="1">
                <a:ea typeface="+mn-lt"/>
                <a:cs typeface="+mn-lt"/>
              </a:rPr>
              <a:t>pekerjaan</a:t>
            </a:r>
            <a:r>
              <a:rPr lang="en-US">
                <a:ea typeface="+mn-lt"/>
                <a:cs typeface="+mn-lt"/>
              </a:rPr>
              <a:t> (story points / effort) </a:t>
            </a:r>
            <a:endParaRPr lang="en-US"/>
          </a:p>
          <a:p>
            <a:pPr lvl="5" indent="-188595"/>
            <a:r>
              <a:rPr lang="en-US" err="1">
                <a:ea typeface="+mn-lt"/>
                <a:cs typeface="+mn-lt"/>
              </a:rPr>
              <a:t>Menjaga</a:t>
            </a:r>
            <a:r>
              <a:rPr lang="en-US">
                <a:ea typeface="+mn-lt"/>
                <a:cs typeface="+mn-lt"/>
              </a:rPr>
              <a:t> </a:t>
            </a:r>
            <a:r>
              <a:rPr lang="en-US" err="1">
                <a:ea typeface="+mn-lt"/>
                <a:cs typeface="+mn-lt"/>
              </a:rPr>
              <a:t>kualitas</a:t>
            </a:r>
            <a:r>
              <a:rPr lang="en-US">
                <a:ea typeface="+mn-lt"/>
                <a:cs typeface="+mn-lt"/>
              </a:rPr>
              <a:t> code (clean code, standard, best practices) </a:t>
            </a:r>
            <a:endParaRPr lang="en-US"/>
          </a:p>
          <a:p>
            <a:pPr lvl="5" indent="-188595"/>
            <a:r>
              <a:rPr lang="en-US">
                <a:ea typeface="+mn-lt"/>
                <a:cs typeface="+mn-lt"/>
              </a:rPr>
              <a:t>Fix bug dan </a:t>
            </a:r>
            <a:r>
              <a:rPr lang="en-US" err="1">
                <a:ea typeface="+mn-lt"/>
                <a:cs typeface="+mn-lt"/>
              </a:rPr>
              <a:t>melakukan</a:t>
            </a:r>
            <a:r>
              <a:rPr lang="en-US">
                <a:ea typeface="+mn-lt"/>
                <a:cs typeface="+mn-lt"/>
              </a:rPr>
              <a:t> </a:t>
            </a:r>
            <a:r>
              <a:rPr lang="en-US" err="1">
                <a:ea typeface="+mn-lt"/>
                <a:cs typeface="+mn-lt"/>
              </a:rPr>
              <a:t>perbaikan</a:t>
            </a:r>
            <a:r>
              <a:rPr lang="en-US">
                <a:ea typeface="+mn-lt"/>
                <a:cs typeface="+mn-lt"/>
              </a:rPr>
              <a:t> </a:t>
            </a:r>
            <a:r>
              <a:rPr lang="en-US" err="1">
                <a:ea typeface="+mn-lt"/>
                <a:cs typeface="+mn-lt"/>
              </a:rPr>
              <a:t>berkelanjutan</a:t>
            </a:r>
            <a:r>
              <a:rPr lang="en-US">
                <a:ea typeface="+mn-lt"/>
                <a:cs typeface="+mn-lt"/>
              </a:rPr>
              <a:t> </a:t>
            </a:r>
            <a:endParaRPr lang="en-US"/>
          </a:p>
          <a:p>
            <a:pPr lvl="5" indent="-188595"/>
            <a:r>
              <a:rPr lang="en-US" err="1">
                <a:ea typeface="+mn-lt"/>
                <a:cs typeface="+mn-lt"/>
              </a:rPr>
              <a:t>Mendokumentasikan</a:t>
            </a:r>
            <a:r>
              <a:rPr lang="en-US">
                <a:ea typeface="+mn-lt"/>
                <a:cs typeface="+mn-lt"/>
              </a:rPr>
              <a:t> </a:t>
            </a:r>
            <a:r>
              <a:rPr lang="en-US" err="1">
                <a:ea typeface="+mn-lt"/>
                <a:cs typeface="+mn-lt"/>
              </a:rPr>
              <a:t>aspek</a:t>
            </a:r>
            <a:r>
              <a:rPr lang="en-US">
                <a:ea typeface="+mn-lt"/>
                <a:cs typeface="+mn-lt"/>
              </a:rPr>
              <a:t> </a:t>
            </a:r>
            <a:r>
              <a:rPr lang="en-US" err="1">
                <a:ea typeface="+mn-lt"/>
                <a:cs typeface="+mn-lt"/>
              </a:rPr>
              <a:t>teknis</a:t>
            </a:r>
            <a:r>
              <a:rPr lang="en-US">
                <a:ea typeface="+mn-lt"/>
                <a:cs typeface="+mn-lt"/>
              </a:rPr>
              <a:t> </a:t>
            </a:r>
            <a:r>
              <a:rPr lang="en-US" err="1">
                <a:ea typeface="+mn-lt"/>
                <a:cs typeface="+mn-lt"/>
              </a:rPr>
              <a:t>jika</a:t>
            </a:r>
            <a:r>
              <a:rPr lang="en-US">
                <a:ea typeface="+mn-lt"/>
                <a:cs typeface="+mn-lt"/>
              </a:rPr>
              <a:t> </a:t>
            </a:r>
            <a:r>
              <a:rPr lang="en-US" err="1">
                <a:ea typeface="+mn-lt"/>
                <a:cs typeface="+mn-lt"/>
              </a:rPr>
              <a:t>diperlukan</a:t>
            </a:r>
            <a:endParaRPr lang="en-US" err="1"/>
          </a:p>
          <a:p>
            <a:pPr marL="274320" lvl="5" indent="-285750">
              <a:lnSpc>
                <a:spcPct val="113999"/>
              </a:lnSpc>
            </a:pPr>
            <a:endParaRPr lang="en-US" sz="1600">
              <a:latin typeface="Calibri" panose="020F0502020204030204" pitchFamily="34" charset="0"/>
              <a:ea typeface="Calibri"/>
              <a:cs typeface="Calibri"/>
            </a:endParaRPr>
          </a:p>
          <a:p>
            <a:pPr marL="463550" lvl="5" indent="-285750">
              <a:lnSpc>
                <a:spcPct val="113999"/>
              </a:lnSpc>
            </a:pPr>
            <a:endParaRPr lang="en-US">
              <a:latin typeface="Calibri" panose="020F0502020204030204" pitchFamily="34" charset="0"/>
              <a:ea typeface="Calibri"/>
              <a:cs typeface="Calibri"/>
            </a:endParaRPr>
          </a:p>
          <a:p>
            <a:pPr marL="474980" lvl="5" indent="-285750">
              <a:lnSpc>
                <a:spcPct val="113999"/>
              </a:lnSpc>
            </a:pPr>
            <a:endParaRPr lang="en-US">
              <a:latin typeface="Calibri" panose="020F0502020204030204" pitchFamily="34" charset="0"/>
              <a:ea typeface="Calibri"/>
              <a:cs typeface="Calibri"/>
            </a:endParaRPr>
          </a:p>
          <a:p>
            <a:pPr marL="354965" lvl="4" indent="-285750">
              <a:lnSpc>
                <a:spcPct val="113999"/>
              </a:lnSpc>
            </a:pPr>
            <a:endParaRPr lang="en-US">
              <a:ea typeface="Calibri"/>
              <a:cs typeface="Calibri"/>
            </a:endParaRPr>
          </a:p>
          <a:p>
            <a:pPr marL="366395" lvl="4" indent="-285750">
              <a:lnSpc>
                <a:spcPct val="113999"/>
              </a:lnSpc>
            </a:pPr>
            <a:endParaRPr lang="en-US">
              <a:ea typeface="Calibri"/>
              <a:cs typeface="Calibri"/>
            </a:endParaRPr>
          </a:p>
          <a:p>
            <a:pPr marL="1028700" lvl="6"/>
            <a:endParaRPr lang="en-US">
              <a:ea typeface="Calibri"/>
              <a:cs typeface="Calibri"/>
            </a:endParaRPr>
          </a:p>
          <a:p>
            <a:pPr marL="285750" lvl="5" indent="-285750"/>
            <a:endParaRPr lang="en-US">
              <a:ea typeface="Calibri"/>
            </a:endParaRPr>
          </a:p>
          <a:p>
            <a:pPr marL="80645" lvl="4" indent="0">
              <a:lnSpc>
                <a:spcPct val="113999"/>
              </a:lnSpc>
              <a:buNone/>
            </a:pPr>
            <a:endParaRPr lang="en-US">
              <a:ea typeface="Calibri"/>
            </a:endParaRPr>
          </a:p>
          <a:p>
            <a:pPr lvl="2">
              <a:lnSpc>
                <a:spcPct val="113999"/>
              </a:lnSpc>
            </a:pPr>
            <a:endParaRPr lang="en-US">
              <a:ea typeface="Calibri"/>
            </a:endParaRPr>
          </a:p>
          <a:p>
            <a:pPr>
              <a:lnSpc>
                <a:spcPct val="113999"/>
              </a:lnSpc>
            </a:pPr>
            <a:endParaRPr lang="en-US">
              <a:ea typeface="Calibri"/>
            </a:endParaRPr>
          </a:p>
        </p:txBody>
      </p:sp>
      <p:sp>
        <p:nvSpPr>
          <p:cNvPr id="4" name="Date Placeholder 3">
            <a:extLst>
              <a:ext uri="{FF2B5EF4-FFF2-40B4-BE49-F238E27FC236}">
                <a16:creationId xmlns:a16="http://schemas.microsoft.com/office/drawing/2014/main" id="{53A91515-59A3-6D4E-0BE1-12D1CEB4EBF1}"/>
              </a:ext>
            </a:extLst>
          </p:cNvPr>
          <p:cNvSpPr>
            <a:spLocks noGrp="1"/>
          </p:cNvSpPr>
          <p:nvPr>
            <p:ph type="dt" sz="half" idx="10"/>
          </p:nvPr>
        </p:nvSpPr>
        <p:spPr/>
        <p:txBody>
          <a:bodyPr/>
          <a:lstStyle/>
          <a:p>
            <a:fld id="{5189F29F-C5E4-414E-A18A-4BD422769183}" type="datetime1">
              <a:t>4/27/2026</a:t>
            </a:fld>
            <a:endParaRPr lang="en-US"/>
          </a:p>
        </p:txBody>
      </p:sp>
      <p:sp>
        <p:nvSpPr>
          <p:cNvPr id="5" name="Footer Placeholder 4">
            <a:extLst>
              <a:ext uri="{FF2B5EF4-FFF2-40B4-BE49-F238E27FC236}">
                <a16:creationId xmlns:a16="http://schemas.microsoft.com/office/drawing/2014/main" id="{913317D7-815E-355A-A481-25827112C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CA777-79B4-BAA7-7E4A-887A5D2BE3BB}"/>
              </a:ext>
            </a:extLst>
          </p:cNvPr>
          <p:cNvSpPr>
            <a:spLocks noGrp="1"/>
          </p:cNvSpPr>
          <p:nvPr>
            <p:ph type="sldNum" sz="quarter" idx="12"/>
          </p:nvPr>
        </p:nvSpPr>
        <p:spPr/>
        <p:txBody>
          <a:bodyPr/>
          <a:lstStyle/>
          <a:p>
            <a:fld id="{5750AA2C-6EEF-494E-BD18-FC6BC4ADA65A}" type="slidenum">
              <a:rPr lang="en-US" smtClean="0"/>
              <a:t>62</a:t>
            </a:fld>
            <a:endParaRPr lang="en-US"/>
          </a:p>
        </p:txBody>
      </p:sp>
      <p:sp>
        <p:nvSpPr>
          <p:cNvPr id="8" name="Title 24">
            <a:extLst>
              <a:ext uri="{FF2B5EF4-FFF2-40B4-BE49-F238E27FC236}">
                <a16:creationId xmlns:a16="http://schemas.microsoft.com/office/drawing/2014/main" id="{AA266F14-0315-EF24-8D70-D696298AF9EB}"/>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cs typeface="Calibri"/>
              </a:rPr>
              <a:t>Role, Accountabilities &amp; Responsibilities</a:t>
            </a:r>
            <a:endParaRPr lang="en-US">
              <a:latin typeface="Helvetica Neue" panose="02000503000000020004"/>
            </a:endParaRPr>
          </a:p>
        </p:txBody>
      </p:sp>
    </p:spTree>
    <p:extLst>
      <p:ext uri="{BB962C8B-B14F-4D97-AF65-F5344CB8AC3E}">
        <p14:creationId xmlns:p14="http://schemas.microsoft.com/office/powerpoint/2010/main" val="12526802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9B31-1E7A-BD6E-0774-10556795251F}"/>
              </a:ext>
            </a:extLst>
          </p:cNvPr>
          <p:cNvSpPr>
            <a:spLocks noGrp="1"/>
          </p:cNvSpPr>
          <p:nvPr>
            <p:ph type="title"/>
          </p:nvPr>
        </p:nvSpPr>
        <p:spPr>
          <a:xfrm>
            <a:off x="813118" y="3213922"/>
            <a:ext cx="8543925" cy="710252"/>
          </a:xfrm>
        </p:spPr>
        <p:txBody>
          <a:bodyPr/>
          <a:lstStyle/>
          <a:p>
            <a:pPr algn="ctr"/>
            <a:r>
              <a:rPr lang="en-US"/>
              <a:t>Hidden Slides</a:t>
            </a:r>
          </a:p>
        </p:txBody>
      </p:sp>
    </p:spTree>
    <p:extLst>
      <p:ext uri="{BB962C8B-B14F-4D97-AF65-F5344CB8AC3E}">
        <p14:creationId xmlns:p14="http://schemas.microsoft.com/office/powerpoint/2010/main" val="37326848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B6A5494-BA5B-4064-8B3F-4FD37C4F09BA}"/>
              </a:ext>
            </a:extLst>
          </p:cNvPr>
          <p:cNvSpPr>
            <a:spLocks noGrp="1"/>
          </p:cNvSpPr>
          <p:nvPr>
            <p:ph type="sldNum" sz="quarter" idx="12"/>
          </p:nvPr>
        </p:nvSpPr>
        <p:spPr/>
        <p:txBody>
          <a:bodyPr/>
          <a:lstStyle/>
          <a:p>
            <a:r>
              <a:rPr lang="en-GB"/>
              <a:t> Page </a:t>
            </a:r>
            <a:fld id="{7A555EF9-59E7-4D74-815B-7A20869232EE}" type="slidenum">
              <a:rPr lang="en-GB" smtClean="0"/>
              <a:pPr/>
              <a:t>64</a:t>
            </a:fld>
            <a:endParaRPr lang="en-GB"/>
          </a:p>
        </p:txBody>
      </p:sp>
      <p:sp>
        <p:nvSpPr>
          <p:cNvPr id="25" name="Title 24">
            <a:extLst>
              <a:ext uri="{FF2B5EF4-FFF2-40B4-BE49-F238E27FC236}">
                <a16:creationId xmlns:a16="http://schemas.microsoft.com/office/drawing/2014/main" id="{8898FE1F-9326-4BB0-B300-7D3536EF6EB4}"/>
              </a:ext>
            </a:extLst>
          </p:cNvPr>
          <p:cNvSpPr>
            <a:spLocks noGrp="1"/>
          </p:cNvSpPr>
          <p:nvPr>
            <p:ph type="title" idx="4294967295"/>
          </p:nvPr>
        </p:nvSpPr>
        <p:spPr>
          <a:xfrm>
            <a:off x="560439" y="293839"/>
            <a:ext cx="9113400" cy="540000"/>
          </a:xfrm>
          <a:prstGeom prst="rect">
            <a:avLst/>
          </a:prstGeom>
        </p:spPr>
        <p:txBody>
          <a:bodyPr/>
          <a:lstStyle/>
          <a:p>
            <a:r>
              <a:rPr lang="en-GB">
                <a:latin typeface="Helvetica Neue" panose="02000503000000020004"/>
              </a:rPr>
              <a:t>1. Executive Summary</a:t>
            </a:r>
            <a:endParaRPr lang="en-US">
              <a:latin typeface="Helvetica Neue" panose="02000503000000020004"/>
            </a:endParaRPr>
          </a:p>
        </p:txBody>
      </p:sp>
      <p:sp>
        <p:nvSpPr>
          <p:cNvPr id="2" name="TextBox 1">
            <a:extLst>
              <a:ext uri="{FF2B5EF4-FFF2-40B4-BE49-F238E27FC236}">
                <a16:creationId xmlns:a16="http://schemas.microsoft.com/office/drawing/2014/main" id="{460E4E7B-C0F3-6F0B-FA07-9794CC54330B}"/>
              </a:ext>
            </a:extLst>
          </p:cNvPr>
          <p:cNvSpPr txBox="1"/>
          <p:nvPr/>
        </p:nvSpPr>
        <p:spPr>
          <a:xfrm>
            <a:off x="760610" y="968976"/>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1.1 Background</a:t>
            </a:r>
          </a:p>
        </p:txBody>
      </p:sp>
      <p:sp>
        <p:nvSpPr>
          <p:cNvPr id="3" name="TextBox 2">
            <a:extLst>
              <a:ext uri="{FF2B5EF4-FFF2-40B4-BE49-F238E27FC236}">
                <a16:creationId xmlns:a16="http://schemas.microsoft.com/office/drawing/2014/main" id="{64D9F04A-7E24-316B-4454-16FAAB1013ED}"/>
              </a:ext>
            </a:extLst>
          </p:cNvPr>
          <p:cNvSpPr txBox="1"/>
          <p:nvPr/>
        </p:nvSpPr>
        <p:spPr>
          <a:xfrm>
            <a:off x="760609" y="2950683"/>
            <a:ext cx="6336659" cy="375552"/>
          </a:xfrm>
          <a:prstGeom prst="rect">
            <a:avLst/>
          </a:prstGeom>
          <a:noFill/>
        </p:spPr>
        <p:txBody>
          <a:bodyPr wrap="square" rtlCol="0" anchor="ctr">
            <a:spAutoFit/>
          </a:bodyPr>
          <a:lstStyle/>
          <a:p>
            <a:pPr algn="just">
              <a:lnSpc>
                <a:spcPct val="150000"/>
              </a:lnSpc>
            </a:pPr>
            <a:r>
              <a:rPr lang="en-US" sz="1400" b="1">
                <a:latin typeface="Helvetica Neue" panose="02000503000000020004"/>
              </a:rPr>
              <a:t>1.2 Objective</a:t>
            </a:r>
          </a:p>
        </p:txBody>
      </p:sp>
      <p:sp>
        <p:nvSpPr>
          <p:cNvPr id="7" name="Footer Placeholder 4">
            <a:extLst>
              <a:ext uri="{FF2B5EF4-FFF2-40B4-BE49-F238E27FC236}">
                <a16:creationId xmlns:a16="http://schemas.microsoft.com/office/drawing/2014/main" id="{9F4E92E2-4EB4-9C07-9233-06BEB4BF24B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8" name="TextBox 7">
            <a:extLst>
              <a:ext uri="{FF2B5EF4-FFF2-40B4-BE49-F238E27FC236}">
                <a16:creationId xmlns:a16="http://schemas.microsoft.com/office/drawing/2014/main" id="{4DD1FE24-C3C5-DDD3-5CF0-3E1E429FB5F1}"/>
              </a:ext>
            </a:extLst>
          </p:cNvPr>
          <p:cNvSpPr txBox="1"/>
          <p:nvPr/>
        </p:nvSpPr>
        <p:spPr>
          <a:xfrm>
            <a:off x="1123613" y="1274140"/>
            <a:ext cx="8782387" cy="1674754"/>
          </a:xfrm>
          <a:prstGeom prst="rect">
            <a:avLst/>
          </a:prstGeom>
          <a:noFill/>
        </p:spPr>
        <p:txBody>
          <a:bodyPr wrap="square" rtlCol="0">
            <a:spAutoFit/>
          </a:bodyPr>
          <a:lstStyle/>
          <a:p>
            <a:pPr>
              <a:lnSpc>
                <a:spcPct val="150000"/>
              </a:lnSpc>
            </a:pPr>
            <a:r>
              <a:rPr lang="en-US" sz="1400"/>
              <a:t>Currently MMKSI is using their HRIS system to do HRD daily operation; however, the system is underutilized due to usability issues and misalignment with actual HRD operational needs. The complexity of the system has resulted in low user adoption, manual workarounds, and limited return on investment.</a:t>
            </a:r>
          </a:p>
          <a:p>
            <a:pPr>
              <a:lnSpc>
                <a:spcPct val="150000"/>
              </a:lnSpc>
            </a:pPr>
            <a:r>
              <a:rPr lang="en-US" sz="1400"/>
              <a:t>To address these challenges, MMKSI has appointed BSI to implement a more effective, intuitive, and business-aligned HRD solution that better supports daily HR operations and future organizational growth.</a:t>
            </a:r>
          </a:p>
        </p:txBody>
      </p:sp>
      <p:sp>
        <p:nvSpPr>
          <p:cNvPr id="14" name="TextBox 13">
            <a:extLst>
              <a:ext uri="{FF2B5EF4-FFF2-40B4-BE49-F238E27FC236}">
                <a16:creationId xmlns:a16="http://schemas.microsoft.com/office/drawing/2014/main" id="{A128E062-4182-4B78-F486-A24763FE51C7}"/>
              </a:ext>
            </a:extLst>
          </p:cNvPr>
          <p:cNvSpPr txBox="1"/>
          <p:nvPr/>
        </p:nvSpPr>
        <p:spPr>
          <a:xfrm>
            <a:off x="760609" y="4270418"/>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1.3 Benefit</a:t>
            </a:r>
          </a:p>
        </p:txBody>
      </p:sp>
      <p:sp>
        <p:nvSpPr>
          <p:cNvPr id="5" name="TextBox 4">
            <a:extLst>
              <a:ext uri="{FF2B5EF4-FFF2-40B4-BE49-F238E27FC236}">
                <a16:creationId xmlns:a16="http://schemas.microsoft.com/office/drawing/2014/main" id="{5627C160-5D9E-BEAA-F3F0-39A5D1C42885}"/>
              </a:ext>
            </a:extLst>
          </p:cNvPr>
          <p:cNvSpPr txBox="1"/>
          <p:nvPr/>
        </p:nvSpPr>
        <p:spPr>
          <a:xfrm>
            <a:off x="1123612" y="3243682"/>
            <a:ext cx="8021774" cy="1030282"/>
          </a:xfrm>
          <a:prstGeom prst="rect">
            <a:avLst/>
          </a:prstGeom>
          <a:noFill/>
        </p:spPr>
        <p:txBody>
          <a:bodyPr wrap="square">
            <a:spAutoFit/>
          </a:bodyPr>
          <a:lstStyle/>
          <a:p>
            <a:pPr marL="173038" marR="0" lvl="0" indent="-173038">
              <a:lnSpc>
                <a:spcPct val="150000"/>
              </a:lnSpc>
              <a:buFont typeface="Arial" panose="020B0604020202020204" pitchFamily="34" charset="0"/>
              <a:buChar char="•"/>
              <a:tabLst>
                <a:tab pos="173038"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Align system capabilities with actual HRD workflows, functional requirements, and strategic goals.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50000"/>
              </a:lnSpc>
              <a:buFont typeface="Arial" panose="020B0604020202020204" pitchFamily="34" charset="0"/>
              <a:buChar char="•"/>
              <a:tabLst>
                <a:tab pos="173038"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Drive user adoption by implementing an intuitive and user-friendly HRD platform.</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173038" marR="0" lvl="0" indent="-173038">
              <a:lnSpc>
                <a:spcPct val="150000"/>
              </a:lnSpc>
              <a:spcAft>
                <a:spcPts val="800"/>
              </a:spcAft>
              <a:buFont typeface="Arial" panose="020B0604020202020204" pitchFamily="34" charset="0"/>
              <a:buChar char="•"/>
              <a:tabLst>
                <a:tab pos="173038"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Ensure seamless provisioning and transition from the existing underutilized system to the new solution.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E9637AC5-9989-326C-0C5F-C2BF4FA989CB}"/>
              </a:ext>
            </a:extLst>
          </p:cNvPr>
          <p:cNvSpPr txBox="1"/>
          <p:nvPr/>
        </p:nvSpPr>
        <p:spPr>
          <a:xfrm>
            <a:off x="1052492" y="4579093"/>
            <a:ext cx="7756009" cy="1028423"/>
          </a:xfrm>
          <a:prstGeom prst="rect">
            <a:avLst/>
          </a:prstGeom>
          <a:noFill/>
        </p:spPr>
        <p:txBody>
          <a:bodyPr wrap="square">
            <a:spAutoFit/>
          </a:bodyPr>
          <a:lstStyle/>
          <a:p>
            <a:pPr marL="173038" indent="-173038">
              <a:lnSpc>
                <a:spcPct val="150000"/>
              </a:lnSpc>
              <a:buFont typeface="Arial" panose="020B0604020202020204" pitchFamily="34" charset="0"/>
              <a:buChar char="•"/>
              <a:tabLst>
                <a:tab pos="173038" algn="l"/>
              </a:tabLst>
            </a:pPr>
            <a:r>
              <a:rPr lang="en-US" sz="1400" kern="100">
                <a:latin typeface="Calibri" panose="020F0502020204030204" pitchFamily="34" charset="0"/>
                <a:ea typeface="DengXian" panose="02010600030101010101" pitchFamily="2" charset="-122"/>
                <a:cs typeface="Times New Roman" panose="02020603050405020304" pitchFamily="18" charset="0"/>
              </a:rPr>
              <a:t>Maximized system utilization resulting in higher return on technology investment.</a:t>
            </a:r>
          </a:p>
          <a:p>
            <a:pPr marL="173038" indent="-173038">
              <a:lnSpc>
                <a:spcPct val="150000"/>
              </a:lnSpc>
              <a:buFont typeface="Arial" panose="020B0604020202020204" pitchFamily="34" charset="0"/>
              <a:buChar char="•"/>
              <a:tabLst>
                <a:tab pos="173038" algn="l"/>
              </a:tabLst>
            </a:pPr>
            <a:r>
              <a:rPr lang="en-US" sz="1400" kern="100">
                <a:latin typeface="Calibri" panose="020F0502020204030204" pitchFamily="34" charset="0"/>
                <a:ea typeface="DengXian" panose="02010600030101010101" pitchFamily="2" charset="-122"/>
                <a:cs typeface="Times New Roman" panose="02020603050405020304" pitchFamily="18" charset="0"/>
              </a:rPr>
              <a:t>Increased operational efficiency through streamlined HRD processes and reduced manual work.</a:t>
            </a:r>
          </a:p>
          <a:p>
            <a:pPr marL="173038" indent="-173038">
              <a:lnSpc>
                <a:spcPct val="150000"/>
              </a:lnSpc>
              <a:spcAft>
                <a:spcPts val="800"/>
              </a:spcAft>
              <a:buFont typeface="Arial" panose="020B0604020202020204" pitchFamily="34" charset="0"/>
              <a:buChar char="•"/>
              <a:tabLst>
                <a:tab pos="173038" algn="l"/>
              </a:tabLst>
            </a:pPr>
            <a:r>
              <a:rPr lang="en-US" sz="1400" kern="100">
                <a:latin typeface="Calibri" panose="020F0502020204030204" pitchFamily="34" charset="0"/>
                <a:ea typeface="DengXian" panose="02010600030101010101" pitchFamily="2" charset="-122"/>
                <a:cs typeface="Times New Roman" panose="02020603050405020304" pitchFamily="18" charset="0"/>
              </a:rPr>
              <a:t>Enhanced user experience with a simplified interface and shorter learning curve.</a:t>
            </a:r>
          </a:p>
        </p:txBody>
      </p:sp>
      <p:sp>
        <p:nvSpPr>
          <p:cNvPr id="11" name="TextBox 10">
            <a:extLst>
              <a:ext uri="{FF2B5EF4-FFF2-40B4-BE49-F238E27FC236}">
                <a16:creationId xmlns:a16="http://schemas.microsoft.com/office/drawing/2014/main" id="{B9F25F1A-AEE5-6EA9-E25C-420EE1554381}"/>
              </a:ext>
            </a:extLst>
          </p:cNvPr>
          <p:cNvSpPr txBox="1"/>
          <p:nvPr/>
        </p:nvSpPr>
        <p:spPr>
          <a:xfrm>
            <a:off x="760611" y="5552276"/>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1.4 Commercial Overview</a:t>
            </a:r>
          </a:p>
        </p:txBody>
      </p:sp>
      <p:sp>
        <p:nvSpPr>
          <p:cNvPr id="15" name="TextBox 14">
            <a:extLst>
              <a:ext uri="{FF2B5EF4-FFF2-40B4-BE49-F238E27FC236}">
                <a16:creationId xmlns:a16="http://schemas.microsoft.com/office/drawing/2014/main" id="{FC229E9F-ABA6-261B-764B-5259405E94EC}"/>
              </a:ext>
            </a:extLst>
          </p:cNvPr>
          <p:cNvSpPr txBox="1"/>
          <p:nvPr/>
        </p:nvSpPr>
        <p:spPr>
          <a:xfrm>
            <a:off x="1123612" y="5900966"/>
            <a:ext cx="8111740" cy="663195"/>
          </a:xfrm>
          <a:prstGeom prst="rect">
            <a:avLst/>
          </a:prstGeom>
          <a:noFill/>
        </p:spPr>
        <p:txBody>
          <a:bodyPr wrap="square">
            <a:spAutoFit/>
          </a:bodyPr>
          <a:lstStyle/>
          <a:p>
            <a:pPr marR="0">
              <a:lnSpc>
                <a:spcPct val="150000"/>
              </a:lnSpc>
              <a:spcAft>
                <a:spcPts val="800"/>
              </a:spcAf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Implementation Fee (IDR)	:</a:t>
            </a:r>
            <a:br>
              <a:rPr lang="en-US" sz="1300" kern="100">
                <a:effectLst/>
                <a:latin typeface="Calibri" panose="020F0502020204030204" pitchFamily="34" charset="0"/>
                <a:ea typeface="DengXian" panose="02010600030101010101" pitchFamily="2" charset="-122"/>
                <a:cs typeface="Times New Roman" panose="02020603050405020304" pitchFamily="18" charset="0"/>
              </a:rPr>
            </a:br>
            <a:r>
              <a:rPr lang="en-US" sz="1300" kern="100">
                <a:latin typeface="Calibri" panose="020F0502020204030204" pitchFamily="34" charset="0"/>
                <a:ea typeface="DengXian" panose="02010600030101010101" pitchFamily="2" charset="-122"/>
                <a:cs typeface="Times New Roman" panose="02020603050405020304" pitchFamily="18" charset="0"/>
              </a:rPr>
              <a:t>Operation Fee (IDR)		:</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6392154"/>
      </p:ext>
    </p:extLst>
  </p:cSld>
  <p:clrMapOvr>
    <a:masterClrMapping/>
  </p:clrMapOvr>
  <p:extLst>
    <p:ext uri="{6950BFC3-D8DA-4A85-94F7-54DA5524770B}">
      <p188:commentRel xmlns:p188="http://schemas.microsoft.com/office/powerpoint/2018/8/main" r:id="rId2"/>
    </p:ext>
  </p:extLs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BB0654-CBB3-C70E-9F4F-B540FF339FD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8188DB6-A411-B1A1-EAA4-5183C6A05582}"/>
              </a:ext>
            </a:extLst>
          </p:cNvPr>
          <p:cNvSpPr>
            <a:spLocks noGrp="1"/>
          </p:cNvSpPr>
          <p:nvPr>
            <p:ph type="sldNum" sz="quarter" idx="12"/>
          </p:nvPr>
        </p:nvSpPr>
        <p:spPr/>
        <p:txBody>
          <a:bodyPr/>
          <a:lstStyle/>
          <a:p>
            <a:r>
              <a:rPr lang="en-GB"/>
              <a:t> Page </a:t>
            </a:r>
            <a:fld id="{7A555EF9-59E7-4D74-815B-7A20869232EE}" type="slidenum">
              <a:rPr lang="en-GB" smtClean="0"/>
              <a:pPr/>
              <a:t>65</a:t>
            </a:fld>
            <a:endParaRPr lang="en-GB"/>
          </a:p>
        </p:txBody>
      </p:sp>
      <p:sp>
        <p:nvSpPr>
          <p:cNvPr id="25" name="Title 24">
            <a:extLst>
              <a:ext uri="{FF2B5EF4-FFF2-40B4-BE49-F238E27FC236}">
                <a16:creationId xmlns:a16="http://schemas.microsoft.com/office/drawing/2014/main" id="{90609EA2-74FD-208D-A59F-C057FB8407BA}"/>
              </a:ext>
            </a:extLst>
          </p:cNvPr>
          <p:cNvSpPr>
            <a:spLocks noGrp="1"/>
          </p:cNvSpPr>
          <p:nvPr>
            <p:ph type="title" idx="4294967295"/>
          </p:nvPr>
        </p:nvSpPr>
        <p:spPr>
          <a:xfrm>
            <a:off x="560439" y="293839"/>
            <a:ext cx="9113400" cy="540000"/>
          </a:xfrm>
          <a:prstGeom prst="rect">
            <a:avLst/>
          </a:prstGeom>
        </p:spPr>
        <p:txBody>
          <a:bodyPr/>
          <a:lstStyle/>
          <a:p>
            <a:r>
              <a:rPr lang="en-GB">
                <a:latin typeface="Helvetica Neue" panose="02000503000000020004"/>
              </a:rPr>
              <a:t>1. Executive Summary</a:t>
            </a:r>
            <a:endParaRPr lang="en-US">
              <a:latin typeface="Helvetica Neue" panose="02000503000000020004"/>
            </a:endParaRPr>
          </a:p>
        </p:txBody>
      </p:sp>
      <p:sp>
        <p:nvSpPr>
          <p:cNvPr id="2" name="TextBox 1">
            <a:extLst>
              <a:ext uri="{FF2B5EF4-FFF2-40B4-BE49-F238E27FC236}">
                <a16:creationId xmlns:a16="http://schemas.microsoft.com/office/drawing/2014/main" id="{A5490EFD-6B09-B7A9-38DA-CDC633758438}"/>
              </a:ext>
            </a:extLst>
          </p:cNvPr>
          <p:cNvSpPr txBox="1"/>
          <p:nvPr/>
        </p:nvSpPr>
        <p:spPr>
          <a:xfrm>
            <a:off x="760610" y="968976"/>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1.1 Background</a:t>
            </a:r>
          </a:p>
        </p:txBody>
      </p:sp>
      <p:sp>
        <p:nvSpPr>
          <p:cNvPr id="7" name="Footer Placeholder 4">
            <a:extLst>
              <a:ext uri="{FF2B5EF4-FFF2-40B4-BE49-F238E27FC236}">
                <a16:creationId xmlns:a16="http://schemas.microsoft.com/office/drawing/2014/main" id="{54CBE985-5E72-D406-C767-E87069433A51}"/>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13" name="TextBox 12">
            <a:extLst>
              <a:ext uri="{FF2B5EF4-FFF2-40B4-BE49-F238E27FC236}">
                <a16:creationId xmlns:a16="http://schemas.microsoft.com/office/drawing/2014/main" id="{9F84509A-2A79-9924-4C81-5BDA4D72382D}"/>
              </a:ext>
            </a:extLst>
          </p:cNvPr>
          <p:cNvSpPr txBox="1"/>
          <p:nvPr/>
        </p:nvSpPr>
        <p:spPr>
          <a:xfrm>
            <a:off x="760613" y="1425808"/>
            <a:ext cx="8782387" cy="4947765"/>
          </a:xfrm>
          <a:prstGeom prst="rect">
            <a:avLst/>
          </a:prstGeom>
          <a:noFill/>
        </p:spPr>
        <p:txBody>
          <a:bodyPr wrap="square" lIns="91440" tIns="45720" rIns="91440" bIns="45720" rtlCol="0" anchor="t">
            <a:spAutoFit/>
          </a:bodyPr>
          <a:lstStyle/>
          <a:p>
            <a:pPr>
              <a:lnSpc>
                <a:spcPct val="150000"/>
              </a:lnSpc>
            </a:pPr>
            <a:r>
              <a:rPr lang="en-US" sz="1600" b="1">
                <a:ea typeface="+mn-lt"/>
                <a:cs typeface="+mn-lt"/>
              </a:rPr>
              <a:t>Currently, MMKSI’s performance evaluation process is largely managed using Excel, covering form creation, evaluation execution, and result aggregation.</a:t>
            </a:r>
            <a:br>
              <a:rPr lang="en-US" sz="1600" b="1">
                <a:ea typeface="+mn-lt"/>
                <a:cs typeface="+mn-lt"/>
              </a:rPr>
            </a:br>
            <a:r>
              <a:rPr lang="en-US" sz="1600" b="1">
                <a:ea typeface="+mn-lt"/>
                <a:cs typeface="+mn-lt"/>
              </a:rPr>
              <a:t> This manual approach leads to inefficiencies, high administrative effort, and challenges in maintaining data consistency.</a:t>
            </a:r>
            <a:endParaRPr lang="en-US" sz="1600">
              <a:ea typeface="Calibri"/>
              <a:cs typeface="Calibri"/>
            </a:endParaRPr>
          </a:p>
          <a:p>
            <a:pPr>
              <a:lnSpc>
                <a:spcPct val="150000"/>
              </a:lnSpc>
            </a:pPr>
            <a:endParaRPr lang="en-US" sz="1000" b="1">
              <a:ea typeface="+mn-lt"/>
              <a:cs typeface="+mn-lt"/>
            </a:endParaRPr>
          </a:p>
          <a:p>
            <a:pPr>
              <a:lnSpc>
                <a:spcPct val="150000"/>
              </a:lnSpc>
            </a:pPr>
            <a:r>
              <a:rPr lang="en-US" sz="1600">
                <a:ea typeface="+mn-lt"/>
                <a:cs typeface="+mn-lt"/>
              </a:rPr>
              <a:t>In addition, performance evaluation methods frequently change following management direction, creating a need for a system that is flexible and can adapt without requiring significant redevelopment effort and cost.</a:t>
            </a:r>
            <a:endParaRPr lang="en-US" sz="1600">
              <a:ea typeface="Calibri"/>
              <a:cs typeface="Calibri"/>
            </a:endParaRPr>
          </a:p>
          <a:p>
            <a:pPr>
              <a:lnSpc>
                <a:spcPct val="150000"/>
              </a:lnSpc>
            </a:pPr>
            <a:r>
              <a:rPr lang="en-US" sz="1600">
                <a:ea typeface="+mn-lt"/>
                <a:cs typeface="+mn-lt"/>
              </a:rPr>
              <a:t>While several options are being considered, including a simplified dashboard approach, the current direction is leaning toward implementing a dedicated system that can support a more structured, scalable, and sustainable HR process.</a:t>
            </a:r>
            <a:endParaRPr lang="en-US" sz="1600">
              <a:ea typeface="Calibri"/>
              <a:cs typeface="Calibri"/>
            </a:endParaRPr>
          </a:p>
          <a:p>
            <a:pPr>
              <a:lnSpc>
                <a:spcPct val="150000"/>
              </a:lnSpc>
            </a:pPr>
            <a:endParaRPr lang="en-US" sz="1000" b="1">
              <a:ea typeface="+mn-lt"/>
              <a:cs typeface="+mn-lt"/>
            </a:endParaRPr>
          </a:p>
          <a:p>
            <a:pPr>
              <a:lnSpc>
                <a:spcPct val="150000"/>
              </a:lnSpc>
            </a:pPr>
            <a:r>
              <a:rPr lang="en-US" sz="1600" b="1">
                <a:ea typeface="+mn-lt"/>
                <a:cs typeface="+mn-lt"/>
              </a:rPr>
              <a:t>Therefore, MMKSI requires a solution that not only digitizes the current process but also provides flexibility, integration, and long-term efficiency for HR operations.</a:t>
            </a:r>
            <a:endParaRPr lang="en-US" sz="1600">
              <a:ea typeface="+mn-lt"/>
              <a:cs typeface="+mn-lt"/>
            </a:endParaRPr>
          </a:p>
        </p:txBody>
      </p:sp>
    </p:spTree>
    <p:extLst>
      <p:ext uri="{BB962C8B-B14F-4D97-AF65-F5344CB8AC3E}">
        <p14:creationId xmlns:p14="http://schemas.microsoft.com/office/powerpoint/2010/main" val="4157237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964C4B-8562-94BA-18D4-A148B22CBAE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54AFDFA-7C93-3CC3-C3E7-650DFD4F5ED8}"/>
              </a:ext>
            </a:extLst>
          </p:cNvPr>
          <p:cNvSpPr>
            <a:spLocks noGrp="1"/>
          </p:cNvSpPr>
          <p:nvPr>
            <p:ph type="sldNum" sz="quarter" idx="12"/>
          </p:nvPr>
        </p:nvSpPr>
        <p:spPr/>
        <p:txBody>
          <a:bodyPr/>
          <a:lstStyle/>
          <a:p>
            <a:r>
              <a:rPr lang="en-GB"/>
              <a:t> Page </a:t>
            </a:r>
            <a:fld id="{7A555EF9-59E7-4D74-815B-7A20869232EE}" type="slidenum">
              <a:rPr lang="en-GB" smtClean="0"/>
              <a:pPr/>
              <a:t>66</a:t>
            </a:fld>
            <a:endParaRPr lang="en-GB"/>
          </a:p>
        </p:txBody>
      </p:sp>
      <p:sp>
        <p:nvSpPr>
          <p:cNvPr id="25" name="Title 24">
            <a:extLst>
              <a:ext uri="{FF2B5EF4-FFF2-40B4-BE49-F238E27FC236}">
                <a16:creationId xmlns:a16="http://schemas.microsoft.com/office/drawing/2014/main" id="{EF592C9F-1CDF-255E-DDC1-AD8A3AD81236}"/>
              </a:ext>
            </a:extLst>
          </p:cNvPr>
          <p:cNvSpPr>
            <a:spLocks noGrp="1"/>
          </p:cNvSpPr>
          <p:nvPr>
            <p:ph type="title" idx="4294967295"/>
          </p:nvPr>
        </p:nvSpPr>
        <p:spPr>
          <a:xfrm>
            <a:off x="560439" y="293839"/>
            <a:ext cx="9113400" cy="540000"/>
          </a:xfrm>
          <a:prstGeom prst="rect">
            <a:avLst/>
          </a:prstGeom>
        </p:spPr>
        <p:txBody>
          <a:bodyPr/>
          <a:lstStyle/>
          <a:p>
            <a:r>
              <a:rPr lang="en-GB">
                <a:latin typeface="Helvetica Neue" panose="02000503000000020004"/>
              </a:rPr>
              <a:t>1. Executive Summary</a:t>
            </a:r>
            <a:endParaRPr lang="en-US">
              <a:latin typeface="Helvetica Neue" panose="02000503000000020004"/>
            </a:endParaRPr>
          </a:p>
        </p:txBody>
      </p:sp>
      <p:sp>
        <p:nvSpPr>
          <p:cNvPr id="7" name="Footer Placeholder 4">
            <a:extLst>
              <a:ext uri="{FF2B5EF4-FFF2-40B4-BE49-F238E27FC236}">
                <a16:creationId xmlns:a16="http://schemas.microsoft.com/office/drawing/2014/main" id="{5090A306-ABAA-3BF6-06CF-61610654E57B}"/>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14" name="TextBox 13">
            <a:extLst>
              <a:ext uri="{FF2B5EF4-FFF2-40B4-BE49-F238E27FC236}">
                <a16:creationId xmlns:a16="http://schemas.microsoft.com/office/drawing/2014/main" id="{92F35127-4092-9DCA-89D0-B52C4F5C2682}"/>
              </a:ext>
            </a:extLst>
          </p:cNvPr>
          <p:cNvSpPr txBox="1"/>
          <p:nvPr/>
        </p:nvSpPr>
        <p:spPr>
          <a:xfrm>
            <a:off x="749724" y="3053448"/>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1.3 Benefit</a:t>
            </a:r>
          </a:p>
        </p:txBody>
      </p:sp>
      <p:sp>
        <p:nvSpPr>
          <p:cNvPr id="10" name="TextBox 9">
            <a:extLst>
              <a:ext uri="{FF2B5EF4-FFF2-40B4-BE49-F238E27FC236}">
                <a16:creationId xmlns:a16="http://schemas.microsoft.com/office/drawing/2014/main" id="{7CE03367-97BB-13E8-C853-23831250B3DB}"/>
              </a:ext>
            </a:extLst>
          </p:cNvPr>
          <p:cNvSpPr txBox="1"/>
          <p:nvPr/>
        </p:nvSpPr>
        <p:spPr>
          <a:xfrm>
            <a:off x="749724" y="3482033"/>
            <a:ext cx="7756009" cy="1674754"/>
          </a:xfrm>
          <a:prstGeom prst="rect">
            <a:avLst/>
          </a:prstGeom>
          <a:noFill/>
        </p:spPr>
        <p:txBody>
          <a:bodyPr wrap="square" lIns="91440" tIns="45720" rIns="91440" bIns="45720" anchor="t">
            <a:spAutoFit/>
          </a:bodyPr>
          <a:lstStyle/>
          <a:p>
            <a:pPr marL="285750" indent="-285750">
              <a:lnSpc>
                <a:spcPct val="150000"/>
              </a:lnSpc>
              <a:buFont typeface="Arial"/>
              <a:buChar char="•"/>
              <a:tabLst>
                <a:tab pos="173038" algn="l"/>
              </a:tabLst>
            </a:pPr>
            <a:r>
              <a:rPr lang="en-US" sz="1400" b="1" kern="100">
                <a:ea typeface="+mn-lt"/>
                <a:cs typeface="+mn-lt"/>
              </a:rPr>
              <a:t>Reduced dependency on manual Excel processes</a:t>
            </a:r>
            <a:r>
              <a:rPr lang="en-US" sz="1400" kern="100">
                <a:ea typeface="+mn-lt"/>
                <a:cs typeface="+mn-lt"/>
              </a:rPr>
              <a:t>, improving efficiency and accuracy </a:t>
            </a:r>
            <a:endParaRPr lang="en-US"/>
          </a:p>
          <a:p>
            <a:pPr marL="285750" indent="-285750">
              <a:lnSpc>
                <a:spcPct val="150000"/>
              </a:lnSpc>
              <a:buFont typeface="Arial"/>
              <a:buChar char="•"/>
              <a:tabLst>
                <a:tab pos="173038" algn="l"/>
              </a:tabLst>
            </a:pPr>
            <a:r>
              <a:rPr lang="en-US" sz="1400" b="1" kern="100">
                <a:ea typeface="+mn-lt"/>
                <a:cs typeface="+mn-lt"/>
              </a:rPr>
              <a:t>Lower long-term cost and effort</a:t>
            </a:r>
            <a:r>
              <a:rPr lang="en-US" sz="1400" kern="100">
                <a:ea typeface="+mn-lt"/>
                <a:cs typeface="+mn-lt"/>
              </a:rPr>
              <a:t> through a configurable and adaptable system </a:t>
            </a:r>
            <a:endParaRPr lang="en-US"/>
          </a:p>
          <a:p>
            <a:pPr marL="285750" indent="-285750">
              <a:lnSpc>
                <a:spcPct val="150000"/>
              </a:lnSpc>
              <a:buFont typeface="Arial"/>
              <a:buChar char="•"/>
              <a:tabLst>
                <a:tab pos="173038" algn="l"/>
              </a:tabLst>
            </a:pPr>
            <a:r>
              <a:rPr lang="en-US" sz="1400" b="1" kern="100">
                <a:ea typeface="+mn-lt"/>
                <a:cs typeface="+mn-lt"/>
              </a:rPr>
              <a:t>Consistent and reliable HR data</a:t>
            </a:r>
            <a:r>
              <a:rPr lang="en-US" sz="1400" kern="100">
                <a:ea typeface="+mn-lt"/>
                <a:cs typeface="+mn-lt"/>
              </a:rPr>
              <a:t> as a single source of truth </a:t>
            </a:r>
            <a:endParaRPr lang="en-US"/>
          </a:p>
          <a:p>
            <a:pPr marL="285750" indent="-285750">
              <a:lnSpc>
                <a:spcPct val="150000"/>
              </a:lnSpc>
              <a:buFont typeface="Arial"/>
              <a:buChar char="•"/>
              <a:tabLst>
                <a:tab pos="173038" algn="l"/>
              </a:tabLst>
            </a:pPr>
            <a:r>
              <a:rPr lang="en-US" sz="1400" b="1" kern="100">
                <a:ea typeface="+mn-lt"/>
                <a:cs typeface="+mn-lt"/>
              </a:rPr>
              <a:t>Improved process control and visibility</a:t>
            </a:r>
            <a:r>
              <a:rPr lang="en-US" sz="1400" kern="100">
                <a:ea typeface="+mn-lt"/>
                <a:cs typeface="+mn-lt"/>
              </a:rPr>
              <a:t> across evaluation and HR activities </a:t>
            </a:r>
            <a:endParaRPr lang="en-US"/>
          </a:p>
          <a:p>
            <a:pPr marL="285750" indent="-285750">
              <a:lnSpc>
                <a:spcPct val="150000"/>
              </a:lnSpc>
              <a:buFont typeface="Arial"/>
              <a:buChar char="•"/>
              <a:tabLst>
                <a:tab pos="173038" algn="l"/>
              </a:tabLst>
            </a:pPr>
            <a:r>
              <a:rPr lang="en-US" sz="1400" b="1" kern="100">
                <a:ea typeface="+mn-lt"/>
                <a:cs typeface="+mn-lt"/>
              </a:rPr>
              <a:t>Scalable solution</a:t>
            </a:r>
            <a:r>
              <a:rPr lang="en-US" sz="1400" kern="100">
                <a:ea typeface="+mn-lt"/>
                <a:cs typeface="+mn-lt"/>
              </a:rPr>
              <a:t> that supports future organizational changes</a:t>
            </a:r>
            <a:endParaRPr lang="en-US"/>
          </a:p>
        </p:txBody>
      </p:sp>
      <p:sp>
        <p:nvSpPr>
          <p:cNvPr id="12" name="Rectangle 2">
            <a:extLst>
              <a:ext uri="{FF2B5EF4-FFF2-40B4-BE49-F238E27FC236}">
                <a16:creationId xmlns:a16="http://schemas.microsoft.com/office/drawing/2014/main" id="{E27F50C1-ECAC-19CC-BDE7-E550C5157092}"/>
              </a:ext>
            </a:extLst>
          </p:cNvPr>
          <p:cNvSpPr>
            <a:spLocks noChangeArrowheads="1"/>
          </p:cNvSpPr>
          <p:nvPr/>
        </p:nvSpPr>
        <p:spPr bwMode="auto">
          <a:xfrm>
            <a:off x="749724" y="1437162"/>
            <a:ext cx="8782388" cy="144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lnSpc>
                <a:spcPct val="150000"/>
              </a:lnSpc>
              <a:buFont typeface="Arial"/>
              <a:buChar char="•"/>
            </a:pPr>
            <a:r>
              <a:rPr lang="en-US" sz="1500">
                <a:ea typeface="+mn-lt"/>
                <a:cs typeface="+mn-lt"/>
              </a:rPr>
              <a:t>Digitize </a:t>
            </a:r>
            <a:r>
              <a:rPr kumimoji="0" lang="en-US" sz="1500" b="0" i="0" u="none" strike="noStrike" cap="none" normalizeH="0" baseline="0">
                <a:ln>
                  <a:noFill/>
                </a:ln>
                <a:effectLst/>
                <a:ea typeface="+mn-lt"/>
                <a:cs typeface="+mn-lt"/>
              </a:rPr>
              <a:t>and </a:t>
            </a:r>
            <a:r>
              <a:rPr lang="en-US" sz="1500">
                <a:ea typeface="+mn-lt"/>
                <a:cs typeface="+mn-lt"/>
              </a:rPr>
              <a:t>streamline the current Excel-based HR processes into a centralized system </a:t>
            </a:r>
          </a:p>
          <a:p>
            <a:pPr marL="285750" indent="-285750" defTabSz="914400">
              <a:lnSpc>
                <a:spcPct val="150000"/>
              </a:lnSpc>
              <a:buFont typeface="Arial"/>
              <a:buChar char="•"/>
            </a:pPr>
            <a:r>
              <a:rPr lang="en-US" sz="1500">
                <a:ea typeface="+mn-lt"/>
                <a:cs typeface="+mn-lt"/>
              </a:rPr>
              <a:t>Provide </a:t>
            </a:r>
            <a:r>
              <a:rPr kumimoji="0" lang="en-US" sz="1500" b="0" i="0" u="none" strike="noStrike" cap="none" normalizeH="0" baseline="0">
                <a:ln>
                  <a:noFill/>
                </a:ln>
                <a:effectLst/>
                <a:ea typeface="+mn-lt"/>
                <a:cs typeface="+mn-lt"/>
              </a:rPr>
              <a:t>a </a:t>
            </a:r>
            <a:r>
              <a:rPr kumimoji="0" lang="en-US" sz="1500" b="1" i="0" u="none" strike="noStrike" cap="none" normalizeH="0" baseline="0">
                <a:ln>
                  <a:noFill/>
                </a:ln>
                <a:effectLst/>
                <a:ea typeface="+mn-lt"/>
                <a:cs typeface="+mn-lt"/>
              </a:rPr>
              <a:t>flexible </a:t>
            </a:r>
            <a:r>
              <a:rPr lang="en-US" sz="1500" b="1">
                <a:ea typeface="+mn-lt"/>
                <a:cs typeface="+mn-lt"/>
              </a:rPr>
              <a:t>and configurable system</a:t>
            </a:r>
            <a:r>
              <a:rPr lang="en-US" sz="1500">
                <a:ea typeface="+mn-lt"/>
                <a:cs typeface="+mn-lt"/>
              </a:rPr>
              <a:t> </a:t>
            </a:r>
            <a:r>
              <a:rPr kumimoji="0" lang="en-US" sz="1500" b="0" i="0" u="none" strike="noStrike" cap="none" normalizeH="0" baseline="0">
                <a:ln>
                  <a:noFill/>
                </a:ln>
                <a:effectLst/>
                <a:ea typeface="+mn-lt"/>
                <a:cs typeface="+mn-lt"/>
              </a:rPr>
              <a:t>that can adapt to changing evaluation methods </a:t>
            </a:r>
            <a:endParaRPr lang="en-US" sz="1500">
              <a:ea typeface="+mn-lt"/>
              <a:cs typeface="+mn-lt"/>
            </a:endParaRPr>
          </a:p>
          <a:p>
            <a:pPr marL="285750" indent="-285750" defTabSz="914400">
              <a:lnSpc>
                <a:spcPct val="150000"/>
              </a:lnSpc>
              <a:buFont typeface="Arial"/>
              <a:buChar char="•"/>
            </a:pPr>
            <a:r>
              <a:rPr lang="en-US" sz="1500">
                <a:ea typeface="+mn-lt"/>
                <a:cs typeface="+mn-lt"/>
              </a:rPr>
              <a:t>Reduce </a:t>
            </a:r>
            <a:r>
              <a:rPr lang="en-US" sz="1500" b="1">
                <a:ea typeface="+mn-lt"/>
                <a:cs typeface="+mn-lt"/>
              </a:rPr>
              <a:t>manual effort </a:t>
            </a:r>
            <a:r>
              <a:rPr kumimoji="0" lang="en-US" sz="1500" b="1" i="0" u="none" strike="noStrike" cap="none" normalizeH="0" baseline="0">
                <a:ln>
                  <a:noFill/>
                </a:ln>
                <a:effectLst/>
                <a:ea typeface="+mn-lt"/>
                <a:cs typeface="+mn-lt"/>
              </a:rPr>
              <a:t>and </a:t>
            </a:r>
            <a:r>
              <a:rPr lang="en-US" sz="1500" b="1">
                <a:ea typeface="+mn-lt"/>
                <a:cs typeface="+mn-lt"/>
              </a:rPr>
              <a:t>administrative workload</a:t>
            </a:r>
            <a:r>
              <a:rPr lang="en-US" sz="1500">
                <a:ea typeface="+mn-lt"/>
                <a:cs typeface="+mn-lt"/>
              </a:rPr>
              <a:t> in HR operations </a:t>
            </a:r>
          </a:p>
          <a:p>
            <a:pPr marL="285750" indent="-285750" defTabSz="914400">
              <a:lnSpc>
                <a:spcPct val="150000"/>
              </a:lnSpc>
              <a:buFont typeface="Arial"/>
              <a:buChar char="•"/>
            </a:pPr>
            <a:r>
              <a:rPr lang="en-US" sz="1500">
                <a:ea typeface="+mn-lt"/>
                <a:cs typeface="+mn-lt"/>
              </a:rPr>
              <a:t>Establish </a:t>
            </a:r>
            <a:r>
              <a:rPr kumimoji="0" lang="en-US" sz="1500" b="0" i="0" u="none" strike="noStrike" cap="none" normalizeH="0" baseline="0">
                <a:ln>
                  <a:noFill/>
                </a:ln>
                <a:effectLst/>
                <a:ea typeface="+mn-lt"/>
                <a:cs typeface="+mn-lt"/>
              </a:rPr>
              <a:t>a </a:t>
            </a:r>
            <a:r>
              <a:rPr lang="en-US" sz="1500" b="1">
                <a:ea typeface="+mn-lt"/>
                <a:cs typeface="+mn-lt"/>
              </a:rPr>
              <a:t>scalable and sustainable HR </a:t>
            </a:r>
            <a:r>
              <a:rPr kumimoji="0" lang="en-US" sz="1500" b="1" i="0" u="none" strike="noStrike" cap="none" normalizeH="0" baseline="0">
                <a:ln>
                  <a:noFill/>
                </a:ln>
                <a:effectLst/>
                <a:ea typeface="+mn-lt"/>
                <a:cs typeface="+mn-lt"/>
              </a:rPr>
              <a:t>system</a:t>
            </a:r>
            <a:r>
              <a:rPr kumimoji="0" lang="en-US" sz="1500" b="0" i="0" u="none" strike="noStrike" cap="none" normalizeH="0" baseline="0">
                <a:ln>
                  <a:noFill/>
                </a:ln>
                <a:effectLst/>
                <a:ea typeface="+mn-lt"/>
                <a:cs typeface="+mn-lt"/>
              </a:rPr>
              <a:t> </a:t>
            </a:r>
            <a:r>
              <a:rPr lang="en-US" sz="1500">
                <a:ea typeface="+mn-lt"/>
                <a:cs typeface="+mn-lt"/>
              </a:rPr>
              <a:t>to support long-term business needs</a:t>
            </a:r>
            <a:endParaRPr lang="en-US" sz="1500">
              <a:ea typeface="Calibri" panose="020F0502020204030204"/>
              <a:cs typeface="Calibri" panose="020F0502020204030204"/>
            </a:endParaRPr>
          </a:p>
        </p:txBody>
      </p:sp>
      <p:sp>
        <p:nvSpPr>
          <p:cNvPr id="16" name="TextBox 15">
            <a:extLst>
              <a:ext uri="{FF2B5EF4-FFF2-40B4-BE49-F238E27FC236}">
                <a16:creationId xmlns:a16="http://schemas.microsoft.com/office/drawing/2014/main" id="{6F03B853-B9C0-CDF3-3736-BE2B3FBAE1D7}"/>
              </a:ext>
            </a:extLst>
          </p:cNvPr>
          <p:cNvSpPr txBox="1"/>
          <p:nvPr/>
        </p:nvSpPr>
        <p:spPr>
          <a:xfrm>
            <a:off x="749724" y="1007424"/>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1.2 Objective</a:t>
            </a:r>
          </a:p>
        </p:txBody>
      </p:sp>
      <p:sp>
        <p:nvSpPr>
          <p:cNvPr id="2" name="TextBox 1">
            <a:extLst>
              <a:ext uri="{FF2B5EF4-FFF2-40B4-BE49-F238E27FC236}">
                <a16:creationId xmlns:a16="http://schemas.microsoft.com/office/drawing/2014/main" id="{4D652BD9-1E96-5160-973D-CDC013ED11D1}"/>
              </a:ext>
            </a:extLst>
          </p:cNvPr>
          <p:cNvSpPr txBox="1"/>
          <p:nvPr/>
        </p:nvSpPr>
        <p:spPr>
          <a:xfrm>
            <a:off x="749724" y="5320808"/>
            <a:ext cx="6336659" cy="375552"/>
          </a:xfrm>
          <a:prstGeom prst="rect">
            <a:avLst/>
          </a:prstGeom>
          <a:noFill/>
        </p:spPr>
        <p:txBody>
          <a:bodyPr wrap="square" rtlCol="0">
            <a:spAutoFit/>
          </a:bodyPr>
          <a:lstStyle/>
          <a:p>
            <a:pPr algn="just">
              <a:lnSpc>
                <a:spcPct val="150000"/>
              </a:lnSpc>
            </a:pPr>
            <a:r>
              <a:rPr lang="en-US" sz="1400" b="1">
                <a:latin typeface="Helvetica Neue" panose="02000503000000020004"/>
              </a:rPr>
              <a:t>1.4 Commercial Overview</a:t>
            </a:r>
          </a:p>
        </p:txBody>
      </p:sp>
      <p:sp>
        <p:nvSpPr>
          <p:cNvPr id="3" name="TextBox 2">
            <a:extLst>
              <a:ext uri="{FF2B5EF4-FFF2-40B4-BE49-F238E27FC236}">
                <a16:creationId xmlns:a16="http://schemas.microsoft.com/office/drawing/2014/main" id="{EBA51976-B78D-6E85-C437-0281D927B851}"/>
              </a:ext>
            </a:extLst>
          </p:cNvPr>
          <p:cNvSpPr txBox="1"/>
          <p:nvPr/>
        </p:nvSpPr>
        <p:spPr>
          <a:xfrm>
            <a:off x="1112725" y="5669498"/>
            <a:ext cx="8111740" cy="707117"/>
          </a:xfrm>
          <a:prstGeom prst="rect">
            <a:avLst/>
          </a:prstGeom>
          <a:noFill/>
        </p:spPr>
        <p:txBody>
          <a:bodyPr wrap="square">
            <a:spAutoFit/>
          </a:bodyPr>
          <a:lstStyle/>
          <a:p>
            <a:pPr marR="0">
              <a:lnSpc>
                <a:spcPct val="150000"/>
              </a:lnSpc>
              <a:spcAft>
                <a:spcPts val="800"/>
              </a:spcAft>
            </a:pPr>
            <a:r>
              <a:rPr lang="en-US" sz="1300" kern="100">
                <a:effectLst/>
                <a:latin typeface="Calibri" panose="020F0502020204030204" pitchFamily="34" charset="0"/>
                <a:ea typeface="DengXian" panose="02010600030101010101" pitchFamily="2" charset="-122"/>
                <a:cs typeface="Times New Roman" panose="02020603050405020304" pitchFamily="18" charset="0"/>
              </a:rPr>
              <a:t>Implementation Fee (IDR)	: </a:t>
            </a:r>
            <a:r>
              <a:rPr lang="en-US" sz="1400" b="1" u="sng"/>
              <a:t>1,913,575,000</a:t>
            </a:r>
            <a:br>
              <a:rPr lang="en-US" sz="1300" kern="100">
                <a:effectLst/>
                <a:latin typeface="Calibri" panose="020F0502020204030204" pitchFamily="34" charset="0"/>
                <a:ea typeface="DengXian" panose="02010600030101010101" pitchFamily="2" charset="-122"/>
                <a:cs typeface="Times New Roman" panose="02020603050405020304" pitchFamily="18" charset="0"/>
              </a:rPr>
            </a:br>
            <a:r>
              <a:rPr lang="en-US" sz="1300" kern="100">
                <a:latin typeface="Calibri" panose="020F0502020204030204" pitchFamily="34" charset="0"/>
                <a:ea typeface="DengXian" panose="02010600030101010101" pitchFamily="2" charset="-122"/>
                <a:cs typeface="Times New Roman" panose="02020603050405020304" pitchFamily="18" charset="0"/>
              </a:rPr>
              <a:t>Operation Fee (IDR)		: </a:t>
            </a:r>
            <a:r>
              <a:rPr lang="en-US" sz="1400" b="1" u="sng"/>
              <a:t>270,000,000</a:t>
            </a:r>
            <a:endParaRPr lang="en-US" sz="1300" kern="10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496205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F20B76-FED6-099E-62F0-7B834369703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EA0E2AD-AFA0-150E-93C2-B41D9E10C920}"/>
              </a:ext>
            </a:extLst>
          </p:cNvPr>
          <p:cNvSpPr>
            <a:spLocks noGrp="1"/>
          </p:cNvSpPr>
          <p:nvPr>
            <p:ph type="sldNum" sz="quarter" idx="12"/>
          </p:nvPr>
        </p:nvSpPr>
        <p:spPr/>
        <p:txBody>
          <a:bodyPr/>
          <a:lstStyle/>
          <a:p>
            <a:r>
              <a:rPr lang="en-GB"/>
              <a:t> Page </a:t>
            </a:r>
            <a:fld id="{7A555EF9-59E7-4D74-815B-7A20869232EE}" type="slidenum">
              <a:rPr lang="en-GB" smtClean="0"/>
              <a:pPr/>
              <a:t>67</a:t>
            </a:fld>
            <a:endParaRPr lang="en-GB"/>
          </a:p>
        </p:txBody>
      </p:sp>
      <p:sp>
        <p:nvSpPr>
          <p:cNvPr id="25" name="Title 24">
            <a:extLst>
              <a:ext uri="{FF2B5EF4-FFF2-40B4-BE49-F238E27FC236}">
                <a16:creationId xmlns:a16="http://schemas.microsoft.com/office/drawing/2014/main" id="{3A878398-D820-49C6-D2FE-71F729908F2E}"/>
              </a:ext>
            </a:extLst>
          </p:cNvPr>
          <p:cNvSpPr>
            <a:spLocks noGrp="1"/>
          </p:cNvSpPr>
          <p:nvPr>
            <p:ph type="title" idx="4294967295"/>
          </p:nvPr>
        </p:nvSpPr>
        <p:spPr>
          <a:xfrm>
            <a:off x="638082" y="304212"/>
            <a:ext cx="9113400" cy="540000"/>
          </a:xfrm>
          <a:prstGeom prst="rect">
            <a:avLst/>
          </a:prstGeom>
        </p:spPr>
        <p:txBody>
          <a:bodyPr/>
          <a:lstStyle/>
          <a:p>
            <a:r>
              <a:rPr lang="en-GB">
                <a:latin typeface="Helvetica Neue" panose="02000503000000020004"/>
              </a:rPr>
              <a:t>2. Requirement &amp; Propose Solution</a:t>
            </a:r>
            <a:endParaRPr lang="en-US">
              <a:latin typeface="Helvetica Neue" panose="02000503000000020004"/>
            </a:endParaRPr>
          </a:p>
        </p:txBody>
      </p:sp>
      <p:sp>
        <p:nvSpPr>
          <p:cNvPr id="7" name="Footer Placeholder 4">
            <a:extLst>
              <a:ext uri="{FF2B5EF4-FFF2-40B4-BE49-F238E27FC236}">
                <a16:creationId xmlns:a16="http://schemas.microsoft.com/office/drawing/2014/main" id="{BCE1B4A2-3F99-D901-7047-28DD6C0A94EA}"/>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4" name="Table 3">
            <a:extLst>
              <a:ext uri="{FF2B5EF4-FFF2-40B4-BE49-F238E27FC236}">
                <a16:creationId xmlns:a16="http://schemas.microsoft.com/office/drawing/2014/main" id="{A700F94A-F206-C8F5-8FE9-AF6B4FB59791}"/>
              </a:ext>
            </a:extLst>
          </p:cNvPr>
          <p:cNvGraphicFramePr>
            <a:graphicFrameLocks noGrp="1"/>
          </p:cNvGraphicFramePr>
          <p:nvPr/>
        </p:nvGraphicFramePr>
        <p:xfrm>
          <a:off x="638082" y="1952208"/>
          <a:ext cx="9113400" cy="4541584"/>
        </p:xfrm>
        <a:graphic>
          <a:graphicData uri="http://schemas.openxmlformats.org/drawingml/2006/table">
            <a:tbl>
              <a:tblPr firstRow="1" bandRow="1">
                <a:tableStyleId>{5C22544A-7EE6-4342-B048-85BDC9FD1C3A}</a:tableStyleId>
              </a:tblPr>
              <a:tblGrid>
                <a:gridCol w="1677213">
                  <a:extLst>
                    <a:ext uri="{9D8B030D-6E8A-4147-A177-3AD203B41FA5}">
                      <a16:colId xmlns:a16="http://schemas.microsoft.com/office/drawing/2014/main" val="4144313062"/>
                    </a:ext>
                  </a:extLst>
                </a:gridCol>
                <a:gridCol w="2347868">
                  <a:extLst>
                    <a:ext uri="{9D8B030D-6E8A-4147-A177-3AD203B41FA5}">
                      <a16:colId xmlns:a16="http://schemas.microsoft.com/office/drawing/2014/main" val="115139022"/>
                    </a:ext>
                  </a:extLst>
                </a:gridCol>
                <a:gridCol w="2357120">
                  <a:extLst>
                    <a:ext uri="{9D8B030D-6E8A-4147-A177-3AD203B41FA5}">
                      <a16:colId xmlns:a16="http://schemas.microsoft.com/office/drawing/2014/main" val="3329258466"/>
                    </a:ext>
                  </a:extLst>
                </a:gridCol>
                <a:gridCol w="2731199">
                  <a:extLst>
                    <a:ext uri="{9D8B030D-6E8A-4147-A177-3AD203B41FA5}">
                      <a16:colId xmlns:a16="http://schemas.microsoft.com/office/drawing/2014/main" val="3171731459"/>
                    </a:ext>
                  </a:extLst>
                </a:gridCol>
              </a:tblGrid>
              <a:tr h="370840">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Module</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Propose solution </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Feature</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4071978"/>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Performance Evaluation</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a:ea typeface="DengXian"/>
                          <a:cs typeface="Times New Roman"/>
                        </a:rPr>
                        <a:t>The HR Department requires a structured and performance evaluation system that aligns employee KPIs with company goals, supports multiple review stages, and enables accurate scoring and calibration.</a:t>
                      </a: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provides a configurable multi-stage performance evaluation with KPI libraries, weighted scoring, supervisor mapping, revision handling, and calibration-adjusted results aligned to organizational goals.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Planning, Mid-Year, End-Year evaluation stages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KPI bank per job position</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KPI weighting &amp; scoring logic</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Multiple &amp; concurrent supervisors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Revision &amp; calibration mechanism</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2780037"/>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Logbook</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a:ea typeface="DengXian"/>
                          <a:cs typeface="Times New Roman"/>
                        </a:rPr>
                        <a:t>The HR Department needs a logbook and competency tracking system to monitor employee development, managerial performance, and assessment results in a structured and visible manner.</a:t>
                      </a:r>
                    </a:p>
                  </a:txBody>
                  <a:tcPr marL="68580" marR="68580" marT="0" marB="0"/>
                </a:tc>
                <a:tc>
                  <a:txBody>
                    <a:bodyPr/>
                    <a:lstStyle/>
                    <a:p>
                      <a:pPr marL="0" marR="0">
                        <a:lnSpc>
                          <a:spcPct val="115000"/>
                        </a:lnSpc>
                        <a:spcAft>
                          <a:spcPts val="0"/>
                        </a:spcAft>
                        <a:buNone/>
                      </a:pPr>
                      <a:r>
                        <a:rPr lang="en-US" sz="1200" kern="100">
                          <a:effectLst/>
                          <a:latin typeface="Calibri"/>
                          <a:ea typeface="DengXian"/>
                          <a:cs typeface="Times New Roman"/>
                        </a:rPr>
                        <a:t>The system delivers a configurable logbook integrated with a competency dictionary, proficiency levels, evaluator assignment, and assessment result integration within employee profiles.</a:t>
                      </a:r>
                    </a:p>
                  </a:txBody>
                  <a:tcPr marL="68580" marR="68580" marT="0" marB="0"/>
                </a:tc>
                <a:tc>
                  <a:txBody>
                    <a:bodyPr/>
                    <a:lstStyle/>
                    <a:p>
                      <a:pPr marL="99060" marR="0" indent="-114300">
                        <a:lnSpc>
                          <a:spcPct val="115000"/>
                        </a:lnSpc>
                        <a:spcAft>
                          <a:spcPts val="0"/>
                        </a:spcAft>
                        <a:buNone/>
                      </a:pPr>
                      <a:r>
                        <a:rPr lang="en-US" sz="1200" kern="100">
                          <a:effectLst/>
                          <a:latin typeface="Calibri"/>
                          <a:ea typeface="DengXian"/>
                          <a:cs typeface="Times New Roman"/>
                        </a:rPr>
                        <a:t>• Adjustable logbook forms</a:t>
                      </a:r>
                    </a:p>
                    <a:p>
                      <a:pPr marL="99060" marR="0" indent="-114300">
                        <a:lnSpc>
                          <a:spcPct val="115000"/>
                        </a:lnSpc>
                        <a:spcAft>
                          <a:spcPts val="0"/>
                        </a:spcAft>
                        <a:buNone/>
                      </a:pPr>
                      <a:r>
                        <a:rPr lang="en-US" sz="1200" kern="100">
                          <a:effectLst/>
                          <a:latin typeface="Calibri"/>
                          <a:ea typeface="DengXian"/>
                          <a:cs typeface="Times New Roman"/>
                        </a:rPr>
                        <a:t>• Competency dictionary with proficiency levels</a:t>
                      </a: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Evaluator mapping via org structure</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Assessment center result integration</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Managerial-level visibility</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36987567"/>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Promotion Evaluation</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a:ea typeface="DengXian"/>
                          <a:cs typeface="Times New Roman"/>
                        </a:rPr>
                        <a:t>The HR Department requires a data-driven promotion evaluation process that objectively assesses employee readiness using consolidated performance, training, and attendance data.</a:t>
                      </a:r>
                    </a:p>
                  </a:txBody>
                  <a:tcPr marL="68580" marR="68580" marT="0" marB="0"/>
                </a:tc>
                <a:tc>
                  <a:txBody>
                    <a:bodyPr/>
                    <a:lstStyle/>
                    <a:p>
                      <a:pPr marL="0" marR="0">
                        <a:lnSpc>
                          <a:spcPct val="115000"/>
                        </a:lnSpc>
                        <a:spcAft>
                          <a:spcPts val="0"/>
                        </a:spcAft>
                        <a:buNone/>
                      </a:pPr>
                      <a:r>
                        <a:rPr lang="en-US" sz="1200" kern="100">
                          <a:effectLst/>
                          <a:latin typeface="Calibri"/>
                          <a:ea typeface="DengXian"/>
                          <a:cs typeface="Times New Roman"/>
                        </a:rPr>
                        <a:t>The system consolidates HR data into an automated promotion evaluation that calculates eligibility, supports evaluation input, and updates approved career movements.</a:t>
                      </a:r>
                    </a:p>
                  </a:txBody>
                  <a:tcPr marL="68580" marR="68580" marT="0" marB="0"/>
                </a:tc>
                <a:tc>
                  <a:txBody>
                    <a:bodyPr/>
                    <a:lstStyle/>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Promotion regulation-based rules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Consolidated evaluation data</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Automated scoring calculation</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Promotion &amp; rotation history tracking</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11430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Automatic org structure update</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82648179"/>
                  </a:ext>
                </a:extLst>
              </a:tr>
            </a:tbl>
          </a:graphicData>
        </a:graphic>
      </p:graphicFrame>
      <p:sp>
        <p:nvSpPr>
          <p:cNvPr id="9" name="TextBox 8">
            <a:extLst>
              <a:ext uri="{FF2B5EF4-FFF2-40B4-BE49-F238E27FC236}">
                <a16:creationId xmlns:a16="http://schemas.microsoft.com/office/drawing/2014/main" id="{FB81C02B-879B-B5AC-B13F-1E72A7CED4BC}"/>
              </a:ext>
            </a:extLst>
          </p:cNvPr>
          <p:cNvSpPr txBox="1"/>
          <p:nvPr/>
        </p:nvSpPr>
        <p:spPr>
          <a:xfrm>
            <a:off x="746939" y="905767"/>
            <a:ext cx="2678938" cy="307777"/>
          </a:xfrm>
          <a:prstGeom prst="rect">
            <a:avLst/>
          </a:prstGeom>
          <a:noFill/>
        </p:spPr>
        <p:txBody>
          <a:bodyPr wrap="none" rtlCol="0">
            <a:spAutoFit/>
          </a:bodyPr>
          <a:lstStyle/>
          <a:p>
            <a:r>
              <a:rPr lang="en-US" sz="1400" b="1">
                <a:latin typeface="Helvetica Neue" panose="02000503000000020004"/>
              </a:rPr>
              <a:t>2.1. Functional Requirement</a:t>
            </a:r>
          </a:p>
        </p:txBody>
      </p:sp>
      <p:sp>
        <p:nvSpPr>
          <p:cNvPr id="3" name="TextBox 2">
            <a:extLst>
              <a:ext uri="{FF2B5EF4-FFF2-40B4-BE49-F238E27FC236}">
                <a16:creationId xmlns:a16="http://schemas.microsoft.com/office/drawing/2014/main" id="{694969F8-B663-5A01-85DF-13E8EEE6D214}"/>
              </a:ext>
            </a:extLst>
          </p:cNvPr>
          <p:cNvSpPr txBox="1"/>
          <p:nvPr/>
        </p:nvSpPr>
        <p:spPr>
          <a:xfrm>
            <a:off x="746939" y="1213544"/>
            <a:ext cx="8656396" cy="738664"/>
          </a:xfrm>
          <a:prstGeom prst="rect">
            <a:avLst/>
          </a:prstGeom>
          <a:noFill/>
        </p:spPr>
        <p:txBody>
          <a:bodyPr wrap="square">
            <a:spAutoFit/>
          </a:bodyPr>
          <a:lstStyle/>
          <a:p>
            <a:pPr algn="just"/>
            <a:r>
              <a:rPr lang="en-US" sz="1400"/>
              <a:t>BSI proposes the implementation of a new HRD system designed with a strong focus on usability, process alignment, and scalability. The solution will be configured based on validated HRD requirements and best practices to ensure long-term value and adaptability.</a:t>
            </a:r>
            <a:r>
              <a:rPr lang="en-US" sz="1400" b="1"/>
              <a:t> </a:t>
            </a:r>
            <a:endParaRPr lang="en-US" sz="1100" b="1"/>
          </a:p>
        </p:txBody>
      </p:sp>
    </p:spTree>
    <p:extLst>
      <p:ext uri="{BB962C8B-B14F-4D97-AF65-F5344CB8AC3E}">
        <p14:creationId xmlns:p14="http://schemas.microsoft.com/office/powerpoint/2010/main" val="163811953"/>
      </p:ext>
    </p:extLst>
  </p:cSld>
  <p:clrMapOvr>
    <a:masterClrMapping/>
  </p:clrMapOvr>
  <p:extLst>
    <p:ext uri="{6950BFC3-D8DA-4A85-94F7-54DA5524770B}">
      <p188:commentRel xmlns:p188="http://schemas.microsoft.com/office/powerpoint/2018/8/main" r:id="rId2"/>
    </p:ext>
  </p:extLs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C26910-36D6-6282-9D27-4388FA23275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4975266-A4E9-BE2D-2202-4C9EBD622978}"/>
              </a:ext>
            </a:extLst>
          </p:cNvPr>
          <p:cNvSpPr>
            <a:spLocks noGrp="1"/>
          </p:cNvSpPr>
          <p:nvPr>
            <p:ph type="sldNum" sz="quarter" idx="12"/>
          </p:nvPr>
        </p:nvSpPr>
        <p:spPr/>
        <p:txBody>
          <a:bodyPr/>
          <a:lstStyle/>
          <a:p>
            <a:r>
              <a:rPr lang="en-GB"/>
              <a:t> Page </a:t>
            </a:r>
            <a:fld id="{7A555EF9-59E7-4D74-815B-7A20869232EE}" type="slidenum">
              <a:rPr lang="en-GB" smtClean="0"/>
              <a:pPr/>
              <a:t>68</a:t>
            </a:fld>
            <a:endParaRPr lang="en-GB"/>
          </a:p>
        </p:txBody>
      </p:sp>
      <p:sp>
        <p:nvSpPr>
          <p:cNvPr id="7" name="Footer Placeholder 4">
            <a:extLst>
              <a:ext uri="{FF2B5EF4-FFF2-40B4-BE49-F238E27FC236}">
                <a16:creationId xmlns:a16="http://schemas.microsoft.com/office/drawing/2014/main" id="{C13F35C5-0AD7-6931-AB1A-B24B453B9385}"/>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4" name="Table 3">
            <a:extLst>
              <a:ext uri="{FF2B5EF4-FFF2-40B4-BE49-F238E27FC236}">
                <a16:creationId xmlns:a16="http://schemas.microsoft.com/office/drawing/2014/main" id="{5E7C35D4-1B1F-23F7-803C-AB28F58D0AC4}"/>
              </a:ext>
            </a:extLst>
          </p:cNvPr>
          <p:cNvGraphicFramePr>
            <a:graphicFrameLocks noGrp="1"/>
          </p:cNvGraphicFramePr>
          <p:nvPr/>
        </p:nvGraphicFramePr>
        <p:xfrm>
          <a:off x="792600" y="1329369"/>
          <a:ext cx="8830438" cy="4544506"/>
        </p:xfrm>
        <a:graphic>
          <a:graphicData uri="http://schemas.openxmlformats.org/drawingml/2006/table">
            <a:tbl>
              <a:tblPr firstRow="1" bandRow="1">
                <a:tableStyleId>{5C22544A-7EE6-4342-B048-85BDC9FD1C3A}</a:tableStyleId>
              </a:tblPr>
              <a:tblGrid>
                <a:gridCol w="1625137">
                  <a:extLst>
                    <a:ext uri="{9D8B030D-6E8A-4147-A177-3AD203B41FA5}">
                      <a16:colId xmlns:a16="http://schemas.microsoft.com/office/drawing/2014/main" val="4144313062"/>
                    </a:ext>
                  </a:extLst>
                </a:gridCol>
                <a:gridCol w="2274969">
                  <a:extLst>
                    <a:ext uri="{9D8B030D-6E8A-4147-A177-3AD203B41FA5}">
                      <a16:colId xmlns:a16="http://schemas.microsoft.com/office/drawing/2014/main" val="115139022"/>
                    </a:ext>
                  </a:extLst>
                </a:gridCol>
                <a:gridCol w="2283934">
                  <a:extLst>
                    <a:ext uri="{9D8B030D-6E8A-4147-A177-3AD203B41FA5}">
                      <a16:colId xmlns:a16="http://schemas.microsoft.com/office/drawing/2014/main" val="3329258466"/>
                    </a:ext>
                  </a:extLst>
                </a:gridCol>
                <a:gridCol w="2646398">
                  <a:extLst>
                    <a:ext uri="{9D8B030D-6E8A-4147-A177-3AD203B41FA5}">
                      <a16:colId xmlns:a16="http://schemas.microsoft.com/office/drawing/2014/main" val="3171731459"/>
                    </a:ext>
                  </a:extLst>
                </a:gridCol>
              </a:tblGrid>
              <a:tr h="370840">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Module</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Propose solution </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Feature</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4071978"/>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Manpower Planning (MPP)</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HR Department needs a controlled and transparent manpower planning process with clear approval governance up to BOD level to ensure workforce plans align with business needs.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provides configurable manpower planning workflows with role-based access, multi-level approvals up to BOD, real-time tracking dashboards, and audit trails.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Regular &amp; incidental MPP requests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Configurable approval workflows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BOD authorization control</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Real-time request dashboard</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Revision, rejection &amp; notification handling</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2780037"/>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Job Profiling </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HR Department requires standardized job definitions and vacancy creation processes that are fully aligned with approved manpower plans.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enforces standardized job description and requirement creation tightly integrated with approved manpower plans to prevent unauthorized vacancies.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Job Description &amp; Requirement templates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MPP-linked vacancy control</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Audit trail for job changes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Secure approval prior to recruitment</a:t>
                      </a: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Secure login for candidate authentication</a:t>
                      </a:r>
                      <a:endParaRPr lang="en-US" sz="1200" strike="sngStrike" kern="100">
                        <a:effectLst/>
                        <a:highlight>
                          <a:srgbClr val="FFFF00"/>
                        </a:highligh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36987567"/>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Recruitment </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HR Department needs an end-to-end recruitment system that ensures an efficient, transparent, and accountable hiring process from application to onboarding approval.</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delivers a workflow-based recruitment and ATS platform covering candidate applications, assessments, interviews, approvals, medical checks, onboarding preparation, and probation tracking.</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Candidate portal &amp; ATS tracking</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Online tests &amp; interviews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Medical check (MCU) management</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BOD offer approval workflow</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Probation &amp; first-month evaluation</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82648179"/>
                  </a:ext>
                </a:extLst>
              </a:tr>
            </a:tbl>
          </a:graphicData>
        </a:graphic>
      </p:graphicFrame>
      <p:sp>
        <p:nvSpPr>
          <p:cNvPr id="5" name="TextBox 4">
            <a:extLst>
              <a:ext uri="{FF2B5EF4-FFF2-40B4-BE49-F238E27FC236}">
                <a16:creationId xmlns:a16="http://schemas.microsoft.com/office/drawing/2014/main" id="{D4A65592-3419-FC78-6297-DEB9AB3410EF}"/>
              </a:ext>
            </a:extLst>
          </p:cNvPr>
          <p:cNvSpPr txBox="1"/>
          <p:nvPr/>
        </p:nvSpPr>
        <p:spPr>
          <a:xfrm>
            <a:off x="792600" y="932902"/>
            <a:ext cx="2678938" cy="307777"/>
          </a:xfrm>
          <a:prstGeom prst="rect">
            <a:avLst/>
          </a:prstGeom>
          <a:noFill/>
        </p:spPr>
        <p:txBody>
          <a:bodyPr wrap="none" rtlCol="0">
            <a:spAutoFit/>
          </a:bodyPr>
          <a:lstStyle/>
          <a:p>
            <a:r>
              <a:rPr lang="en-US" sz="1400" b="1">
                <a:latin typeface="Helvetica Neue" panose="02000503000000020004"/>
              </a:rPr>
              <a:t>2.1. Functional Requirement</a:t>
            </a:r>
          </a:p>
        </p:txBody>
      </p:sp>
      <p:sp>
        <p:nvSpPr>
          <p:cNvPr id="8" name="Title 24">
            <a:extLst>
              <a:ext uri="{FF2B5EF4-FFF2-40B4-BE49-F238E27FC236}">
                <a16:creationId xmlns:a16="http://schemas.microsoft.com/office/drawing/2014/main" id="{FCFB83B8-CF75-1BDD-157B-4AF6053E88A6}"/>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2. Requirement &amp; Propose Solution</a:t>
            </a:r>
            <a:endParaRPr lang="en-US">
              <a:latin typeface="Helvetica Neue" panose="02000503000000020004"/>
            </a:endParaRPr>
          </a:p>
        </p:txBody>
      </p:sp>
    </p:spTree>
    <p:extLst>
      <p:ext uri="{BB962C8B-B14F-4D97-AF65-F5344CB8AC3E}">
        <p14:creationId xmlns:p14="http://schemas.microsoft.com/office/powerpoint/2010/main" val="1140940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25CB4E-90E1-76A9-1872-F958376B286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52F09AC-56E5-58D9-A18B-180F51D6AF20}"/>
              </a:ext>
            </a:extLst>
          </p:cNvPr>
          <p:cNvSpPr>
            <a:spLocks noGrp="1"/>
          </p:cNvSpPr>
          <p:nvPr>
            <p:ph type="sldNum" sz="quarter" idx="12"/>
          </p:nvPr>
        </p:nvSpPr>
        <p:spPr/>
        <p:txBody>
          <a:bodyPr/>
          <a:lstStyle/>
          <a:p>
            <a:r>
              <a:rPr lang="en-GB"/>
              <a:t> Page </a:t>
            </a:r>
            <a:fld id="{7A555EF9-59E7-4D74-815B-7A20869232EE}" type="slidenum">
              <a:rPr lang="en-GB" smtClean="0"/>
              <a:pPr/>
              <a:t>69</a:t>
            </a:fld>
            <a:endParaRPr lang="en-GB"/>
          </a:p>
        </p:txBody>
      </p:sp>
      <p:sp>
        <p:nvSpPr>
          <p:cNvPr id="7" name="Footer Placeholder 4">
            <a:extLst>
              <a:ext uri="{FF2B5EF4-FFF2-40B4-BE49-F238E27FC236}">
                <a16:creationId xmlns:a16="http://schemas.microsoft.com/office/drawing/2014/main" id="{8D0B14C6-2DCD-0599-176E-EA57F92ED27F}"/>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graphicFrame>
        <p:nvGraphicFramePr>
          <p:cNvPr id="4" name="Table 3">
            <a:extLst>
              <a:ext uri="{FF2B5EF4-FFF2-40B4-BE49-F238E27FC236}">
                <a16:creationId xmlns:a16="http://schemas.microsoft.com/office/drawing/2014/main" id="{D5C2CEE6-8D79-77B6-B83B-94C9A2E8E041}"/>
              </a:ext>
            </a:extLst>
          </p:cNvPr>
          <p:cNvGraphicFramePr>
            <a:graphicFrameLocks noGrp="1"/>
          </p:cNvGraphicFramePr>
          <p:nvPr/>
        </p:nvGraphicFramePr>
        <p:xfrm>
          <a:off x="792600" y="1329369"/>
          <a:ext cx="8750400" cy="3293492"/>
        </p:xfrm>
        <a:graphic>
          <a:graphicData uri="http://schemas.openxmlformats.org/drawingml/2006/table">
            <a:tbl>
              <a:tblPr firstRow="1" bandRow="1">
                <a:tableStyleId>{5C22544A-7EE6-4342-B048-85BDC9FD1C3A}</a:tableStyleId>
              </a:tblPr>
              <a:tblGrid>
                <a:gridCol w="1610407">
                  <a:extLst>
                    <a:ext uri="{9D8B030D-6E8A-4147-A177-3AD203B41FA5}">
                      <a16:colId xmlns:a16="http://schemas.microsoft.com/office/drawing/2014/main" val="4144313062"/>
                    </a:ext>
                  </a:extLst>
                </a:gridCol>
                <a:gridCol w="2254349">
                  <a:extLst>
                    <a:ext uri="{9D8B030D-6E8A-4147-A177-3AD203B41FA5}">
                      <a16:colId xmlns:a16="http://schemas.microsoft.com/office/drawing/2014/main" val="115139022"/>
                    </a:ext>
                  </a:extLst>
                </a:gridCol>
                <a:gridCol w="2263232">
                  <a:extLst>
                    <a:ext uri="{9D8B030D-6E8A-4147-A177-3AD203B41FA5}">
                      <a16:colId xmlns:a16="http://schemas.microsoft.com/office/drawing/2014/main" val="3329258466"/>
                    </a:ext>
                  </a:extLst>
                </a:gridCol>
                <a:gridCol w="2622412">
                  <a:extLst>
                    <a:ext uri="{9D8B030D-6E8A-4147-A177-3AD203B41FA5}">
                      <a16:colId xmlns:a16="http://schemas.microsoft.com/office/drawing/2014/main" val="3171731459"/>
                    </a:ext>
                  </a:extLst>
                </a:gridCol>
              </a:tblGrid>
              <a:tr h="370840">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Module</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Requirement</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Propose solution </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b="1" kern="100">
                          <a:solidFill>
                            <a:schemeClr val="bg1"/>
                          </a:solidFill>
                          <a:effectLst/>
                          <a:latin typeface="Calibri" panose="020F0502020204030204" pitchFamily="34" charset="0"/>
                          <a:ea typeface="DengXian" panose="02010600030101010101" pitchFamily="2" charset="-122"/>
                          <a:cs typeface="Times New Roman" panose="02020603050405020304" pitchFamily="18" charset="0"/>
                        </a:rPr>
                        <a:t>Feature</a:t>
                      </a:r>
                      <a:endParaRPr lang="en-US" sz="1400" kern="100">
                        <a:solidFill>
                          <a:schemeClr val="bg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4071978"/>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Training Management</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HR Department requires an integrated training management system to ensure employee development is driven by performance gaps, talent movement, and organizational capability needs.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integrates training needs from evaluations, logbooks, and talent movement into structured training plans with approval, execution, evaluation, and completion tracking.</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Training Need Analysis (TNA)</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Training request &amp; approval flow</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Training attendance &amp; completion</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Evaluation &amp; knowledge sharing</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Individual development plans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2780037"/>
                  </a:ext>
                </a:extLst>
              </a:tr>
              <a:tr h="370840">
                <a:tc>
                  <a:txBody>
                    <a:bodyPr/>
                    <a:lstStyle/>
                    <a:p>
                      <a:pPr marL="0" marR="0">
                        <a:lnSpc>
                          <a:spcPct val="115000"/>
                        </a:lnSpc>
                        <a:spcAft>
                          <a:spcPts val="0"/>
                        </a:spcAft>
                        <a:buNone/>
                      </a:pPr>
                      <a:r>
                        <a:rPr lang="en-US" sz="1200" b="1" kern="100">
                          <a:effectLst/>
                          <a:latin typeface="Calibri" panose="020F0502020204030204" pitchFamily="34" charset="0"/>
                          <a:ea typeface="DengXian" panose="02010600030101010101" pitchFamily="2" charset="-122"/>
                          <a:cs typeface="Times New Roman" panose="02020603050405020304" pitchFamily="18" charset="0"/>
                        </a:rPr>
                        <a:t>Core</a:t>
                      </a:r>
                      <a:endParaRPr lang="en-US" sz="1200" b="1"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HR Department needs a reliable core HR platform that supports bulk data management, approval workflows, and timely communication to improve operational efficiency.</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The system provides centralized employee data management, bulk upload capabilities, configurable approvals, dashboards, and automated notifications via email and WhatsApp.</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Bulk data upload (CRUD)</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Role-based access &amp; approvals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Centralized employee master data</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Email &amp; WhatsApp notifications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99060" marR="0" indent="-9906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HR operational dashboards</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0"/>
                        </a:spcAft>
                        <a:buNone/>
                      </a:pPr>
                      <a:r>
                        <a:rPr lang="en-US" sz="1200" kern="100">
                          <a:effectLst/>
                          <a:latin typeface="Calibri" panose="020F0502020204030204" pitchFamily="34" charset="0"/>
                          <a:ea typeface="DengXian" panose="02010600030101010101" pitchFamily="2" charset="-122"/>
                          <a:cs typeface="Times New Roman" panose="02020603050405020304" pitchFamily="18" charset="0"/>
                        </a:rPr>
                        <a:t> </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36987567"/>
                  </a:ext>
                </a:extLst>
              </a:tr>
            </a:tbl>
          </a:graphicData>
        </a:graphic>
      </p:graphicFrame>
      <p:sp>
        <p:nvSpPr>
          <p:cNvPr id="5" name="TextBox 4">
            <a:extLst>
              <a:ext uri="{FF2B5EF4-FFF2-40B4-BE49-F238E27FC236}">
                <a16:creationId xmlns:a16="http://schemas.microsoft.com/office/drawing/2014/main" id="{26911E90-8ECD-DA47-02AF-2802225BCD11}"/>
              </a:ext>
            </a:extLst>
          </p:cNvPr>
          <p:cNvSpPr txBox="1"/>
          <p:nvPr/>
        </p:nvSpPr>
        <p:spPr>
          <a:xfrm>
            <a:off x="792600" y="932902"/>
            <a:ext cx="2678938" cy="307777"/>
          </a:xfrm>
          <a:prstGeom prst="rect">
            <a:avLst/>
          </a:prstGeom>
          <a:noFill/>
        </p:spPr>
        <p:txBody>
          <a:bodyPr wrap="none" rtlCol="0">
            <a:spAutoFit/>
          </a:bodyPr>
          <a:lstStyle/>
          <a:p>
            <a:r>
              <a:rPr lang="en-US" sz="1400" b="1">
                <a:latin typeface="Helvetica Neue" panose="02000503000000020004"/>
              </a:rPr>
              <a:t>2.1. Functional Requirement</a:t>
            </a:r>
          </a:p>
        </p:txBody>
      </p:sp>
      <p:sp>
        <p:nvSpPr>
          <p:cNvPr id="8" name="Title 24">
            <a:extLst>
              <a:ext uri="{FF2B5EF4-FFF2-40B4-BE49-F238E27FC236}">
                <a16:creationId xmlns:a16="http://schemas.microsoft.com/office/drawing/2014/main" id="{A112430C-716F-1413-5705-CCC8FD4CCE19}"/>
              </a:ext>
            </a:extLst>
          </p:cNvPr>
          <p:cNvSpPr txBox="1">
            <a:spLocks/>
          </p:cNvSpPr>
          <p:nvPr/>
        </p:nvSpPr>
        <p:spPr>
          <a:xfrm>
            <a:off x="638082" y="304212"/>
            <a:ext cx="9113400"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GB">
                <a:latin typeface="Helvetica Neue" panose="02000503000000020004"/>
              </a:rPr>
              <a:t>2. Requirement &amp; Propose Solution</a:t>
            </a:r>
            <a:endParaRPr lang="en-US">
              <a:latin typeface="Helvetica Neue" panose="02000503000000020004"/>
            </a:endParaRPr>
          </a:p>
        </p:txBody>
      </p:sp>
    </p:spTree>
    <p:extLst>
      <p:ext uri="{BB962C8B-B14F-4D97-AF65-F5344CB8AC3E}">
        <p14:creationId xmlns:p14="http://schemas.microsoft.com/office/powerpoint/2010/main" val="12817497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88FB4A-165A-94A1-81AD-9E7CCB66AC1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B7A1B8F-D070-400A-5FA0-B7E93C565B7B}"/>
              </a:ext>
            </a:extLst>
          </p:cNvPr>
          <p:cNvSpPr txBox="1">
            <a:spLocks/>
          </p:cNvSpPr>
          <p:nvPr/>
        </p:nvSpPr>
        <p:spPr>
          <a:xfrm>
            <a:off x="507812" y="18631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2" name="Slide Number Placeholder 5">
            <a:extLst>
              <a:ext uri="{FF2B5EF4-FFF2-40B4-BE49-F238E27FC236}">
                <a16:creationId xmlns:a16="http://schemas.microsoft.com/office/drawing/2014/main" id="{7492E46E-20E0-A48F-654D-127C9D83D4D6}"/>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70</a:t>
            </a:fld>
            <a:endParaRPr lang="en-GB"/>
          </a:p>
        </p:txBody>
      </p:sp>
      <p:sp>
        <p:nvSpPr>
          <p:cNvPr id="5" name="Footer Placeholder 4">
            <a:extLst>
              <a:ext uri="{FF2B5EF4-FFF2-40B4-BE49-F238E27FC236}">
                <a16:creationId xmlns:a16="http://schemas.microsoft.com/office/drawing/2014/main" id="{259EE220-B810-7AC8-6CA3-AEC56508648D}"/>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8" name="TextBox 7">
            <a:extLst>
              <a:ext uri="{FF2B5EF4-FFF2-40B4-BE49-F238E27FC236}">
                <a16:creationId xmlns:a16="http://schemas.microsoft.com/office/drawing/2014/main" id="{99B91E11-39F7-C574-5092-9FC37E12401E}"/>
              </a:ext>
            </a:extLst>
          </p:cNvPr>
          <p:cNvSpPr txBox="1"/>
          <p:nvPr/>
        </p:nvSpPr>
        <p:spPr>
          <a:xfrm>
            <a:off x="751113" y="1270638"/>
            <a:ext cx="8791887" cy="1676613"/>
          </a:xfrm>
          <a:prstGeom prst="rect">
            <a:avLst/>
          </a:prstGeom>
          <a:noFill/>
        </p:spPr>
        <p:txBody>
          <a:bodyPr wrap="square">
            <a:spAutoFit/>
          </a:bodyPr>
          <a:lstStyle/>
          <a:p>
            <a:pPr marL="0" marR="0">
              <a:lnSpc>
                <a:spcPct val="150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BSI proposes implementing the HRD System using an </a:t>
            </a:r>
            <a:r>
              <a:rPr lang="en-US" sz="1400" b="1" kern="100">
                <a:effectLst/>
                <a:latin typeface="Calibri" panose="020F0502020204030204" pitchFamily="34" charset="0"/>
                <a:ea typeface="DengXian" panose="02010600030101010101" pitchFamily="2" charset="-122"/>
                <a:cs typeface="Times New Roman" panose="02020603050405020304" pitchFamily="18" charset="0"/>
              </a:rPr>
              <a:t>Agile delivery framework</a:t>
            </a:r>
            <a:r>
              <a:rPr lang="en-US" sz="1400" kern="100">
                <a:effectLst/>
                <a:latin typeface="Calibri" panose="020F0502020204030204" pitchFamily="34" charset="0"/>
                <a:ea typeface="DengXian" panose="02010600030101010101" pitchFamily="2" charset="-122"/>
                <a:cs typeface="Times New Roman" panose="02020603050405020304" pitchFamily="18" charset="0"/>
              </a:rPr>
              <a:t> to ensure flexibility, faster value realization, and continuous alignment with MMKSI’s HRD operational needs.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50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The Agile approach enables the project to be delivered through </a:t>
            </a:r>
            <a:r>
              <a:rPr lang="en-US" sz="1400" b="1" kern="100">
                <a:effectLst/>
                <a:latin typeface="Calibri" panose="020F0502020204030204" pitchFamily="34" charset="0"/>
                <a:ea typeface="DengXian" panose="02010600030101010101" pitchFamily="2" charset="-122"/>
                <a:cs typeface="Times New Roman" panose="02020603050405020304" pitchFamily="18" charset="0"/>
              </a:rPr>
              <a:t>incremental, module-based releases</a:t>
            </a:r>
            <a:r>
              <a:rPr lang="en-US" sz="1400" kern="100">
                <a:effectLst/>
                <a:latin typeface="Calibri" panose="020F0502020204030204" pitchFamily="34" charset="0"/>
                <a:ea typeface="DengXian" panose="02010600030101010101" pitchFamily="2" charset="-122"/>
                <a:cs typeface="Times New Roman" panose="02020603050405020304" pitchFamily="18" charset="0"/>
              </a:rPr>
              <a:t>, where each module is implemented, tested, and released based on its business priority. This allows MMKSI to begin utilizing critical HRD functionalities earlier while subsequent modules are refined and delivered progressively.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5A2D6560-C005-3363-5B81-109C15F18D4E}"/>
              </a:ext>
            </a:extLst>
          </p:cNvPr>
          <p:cNvSpPr txBox="1"/>
          <p:nvPr/>
        </p:nvSpPr>
        <p:spPr>
          <a:xfrm>
            <a:off x="761381" y="3065205"/>
            <a:ext cx="8844500" cy="3292440"/>
          </a:xfrm>
          <a:prstGeom prst="rect">
            <a:avLst/>
          </a:prstGeom>
          <a:noFill/>
        </p:spPr>
        <p:txBody>
          <a:bodyPr wrap="square">
            <a:spAutoFit/>
          </a:bodyPr>
          <a:lstStyle/>
          <a:p>
            <a:pPr marL="0" marR="0">
              <a:lnSpc>
                <a:spcPct val="150000"/>
              </a:lnSpc>
              <a:buNone/>
            </a:pPr>
            <a:r>
              <a:rPr lang="en-US" sz="1400" b="1" kern="100">
                <a:effectLst/>
                <a:latin typeface="Helvetica Neue" panose="02000503000000020004"/>
                <a:ea typeface="DengXian" panose="02010600030101010101" pitchFamily="2" charset="-122"/>
                <a:cs typeface="Times New Roman" panose="02020603050405020304" pitchFamily="18" charset="0"/>
              </a:rPr>
              <a:t>3.2 Agile Framework Overview</a:t>
            </a:r>
          </a:p>
          <a:p>
            <a:pPr marL="0" marR="0">
              <a:lnSpc>
                <a:spcPct val="150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The project will be executed in iterative cycles (Sprints), with each Sprint producing a usable and testable system component. Continuous collaboration between MMKSI and BSI will be maintained throughout the project lifecycle to ensure requirements are clearly understood and validated.</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50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Core principles applied in this Agile implementation include: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SzPts val="1000"/>
              <a:buFont typeface="Symbol" panose="05050102010706020507" pitchFamily="18" charset="2"/>
              <a:buChar char=""/>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Incremental delivery based on </a:t>
            </a:r>
            <a:r>
              <a:rPr lang="en-US" sz="1400" b="1" kern="100">
                <a:effectLst/>
                <a:latin typeface="Calibri" panose="020F0502020204030204" pitchFamily="34" charset="0"/>
                <a:ea typeface="DengXian" panose="02010600030101010101" pitchFamily="2" charset="-122"/>
                <a:cs typeface="Times New Roman" panose="02020603050405020304" pitchFamily="18" charset="0"/>
              </a:rPr>
              <a:t>module priority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SzPts val="1000"/>
              <a:buFont typeface="Symbol" panose="05050102010706020507" pitchFamily="18" charset="2"/>
              <a:buChar char=""/>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Continuous user feedback and validation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SzPts val="1000"/>
              <a:buFont typeface="Symbol" panose="05050102010706020507" pitchFamily="18" charset="2"/>
              <a:buChar char=""/>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Early visibility of system functionality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SzPts val="1000"/>
              <a:buFont typeface="Symbol" panose="05050102010706020507" pitchFamily="18" charset="2"/>
              <a:buChar char=""/>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Flexibility to accommodate evolving HRD requirements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SzPts val="1000"/>
              <a:buFont typeface="Symbol" panose="05050102010706020507" pitchFamily="18" charset="2"/>
              <a:buChar char=""/>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Controlled governance through structured Agile ceremonies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3" name="TextBox 2">
            <a:extLst>
              <a:ext uri="{FF2B5EF4-FFF2-40B4-BE49-F238E27FC236}">
                <a16:creationId xmlns:a16="http://schemas.microsoft.com/office/drawing/2014/main" id="{9243C7E3-6AE3-4FD8-8561-373BF3C4E2DC}"/>
              </a:ext>
            </a:extLst>
          </p:cNvPr>
          <p:cNvSpPr txBox="1"/>
          <p:nvPr/>
        </p:nvSpPr>
        <p:spPr>
          <a:xfrm>
            <a:off x="751113" y="1025185"/>
            <a:ext cx="2045753" cy="307777"/>
          </a:xfrm>
          <a:prstGeom prst="rect">
            <a:avLst/>
          </a:prstGeom>
          <a:noFill/>
        </p:spPr>
        <p:txBody>
          <a:bodyPr wrap="none" rtlCol="0">
            <a:spAutoFit/>
          </a:bodyPr>
          <a:lstStyle/>
          <a:p>
            <a:r>
              <a:rPr lang="en-US" sz="1400" b="1">
                <a:latin typeface="Helvetica Neue" panose="02000503000000020004"/>
              </a:rPr>
              <a:t>3.1. General Overview</a:t>
            </a:r>
          </a:p>
        </p:txBody>
      </p:sp>
    </p:spTree>
    <p:extLst>
      <p:ext uri="{BB962C8B-B14F-4D97-AF65-F5344CB8AC3E}">
        <p14:creationId xmlns:p14="http://schemas.microsoft.com/office/powerpoint/2010/main" val="14736392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3B7741-CE88-8E94-900A-7D59C3C41C5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CA45746-2023-6FFA-6C34-D663CC87B3FF}"/>
              </a:ext>
            </a:extLst>
          </p:cNvPr>
          <p:cNvSpPr txBox="1">
            <a:spLocks/>
          </p:cNvSpPr>
          <p:nvPr/>
        </p:nvSpPr>
        <p:spPr>
          <a:xfrm>
            <a:off x="507812" y="18631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2" name="Slide Number Placeholder 5">
            <a:extLst>
              <a:ext uri="{FF2B5EF4-FFF2-40B4-BE49-F238E27FC236}">
                <a16:creationId xmlns:a16="http://schemas.microsoft.com/office/drawing/2014/main" id="{81F3AAA3-8576-E656-EAB2-22FB2CA6D6A7}"/>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71</a:t>
            </a:fld>
            <a:endParaRPr lang="en-GB"/>
          </a:p>
        </p:txBody>
      </p:sp>
      <p:sp>
        <p:nvSpPr>
          <p:cNvPr id="5" name="Footer Placeholder 4">
            <a:extLst>
              <a:ext uri="{FF2B5EF4-FFF2-40B4-BE49-F238E27FC236}">
                <a16:creationId xmlns:a16="http://schemas.microsoft.com/office/drawing/2014/main" id="{78E18E5F-0684-777E-7141-1A48271B66B8}"/>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12" name="TextBox 11">
            <a:extLst>
              <a:ext uri="{FF2B5EF4-FFF2-40B4-BE49-F238E27FC236}">
                <a16:creationId xmlns:a16="http://schemas.microsoft.com/office/drawing/2014/main" id="{0057AA9B-6C9E-AAB0-F396-4CB5B38DF997}"/>
              </a:ext>
            </a:extLst>
          </p:cNvPr>
          <p:cNvSpPr txBox="1"/>
          <p:nvPr/>
        </p:nvSpPr>
        <p:spPr>
          <a:xfrm>
            <a:off x="758202" y="1017717"/>
            <a:ext cx="8784798" cy="4260077"/>
          </a:xfrm>
          <a:prstGeom prst="rect">
            <a:avLst/>
          </a:prstGeom>
          <a:noFill/>
        </p:spPr>
        <p:txBody>
          <a:bodyPr wrap="square">
            <a:spAutoFit/>
          </a:bodyPr>
          <a:lstStyle/>
          <a:p>
            <a:pPr marL="0" marR="0">
              <a:lnSpc>
                <a:spcPct val="150000"/>
              </a:lnSpc>
              <a:buNone/>
            </a:pPr>
            <a:r>
              <a:rPr lang="en-US" sz="1400" b="1" kern="100">
                <a:effectLst/>
                <a:latin typeface="Helvetica Neue" panose="02000503000000020004"/>
                <a:ea typeface="DengXian" panose="02010600030101010101" pitchFamily="2" charset="-122"/>
                <a:cs typeface="Times New Roman" panose="02020603050405020304" pitchFamily="18" charset="0"/>
              </a:rPr>
              <a:t>3.3 Module-Based Release Strategy</a:t>
            </a:r>
          </a:p>
          <a:p>
            <a:pPr marL="0" marR="0">
              <a:lnSpc>
                <a:spcPct val="150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The HRD System will be released </a:t>
            </a:r>
            <a:r>
              <a:rPr lang="en-US" sz="1400" b="1" kern="100">
                <a:effectLst/>
                <a:latin typeface="Calibri" panose="020F0502020204030204" pitchFamily="34" charset="0"/>
                <a:ea typeface="DengXian" panose="02010600030101010101" pitchFamily="2" charset="-122"/>
                <a:cs typeface="Times New Roman" panose="02020603050405020304" pitchFamily="18" charset="0"/>
              </a:rPr>
              <a:t>by functional module</a:t>
            </a:r>
            <a:r>
              <a:rPr lang="en-US" sz="1400" kern="100">
                <a:effectLst/>
                <a:latin typeface="Calibri" panose="020F0502020204030204" pitchFamily="34" charset="0"/>
                <a:ea typeface="DengXian" panose="02010600030101010101" pitchFamily="2" charset="-122"/>
                <a:cs typeface="Times New Roman" panose="02020603050405020304" pitchFamily="18" charset="0"/>
              </a:rPr>
              <a:t>, following a priority order agreed upon jointly by MMKSI and BSI during the project initiation phase.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50000"/>
              </a:lnSpc>
              <a:buNone/>
            </a:pPr>
            <a:r>
              <a:rPr lang="en-US" sz="1400" kern="100">
                <a:effectLst/>
                <a:latin typeface="Calibri" panose="020F0502020204030204" pitchFamily="34" charset="0"/>
                <a:ea typeface="DengXian" panose="02010600030101010101" pitchFamily="2" charset="-122"/>
                <a:cs typeface="Times New Roman" panose="02020603050405020304" pitchFamily="18" charset="0"/>
              </a:rPr>
              <a:t>The indicative module release priority is as follows: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Font typeface="+mj-lt"/>
              <a:buAutoNum type="arabicPeriod"/>
              <a:tabLst>
                <a:tab pos="457200" algn="l"/>
              </a:tabLst>
            </a:pPr>
            <a:r>
              <a:rPr lang="en-US" sz="1400" b="1" kern="100">
                <a:effectLst/>
                <a:latin typeface="Calibri" panose="020F0502020204030204" pitchFamily="34" charset="0"/>
                <a:ea typeface="DengXian" panose="02010600030101010101" pitchFamily="2" charset="-122"/>
                <a:cs typeface="Times New Roman" panose="02020603050405020304" pitchFamily="18" charset="0"/>
              </a:rPr>
              <a:t>Phase 1 Go Live:</a:t>
            </a:r>
          </a:p>
          <a:p>
            <a:pPr marL="800100" lvl="1" indent="-342900">
              <a:lnSpc>
                <a:spcPct val="150000"/>
              </a:lnSpc>
              <a:buFont typeface="+mj-lt"/>
              <a:buAutoNum type="alphaUcPeriod"/>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Core HR &amp; Employee Master Data</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800100" lvl="1" indent="-342900">
              <a:lnSpc>
                <a:spcPct val="150000"/>
              </a:lnSpc>
              <a:buFont typeface="+mj-lt"/>
              <a:buAutoNum type="alphaUcPeriod"/>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Performance Evaluation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p>
            <a:pPr marL="233363" marR="0" lvl="0" indent="-233363">
              <a:lnSpc>
                <a:spcPct val="150000"/>
              </a:lnSpc>
              <a:buFont typeface="+mj-lt"/>
              <a:buAutoNum type="arabicPeriod"/>
              <a:tabLst>
                <a:tab pos="457200" algn="l"/>
              </a:tabLst>
            </a:pPr>
            <a:r>
              <a:rPr lang="en-US" sz="1400" b="1" kern="100">
                <a:latin typeface="Calibri" panose="020F0502020204030204" pitchFamily="34" charset="0"/>
                <a:ea typeface="DengXian" panose="02010600030101010101" pitchFamily="2" charset="-122"/>
                <a:cs typeface="Times New Roman" panose="02020603050405020304" pitchFamily="18" charset="0"/>
              </a:rPr>
              <a:t>Phase 2 Go Live:</a:t>
            </a:r>
          </a:p>
          <a:p>
            <a:pPr marL="800100" lvl="1" indent="-342900">
              <a:lnSpc>
                <a:spcPct val="150000"/>
              </a:lnSpc>
              <a:buFont typeface="+mj-lt"/>
              <a:buAutoNum type="alphaUcPeriod" startAt="3"/>
              <a:tabLst>
                <a:tab pos="457200" algn="l"/>
              </a:tabLst>
            </a:pPr>
            <a:r>
              <a:rPr lang="en-US" sz="1400" kern="100">
                <a:latin typeface="Calibri" panose="020F0502020204030204" pitchFamily="34" charset="0"/>
                <a:ea typeface="DengXian" panose="02010600030101010101" pitchFamily="2" charset="-122"/>
                <a:cs typeface="Times New Roman" panose="02020603050405020304" pitchFamily="18" charset="0"/>
              </a:rPr>
              <a:t>Promotion Evaluation</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800100" lvl="1" indent="-342900">
              <a:lnSpc>
                <a:spcPct val="150000"/>
              </a:lnSpc>
              <a:buFont typeface="+mj-lt"/>
              <a:buAutoNum type="alphaUcPeriod" startAt="3"/>
              <a:tabLst>
                <a:tab pos="457200" algn="l"/>
              </a:tabLst>
            </a:pPr>
            <a:r>
              <a:rPr lang="en-US" sz="1400" kern="100">
                <a:latin typeface="Calibri" panose="020F0502020204030204" pitchFamily="34" charset="0"/>
                <a:ea typeface="DengXian" panose="02010600030101010101" pitchFamily="2" charset="-122"/>
                <a:cs typeface="Times New Roman" panose="02020603050405020304" pitchFamily="18" charset="0"/>
              </a:rPr>
              <a:t>Logbook </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800100" lvl="1" indent="-342900">
              <a:lnSpc>
                <a:spcPct val="150000"/>
              </a:lnSpc>
              <a:buFont typeface="+mj-lt"/>
              <a:buAutoNum type="alphaUcPeriod" startAt="3"/>
              <a:tabLst>
                <a:tab pos="457200" algn="l"/>
              </a:tabLst>
            </a:pPr>
            <a:r>
              <a:rPr lang="en-US" sz="1400" kern="100">
                <a:latin typeface="Calibri" panose="020F0502020204030204" pitchFamily="34" charset="0"/>
                <a:ea typeface="DengXian" panose="02010600030101010101" pitchFamily="2" charset="-122"/>
                <a:cs typeface="Times New Roman" panose="02020603050405020304" pitchFamily="18" charset="0"/>
              </a:rPr>
              <a:t>Training Management</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800100" lvl="1" indent="-342900">
              <a:lnSpc>
                <a:spcPct val="150000"/>
              </a:lnSpc>
              <a:buFont typeface="+mj-lt"/>
              <a:buAutoNum type="alphaUcPeriod" startAt="3"/>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Manpower Planning (MPP)</a:t>
            </a:r>
            <a:endParaRPr lang="en-US" sz="1400" kern="100">
              <a:latin typeface="Aptos" panose="020B0004020202020204" pitchFamily="34" charset="0"/>
              <a:ea typeface="DengXian" panose="02010600030101010101" pitchFamily="2" charset="-122"/>
              <a:cs typeface="Times New Roman" panose="02020603050405020304" pitchFamily="18" charset="0"/>
            </a:endParaRPr>
          </a:p>
          <a:p>
            <a:pPr marL="800100" lvl="1" indent="-342900">
              <a:lnSpc>
                <a:spcPct val="150000"/>
              </a:lnSpc>
              <a:buFont typeface="+mj-lt"/>
              <a:buAutoNum type="alphaUcPeriod" startAt="3"/>
              <a:tabLst>
                <a:tab pos="457200" algn="l"/>
              </a:tabLst>
            </a:pPr>
            <a:r>
              <a:rPr lang="en-US" sz="1400" kern="100">
                <a:effectLst/>
                <a:latin typeface="Calibri" panose="020F0502020204030204" pitchFamily="34" charset="0"/>
                <a:ea typeface="DengXian" panose="02010600030101010101" pitchFamily="2" charset="-122"/>
                <a:cs typeface="Times New Roman" panose="02020603050405020304" pitchFamily="18" charset="0"/>
              </a:rPr>
              <a:t>Recruitment</a:t>
            </a:r>
          </a:p>
        </p:txBody>
      </p:sp>
    </p:spTree>
    <p:extLst>
      <p:ext uri="{BB962C8B-B14F-4D97-AF65-F5344CB8AC3E}">
        <p14:creationId xmlns:p14="http://schemas.microsoft.com/office/powerpoint/2010/main" val="1022368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2865C3-E4E5-1354-300E-D0E57224F7F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FE846E7-BF1A-F71D-CF71-E3AC2D3C81E3}"/>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2" name="Slide Number Placeholder 5">
            <a:extLst>
              <a:ext uri="{FF2B5EF4-FFF2-40B4-BE49-F238E27FC236}">
                <a16:creationId xmlns:a16="http://schemas.microsoft.com/office/drawing/2014/main" id="{FC75E512-CE07-5C78-B7C3-177BD5124684}"/>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72</a:t>
            </a:fld>
            <a:endParaRPr lang="en-GB"/>
          </a:p>
        </p:txBody>
      </p:sp>
      <p:sp>
        <p:nvSpPr>
          <p:cNvPr id="5" name="Footer Placeholder 4">
            <a:extLst>
              <a:ext uri="{FF2B5EF4-FFF2-40B4-BE49-F238E27FC236}">
                <a16:creationId xmlns:a16="http://schemas.microsoft.com/office/drawing/2014/main" id="{B348F1C1-30DB-FFF5-7B89-A972A0789140}"/>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37537C2D-AE19-C816-2B5D-CA269CAEDC85}"/>
              </a:ext>
            </a:extLst>
          </p:cNvPr>
          <p:cNvSpPr txBox="1"/>
          <p:nvPr/>
        </p:nvSpPr>
        <p:spPr>
          <a:xfrm>
            <a:off x="754779" y="894323"/>
            <a:ext cx="3264522" cy="327397"/>
          </a:xfrm>
          <a:prstGeom prst="rect">
            <a:avLst/>
          </a:prstGeom>
          <a:noFill/>
        </p:spPr>
        <p:txBody>
          <a:bodyPr wrap="square" lIns="91440" tIns="45720" rIns="91440" bIns="45720" anchor="t">
            <a:spAutoFit/>
          </a:bodyPr>
          <a:lstStyle/>
          <a:p>
            <a:pPr>
              <a:lnSpc>
                <a:spcPct val="115000"/>
              </a:lnSpc>
              <a:tabLst>
                <a:tab pos="228600" algn="l"/>
              </a:tabLst>
            </a:pPr>
            <a:r>
              <a:rPr lang="en-US" sz="1400" b="1" kern="100">
                <a:latin typeface="Helvetica Neue" panose="02000503000000020004"/>
                <a:ea typeface="DengXian"/>
                <a:cs typeface="Times New Roman"/>
              </a:rPr>
              <a:t>3.2. Project Event</a:t>
            </a:r>
            <a:endParaRPr lang="en-US" sz="1400" b="1" kern="100">
              <a:effectLst/>
              <a:latin typeface="Helvetica Neue" panose="02000503000000020004"/>
              <a:ea typeface="DengXian" panose="02010600030101010101" pitchFamily="2" charset="-122"/>
              <a:cs typeface="Times New Roman" panose="02020603050405020304" pitchFamily="18" charset="0"/>
            </a:endParaRPr>
          </a:p>
        </p:txBody>
      </p:sp>
      <p:pic>
        <p:nvPicPr>
          <p:cNvPr id="6" name="Picture 5" descr="A diagram of a project&#10;&#10;AI-generated content may be incorrect.">
            <a:extLst>
              <a:ext uri="{FF2B5EF4-FFF2-40B4-BE49-F238E27FC236}">
                <a16:creationId xmlns:a16="http://schemas.microsoft.com/office/drawing/2014/main" id="{70605F95-8243-D386-9D18-DC5864000749}"/>
              </a:ext>
            </a:extLst>
          </p:cNvPr>
          <p:cNvPicPr>
            <a:picLocks noChangeAspect="1"/>
          </p:cNvPicPr>
          <p:nvPr/>
        </p:nvPicPr>
        <p:blipFill>
          <a:blip r:embed="rId2"/>
          <a:stretch>
            <a:fillRect/>
          </a:stretch>
        </p:blipFill>
        <p:spPr>
          <a:xfrm>
            <a:off x="394992" y="1460368"/>
            <a:ext cx="9514473" cy="4893227"/>
          </a:xfrm>
          <a:prstGeom prst="rect">
            <a:avLst/>
          </a:prstGeom>
        </p:spPr>
      </p:pic>
    </p:spTree>
    <p:extLst>
      <p:ext uri="{BB962C8B-B14F-4D97-AF65-F5344CB8AC3E}">
        <p14:creationId xmlns:p14="http://schemas.microsoft.com/office/powerpoint/2010/main" val="23444376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BC3CA4-95B3-C348-677D-C5AABE9F0B1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0F59A0-A452-1C4E-3237-F1BAED22FA04}"/>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6" name="TextBox 5">
            <a:extLst>
              <a:ext uri="{FF2B5EF4-FFF2-40B4-BE49-F238E27FC236}">
                <a16:creationId xmlns:a16="http://schemas.microsoft.com/office/drawing/2014/main" id="{4F574938-CF64-AE81-51C4-4DA964ED0F03}"/>
              </a:ext>
            </a:extLst>
          </p:cNvPr>
          <p:cNvSpPr txBox="1"/>
          <p:nvPr/>
        </p:nvSpPr>
        <p:spPr>
          <a:xfrm>
            <a:off x="754779" y="1201400"/>
            <a:ext cx="8484772" cy="307777"/>
          </a:xfrm>
          <a:prstGeom prst="rect">
            <a:avLst/>
          </a:prstGeom>
          <a:noFill/>
        </p:spPr>
        <p:txBody>
          <a:bodyPr wrap="square">
            <a:spAutoFit/>
          </a:bodyPr>
          <a:lstStyle/>
          <a:p>
            <a:r>
              <a:rPr lang="en-US" sz="1400"/>
              <a:t>The project phase outlines the key timeline and milestones for successful completion.</a:t>
            </a:r>
          </a:p>
        </p:txBody>
      </p:sp>
      <p:sp>
        <p:nvSpPr>
          <p:cNvPr id="2" name="Slide Number Placeholder 5">
            <a:extLst>
              <a:ext uri="{FF2B5EF4-FFF2-40B4-BE49-F238E27FC236}">
                <a16:creationId xmlns:a16="http://schemas.microsoft.com/office/drawing/2014/main" id="{A3857674-5C64-C798-5494-296DA0E13921}"/>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73</a:t>
            </a:fld>
            <a:endParaRPr lang="en-GB"/>
          </a:p>
        </p:txBody>
      </p:sp>
      <p:sp>
        <p:nvSpPr>
          <p:cNvPr id="5" name="Footer Placeholder 4">
            <a:extLst>
              <a:ext uri="{FF2B5EF4-FFF2-40B4-BE49-F238E27FC236}">
                <a16:creationId xmlns:a16="http://schemas.microsoft.com/office/drawing/2014/main" id="{9B6EF6E3-5375-DE22-AACC-7BF388CABCB5}"/>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D6894853-3123-46B2-A86F-B822C3BDBED7}"/>
              </a:ext>
            </a:extLst>
          </p:cNvPr>
          <p:cNvSpPr txBox="1"/>
          <p:nvPr/>
        </p:nvSpPr>
        <p:spPr>
          <a:xfrm>
            <a:off x="754779" y="874003"/>
            <a:ext cx="3264522" cy="327397"/>
          </a:xfrm>
          <a:prstGeom prst="rect">
            <a:avLst/>
          </a:prstGeom>
          <a:noFill/>
        </p:spPr>
        <p:txBody>
          <a:bodyPr wrap="square">
            <a:spAutoFit/>
          </a:bodyPr>
          <a:lstStyle/>
          <a:p>
            <a:pPr marR="0" lvl="0">
              <a:lnSpc>
                <a:spcPct val="115000"/>
              </a:lnSpc>
              <a:tabLst>
                <a:tab pos="228600" algn="l"/>
              </a:tabLst>
            </a:pPr>
            <a:r>
              <a:rPr lang="en-US" sz="1400" b="1" kern="100">
                <a:latin typeface="Helvetica Neue" panose="02000503000000020004"/>
                <a:ea typeface="DengXian" panose="02010600030101010101" pitchFamily="2" charset="-122"/>
                <a:cs typeface="Times New Roman" panose="02020603050405020304" pitchFamily="18" charset="0"/>
              </a:rPr>
              <a:t>3</a:t>
            </a:r>
            <a:r>
              <a:rPr lang="en-US" sz="1400" b="1" kern="100">
                <a:effectLst/>
                <a:latin typeface="Helvetica Neue" panose="02000503000000020004"/>
                <a:ea typeface="DengXian" panose="02010600030101010101" pitchFamily="2" charset="-122"/>
                <a:cs typeface="Times New Roman" panose="02020603050405020304" pitchFamily="18" charset="0"/>
              </a:rPr>
              <a:t>.2 Project Phase</a:t>
            </a:r>
          </a:p>
        </p:txBody>
      </p:sp>
      <p:pic>
        <p:nvPicPr>
          <p:cNvPr id="15" name="Picture 14">
            <a:extLst>
              <a:ext uri="{FF2B5EF4-FFF2-40B4-BE49-F238E27FC236}">
                <a16:creationId xmlns:a16="http://schemas.microsoft.com/office/drawing/2014/main" id="{5A4017EA-2651-575B-463D-5ABC7ABF9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296" y="1509177"/>
            <a:ext cx="8636000" cy="4857750"/>
          </a:xfrm>
          <a:prstGeom prst="rect">
            <a:avLst/>
          </a:prstGeom>
        </p:spPr>
      </p:pic>
    </p:spTree>
    <p:extLst>
      <p:ext uri="{BB962C8B-B14F-4D97-AF65-F5344CB8AC3E}">
        <p14:creationId xmlns:p14="http://schemas.microsoft.com/office/powerpoint/2010/main" val="12086583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F65C1B-AF8F-F800-D86F-C91C2F8CC1E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7232D4B-D66F-3CF9-A5FC-EEBF35393DEF}"/>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6" name="TextBox 5">
            <a:extLst>
              <a:ext uri="{FF2B5EF4-FFF2-40B4-BE49-F238E27FC236}">
                <a16:creationId xmlns:a16="http://schemas.microsoft.com/office/drawing/2014/main" id="{A1FD23CD-C635-45C8-D1A3-E2B6F9CE0F38}"/>
              </a:ext>
            </a:extLst>
          </p:cNvPr>
          <p:cNvSpPr txBox="1"/>
          <p:nvPr/>
        </p:nvSpPr>
        <p:spPr>
          <a:xfrm>
            <a:off x="754779" y="1201400"/>
            <a:ext cx="8484772" cy="307777"/>
          </a:xfrm>
          <a:prstGeom prst="rect">
            <a:avLst/>
          </a:prstGeom>
          <a:noFill/>
        </p:spPr>
        <p:txBody>
          <a:bodyPr wrap="square">
            <a:spAutoFit/>
          </a:bodyPr>
          <a:lstStyle/>
          <a:p>
            <a:r>
              <a:rPr lang="en-US" sz="1400"/>
              <a:t>The project phase outlines the key timeline and milestones for successful completion.</a:t>
            </a:r>
          </a:p>
        </p:txBody>
      </p:sp>
      <p:sp>
        <p:nvSpPr>
          <p:cNvPr id="2" name="Slide Number Placeholder 5">
            <a:extLst>
              <a:ext uri="{FF2B5EF4-FFF2-40B4-BE49-F238E27FC236}">
                <a16:creationId xmlns:a16="http://schemas.microsoft.com/office/drawing/2014/main" id="{426959CE-66AB-9684-4139-07924CBC1266}"/>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74</a:t>
            </a:fld>
            <a:endParaRPr lang="en-GB"/>
          </a:p>
        </p:txBody>
      </p:sp>
      <p:sp>
        <p:nvSpPr>
          <p:cNvPr id="5" name="Footer Placeholder 4">
            <a:extLst>
              <a:ext uri="{FF2B5EF4-FFF2-40B4-BE49-F238E27FC236}">
                <a16:creationId xmlns:a16="http://schemas.microsoft.com/office/drawing/2014/main" id="{2B7AC266-EBBD-985E-4F1B-3B658F82E9F2}"/>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AE4BA552-553A-020A-5063-B513B6D1ACE6}"/>
              </a:ext>
            </a:extLst>
          </p:cNvPr>
          <p:cNvSpPr txBox="1"/>
          <p:nvPr/>
        </p:nvSpPr>
        <p:spPr>
          <a:xfrm>
            <a:off x="754779" y="874003"/>
            <a:ext cx="3264522" cy="327397"/>
          </a:xfrm>
          <a:prstGeom prst="rect">
            <a:avLst/>
          </a:prstGeom>
          <a:noFill/>
        </p:spPr>
        <p:txBody>
          <a:bodyPr wrap="square" lIns="91440" tIns="45720" rIns="91440" bIns="45720" anchor="t">
            <a:spAutoFit/>
          </a:bodyPr>
          <a:lstStyle/>
          <a:p>
            <a:pPr marR="0" lvl="0">
              <a:lnSpc>
                <a:spcPct val="115000"/>
              </a:lnSpc>
              <a:tabLst>
                <a:tab pos="228600" algn="l"/>
              </a:tabLst>
            </a:pPr>
            <a:r>
              <a:rPr lang="en-US" sz="1400" b="1" kern="100">
                <a:latin typeface="Helvetica Neue" panose="02000503000000020004"/>
                <a:ea typeface="DengXian"/>
                <a:cs typeface="Times New Roman"/>
              </a:rPr>
              <a:t>3.3</a:t>
            </a:r>
            <a:r>
              <a:rPr lang="en-US" sz="1400" b="1" kern="100">
                <a:effectLst/>
                <a:latin typeface="Helvetica Neue" panose="02000503000000020004"/>
                <a:ea typeface="DengXian"/>
                <a:cs typeface="Times New Roman"/>
              </a:rPr>
              <a:t> Project Phase</a:t>
            </a:r>
            <a:r>
              <a:rPr lang="en-US" sz="1400" b="1" kern="100">
                <a:latin typeface="Helvetica Neue" panose="02000503000000020004"/>
                <a:ea typeface="DengXian"/>
                <a:cs typeface="Times New Roman"/>
              </a:rPr>
              <a:t>/Timeline</a:t>
            </a:r>
            <a:endParaRPr lang="en-US" sz="1400" b="1" kern="100">
              <a:effectLst/>
              <a:latin typeface="Helvetica Neue" panose="02000503000000020004"/>
              <a:ea typeface="DengXian"/>
              <a:cs typeface="Times New Roman"/>
            </a:endParaRPr>
          </a:p>
        </p:txBody>
      </p:sp>
      <p:sp>
        <p:nvSpPr>
          <p:cNvPr id="8" name="TextBox 7">
            <a:extLst>
              <a:ext uri="{FF2B5EF4-FFF2-40B4-BE49-F238E27FC236}">
                <a16:creationId xmlns:a16="http://schemas.microsoft.com/office/drawing/2014/main" id="{924F7C61-05FB-AA12-56A9-3BB0019DB9DC}"/>
              </a:ext>
            </a:extLst>
          </p:cNvPr>
          <p:cNvSpPr txBox="1"/>
          <p:nvPr/>
        </p:nvSpPr>
        <p:spPr>
          <a:xfrm>
            <a:off x="759597" y="1522199"/>
            <a:ext cx="35747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Phase 1 (W1 May – W4 July)</a:t>
            </a:r>
            <a:endParaRPr lang="en-US"/>
          </a:p>
        </p:txBody>
      </p:sp>
      <p:graphicFrame>
        <p:nvGraphicFramePr>
          <p:cNvPr id="10" name="Table 9">
            <a:extLst>
              <a:ext uri="{FF2B5EF4-FFF2-40B4-BE49-F238E27FC236}">
                <a16:creationId xmlns:a16="http://schemas.microsoft.com/office/drawing/2014/main" id="{6C17B3B7-89A0-78ED-7497-91E05CD747DC}"/>
              </a:ext>
            </a:extLst>
          </p:cNvPr>
          <p:cNvGraphicFramePr>
            <a:graphicFrameLocks noGrp="1"/>
          </p:cNvGraphicFramePr>
          <p:nvPr/>
        </p:nvGraphicFramePr>
        <p:xfrm>
          <a:off x="881457" y="1888374"/>
          <a:ext cx="8143598" cy="4551676"/>
        </p:xfrm>
        <a:graphic>
          <a:graphicData uri="http://schemas.openxmlformats.org/drawingml/2006/table">
            <a:tbl>
              <a:tblPr firstRow="1" bandRow="1">
                <a:tableStyleId>{5C22544A-7EE6-4342-B048-85BDC9FD1C3A}</a:tableStyleId>
              </a:tblPr>
              <a:tblGrid>
                <a:gridCol w="2031793">
                  <a:extLst>
                    <a:ext uri="{9D8B030D-6E8A-4147-A177-3AD203B41FA5}">
                      <a16:colId xmlns:a16="http://schemas.microsoft.com/office/drawing/2014/main" val="2785022286"/>
                    </a:ext>
                  </a:extLst>
                </a:gridCol>
                <a:gridCol w="1071562">
                  <a:extLst>
                    <a:ext uri="{9D8B030D-6E8A-4147-A177-3AD203B41FA5}">
                      <a16:colId xmlns:a16="http://schemas.microsoft.com/office/drawing/2014/main" val="701879807"/>
                    </a:ext>
                  </a:extLst>
                </a:gridCol>
                <a:gridCol w="1071559">
                  <a:extLst>
                    <a:ext uri="{9D8B030D-6E8A-4147-A177-3AD203B41FA5}">
                      <a16:colId xmlns:a16="http://schemas.microsoft.com/office/drawing/2014/main" val="1826219855"/>
                    </a:ext>
                  </a:extLst>
                </a:gridCol>
                <a:gridCol w="1029810">
                  <a:extLst>
                    <a:ext uri="{9D8B030D-6E8A-4147-A177-3AD203B41FA5}">
                      <a16:colId xmlns:a16="http://schemas.microsoft.com/office/drawing/2014/main" val="1174554514"/>
                    </a:ext>
                  </a:extLst>
                </a:gridCol>
                <a:gridCol w="984713">
                  <a:extLst>
                    <a:ext uri="{9D8B030D-6E8A-4147-A177-3AD203B41FA5}">
                      <a16:colId xmlns:a16="http://schemas.microsoft.com/office/drawing/2014/main" val="617876738"/>
                    </a:ext>
                  </a:extLst>
                </a:gridCol>
                <a:gridCol w="974147">
                  <a:extLst>
                    <a:ext uri="{9D8B030D-6E8A-4147-A177-3AD203B41FA5}">
                      <a16:colId xmlns:a16="http://schemas.microsoft.com/office/drawing/2014/main" val="3014160269"/>
                    </a:ext>
                  </a:extLst>
                </a:gridCol>
                <a:gridCol w="980014">
                  <a:extLst>
                    <a:ext uri="{9D8B030D-6E8A-4147-A177-3AD203B41FA5}">
                      <a16:colId xmlns:a16="http://schemas.microsoft.com/office/drawing/2014/main" val="43824711"/>
                    </a:ext>
                  </a:extLst>
                </a:gridCol>
              </a:tblGrid>
              <a:tr h="185737">
                <a:tc rowSpan="2">
                  <a:txBody>
                    <a:bodyPr/>
                    <a:lstStyle/>
                    <a:p>
                      <a:r>
                        <a:rPr lang="en-US"/>
                        <a:t>Process</a:t>
                      </a:r>
                    </a:p>
                  </a:txBody>
                  <a:tcPr/>
                </a:tc>
                <a:tc>
                  <a:txBody>
                    <a:bodyPr/>
                    <a:lstStyle/>
                    <a:p>
                      <a:r>
                        <a:rPr lang="en-US" sz="1200"/>
                        <a:t>W1-W2 May</a:t>
                      </a:r>
                    </a:p>
                  </a:txBody>
                  <a:tcPr/>
                </a:tc>
                <a:tc>
                  <a:txBody>
                    <a:bodyPr/>
                    <a:lstStyle/>
                    <a:p>
                      <a:r>
                        <a:rPr lang="en-US" sz="1200"/>
                        <a:t>W3-W4 May</a:t>
                      </a:r>
                    </a:p>
                  </a:txBody>
                  <a:tcPr/>
                </a:tc>
                <a:tc>
                  <a:txBody>
                    <a:bodyPr/>
                    <a:lstStyle/>
                    <a:p>
                      <a:r>
                        <a:rPr lang="en-US" sz="1200"/>
                        <a:t>W1-W2 Jun</a:t>
                      </a:r>
                    </a:p>
                  </a:txBody>
                  <a:tcPr/>
                </a:tc>
                <a:tc>
                  <a:txBody>
                    <a:bodyPr/>
                    <a:lstStyle/>
                    <a:p>
                      <a:r>
                        <a:rPr lang="en-US" sz="1200"/>
                        <a:t>W3-W4 Jun</a:t>
                      </a:r>
                    </a:p>
                  </a:txBody>
                  <a:tcPr/>
                </a:tc>
                <a:tc>
                  <a:txBody>
                    <a:bodyPr/>
                    <a:lstStyle/>
                    <a:p>
                      <a:r>
                        <a:rPr lang="en-US" sz="1200"/>
                        <a:t>W1-W2 Jul</a:t>
                      </a:r>
                    </a:p>
                  </a:txBody>
                  <a:tcPr/>
                </a:tc>
                <a:tc>
                  <a:txBody>
                    <a:bodyPr/>
                    <a:lstStyle/>
                    <a:p>
                      <a:r>
                        <a:rPr lang="en-US" sz="1200"/>
                        <a:t>W3-W4 Jul</a:t>
                      </a:r>
                    </a:p>
                  </a:txBody>
                  <a:tcPr/>
                </a:tc>
                <a:extLst>
                  <a:ext uri="{0D108BD9-81ED-4DB2-BD59-A6C34878D82A}">
                    <a16:rowId xmlns:a16="http://schemas.microsoft.com/office/drawing/2014/main" val="3743203292"/>
                  </a:ext>
                </a:extLst>
              </a:tr>
              <a:tr h="185737">
                <a:tc vMerge="1">
                  <a:txBody>
                    <a:bodyPr/>
                    <a:lstStyle/>
                    <a:p>
                      <a:endParaRPr lang="en-US"/>
                    </a:p>
                  </a:txBody>
                  <a:tcPr/>
                </a:tc>
                <a:tc>
                  <a:txBody>
                    <a:bodyPr/>
                    <a:lstStyle/>
                    <a:p>
                      <a:pPr lvl="0" algn="ctr">
                        <a:buNone/>
                      </a:pPr>
                      <a:r>
                        <a:rPr lang="en-US" sz="1200" b="1" i="0" u="none" strike="noStrike" noProof="0">
                          <a:solidFill>
                            <a:schemeClr val="tx1"/>
                          </a:solidFill>
                          <a:latin typeface="Calibri"/>
                          <a:ea typeface="Calibri"/>
                          <a:cs typeface="Calibri"/>
                        </a:rPr>
                        <a:t>Iteration 1</a:t>
                      </a:r>
                      <a:endParaRPr lang="en-US" sz="1200">
                        <a:solidFill>
                          <a:schemeClr val="tx1"/>
                        </a:solidFill>
                      </a:endParaRPr>
                    </a:p>
                  </a:txBody>
                  <a:tcPr/>
                </a:tc>
                <a:tc>
                  <a:txBody>
                    <a:bodyPr/>
                    <a:lstStyle/>
                    <a:p>
                      <a:pPr lvl="0" algn="ctr">
                        <a:buNone/>
                      </a:pPr>
                      <a:r>
                        <a:rPr lang="en-US" sz="1200" b="1" i="0" u="none" strike="noStrike" noProof="0">
                          <a:solidFill>
                            <a:schemeClr val="tx1"/>
                          </a:solidFill>
                          <a:latin typeface="Calibri"/>
                          <a:ea typeface="Calibri"/>
                          <a:cs typeface="Calibri"/>
                        </a:rPr>
                        <a:t>Iteration 2</a:t>
                      </a:r>
                      <a:endParaRPr lang="en-US" sz="1200">
                        <a:solidFill>
                          <a:schemeClr val="tx1"/>
                        </a:solidFill>
                      </a:endParaRPr>
                    </a:p>
                  </a:txBody>
                  <a:tcPr/>
                </a:tc>
                <a:tc>
                  <a:txBody>
                    <a:bodyPr/>
                    <a:lstStyle/>
                    <a:p>
                      <a:pPr lvl="0" algn="ctr">
                        <a:buNone/>
                      </a:pPr>
                      <a:r>
                        <a:rPr lang="en-US" sz="1200" b="1" i="0" u="none" strike="noStrike" noProof="0">
                          <a:solidFill>
                            <a:schemeClr val="tx1"/>
                          </a:solidFill>
                          <a:latin typeface="Calibri"/>
                          <a:ea typeface="Calibri"/>
                          <a:cs typeface="Calibri"/>
                        </a:rPr>
                        <a:t>Iteration 3</a:t>
                      </a:r>
                      <a:endParaRPr lang="en-US" sz="1200">
                        <a:solidFill>
                          <a:schemeClr val="tx1"/>
                        </a:solidFill>
                      </a:endParaRPr>
                    </a:p>
                  </a:txBody>
                  <a:tcPr/>
                </a:tc>
                <a:tc>
                  <a:txBody>
                    <a:bodyPr/>
                    <a:lstStyle/>
                    <a:p>
                      <a:pPr lvl="0" algn="ctr">
                        <a:buNone/>
                      </a:pPr>
                      <a:r>
                        <a:rPr lang="en-US" sz="1200" b="1" i="0" u="none" strike="noStrike" noProof="0">
                          <a:solidFill>
                            <a:schemeClr val="tx1"/>
                          </a:solidFill>
                          <a:latin typeface="Calibri"/>
                          <a:ea typeface="Calibri"/>
                          <a:cs typeface="Calibri"/>
                        </a:rPr>
                        <a:t>Iteration 4</a:t>
                      </a:r>
                      <a:endParaRPr lang="en-US" sz="1200">
                        <a:solidFill>
                          <a:schemeClr val="tx1"/>
                        </a:solidFill>
                      </a:endParaRPr>
                    </a:p>
                  </a:txBody>
                  <a:tcPr/>
                </a:tc>
                <a:tc>
                  <a:txBody>
                    <a:bodyPr/>
                    <a:lstStyle/>
                    <a:p>
                      <a:pPr lvl="0" algn="ctr">
                        <a:buNone/>
                      </a:pPr>
                      <a:r>
                        <a:rPr lang="en-US" sz="1200" b="1" i="0" u="none" strike="noStrike" noProof="0">
                          <a:solidFill>
                            <a:schemeClr val="tx1"/>
                          </a:solidFill>
                          <a:latin typeface="Calibri"/>
                          <a:ea typeface="Calibri"/>
                          <a:cs typeface="Calibri"/>
                        </a:rPr>
                        <a:t>Iteration 5</a:t>
                      </a:r>
                      <a:endParaRPr lang="en-US" sz="1200">
                        <a:solidFill>
                          <a:schemeClr val="tx1"/>
                        </a:solidFill>
                      </a:endParaRPr>
                    </a:p>
                  </a:txBody>
                  <a:tcPr/>
                </a:tc>
                <a:tc>
                  <a:txBody>
                    <a:bodyPr/>
                    <a:lstStyle/>
                    <a:p>
                      <a:pPr lvl="0" algn="ctr">
                        <a:buNone/>
                      </a:pPr>
                      <a:r>
                        <a:rPr lang="en-US" sz="1200" b="1" i="0" u="none" strike="noStrike" noProof="0">
                          <a:solidFill>
                            <a:schemeClr val="tx1"/>
                          </a:solidFill>
                          <a:latin typeface="Calibri"/>
                          <a:ea typeface="Calibri"/>
                          <a:cs typeface="Calibri"/>
                        </a:rPr>
                        <a:t>Iteration 6</a:t>
                      </a:r>
                      <a:endParaRPr lang="en-US" sz="1200">
                        <a:solidFill>
                          <a:schemeClr val="tx1"/>
                        </a:solidFill>
                      </a:endParaRPr>
                    </a:p>
                  </a:txBody>
                  <a:tcPr/>
                </a:tc>
                <a:extLst>
                  <a:ext uri="{0D108BD9-81ED-4DB2-BD59-A6C34878D82A}">
                    <a16:rowId xmlns:a16="http://schemas.microsoft.com/office/drawing/2014/main" val="2488072147"/>
                  </a:ext>
                </a:extLst>
              </a:tr>
              <a:tr h="370840">
                <a:tc>
                  <a:txBody>
                    <a:bodyPr/>
                    <a:lstStyle/>
                    <a:p>
                      <a:r>
                        <a:rPr lang="en-US" sz="1400"/>
                        <a:t>Kick Off</a:t>
                      </a:r>
                    </a:p>
                  </a:txBody>
                  <a:tcPr>
                    <a:solidFill>
                      <a:schemeClr val="bg1"/>
                    </a:solidFill>
                  </a:tcPr>
                </a:tc>
                <a:tc>
                  <a:txBody>
                    <a:bodyPr/>
                    <a:lstStyle/>
                    <a:p>
                      <a:endParaRPr lang="en-US"/>
                    </a:p>
                  </a:txBody>
                  <a:tcPr>
                    <a:solidFill>
                      <a:schemeClr val="accent2"/>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324243828"/>
                  </a:ext>
                </a:extLst>
              </a:tr>
              <a:tr h="370840">
                <a:tc>
                  <a:txBody>
                    <a:bodyPr/>
                    <a:lstStyle/>
                    <a:p>
                      <a:r>
                        <a:rPr lang="en-US" sz="1400"/>
                        <a:t>Requirement Finalization</a:t>
                      </a:r>
                    </a:p>
                  </a:txBody>
                  <a:tcPr>
                    <a:solidFill>
                      <a:schemeClr val="bg1"/>
                    </a:solidFill>
                  </a:tcPr>
                </a:tc>
                <a:tc>
                  <a:txBody>
                    <a:bodyPr/>
                    <a:lstStyle/>
                    <a:p>
                      <a:endParaRPr lang="en-US"/>
                    </a:p>
                  </a:txBody>
                  <a:tcPr>
                    <a:solidFill>
                      <a:schemeClr val="accent2"/>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59718591"/>
                  </a:ext>
                </a:extLst>
              </a:tr>
              <a:tr h="370840">
                <a:tc>
                  <a:txBody>
                    <a:bodyPr/>
                    <a:lstStyle/>
                    <a:p>
                      <a:r>
                        <a:rPr lang="en-US" sz="1400"/>
                        <a:t>Server/Infra Preparation</a:t>
                      </a:r>
                    </a:p>
                  </a:txBody>
                  <a:tcPr>
                    <a:solidFill>
                      <a:schemeClr val="bg1"/>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4076243512"/>
                  </a:ext>
                </a:extLst>
              </a:tr>
              <a:tr h="370840">
                <a:tc>
                  <a:txBody>
                    <a:bodyPr/>
                    <a:lstStyle/>
                    <a:p>
                      <a:r>
                        <a:rPr lang="en-US" sz="1400"/>
                        <a:t>Development</a:t>
                      </a:r>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4283635221"/>
                  </a:ext>
                </a:extLst>
              </a:tr>
              <a:tr h="370840">
                <a:tc>
                  <a:txBody>
                    <a:bodyPr/>
                    <a:lstStyle/>
                    <a:p>
                      <a:pPr marL="182880" lvl="1"/>
                      <a:r>
                        <a:rPr lang="en-US" sz="1400"/>
                        <a:t>Master Data &amp; Configuration</a:t>
                      </a:r>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3136450339"/>
                  </a:ext>
                </a:extLst>
              </a:tr>
              <a:tr h="370840">
                <a:tc>
                  <a:txBody>
                    <a:bodyPr/>
                    <a:lstStyle/>
                    <a:p>
                      <a:pPr marL="182880" lvl="1"/>
                      <a:r>
                        <a:rPr lang="en-US" sz="1400"/>
                        <a:t>Performance Management System</a:t>
                      </a:r>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1091373487"/>
                  </a:ext>
                </a:extLst>
              </a:tr>
              <a:tr h="370840">
                <a:tc>
                  <a:txBody>
                    <a:bodyPr/>
                    <a:lstStyle/>
                    <a:p>
                      <a:r>
                        <a:rPr lang="en-US" sz="1400"/>
                        <a:t>Data Migration</a:t>
                      </a:r>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accent2"/>
                    </a:solidFill>
                  </a:tcPr>
                </a:tc>
                <a:tc>
                  <a:txBody>
                    <a:bodyPr/>
                    <a:lstStyle/>
                    <a:p>
                      <a:endParaRPr lang="en-US"/>
                    </a:p>
                  </a:txBody>
                  <a:tcPr>
                    <a:solidFill>
                      <a:schemeClr val="bg1"/>
                    </a:solidFill>
                  </a:tcPr>
                </a:tc>
                <a:extLst>
                  <a:ext uri="{0D108BD9-81ED-4DB2-BD59-A6C34878D82A}">
                    <a16:rowId xmlns:a16="http://schemas.microsoft.com/office/drawing/2014/main" val="4280339928"/>
                  </a:ext>
                </a:extLst>
              </a:tr>
              <a:tr h="370839">
                <a:tc>
                  <a:txBody>
                    <a:bodyPr/>
                    <a:lstStyle/>
                    <a:p>
                      <a:pPr lvl="0">
                        <a:buNone/>
                      </a:pPr>
                      <a:r>
                        <a:rPr lang="en-US" sz="1400"/>
                        <a:t>SIT</a:t>
                      </a:r>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accent2"/>
                    </a:solidFill>
                  </a:tcPr>
                </a:tc>
                <a:tc>
                  <a:txBody>
                    <a:bodyPr/>
                    <a:lstStyle/>
                    <a:p>
                      <a:pPr lvl="0">
                        <a:buNone/>
                      </a:pPr>
                      <a:endParaRPr lang="en-US"/>
                    </a:p>
                  </a:txBody>
                  <a:tcPr>
                    <a:solidFill>
                      <a:schemeClr val="bg1"/>
                    </a:solidFill>
                  </a:tcPr>
                </a:tc>
                <a:extLst>
                  <a:ext uri="{0D108BD9-81ED-4DB2-BD59-A6C34878D82A}">
                    <a16:rowId xmlns:a16="http://schemas.microsoft.com/office/drawing/2014/main" val="407314044"/>
                  </a:ext>
                </a:extLst>
              </a:tr>
              <a:tr h="370838">
                <a:tc>
                  <a:txBody>
                    <a:bodyPr/>
                    <a:lstStyle/>
                    <a:p>
                      <a:pPr lvl="0">
                        <a:buNone/>
                      </a:pPr>
                      <a:r>
                        <a:rPr lang="en-US" sz="1400"/>
                        <a:t>UAT</a:t>
                      </a:r>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accent2"/>
                    </a:solidFill>
                  </a:tcPr>
                </a:tc>
                <a:tc>
                  <a:txBody>
                    <a:bodyPr/>
                    <a:lstStyle/>
                    <a:p>
                      <a:pPr lvl="0">
                        <a:buNone/>
                      </a:pPr>
                      <a:endParaRPr lang="en-US"/>
                    </a:p>
                  </a:txBody>
                  <a:tcPr>
                    <a:solidFill>
                      <a:schemeClr val="accent2"/>
                    </a:solidFill>
                  </a:tcPr>
                </a:tc>
                <a:extLst>
                  <a:ext uri="{0D108BD9-81ED-4DB2-BD59-A6C34878D82A}">
                    <a16:rowId xmlns:a16="http://schemas.microsoft.com/office/drawing/2014/main" val="1328885249"/>
                  </a:ext>
                </a:extLst>
              </a:tr>
              <a:tr h="370839">
                <a:tc>
                  <a:txBody>
                    <a:bodyPr/>
                    <a:lstStyle/>
                    <a:p>
                      <a:pPr lvl="0">
                        <a:buNone/>
                      </a:pPr>
                      <a:r>
                        <a:rPr lang="en-US" sz="1400"/>
                        <a:t>Go Live Phase 1</a:t>
                      </a:r>
                    </a:p>
                  </a:txBody>
                  <a:tcPr>
                    <a:no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solidFill>
                      <a:schemeClr val="bg1"/>
                    </a:solidFill>
                  </a:tcPr>
                </a:tc>
                <a:tc>
                  <a:txBody>
                    <a:bodyPr/>
                    <a:lstStyle/>
                    <a:p>
                      <a:pPr lvl="0">
                        <a:buNone/>
                      </a:pPr>
                      <a:endParaRPr lang="en-US"/>
                    </a:p>
                  </a:txBody>
                  <a:tcPr>
                    <a:noFill/>
                  </a:tcPr>
                </a:tc>
                <a:tc>
                  <a:txBody>
                    <a:bodyPr/>
                    <a:lstStyle/>
                    <a:p>
                      <a:pPr lvl="0">
                        <a:buNone/>
                      </a:pPr>
                      <a:endParaRPr lang="en-US"/>
                    </a:p>
                  </a:txBody>
                  <a:tcPr>
                    <a:solidFill>
                      <a:schemeClr val="accent2"/>
                    </a:solidFill>
                  </a:tcPr>
                </a:tc>
                <a:extLst>
                  <a:ext uri="{0D108BD9-81ED-4DB2-BD59-A6C34878D82A}">
                    <a16:rowId xmlns:a16="http://schemas.microsoft.com/office/drawing/2014/main" val="492032848"/>
                  </a:ext>
                </a:extLst>
              </a:tr>
            </a:tbl>
          </a:graphicData>
        </a:graphic>
      </p:graphicFrame>
      <p:pic>
        <p:nvPicPr>
          <p:cNvPr id="11" name="Graphic 10" descr="Badge New with solid fill">
            <a:extLst>
              <a:ext uri="{FF2B5EF4-FFF2-40B4-BE49-F238E27FC236}">
                <a16:creationId xmlns:a16="http://schemas.microsoft.com/office/drawing/2014/main" id="{B200A55A-EA91-C7AB-9281-2F1E8158ED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46723" y="6037068"/>
            <a:ext cx="438470" cy="390525"/>
          </a:xfrm>
          <a:prstGeom prst="rect">
            <a:avLst/>
          </a:prstGeom>
        </p:spPr>
      </p:pic>
    </p:spTree>
    <p:extLst>
      <p:ext uri="{BB962C8B-B14F-4D97-AF65-F5344CB8AC3E}">
        <p14:creationId xmlns:p14="http://schemas.microsoft.com/office/powerpoint/2010/main" val="23402211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5ACE72-EB43-3CD5-1810-F77101EB44C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14B0E31-A7AE-DD57-19D2-4E295ED1784E}"/>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3. Project Methodology</a:t>
            </a:r>
            <a:endParaRPr lang="en-ID">
              <a:latin typeface="Helvetica Neue" panose="02000503000000020004"/>
            </a:endParaRPr>
          </a:p>
        </p:txBody>
      </p:sp>
      <p:sp>
        <p:nvSpPr>
          <p:cNvPr id="6" name="TextBox 5">
            <a:extLst>
              <a:ext uri="{FF2B5EF4-FFF2-40B4-BE49-F238E27FC236}">
                <a16:creationId xmlns:a16="http://schemas.microsoft.com/office/drawing/2014/main" id="{C907D2B3-1DA3-4040-165D-DF8E62FDA96D}"/>
              </a:ext>
            </a:extLst>
          </p:cNvPr>
          <p:cNvSpPr txBox="1"/>
          <p:nvPr/>
        </p:nvSpPr>
        <p:spPr>
          <a:xfrm>
            <a:off x="754779" y="1201400"/>
            <a:ext cx="8484772" cy="307777"/>
          </a:xfrm>
          <a:prstGeom prst="rect">
            <a:avLst/>
          </a:prstGeom>
          <a:noFill/>
        </p:spPr>
        <p:txBody>
          <a:bodyPr wrap="square">
            <a:spAutoFit/>
          </a:bodyPr>
          <a:lstStyle/>
          <a:p>
            <a:r>
              <a:rPr lang="en-US" sz="1400"/>
              <a:t>The project phase outlines the key timeline and milestones for successful completion.</a:t>
            </a:r>
          </a:p>
        </p:txBody>
      </p:sp>
      <p:sp>
        <p:nvSpPr>
          <p:cNvPr id="2" name="Slide Number Placeholder 5">
            <a:extLst>
              <a:ext uri="{FF2B5EF4-FFF2-40B4-BE49-F238E27FC236}">
                <a16:creationId xmlns:a16="http://schemas.microsoft.com/office/drawing/2014/main" id="{1E5A078D-A634-C3DB-21BF-ABA8BCCBA5C3}"/>
              </a:ext>
            </a:extLst>
          </p:cNvPr>
          <p:cNvSpPr>
            <a:spLocks noGrp="1"/>
          </p:cNvSpPr>
          <p:nvPr>
            <p:ph type="sldNum" sz="quarter" idx="12"/>
          </p:nvPr>
        </p:nvSpPr>
        <p:spPr>
          <a:xfrm>
            <a:off x="9052560" y="6426243"/>
            <a:ext cx="606897" cy="261610"/>
          </a:xfrm>
        </p:spPr>
        <p:txBody>
          <a:bodyPr/>
          <a:lstStyle/>
          <a:p>
            <a:r>
              <a:rPr lang="en-GB"/>
              <a:t> Page </a:t>
            </a:r>
            <a:fld id="{7A555EF9-59E7-4D74-815B-7A20869232EE}" type="slidenum">
              <a:rPr lang="en-GB" smtClean="0"/>
              <a:pPr/>
              <a:t>75</a:t>
            </a:fld>
            <a:endParaRPr lang="en-GB"/>
          </a:p>
        </p:txBody>
      </p:sp>
      <p:sp>
        <p:nvSpPr>
          <p:cNvPr id="5" name="Footer Placeholder 4">
            <a:extLst>
              <a:ext uri="{FF2B5EF4-FFF2-40B4-BE49-F238E27FC236}">
                <a16:creationId xmlns:a16="http://schemas.microsoft.com/office/drawing/2014/main" id="{904E176F-6489-F659-BC9C-C776F09D2049}"/>
              </a:ext>
            </a:extLst>
          </p:cNvPr>
          <p:cNvSpPr>
            <a:spLocks noGrp="1"/>
          </p:cNvSpPr>
          <p:nvPr>
            <p:ph type="ftr" sz="quarter" idx="11"/>
          </p:nvPr>
        </p:nvSpPr>
        <p:spPr>
          <a:xfrm>
            <a:off x="3642566" y="6522486"/>
            <a:ext cx="2863284" cy="261610"/>
          </a:xfrm>
        </p:spPr>
        <p:txBody>
          <a:bodyPr/>
          <a:lstStyle/>
          <a:p>
            <a:r>
              <a:rPr lang="en-US" i="1">
                <a:solidFill>
                  <a:srgbClr val="7F7F7F"/>
                </a:solidFill>
              </a:rPr>
              <a:t>Confidential - MMKSI and BSI Internal Use Only</a:t>
            </a:r>
          </a:p>
        </p:txBody>
      </p:sp>
      <p:sp>
        <p:nvSpPr>
          <p:cNvPr id="3" name="TextBox 2">
            <a:extLst>
              <a:ext uri="{FF2B5EF4-FFF2-40B4-BE49-F238E27FC236}">
                <a16:creationId xmlns:a16="http://schemas.microsoft.com/office/drawing/2014/main" id="{C53FC5A4-1A01-4359-6867-3ABC9F871E60}"/>
              </a:ext>
            </a:extLst>
          </p:cNvPr>
          <p:cNvSpPr txBox="1"/>
          <p:nvPr/>
        </p:nvSpPr>
        <p:spPr>
          <a:xfrm>
            <a:off x="754779" y="874003"/>
            <a:ext cx="3264522" cy="327397"/>
          </a:xfrm>
          <a:prstGeom prst="rect">
            <a:avLst/>
          </a:prstGeom>
          <a:noFill/>
        </p:spPr>
        <p:txBody>
          <a:bodyPr wrap="square" lIns="91440" tIns="45720" rIns="91440" bIns="45720" anchor="t">
            <a:spAutoFit/>
          </a:bodyPr>
          <a:lstStyle/>
          <a:p>
            <a:pPr marR="0" lvl="0">
              <a:lnSpc>
                <a:spcPct val="115000"/>
              </a:lnSpc>
              <a:tabLst>
                <a:tab pos="228600" algn="l"/>
              </a:tabLst>
            </a:pPr>
            <a:r>
              <a:rPr lang="en-US" sz="1400" b="1" kern="100">
                <a:latin typeface="Helvetica Neue" panose="02000503000000020004"/>
                <a:ea typeface="DengXian"/>
                <a:cs typeface="Times New Roman"/>
              </a:rPr>
              <a:t>3.3</a:t>
            </a:r>
            <a:r>
              <a:rPr lang="en-US" sz="1400" b="1" kern="100">
                <a:effectLst/>
                <a:latin typeface="Helvetica Neue" panose="02000503000000020004"/>
                <a:ea typeface="DengXian"/>
                <a:cs typeface="Times New Roman"/>
              </a:rPr>
              <a:t> Project Phase</a:t>
            </a:r>
            <a:r>
              <a:rPr lang="en-US" sz="1400" b="1" kern="100">
                <a:latin typeface="Helvetica Neue" panose="02000503000000020004"/>
                <a:ea typeface="DengXian"/>
                <a:cs typeface="Times New Roman"/>
              </a:rPr>
              <a:t>/Timeline</a:t>
            </a:r>
            <a:endParaRPr lang="en-US" sz="1400" b="1" kern="100">
              <a:effectLst/>
              <a:latin typeface="Helvetica Neue" panose="02000503000000020004"/>
              <a:ea typeface="DengXian"/>
              <a:cs typeface="Times New Roman"/>
            </a:endParaRPr>
          </a:p>
        </p:txBody>
      </p:sp>
      <p:graphicFrame>
        <p:nvGraphicFramePr>
          <p:cNvPr id="7" name="Table 6">
            <a:extLst>
              <a:ext uri="{FF2B5EF4-FFF2-40B4-BE49-F238E27FC236}">
                <a16:creationId xmlns:a16="http://schemas.microsoft.com/office/drawing/2014/main" id="{92393D3C-AD6C-2D8D-1592-900859CE43DC}"/>
              </a:ext>
            </a:extLst>
          </p:cNvPr>
          <p:cNvGraphicFramePr>
            <a:graphicFrameLocks noGrp="1"/>
          </p:cNvGraphicFramePr>
          <p:nvPr/>
        </p:nvGraphicFramePr>
        <p:xfrm>
          <a:off x="717150" y="1512951"/>
          <a:ext cx="8471700" cy="2905567"/>
        </p:xfrm>
        <a:graphic>
          <a:graphicData uri="http://schemas.openxmlformats.org/drawingml/2006/table">
            <a:tbl>
              <a:tblPr firstRow="1" bandRow="1">
                <a:tableStyleId>{5C22544A-7EE6-4342-B048-85BDC9FD1C3A}</a:tableStyleId>
              </a:tblPr>
              <a:tblGrid>
                <a:gridCol w="941300">
                  <a:extLst>
                    <a:ext uri="{9D8B030D-6E8A-4147-A177-3AD203B41FA5}">
                      <a16:colId xmlns:a16="http://schemas.microsoft.com/office/drawing/2014/main" val="1356380221"/>
                    </a:ext>
                  </a:extLst>
                </a:gridCol>
                <a:gridCol w="941300">
                  <a:extLst>
                    <a:ext uri="{9D8B030D-6E8A-4147-A177-3AD203B41FA5}">
                      <a16:colId xmlns:a16="http://schemas.microsoft.com/office/drawing/2014/main" val="1725432079"/>
                    </a:ext>
                  </a:extLst>
                </a:gridCol>
                <a:gridCol w="941300">
                  <a:extLst>
                    <a:ext uri="{9D8B030D-6E8A-4147-A177-3AD203B41FA5}">
                      <a16:colId xmlns:a16="http://schemas.microsoft.com/office/drawing/2014/main" val="649724865"/>
                    </a:ext>
                  </a:extLst>
                </a:gridCol>
                <a:gridCol w="941300">
                  <a:extLst>
                    <a:ext uri="{9D8B030D-6E8A-4147-A177-3AD203B41FA5}">
                      <a16:colId xmlns:a16="http://schemas.microsoft.com/office/drawing/2014/main" val="1869165440"/>
                    </a:ext>
                  </a:extLst>
                </a:gridCol>
                <a:gridCol w="941300">
                  <a:extLst>
                    <a:ext uri="{9D8B030D-6E8A-4147-A177-3AD203B41FA5}">
                      <a16:colId xmlns:a16="http://schemas.microsoft.com/office/drawing/2014/main" val="1894501557"/>
                    </a:ext>
                  </a:extLst>
                </a:gridCol>
                <a:gridCol w="941300">
                  <a:extLst>
                    <a:ext uri="{9D8B030D-6E8A-4147-A177-3AD203B41FA5}">
                      <a16:colId xmlns:a16="http://schemas.microsoft.com/office/drawing/2014/main" val="827453330"/>
                    </a:ext>
                  </a:extLst>
                </a:gridCol>
                <a:gridCol w="941300">
                  <a:extLst>
                    <a:ext uri="{9D8B030D-6E8A-4147-A177-3AD203B41FA5}">
                      <a16:colId xmlns:a16="http://schemas.microsoft.com/office/drawing/2014/main" val="3320751739"/>
                    </a:ext>
                  </a:extLst>
                </a:gridCol>
                <a:gridCol w="941300">
                  <a:extLst>
                    <a:ext uri="{9D8B030D-6E8A-4147-A177-3AD203B41FA5}">
                      <a16:colId xmlns:a16="http://schemas.microsoft.com/office/drawing/2014/main" val="640445890"/>
                    </a:ext>
                  </a:extLst>
                </a:gridCol>
                <a:gridCol w="941300">
                  <a:extLst>
                    <a:ext uri="{9D8B030D-6E8A-4147-A177-3AD203B41FA5}">
                      <a16:colId xmlns:a16="http://schemas.microsoft.com/office/drawing/2014/main" val="3279467928"/>
                    </a:ext>
                  </a:extLst>
                </a:gridCol>
              </a:tblGrid>
              <a:tr h="376753">
                <a:tc>
                  <a:txBody>
                    <a:bodyPr/>
                    <a:lstStyle/>
                    <a:p>
                      <a:pPr algn="ctr"/>
                      <a:r>
                        <a:rPr lang="en-US" sz="1500"/>
                        <a:t>Apr 26</a:t>
                      </a:r>
                    </a:p>
                  </a:txBody>
                  <a:tcPr marL="74295" marR="74295" marT="37148" marB="37148"/>
                </a:tc>
                <a:tc>
                  <a:txBody>
                    <a:bodyPr/>
                    <a:lstStyle/>
                    <a:p>
                      <a:pPr algn="ctr"/>
                      <a:r>
                        <a:rPr lang="en-US" sz="1500"/>
                        <a:t>May 26</a:t>
                      </a:r>
                    </a:p>
                  </a:txBody>
                  <a:tcPr marL="74295" marR="74295" marT="37148" marB="37148"/>
                </a:tc>
                <a:tc>
                  <a:txBody>
                    <a:bodyPr/>
                    <a:lstStyle/>
                    <a:p>
                      <a:pPr algn="ctr"/>
                      <a:r>
                        <a:rPr lang="en-US" sz="1500"/>
                        <a:t>Jun 26</a:t>
                      </a:r>
                    </a:p>
                  </a:txBody>
                  <a:tcPr marL="74295" marR="74295" marT="37148" marB="37148"/>
                </a:tc>
                <a:tc>
                  <a:txBody>
                    <a:bodyPr/>
                    <a:lstStyle/>
                    <a:p>
                      <a:pPr algn="ctr"/>
                      <a:r>
                        <a:rPr lang="en-US" sz="1500"/>
                        <a:t>Jul 26</a:t>
                      </a:r>
                    </a:p>
                  </a:txBody>
                  <a:tcPr marL="74295" marR="74295" marT="37148" marB="37148"/>
                </a:tc>
                <a:tc>
                  <a:txBody>
                    <a:bodyPr/>
                    <a:lstStyle/>
                    <a:p>
                      <a:pPr algn="ctr"/>
                      <a:r>
                        <a:rPr lang="en-US" sz="1500"/>
                        <a:t>Aug 26</a:t>
                      </a:r>
                    </a:p>
                  </a:txBody>
                  <a:tcPr marL="74295" marR="74295" marT="37148" marB="37148"/>
                </a:tc>
                <a:tc>
                  <a:txBody>
                    <a:bodyPr/>
                    <a:lstStyle/>
                    <a:p>
                      <a:pPr algn="ctr"/>
                      <a:r>
                        <a:rPr lang="en-US" sz="1500"/>
                        <a:t>Sep 26</a:t>
                      </a:r>
                    </a:p>
                  </a:txBody>
                  <a:tcPr marL="74295" marR="74295" marT="37148" marB="37148"/>
                </a:tc>
                <a:tc>
                  <a:txBody>
                    <a:bodyPr/>
                    <a:lstStyle/>
                    <a:p>
                      <a:pPr algn="ctr"/>
                      <a:r>
                        <a:rPr lang="en-US" sz="1500"/>
                        <a:t>Oct 26</a:t>
                      </a:r>
                    </a:p>
                  </a:txBody>
                  <a:tcPr marL="74295" marR="74295" marT="37148" marB="37148"/>
                </a:tc>
                <a:tc>
                  <a:txBody>
                    <a:bodyPr/>
                    <a:lstStyle/>
                    <a:p>
                      <a:pPr algn="ctr"/>
                      <a:r>
                        <a:rPr lang="en-US" sz="1500"/>
                        <a:t>Nov 26</a:t>
                      </a:r>
                    </a:p>
                  </a:txBody>
                  <a:tcPr marL="74295" marR="74295" marT="37148" marB="37148"/>
                </a:tc>
                <a:tc>
                  <a:txBody>
                    <a:bodyPr/>
                    <a:lstStyle/>
                    <a:p>
                      <a:pPr algn="ctr"/>
                      <a:r>
                        <a:rPr lang="en-US" sz="1500"/>
                        <a:t>Dec 26</a:t>
                      </a:r>
                    </a:p>
                  </a:txBody>
                  <a:tcPr marL="74295" marR="74295" marT="37148" marB="37148"/>
                </a:tc>
                <a:extLst>
                  <a:ext uri="{0D108BD9-81ED-4DB2-BD59-A6C34878D82A}">
                    <a16:rowId xmlns:a16="http://schemas.microsoft.com/office/drawing/2014/main" val="1086133718"/>
                  </a:ext>
                </a:extLst>
              </a:tr>
              <a:tr h="2528814">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tc>
                  <a:txBody>
                    <a:bodyPr/>
                    <a:lstStyle/>
                    <a:p>
                      <a:endParaRPr lang="en-US" sz="1500"/>
                    </a:p>
                  </a:txBody>
                  <a:tcPr marL="74295" marR="74295" marT="37148" marB="37148"/>
                </a:tc>
                <a:extLst>
                  <a:ext uri="{0D108BD9-81ED-4DB2-BD59-A6C34878D82A}">
                    <a16:rowId xmlns:a16="http://schemas.microsoft.com/office/drawing/2014/main" val="688445474"/>
                  </a:ext>
                </a:extLst>
              </a:tr>
            </a:tbl>
          </a:graphicData>
        </a:graphic>
      </p:graphicFrame>
      <p:sp>
        <p:nvSpPr>
          <p:cNvPr id="9" name="Rectangle: Rounded Corners 8">
            <a:extLst>
              <a:ext uri="{FF2B5EF4-FFF2-40B4-BE49-F238E27FC236}">
                <a16:creationId xmlns:a16="http://schemas.microsoft.com/office/drawing/2014/main" id="{6781B313-2E53-DB1E-2B51-BA970F4A8E14}"/>
              </a:ext>
            </a:extLst>
          </p:cNvPr>
          <p:cNvSpPr/>
          <p:nvPr/>
        </p:nvSpPr>
        <p:spPr>
          <a:xfrm>
            <a:off x="1016000" y="1894278"/>
            <a:ext cx="606401" cy="4973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t>Enabler</a:t>
            </a:r>
          </a:p>
        </p:txBody>
      </p:sp>
      <p:pic>
        <p:nvPicPr>
          <p:cNvPr id="13" name="Graphic 12" descr="Badge New with solid fill">
            <a:extLst>
              <a:ext uri="{FF2B5EF4-FFF2-40B4-BE49-F238E27FC236}">
                <a16:creationId xmlns:a16="http://schemas.microsoft.com/office/drawing/2014/main" id="{15EBD07B-E44A-7EF6-2B47-4B7CAF5AC5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1904" y="3335137"/>
            <a:ext cx="356257" cy="317302"/>
          </a:xfrm>
          <a:prstGeom prst="rect">
            <a:avLst/>
          </a:prstGeom>
        </p:spPr>
      </p:pic>
      <p:sp>
        <p:nvSpPr>
          <p:cNvPr id="14" name="TextBox 13">
            <a:extLst>
              <a:ext uri="{FF2B5EF4-FFF2-40B4-BE49-F238E27FC236}">
                <a16:creationId xmlns:a16="http://schemas.microsoft.com/office/drawing/2014/main" id="{D8D3AAED-9FB0-A038-D93E-8CB17794FF91}"/>
              </a:ext>
            </a:extLst>
          </p:cNvPr>
          <p:cNvSpPr txBox="1"/>
          <p:nvPr/>
        </p:nvSpPr>
        <p:spPr>
          <a:xfrm>
            <a:off x="3211061" y="3571250"/>
            <a:ext cx="1157739" cy="442557"/>
          </a:xfrm>
          <a:prstGeom prst="rect">
            <a:avLst/>
          </a:prstGeom>
          <a:noFill/>
        </p:spPr>
        <p:txBody>
          <a:bodyPr wrap="square" rtlCol="0">
            <a:spAutoFit/>
          </a:bodyPr>
          <a:lstStyle/>
          <a:p>
            <a:r>
              <a:rPr lang="en-US" sz="1138" b="1"/>
              <a:t>Partial Go Live 1  (W4 Jun 26)</a:t>
            </a:r>
          </a:p>
        </p:txBody>
      </p:sp>
      <p:pic>
        <p:nvPicPr>
          <p:cNvPr id="16" name="Graphic 15" descr="Badge New with solid fill">
            <a:extLst>
              <a:ext uri="{FF2B5EF4-FFF2-40B4-BE49-F238E27FC236}">
                <a16:creationId xmlns:a16="http://schemas.microsoft.com/office/drawing/2014/main" id="{2F0D488D-759A-6CF0-AEA3-C77ECFDDAA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59488" y="3303911"/>
            <a:ext cx="356257" cy="317302"/>
          </a:xfrm>
          <a:prstGeom prst="rect">
            <a:avLst/>
          </a:prstGeom>
        </p:spPr>
      </p:pic>
      <p:sp>
        <p:nvSpPr>
          <p:cNvPr id="17" name="TextBox 16">
            <a:extLst>
              <a:ext uri="{FF2B5EF4-FFF2-40B4-BE49-F238E27FC236}">
                <a16:creationId xmlns:a16="http://schemas.microsoft.com/office/drawing/2014/main" id="{98F504E3-E1E4-97F1-FA4B-3CFC0CA245D8}"/>
              </a:ext>
            </a:extLst>
          </p:cNvPr>
          <p:cNvSpPr txBox="1"/>
          <p:nvPr/>
        </p:nvSpPr>
        <p:spPr>
          <a:xfrm>
            <a:off x="8133264" y="3578087"/>
            <a:ext cx="1157738" cy="442557"/>
          </a:xfrm>
          <a:prstGeom prst="rect">
            <a:avLst/>
          </a:prstGeom>
          <a:noFill/>
        </p:spPr>
        <p:txBody>
          <a:bodyPr wrap="square" rtlCol="0">
            <a:spAutoFit/>
          </a:bodyPr>
          <a:lstStyle/>
          <a:p>
            <a:r>
              <a:rPr lang="en-US" sz="1138" b="1"/>
              <a:t>Full Go-Live (W2 Dec 26)</a:t>
            </a:r>
          </a:p>
        </p:txBody>
      </p:sp>
      <p:sp>
        <p:nvSpPr>
          <p:cNvPr id="18" name="TextBox 17">
            <a:extLst>
              <a:ext uri="{FF2B5EF4-FFF2-40B4-BE49-F238E27FC236}">
                <a16:creationId xmlns:a16="http://schemas.microsoft.com/office/drawing/2014/main" id="{A5DC5BCF-ADEA-AB24-907D-E3514AEE9437}"/>
              </a:ext>
            </a:extLst>
          </p:cNvPr>
          <p:cNvSpPr txBox="1"/>
          <p:nvPr/>
        </p:nvSpPr>
        <p:spPr>
          <a:xfrm>
            <a:off x="735723" y="3818353"/>
            <a:ext cx="2992438" cy="617670"/>
          </a:xfrm>
          <a:prstGeom prst="rect">
            <a:avLst/>
          </a:prstGeom>
          <a:noFill/>
        </p:spPr>
        <p:txBody>
          <a:bodyPr wrap="square" rtlCol="0">
            <a:spAutoFit/>
          </a:bodyPr>
          <a:lstStyle/>
          <a:p>
            <a:r>
              <a:rPr lang="en-US" sz="1138" b="1"/>
              <a:t>Enabler activities : </a:t>
            </a:r>
            <a:br>
              <a:rPr lang="en-US" sz="1138" b="1"/>
            </a:br>
            <a:r>
              <a:rPr lang="en-US" sz="1138"/>
              <a:t>1. Prepare development environment</a:t>
            </a:r>
          </a:p>
          <a:p>
            <a:r>
              <a:rPr lang="en-US" sz="1138"/>
              <a:t>2. Resources procurement </a:t>
            </a:r>
          </a:p>
        </p:txBody>
      </p:sp>
      <p:sp>
        <p:nvSpPr>
          <p:cNvPr id="19" name="TextBox 18">
            <a:extLst>
              <a:ext uri="{FF2B5EF4-FFF2-40B4-BE49-F238E27FC236}">
                <a16:creationId xmlns:a16="http://schemas.microsoft.com/office/drawing/2014/main" id="{ABE8EB85-BAC6-FAF2-9B9E-CC6B9327E570}"/>
              </a:ext>
            </a:extLst>
          </p:cNvPr>
          <p:cNvSpPr txBox="1"/>
          <p:nvPr/>
        </p:nvSpPr>
        <p:spPr>
          <a:xfrm>
            <a:off x="633571" y="4358459"/>
            <a:ext cx="8638858" cy="1896288"/>
          </a:xfrm>
          <a:prstGeom prst="rect">
            <a:avLst/>
          </a:prstGeom>
          <a:noFill/>
        </p:spPr>
        <p:txBody>
          <a:bodyPr wrap="square">
            <a:spAutoFit/>
          </a:bodyPr>
          <a:lstStyle/>
          <a:p>
            <a:pPr algn="just" fontAlgn="base">
              <a:lnSpc>
                <a:spcPts val="1036"/>
              </a:lnSpc>
            </a:pPr>
            <a:endParaRPr lang="en-US" sz="1200">
              <a:solidFill>
                <a:srgbClr val="000000"/>
              </a:solidFill>
              <a:latin typeface="+mj-lt"/>
            </a:endParaRPr>
          </a:p>
          <a:p>
            <a:pPr marL="278606" indent="-278606" algn="just" fontAlgn="base">
              <a:lnSpc>
                <a:spcPts val="1036"/>
              </a:lnSpc>
              <a:buFont typeface="+mj-lt"/>
              <a:buAutoNum type="alphaLcParenR"/>
            </a:pPr>
            <a:r>
              <a:rPr lang="en-ID" sz="1200">
                <a:solidFill>
                  <a:srgbClr val="000000"/>
                </a:solidFill>
                <a:latin typeface="+mj-lt"/>
              </a:rPr>
              <a:t>This timeline can be more shorten or become longer, depends on scope items review result on each iteration time (2 Weeks). ​</a:t>
            </a:r>
          </a:p>
          <a:p>
            <a:pPr marL="278606" indent="-278606" algn="just" fontAlgn="base">
              <a:lnSpc>
                <a:spcPts val="1036"/>
              </a:lnSpc>
              <a:buFont typeface="+mj-lt"/>
              <a:buAutoNum type="alphaLcParenR"/>
            </a:pPr>
            <a:endParaRPr lang="en-ID" sz="1200">
              <a:solidFill>
                <a:srgbClr val="000000"/>
              </a:solidFill>
              <a:latin typeface="+mj-lt"/>
            </a:endParaRPr>
          </a:p>
          <a:p>
            <a:pPr marL="278606" indent="-278606" algn="just" fontAlgn="base">
              <a:lnSpc>
                <a:spcPts val="1036"/>
              </a:lnSpc>
              <a:buFont typeface="+mj-lt"/>
              <a:buAutoNum type="alphaLcParenR"/>
            </a:pPr>
            <a:r>
              <a:rPr lang="en-ID" sz="1200">
                <a:solidFill>
                  <a:srgbClr val="000000"/>
                </a:solidFill>
                <a:latin typeface="+mj-lt"/>
              </a:rPr>
              <a:t>Any adjustment on scope or priority based on MMKSI request is welcome on the agile methods.​</a:t>
            </a:r>
          </a:p>
          <a:p>
            <a:pPr marL="278606" indent="-278606" algn="just" fontAlgn="base">
              <a:lnSpc>
                <a:spcPts val="1036"/>
              </a:lnSpc>
              <a:buFont typeface="+mj-lt"/>
              <a:buAutoNum type="alphaLcParenR"/>
            </a:pPr>
            <a:endParaRPr lang="en-ID" sz="1200">
              <a:solidFill>
                <a:srgbClr val="000000"/>
              </a:solidFill>
              <a:latin typeface="+mj-lt"/>
            </a:endParaRPr>
          </a:p>
          <a:p>
            <a:pPr marL="278606" indent="-278606" algn="just" fontAlgn="base">
              <a:lnSpc>
                <a:spcPts val="1036"/>
              </a:lnSpc>
              <a:buFont typeface="+mj-lt"/>
              <a:buAutoNum type="alphaLcParenR"/>
            </a:pPr>
            <a:r>
              <a:rPr lang="en-ID" sz="1200">
                <a:solidFill>
                  <a:srgbClr val="000000"/>
                </a:solidFill>
                <a:latin typeface="+mj-lt"/>
              </a:rPr>
              <a:t>MMKSI will review product backlog incremental progress through iteration demo meeting every biweekly.​</a:t>
            </a:r>
          </a:p>
          <a:p>
            <a:pPr marL="278606" indent="-278606" algn="just" fontAlgn="base">
              <a:lnSpc>
                <a:spcPts val="1036"/>
              </a:lnSpc>
              <a:buFont typeface="+mj-lt"/>
              <a:buAutoNum type="alphaLcParenR"/>
            </a:pPr>
            <a:endParaRPr lang="en-ID" sz="1200">
              <a:solidFill>
                <a:srgbClr val="000000"/>
              </a:solidFill>
              <a:latin typeface="+mj-lt"/>
            </a:endParaRPr>
          </a:p>
          <a:p>
            <a:pPr marL="278606" indent="-278606" algn="just" fontAlgn="base">
              <a:lnSpc>
                <a:spcPts val="1036"/>
              </a:lnSpc>
              <a:buFont typeface="+mj-lt"/>
              <a:buAutoNum type="alphaLcParenR"/>
            </a:pPr>
            <a:r>
              <a:rPr lang="en-ID" sz="1200">
                <a:solidFill>
                  <a:srgbClr val="000000"/>
                </a:solidFill>
                <a:latin typeface="+mj-lt"/>
              </a:rPr>
              <a:t>MMKSI will take decision whether the improvement from iteration review (demo) will be released per iteration or not (partially released) and it will always continue with Review (PDCA) activity.​</a:t>
            </a:r>
          </a:p>
          <a:p>
            <a:pPr marL="278606" indent="-278606" algn="just" fontAlgn="base">
              <a:lnSpc>
                <a:spcPts val="1036"/>
              </a:lnSpc>
              <a:buFont typeface="+mj-lt"/>
              <a:buAutoNum type="alphaLcParenR"/>
            </a:pPr>
            <a:endParaRPr lang="en-ID" sz="1200">
              <a:solidFill>
                <a:srgbClr val="000000"/>
              </a:solidFill>
              <a:latin typeface="+mj-lt"/>
            </a:endParaRPr>
          </a:p>
          <a:p>
            <a:pPr marL="278606" indent="-278606" algn="just" fontAlgn="base">
              <a:lnSpc>
                <a:spcPts val="1036"/>
              </a:lnSpc>
              <a:buFont typeface="+mj-lt"/>
              <a:buAutoNum type="alphaLcParenR"/>
            </a:pPr>
            <a:r>
              <a:rPr lang="en-ID" sz="1200">
                <a:solidFill>
                  <a:srgbClr val="000000"/>
                </a:solidFill>
                <a:latin typeface="+mj-lt"/>
              </a:rPr>
              <a:t>PDCA review must be conducted during operation after partial 1</a:t>
            </a:r>
            <a:r>
              <a:rPr lang="en-ID" sz="1200" baseline="30000">
                <a:solidFill>
                  <a:srgbClr val="000000"/>
                </a:solidFill>
                <a:latin typeface="+mj-lt"/>
              </a:rPr>
              <a:t>st</a:t>
            </a:r>
            <a:r>
              <a:rPr lang="en-ID" sz="1200">
                <a:solidFill>
                  <a:srgbClr val="000000"/>
                </a:solidFill>
                <a:latin typeface="+mj-lt"/>
              </a:rPr>
              <a:t> go live.</a:t>
            </a:r>
          </a:p>
          <a:p>
            <a:pPr marL="278606" indent="-278606" algn="just" fontAlgn="base">
              <a:lnSpc>
                <a:spcPts val="1036"/>
              </a:lnSpc>
              <a:buFont typeface="+mj-lt"/>
              <a:buAutoNum type="alphaLcParenR"/>
            </a:pPr>
            <a:endParaRPr lang="en-ID" sz="1200">
              <a:solidFill>
                <a:srgbClr val="000000"/>
              </a:solidFill>
              <a:latin typeface="+mj-lt"/>
            </a:endParaRPr>
          </a:p>
          <a:p>
            <a:pPr marL="278606" indent="-278606" algn="just" fontAlgn="base">
              <a:lnSpc>
                <a:spcPts val="1036"/>
              </a:lnSpc>
              <a:buFont typeface="+mj-lt"/>
              <a:buAutoNum type="alphaLcParenR"/>
            </a:pPr>
            <a:r>
              <a:rPr lang="en-ID" sz="1200">
                <a:solidFill>
                  <a:srgbClr val="000000"/>
                </a:solidFill>
                <a:latin typeface="+mj-lt"/>
              </a:rPr>
              <a:t>Every new potential improvement (output from PDCA Result) can be put as additional product backlog and put on development chain activity based on decision from MMKSI to absorb it or not.​</a:t>
            </a:r>
          </a:p>
        </p:txBody>
      </p:sp>
      <p:sp>
        <p:nvSpPr>
          <p:cNvPr id="8" name="Rectangle: Rounded Corners 7">
            <a:extLst>
              <a:ext uri="{FF2B5EF4-FFF2-40B4-BE49-F238E27FC236}">
                <a16:creationId xmlns:a16="http://schemas.microsoft.com/office/drawing/2014/main" id="{713BAE49-1686-2856-FF06-03298B78BA36}"/>
              </a:ext>
            </a:extLst>
          </p:cNvPr>
          <p:cNvSpPr/>
          <p:nvPr/>
        </p:nvSpPr>
        <p:spPr>
          <a:xfrm>
            <a:off x="1622401" y="1932905"/>
            <a:ext cx="7247957" cy="137221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369B5E7F-E5F4-F474-D066-75632942746D}"/>
              </a:ext>
            </a:extLst>
          </p:cNvPr>
          <p:cNvSpPr/>
          <p:nvPr/>
        </p:nvSpPr>
        <p:spPr>
          <a:xfrm>
            <a:off x="7382884" y="2118138"/>
            <a:ext cx="1342447" cy="1186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ea typeface="Calibri" panose="020F0502020204030204"/>
                <a:cs typeface="Calibri" panose="020F0502020204030204"/>
              </a:rPr>
              <a:t>Development 4</a:t>
            </a:r>
            <a:r>
              <a:rPr lang="en-US" sz="1000" baseline="30000">
                <a:ea typeface="Calibri" panose="020F0502020204030204"/>
                <a:cs typeface="Calibri" panose="020F0502020204030204"/>
              </a:rPr>
              <a:t>th</a:t>
            </a:r>
            <a:r>
              <a:rPr lang="en-US" sz="1000">
                <a:ea typeface="Calibri" panose="020F0502020204030204"/>
                <a:cs typeface="Calibri" panose="020F0502020204030204"/>
              </a:rPr>
              <a:t> Backlogs:</a:t>
            </a:r>
            <a:br>
              <a:rPr lang="en-US" sz="1100">
                <a:ea typeface="Calibri" panose="020F0502020204030204"/>
                <a:cs typeface="Calibri" panose="020F0502020204030204"/>
              </a:rPr>
            </a:br>
            <a:r>
              <a:rPr lang="en-US" sz="1100">
                <a:ea typeface="Calibri" panose="020F0502020204030204"/>
                <a:cs typeface="Calibri" panose="020F0502020204030204"/>
              </a:rPr>
              <a:t>Training Management</a:t>
            </a:r>
          </a:p>
        </p:txBody>
      </p:sp>
      <p:sp>
        <p:nvSpPr>
          <p:cNvPr id="12" name="Rectangle: Rounded Corners 11">
            <a:extLst>
              <a:ext uri="{FF2B5EF4-FFF2-40B4-BE49-F238E27FC236}">
                <a16:creationId xmlns:a16="http://schemas.microsoft.com/office/drawing/2014/main" id="{FE4E089C-C553-B233-7E43-8C2165E769BD}"/>
              </a:ext>
            </a:extLst>
          </p:cNvPr>
          <p:cNvSpPr/>
          <p:nvPr/>
        </p:nvSpPr>
        <p:spPr>
          <a:xfrm>
            <a:off x="1665944" y="2109427"/>
            <a:ext cx="1861503" cy="1186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t>Development 1</a:t>
            </a:r>
            <a:r>
              <a:rPr lang="en-US" sz="1100" baseline="30000"/>
              <a:t>st</a:t>
            </a:r>
            <a:r>
              <a:rPr lang="en-US" sz="1100"/>
              <a:t> Backlogs :</a:t>
            </a:r>
          </a:p>
          <a:p>
            <a:pPr marL="278130" indent="-278130">
              <a:buAutoNum type="arabicPeriod"/>
            </a:pPr>
            <a:r>
              <a:rPr lang="en-US" sz="1100"/>
              <a:t>Master Data configuration</a:t>
            </a:r>
            <a:endParaRPr lang="en-US" sz="1100">
              <a:ea typeface="Calibri"/>
              <a:cs typeface="Calibri"/>
            </a:endParaRPr>
          </a:p>
          <a:p>
            <a:pPr marL="278130" indent="-278130">
              <a:buAutoNum type="arabicPeriod"/>
            </a:pPr>
            <a:r>
              <a:rPr lang="en-US" sz="1138"/>
              <a:t>Performance Evaluation</a:t>
            </a:r>
            <a:endParaRPr lang="en-US" sz="1138">
              <a:ea typeface="Calibri" panose="020F0502020204030204"/>
              <a:cs typeface="Calibri" panose="020F0502020204030204"/>
            </a:endParaRPr>
          </a:p>
          <a:p>
            <a:pPr marL="278130" indent="-278130">
              <a:buAutoNum type="arabicPeriod"/>
            </a:pPr>
            <a:r>
              <a:rPr lang="en-US" sz="1138"/>
              <a:t>Master data migration</a:t>
            </a:r>
            <a:endParaRPr lang="en-US" sz="1138">
              <a:ea typeface="Calibri" panose="020F0502020204030204"/>
              <a:cs typeface="Calibri" panose="020F0502020204030204"/>
            </a:endParaRPr>
          </a:p>
        </p:txBody>
      </p:sp>
      <p:sp>
        <p:nvSpPr>
          <p:cNvPr id="15" name="Rectangle: Rounded Corners 14">
            <a:extLst>
              <a:ext uri="{FF2B5EF4-FFF2-40B4-BE49-F238E27FC236}">
                <a16:creationId xmlns:a16="http://schemas.microsoft.com/office/drawing/2014/main" id="{F9BD94D5-A37D-57B8-2ACC-4BEE2D2ECF1E}"/>
              </a:ext>
            </a:extLst>
          </p:cNvPr>
          <p:cNvSpPr/>
          <p:nvPr/>
        </p:nvSpPr>
        <p:spPr>
          <a:xfrm>
            <a:off x="3531212" y="2122777"/>
            <a:ext cx="2876837" cy="1186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t>Development 2</a:t>
            </a:r>
            <a:r>
              <a:rPr lang="en-US" sz="1100" baseline="30000"/>
              <a:t>nd</a:t>
            </a:r>
            <a:r>
              <a:rPr lang="en-US" sz="1100"/>
              <a:t> Backlogs:</a:t>
            </a:r>
          </a:p>
          <a:p>
            <a:pPr marL="278130" indent="-278130">
              <a:buAutoNum type="arabicPeriod"/>
            </a:pPr>
            <a:r>
              <a:rPr lang="en-US" sz="1138"/>
              <a:t>Man-Power Planning (MPP)</a:t>
            </a:r>
            <a:endParaRPr lang="en-US" sz="1138">
              <a:ea typeface="Calibri" panose="020F0502020204030204"/>
              <a:cs typeface="Calibri" panose="020F0502020204030204"/>
            </a:endParaRPr>
          </a:p>
          <a:p>
            <a:pPr marL="278130" indent="-278130">
              <a:buAutoNum type="arabicPeriod"/>
            </a:pPr>
            <a:r>
              <a:rPr lang="en-US" sz="1100"/>
              <a:t>Recruitment</a:t>
            </a:r>
            <a:endParaRPr lang="en-US"/>
          </a:p>
        </p:txBody>
      </p:sp>
      <p:sp>
        <p:nvSpPr>
          <p:cNvPr id="20" name="Rectangle: Rounded Corners 19">
            <a:extLst>
              <a:ext uri="{FF2B5EF4-FFF2-40B4-BE49-F238E27FC236}">
                <a16:creationId xmlns:a16="http://schemas.microsoft.com/office/drawing/2014/main" id="{76B4EBC0-A7F0-F2F3-3F6A-E1F5E7B1CF37}"/>
              </a:ext>
            </a:extLst>
          </p:cNvPr>
          <p:cNvSpPr/>
          <p:nvPr/>
        </p:nvSpPr>
        <p:spPr>
          <a:xfrm>
            <a:off x="6396383" y="2125719"/>
            <a:ext cx="978637" cy="1186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00">
                <a:ea typeface="Calibri" panose="020F0502020204030204"/>
                <a:cs typeface="Calibri" panose="020F0502020204030204"/>
              </a:rPr>
              <a:t>Development 3</a:t>
            </a:r>
            <a:r>
              <a:rPr lang="en-US" sz="1000" baseline="30000">
                <a:ea typeface="Calibri" panose="020F0502020204030204"/>
                <a:cs typeface="Calibri" panose="020F0502020204030204"/>
              </a:rPr>
              <a:t>rd</a:t>
            </a:r>
            <a:r>
              <a:rPr lang="en-US" sz="1000">
                <a:ea typeface="Calibri" panose="020F0502020204030204"/>
                <a:cs typeface="Calibri" panose="020F0502020204030204"/>
              </a:rPr>
              <a:t> Backlogs:</a:t>
            </a:r>
          </a:p>
          <a:p>
            <a:r>
              <a:rPr lang="en-US" sz="1100">
                <a:ea typeface="Calibri" panose="020F0502020204030204"/>
                <a:cs typeface="Calibri" panose="020F0502020204030204"/>
              </a:rPr>
              <a:t>Promotion Evaluation</a:t>
            </a:r>
            <a:endParaRPr lang="en-US"/>
          </a:p>
        </p:txBody>
      </p:sp>
      <p:sp>
        <p:nvSpPr>
          <p:cNvPr id="10" name="TextBox 9">
            <a:extLst>
              <a:ext uri="{FF2B5EF4-FFF2-40B4-BE49-F238E27FC236}">
                <a16:creationId xmlns:a16="http://schemas.microsoft.com/office/drawing/2014/main" id="{318CCF10-4F28-AB7B-176C-C88A6B2B3FCE}"/>
              </a:ext>
            </a:extLst>
          </p:cNvPr>
          <p:cNvSpPr txBox="1"/>
          <p:nvPr/>
        </p:nvSpPr>
        <p:spPr>
          <a:xfrm>
            <a:off x="1744626" y="1885743"/>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ea typeface="Calibri"/>
                <a:cs typeface="Calibri"/>
              </a:rPr>
              <a:t>Development Iteration</a:t>
            </a:r>
            <a:endParaRPr lang="en-US" sz="1000" b="1"/>
          </a:p>
        </p:txBody>
      </p:sp>
    </p:spTree>
    <p:extLst>
      <p:ext uri="{BB962C8B-B14F-4D97-AF65-F5344CB8AC3E}">
        <p14:creationId xmlns:p14="http://schemas.microsoft.com/office/powerpoint/2010/main" val="9432325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F0F06D-D95A-0BD4-CE6C-7E97EDB0DC9E}"/>
              </a:ext>
            </a:extLst>
          </p:cNvPr>
          <p:cNvSpPr txBox="1">
            <a:spLocks/>
          </p:cNvSpPr>
          <p:nvPr/>
        </p:nvSpPr>
        <p:spPr>
          <a:xfrm>
            <a:off x="578932" y="204709"/>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rPr>
              <a:t>5. Timeline</a:t>
            </a:r>
            <a:endParaRPr lang="en-ID">
              <a:latin typeface="Helvetica Neue" panose="02000503000000020004"/>
            </a:endParaRPr>
          </a:p>
        </p:txBody>
      </p:sp>
      <p:sp>
        <p:nvSpPr>
          <p:cNvPr id="6" name="TextBox 5">
            <a:extLst>
              <a:ext uri="{FF2B5EF4-FFF2-40B4-BE49-F238E27FC236}">
                <a16:creationId xmlns:a16="http://schemas.microsoft.com/office/drawing/2014/main" id="{15277B9B-D8B0-9B68-AB30-AEA0E418B0F1}"/>
              </a:ext>
            </a:extLst>
          </p:cNvPr>
          <p:cNvSpPr txBox="1"/>
          <p:nvPr/>
        </p:nvSpPr>
        <p:spPr>
          <a:xfrm>
            <a:off x="754779" y="1201400"/>
            <a:ext cx="8484772" cy="307777"/>
          </a:xfrm>
          <a:prstGeom prst="rect">
            <a:avLst/>
          </a:prstGeom>
          <a:noFill/>
        </p:spPr>
        <p:txBody>
          <a:bodyPr wrap="square">
            <a:spAutoFit/>
          </a:bodyPr>
          <a:lstStyle/>
          <a:p>
            <a:r>
              <a:rPr lang="en-US" sz="1400"/>
              <a:t>The project is estimated to be completed within </a:t>
            </a:r>
            <a:r>
              <a:rPr lang="en-US" sz="1400" b="1"/>
              <a:t>32 weeks</a:t>
            </a:r>
            <a:r>
              <a:rPr lang="en-US" sz="1400"/>
              <a:t>, structured as follows:</a:t>
            </a:r>
          </a:p>
        </p:txBody>
      </p:sp>
      <p:sp>
        <p:nvSpPr>
          <p:cNvPr id="2" name="Slide Number Placeholder 5">
            <a:extLst>
              <a:ext uri="{FF2B5EF4-FFF2-40B4-BE49-F238E27FC236}">
                <a16:creationId xmlns:a16="http://schemas.microsoft.com/office/drawing/2014/main" id="{0532D0C0-7778-2D88-F94A-717F09076D51}"/>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76</a:t>
            </a:fld>
            <a:endParaRPr lang="en-GB"/>
          </a:p>
        </p:txBody>
      </p:sp>
      <p:sp>
        <p:nvSpPr>
          <p:cNvPr id="5" name="Footer Placeholder 4">
            <a:extLst>
              <a:ext uri="{FF2B5EF4-FFF2-40B4-BE49-F238E27FC236}">
                <a16:creationId xmlns:a16="http://schemas.microsoft.com/office/drawing/2014/main" id="{064ECAEB-B0DD-038B-A54F-D9EE8D4ACFB0}"/>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pic>
        <p:nvPicPr>
          <p:cNvPr id="15" name="Picture 14">
            <a:extLst>
              <a:ext uri="{FF2B5EF4-FFF2-40B4-BE49-F238E27FC236}">
                <a16:creationId xmlns:a16="http://schemas.microsoft.com/office/drawing/2014/main" id="{9C436045-0123-A6DA-EDBC-A0732D83BCA0}"/>
              </a:ext>
            </a:extLst>
          </p:cNvPr>
          <p:cNvPicPr>
            <a:picLocks noChangeAspect="1"/>
          </p:cNvPicPr>
          <p:nvPr/>
        </p:nvPicPr>
        <p:blipFill>
          <a:blip r:embed="rId3"/>
          <a:stretch>
            <a:fillRect/>
          </a:stretch>
        </p:blipFill>
        <p:spPr>
          <a:xfrm>
            <a:off x="763926" y="1890236"/>
            <a:ext cx="8976882" cy="3861475"/>
          </a:xfrm>
          <a:prstGeom prst="rect">
            <a:avLst/>
          </a:prstGeom>
        </p:spPr>
      </p:pic>
      <p:sp>
        <p:nvSpPr>
          <p:cNvPr id="3" name="TextBox 2">
            <a:extLst>
              <a:ext uri="{FF2B5EF4-FFF2-40B4-BE49-F238E27FC236}">
                <a16:creationId xmlns:a16="http://schemas.microsoft.com/office/drawing/2014/main" id="{89522BC4-9EEC-BB9C-1895-2A006F291DAB}"/>
              </a:ext>
            </a:extLst>
          </p:cNvPr>
          <p:cNvSpPr txBox="1"/>
          <p:nvPr/>
        </p:nvSpPr>
        <p:spPr>
          <a:xfrm>
            <a:off x="754779" y="874003"/>
            <a:ext cx="3264522" cy="327397"/>
          </a:xfrm>
          <a:prstGeom prst="rect">
            <a:avLst/>
          </a:prstGeom>
          <a:noFill/>
        </p:spPr>
        <p:txBody>
          <a:bodyPr wrap="square">
            <a:spAutoFit/>
          </a:bodyPr>
          <a:lstStyle/>
          <a:p>
            <a:pPr marR="0" lvl="0">
              <a:lnSpc>
                <a:spcPct val="115000"/>
              </a:lnSpc>
              <a:tabLst>
                <a:tab pos="228600" algn="l"/>
              </a:tabLst>
            </a:pPr>
            <a:r>
              <a:rPr lang="en-US" sz="1400" b="1" kern="100">
                <a:latin typeface="Helvetica Neue" panose="02000503000000020004"/>
                <a:ea typeface="DengXian" panose="02010600030101010101" pitchFamily="2" charset="-122"/>
                <a:cs typeface="Times New Roman" panose="02020603050405020304" pitchFamily="18" charset="0"/>
              </a:rPr>
              <a:t>5</a:t>
            </a:r>
            <a:r>
              <a:rPr lang="en-US" sz="1400" b="1" kern="100">
                <a:effectLst/>
                <a:latin typeface="Helvetica Neue" panose="02000503000000020004"/>
                <a:ea typeface="DengXian" panose="02010600030101010101" pitchFamily="2" charset="-122"/>
                <a:cs typeface="Times New Roman" panose="02020603050405020304" pitchFamily="18" charset="0"/>
              </a:rPr>
              <a:t>.1 Timeline</a:t>
            </a:r>
          </a:p>
        </p:txBody>
      </p:sp>
    </p:spTree>
    <p:extLst>
      <p:ext uri="{BB962C8B-B14F-4D97-AF65-F5344CB8AC3E}">
        <p14:creationId xmlns:p14="http://schemas.microsoft.com/office/powerpoint/2010/main" val="1860719612"/>
      </p:ext>
    </p:extLst>
  </p:cSld>
  <p:clrMapOvr>
    <a:masterClrMapping/>
  </p:clrMapOvr>
  <p:extLst>
    <p:ext uri="{6950BFC3-D8DA-4A85-94F7-54DA5524770B}">
      <p188:commentRel xmlns:p188="http://schemas.microsoft.com/office/powerpoint/2018/8/main" r:id="rId2"/>
    </p:ext>
  </p:extLs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231045-97BE-7E37-27AD-833651179B2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6B7063-135B-FEE1-537A-FA842C880628}"/>
              </a:ext>
            </a:extLst>
          </p:cNvPr>
          <p:cNvSpPr txBox="1">
            <a:spLocks/>
          </p:cNvSpPr>
          <p:nvPr/>
        </p:nvSpPr>
        <p:spPr>
          <a:xfrm>
            <a:off x="553727" y="179363"/>
            <a:ext cx="9152729" cy="540000"/>
          </a:xfrm>
          <a:prstGeom prst="rect">
            <a:avLst/>
          </a:prstGeom>
          <a:noFill/>
        </p:spPr>
        <p:txBody>
          <a:bodyPr vert="horz" lIns="21600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a:lstStyle>
          <a:p>
            <a:r>
              <a:rPr lang="en-US">
                <a:latin typeface="Helvetica Neue" panose="02000503000000020004"/>
                <a:cs typeface="Calibri"/>
              </a:rPr>
              <a:t>6. Commercial</a:t>
            </a:r>
            <a:endParaRPr lang="en-ID">
              <a:latin typeface="Helvetica Neue" panose="02000503000000020004"/>
              <a:cs typeface="Calibri"/>
            </a:endParaRPr>
          </a:p>
        </p:txBody>
      </p:sp>
      <p:sp>
        <p:nvSpPr>
          <p:cNvPr id="3" name="Footer Placeholder 4">
            <a:extLst>
              <a:ext uri="{FF2B5EF4-FFF2-40B4-BE49-F238E27FC236}">
                <a16:creationId xmlns:a16="http://schemas.microsoft.com/office/drawing/2014/main" id="{9B12130B-1767-C842-F8D4-7CDEBFCA0373}"/>
              </a:ext>
            </a:extLst>
          </p:cNvPr>
          <p:cNvSpPr>
            <a:spLocks noGrp="1"/>
          </p:cNvSpPr>
          <p:nvPr>
            <p:ph type="ftr" sz="quarter" idx="11"/>
          </p:nvPr>
        </p:nvSpPr>
        <p:spPr>
          <a:xfrm>
            <a:off x="3521358" y="6496714"/>
            <a:ext cx="2863284" cy="261610"/>
          </a:xfrm>
        </p:spPr>
        <p:txBody>
          <a:bodyPr/>
          <a:lstStyle/>
          <a:p>
            <a:r>
              <a:rPr lang="en-US" i="1">
                <a:solidFill>
                  <a:srgbClr val="7F7F7F"/>
                </a:solidFill>
              </a:rPr>
              <a:t>Confidential - MMKSI and BSI Internal Use Only</a:t>
            </a:r>
          </a:p>
        </p:txBody>
      </p:sp>
      <p:sp>
        <p:nvSpPr>
          <p:cNvPr id="4" name="Slide Number Placeholder 5">
            <a:extLst>
              <a:ext uri="{FF2B5EF4-FFF2-40B4-BE49-F238E27FC236}">
                <a16:creationId xmlns:a16="http://schemas.microsoft.com/office/drawing/2014/main" id="{57EA8077-3E2A-CF91-1346-C22FA0144FA6}"/>
              </a:ext>
            </a:extLst>
          </p:cNvPr>
          <p:cNvSpPr>
            <a:spLocks noGrp="1"/>
          </p:cNvSpPr>
          <p:nvPr>
            <p:ph type="sldNum" sz="quarter" idx="12"/>
          </p:nvPr>
        </p:nvSpPr>
        <p:spPr>
          <a:xfrm>
            <a:off x="8936103" y="6475599"/>
            <a:ext cx="606897" cy="261610"/>
          </a:xfrm>
        </p:spPr>
        <p:txBody>
          <a:bodyPr/>
          <a:lstStyle/>
          <a:p>
            <a:r>
              <a:rPr lang="en-GB"/>
              <a:t> Page </a:t>
            </a:r>
            <a:fld id="{7A555EF9-59E7-4D74-815B-7A20869232EE}" type="slidenum">
              <a:rPr lang="en-GB" smtClean="0"/>
              <a:pPr/>
              <a:t>77</a:t>
            </a:fld>
            <a:endParaRPr lang="en-GB"/>
          </a:p>
        </p:txBody>
      </p:sp>
      <p:sp>
        <p:nvSpPr>
          <p:cNvPr id="2" name="TextBox 1">
            <a:extLst>
              <a:ext uri="{FF2B5EF4-FFF2-40B4-BE49-F238E27FC236}">
                <a16:creationId xmlns:a16="http://schemas.microsoft.com/office/drawing/2014/main" id="{EC9542F4-0855-A5B1-66AE-92B837A35D8C}"/>
              </a:ext>
            </a:extLst>
          </p:cNvPr>
          <p:cNvSpPr txBox="1"/>
          <p:nvPr/>
        </p:nvSpPr>
        <p:spPr>
          <a:xfrm>
            <a:off x="717185" y="822167"/>
            <a:ext cx="8825815" cy="846386"/>
          </a:xfrm>
          <a:prstGeom prst="rect">
            <a:avLst/>
          </a:prstGeom>
          <a:noFill/>
        </p:spPr>
        <p:txBody>
          <a:bodyPr wrap="square">
            <a:spAutoFit/>
          </a:bodyPr>
          <a:lstStyle/>
          <a:p>
            <a:pPr>
              <a:lnSpc>
                <a:spcPct val="150000"/>
              </a:lnSpc>
            </a:pPr>
            <a:r>
              <a:rPr lang="en-US" sz="1400" b="1">
                <a:highlight>
                  <a:srgbClr val="FFFFFF"/>
                </a:highlight>
                <a:latin typeface="Helvetica Neue" panose="02000503000000020004"/>
                <a:cs typeface="Calibri"/>
              </a:rPr>
              <a:t>6.2. Operation Fee</a:t>
            </a:r>
            <a:endParaRPr lang="en-US" sz="1400" b="1">
              <a:highlight>
                <a:srgbClr val="FFFFFF"/>
              </a:highlight>
              <a:latin typeface="Helvetica Neue" panose="02000503000000020004"/>
            </a:endParaRPr>
          </a:p>
          <a:p>
            <a:r>
              <a:rPr lang="en-US" sz="1400">
                <a:highlight>
                  <a:srgbClr val="FFFFFF"/>
                </a:highlight>
              </a:rPr>
              <a:t>Below is the summary of effort estimation that is required in Operation &amp; Maintenance (O&amp;M) after each GoLive.</a:t>
            </a:r>
          </a:p>
          <a:p>
            <a:r>
              <a:rPr lang="en-US" sz="1400">
                <a:highlight>
                  <a:srgbClr val="FFFFFF"/>
                </a:highlight>
              </a:rPr>
              <a:t>If the project schedule is changed due to any reasons, the estimation can be changed accordingly.</a:t>
            </a:r>
          </a:p>
        </p:txBody>
      </p:sp>
      <p:sp>
        <p:nvSpPr>
          <p:cNvPr id="11" name="Google Shape;1009;p50">
            <a:extLst>
              <a:ext uri="{FF2B5EF4-FFF2-40B4-BE49-F238E27FC236}">
                <a16:creationId xmlns:a16="http://schemas.microsoft.com/office/drawing/2014/main" id="{EBCFA5B3-D4F6-BA6B-8C5C-7933DD7B5F7D}"/>
              </a:ext>
            </a:extLst>
          </p:cNvPr>
          <p:cNvSpPr/>
          <p:nvPr/>
        </p:nvSpPr>
        <p:spPr>
          <a:xfrm>
            <a:off x="666452" y="4050320"/>
            <a:ext cx="8425751" cy="181584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b="1">
                <a:latin typeface="+mn-lt"/>
                <a:ea typeface="+mn-ea"/>
                <a:cs typeface="+mn-cs"/>
              </a:rPr>
              <a:t>Terms and Condition</a:t>
            </a:r>
          </a:p>
          <a:p>
            <a:pPr marL="230188" indent="-230188">
              <a:buFont typeface="+mj-lt"/>
              <a:buAutoNum type="arabicPeriod"/>
              <a:defRPr/>
            </a:pPr>
            <a:r>
              <a:rPr lang="en-US">
                <a:latin typeface="+mn-lt"/>
                <a:cs typeface="Calibri"/>
              </a:rPr>
              <a:t>Prices are in Indonesian Rupiah (IDR) and exclude VAT</a:t>
            </a:r>
          </a:p>
          <a:p>
            <a:pPr marL="230188" indent="-230188">
              <a:buFont typeface="+mj-lt"/>
              <a:buAutoNum type="arabicPeriod"/>
              <a:defRPr/>
            </a:pPr>
            <a:r>
              <a:rPr lang="en-US">
                <a:latin typeface="+mn-lt"/>
                <a:ea typeface="Calibri"/>
                <a:cs typeface="Calibri"/>
              </a:rPr>
              <a:t>This operation service shall be started after first Go Live is being released</a:t>
            </a:r>
          </a:p>
          <a:p>
            <a:pPr marL="230188" indent="-230188">
              <a:buFont typeface="+mj-lt"/>
              <a:buAutoNum type="arabicPeriod"/>
              <a:defRPr/>
            </a:pPr>
            <a:r>
              <a:rPr lang="en-US">
                <a:latin typeface="+mn-lt"/>
                <a:ea typeface="Calibri"/>
                <a:cs typeface="Calibri"/>
              </a:rPr>
              <a:t>Above price table is refer to defined scope of service in </a:t>
            </a:r>
            <a:r>
              <a:rPr lang="en-US" b="1">
                <a:latin typeface="+mn-lt"/>
                <a:ea typeface="Calibri"/>
                <a:cs typeface="Calibri"/>
              </a:rPr>
              <a:t>Appendix - V</a:t>
            </a:r>
          </a:p>
          <a:p>
            <a:pPr marL="230188" indent="-230188">
              <a:buFont typeface="+mj-lt"/>
              <a:buAutoNum type="arabicPeriod"/>
              <a:defRPr/>
            </a:pPr>
            <a:r>
              <a:rPr lang="en-US">
                <a:latin typeface="+mn-lt"/>
                <a:ea typeface="Calibri"/>
                <a:cs typeface="Calibri"/>
              </a:rPr>
              <a:t>Service period for HRIS Managed Service is 1 year starting from go live date. If MMKSI terminates the Service before the end of the Service Period, MMKSI shall compensate BSI in amount of remaining Service Period left.</a:t>
            </a:r>
          </a:p>
          <a:p>
            <a:pPr marL="230188" indent="-230188">
              <a:buFont typeface="+mj-lt"/>
              <a:buAutoNum type="arabicPeriod"/>
              <a:defRPr/>
            </a:pPr>
            <a:r>
              <a:rPr lang="en-US">
                <a:latin typeface="+mn-lt"/>
                <a:ea typeface="Calibri"/>
                <a:cs typeface="Calibri"/>
              </a:rPr>
              <a:t>Any additional scope of work that is not stated in this document will be charged in separate invoice based on relevant supporting document.</a:t>
            </a:r>
          </a:p>
        </p:txBody>
      </p:sp>
      <p:graphicFrame>
        <p:nvGraphicFramePr>
          <p:cNvPr id="5" name="Table 4">
            <a:extLst>
              <a:ext uri="{FF2B5EF4-FFF2-40B4-BE49-F238E27FC236}">
                <a16:creationId xmlns:a16="http://schemas.microsoft.com/office/drawing/2014/main" id="{F25A07C6-DEB9-21AB-2ADF-A29A044C9F1C}"/>
              </a:ext>
            </a:extLst>
          </p:cNvPr>
          <p:cNvGraphicFramePr>
            <a:graphicFrameLocks noGrp="1"/>
          </p:cNvGraphicFramePr>
          <p:nvPr/>
        </p:nvGraphicFramePr>
        <p:xfrm>
          <a:off x="717185" y="1669310"/>
          <a:ext cx="9152693" cy="2338984"/>
        </p:xfrm>
        <a:graphic>
          <a:graphicData uri="http://schemas.openxmlformats.org/drawingml/2006/table">
            <a:tbl>
              <a:tblPr/>
              <a:tblGrid>
                <a:gridCol w="395335">
                  <a:extLst>
                    <a:ext uri="{9D8B030D-6E8A-4147-A177-3AD203B41FA5}">
                      <a16:colId xmlns:a16="http://schemas.microsoft.com/office/drawing/2014/main" val="2755113419"/>
                    </a:ext>
                  </a:extLst>
                </a:gridCol>
                <a:gridCol w="1387606">
                  <a:extLst>
                    <a:ext uri="{9D8B030D-6E8A-4147-A177-3AD203B41FA5}">
                      <a16:colId xmlns:a16="http://schemas.microsoft.com/office/drawing/2014/main" val="1682989819"/>
                    </a:ext>
                  </a:extLst>
                </a:gridCol>
                <a:gridCol w="545818">
                  <a:extLst>
                    <a:ext uri="{9D8B030D-6E8A-4147-A177-3AD203B41FA5}">
                      <a16:colId xmlns:a16="http://schemas.microsoft.com/office/drawing/2014/main" val="982868471"/>
                    </a:ext>
                  </a:extLst>
                </a:gridCol>
                <a:gridCol w="545818">
                  <a:extLst>
                    <a:ext uri="{9D8B030D-6E8A-4147-A177-3AD203B41FA5}">
                      <a16:colId xmlns:a16="http://schemas.microsoft.com/office/drawing/2014/main" val="372004332"/>
                    </a:ext>
                  </a:extLst>
                </a:gridCol>
                <a:gridCol w="545818">
                  <a:extLst>
                    <a:ext uri="{9D8B030D-6E8A-4147-A177-3AD203B41FA5}">
                      <a16:colId xmlns:a16="http://schemas.microsoft.com/office/drawing/2014/main" val="1892878395"/>
                    </a:ext>
                  </a:extLst>
                </a:gridCol>
                <a:gridCol w="545818">
                  <a:extLst>
                    <a:ext uri="{9D8B030D-6E8A-4147-A177-3AD203B41FA5}">
                      <a16:colId xmlns:a16="http://schemas.microsoft.com/office/drawing/2014/main" val="4071229133"/>
                    </a:ext>
                  </a:extLst>
                </a:gridCol>
                <a:gridCol w="545818">
                  <a:extLst>
                    <a:ext uri="{9D8B030D-6E8A-4147-A177-3AD203B41FA5}">
                      <a16:colId xmlns:a16="http://schemas.microsoft.com/office/drawing/2014/main" val="2549765967"/>
                    </a:ext>
                  </a:extLst>
                </a:gridCol>
                <a:gridCol w="545818">
                  <a:extLst>
                    <a:ext uri="{9D8B030D-6E8A-4147-A177-3AD203B41FA5}">
                      <a16:colId xmlns:a16="http://schemas.microsoft.com/office/drawing/2014/main" val="1814514611"/>
                    </a:ext>
                  </a:extLst>
                </a:gridCol>
                <a:gridCol w="545818">
                  <a:extLst>
                    <a:ext uri="{9D8B030D-6E8A-4147-A177-3AD203B41FA5}">
                      <a16:colId xmlns:a16="http://schemas.microsoft.com/office/drawing/2014/main" val="3635805210"/>
                    </a:ext>
                  </a:extLst>
                </a:gridCol>
                <a:gridCol w="545818">
                  <a:extLst>
                    <a:ext uri="{9D8B030D-6E8A-4147-A177-3AD203B41FA5}">
                      <a16:colId xmlns:a16="http://schemas.microsoft.com/office/drawing/2014/main" val="1239120971"/>
                    </a:ext>
                  </a:extLst>
                </a:gridCol>
                <a:gridCol w="545818">
                  <a:extLst>
                    <a:ext uri="{9D8B030D-6E8A-4147-A177-3AD203B41FA5}">
                      <a16:colId xmlns:a16="http://schemas.microsoft.com/office/drawing/2014/main" val="4237530048"/>
                    </a:ext>
                  </a:extLst>
                </a:gridCol>
                <a:gridCol w="545818">
                  <a:extLst>
                    <a:ext uri="{9D8B030D-6E8A-4147-A177-3AD203B41FA5}">
                      <a16:colId xmlns:a16="http://schemas.microsoft.com/office/drawing/2014/main" val="861851982"/>
                    </a:ext>
                  </a:extLst>
                </a:gridCol>
                <a:gridCol w="545818">
                  <a:extLst>
                    <a:ext uri="{9D8B030D-6E8A-4147-A177-3AD203B41FA5}">
                      <a16:colId xmlns:a16="http://schemas.microsoft.com/office/drawing/2014/main" val="1176517683"/>
                    </a:ext>
                  </a:extLst>
                </a:gridCol>
                <a:gridCol w="682877">
                  <a:extLst>
                    <a:ext uri="{9D8B030D-6E8A-4147-A177-3AD203B41FA5}">
                      <a16:colId xmlns:a16="http://schemas.microsoft.com/office/drawing/2014/main" val="3118364093"/>
                    </a:ext>
                  </a:extLst>
                </a:gridCol>
                <a:gridCol w="682877">
                  <a:extLst>
                    <a:ext uri="{9D8B030D-6E8A-4147-A177-3AD203B41FA5}">
                      <a16:colId xmlns:a16="http://schemas.microsoft.com/office/drawing/2014/main" val="4023090896"/>
                    </a:ext>
                  </a:extLst>
                </a:gridCol>
              </a:tblGrid>
              <a:tr h="328135">
                <a:tc rowSpan="2">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No</a:t>
                      </a:r>
                      <a:r>
                        <a:rPr lang="en-US" sz="1300" b="1" i="0">
                          <a:solidFill>
                            <a:schemeClr val="bg1"/>
                          </a:solidFill>
                          <a:effectLst/>
                          <a:latin typeface="Calibri" panose="020F0502020204030204" pitchFamily="34" charset="0"/>
                        </a:rPr>
                        <a:t>​</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Service Name</a:t>
                      </a:r>
                      <a:r>
                        <a:rPr lang="en-US" sz="1300" b="1" i="0">
                          <a:solidFill>
                            <a:schemeClr val="bg1"/>
                          </a:solidFill>
                          <a:effectLst/>
                          <a:latin typeface="Calibri" panose="020F0502020204030204" pitchFamily="34" charset="0"/>
                        </a:rPr>
                        <a:t>​</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12">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HR Operation Amount FY26 (in Mio IDR)</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ase">
                        <a:lnSpc>
                          <a:spcPts val="1650"/>
                        </a:lnSpc>
                        <a:buNone/>
                      </a:pPr>
                      <a:r>
                        <a:rPr lang="en-US" sz="1300" b="1" i="0" u="none" strike="noStrike">
                          <a:solidFill>
                            <a:schemeClr val="bg1"/>
                          </a:solidFill>
                          <a:effectLst/>
                          <a:latin typeface="Calibri" panose="020F0502020204030204" pitchFamily="34" charset="0"/>
                        </a:rPr>
                        <a:t>(FY27)</a:t>
                      </a:r>
                      <a:r>
                        <a:rPr lang="en-US" sz="1300" b="1" i="0">
                          <a:solidFill>
                            <a:schemeClr val="bg1"/>
                          </a:solidFill>
                          <a:effectLst/>
                          <a:latin typeface="Calibri" panose="020F0502020204030204" pitchFamily="34" charset="0"/>
                        </a:rPr>
                        <a:t>​</a:t>
                      </a:r>
                      <a:endParaRPr lang="en-US" sz="1700" b="1"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368189380"/>
                  </a:ext>
                </a:extLst>
              </a:tr>
              <a:tr h="386904">
                <a:tc vMerge="1">
                  <a:txBody>
                    <a:bodyPr/>
                    <a:lstStyle/>
                    <a:p>
                      <a:endParaRPr lang="en-US"/>
                    </a:p>
                  </a:txBody>
                  <a:tcPr/>
                </a:tc>
                <a:tc vMerge="1">
                  <a:txBody>
                    <a:bodyPr/>
                    <a:lstStyle/>
                    <a:p>
                      <a:endParaRPr lang="en-US"/>
                    </a:p>
                  </a:txBody>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May’</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Jun’</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Jul’ </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Aug’</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Sep’</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Oct’</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Nov’</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Dec’</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26</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Jan’</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27</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Feb’</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27</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275"/>
                        </a:lnSpc>
                        <a:buNone/>
                      </a:pPr>
                      <a:r>
                        <a:rPr lang="en-US" sz="1000" b="1" i="0" u="none" strike="noStrike">
                          <a:solidFill>
                            <a:schemeClr val="bg1"/>
                          </a:solidFill>
                          <a:effectLst/>
                          <a:latin typeface="Calibri" panose="020F0502020204030204" pitchFamily="34" charset="0"/>
                        </a:rPr>
                        <a:t>Mar’</a:t>
                      </a:r>
                      <a:r>
                        <a:rPr lang="en-US" sz="1000" b="0" i="0">
                          <a:solidFill>
                            <a:schemeClr val="bg1"/>
                          </a:solidFill>
                          <a:effectLst/>
                          <a:latin typeface="Calibri" panose="020F0502020204030204" pitchFamily="34" charset="0"/>
                        </a:rPr>
                        <a:t>​</a:t>
                      </a:r>
                      <a:endParaRPr lang="en-US" sz="1700" b="0" i="0">
                        <a:solidFill>
                          <a:schemeClr val="bg1"/>
                        </a:solidFill>
                        <a:effectLst/>
                      </a:endParaRPr>
                    </a:p>
                    <a:p>
                      <a:pPr algn="ctr" fontAlgn="base">
                        <a:lnSpc>
                          <a:spcPts val="1275"/>
                        </a:lnSpc>
                        <a:buNone/>
                      </a:pPr>
                      <a:r>
                        <a:rPr lang="en-US" sz="1000" b="1" i="0" u="none" strike="noStrike">
                          <a:solidFill>
                            <a:schemeClr val="bg1"/>
                          </a:solidFill>
                          <a:effectLst/>
                          <a:latin typeface="Calibri" panose="020F0502020204030204" pitchFamily="34" charset="0"/>
                        </a:rPr>
                        <a:t>27</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425"/>
                        </a:lnSpc>
                        <a:buNone/>
                      </a:pPr>
                      <a:r>
                        <a:rPr lang="en-US" sz="1100" b="1" i="0" u="none" strike="noStrike">
                          <a:solidFill>
                            <a:schemeClr val="bg1"/>
                          </a:solidFill>
                          <a:effectLst/>
                          <a:latin typeface="Calibri" panose="020F0502020204030204" pitchFamily="34" charset="0"/>
                        </a:rPr>
                        <a:t>Total</a:t>
                      </a:r>
                      <a:r>
                        <a:rPr lang="en-US" sz="1100" b="0" i="0">
                          <a:solidFill>
                            <a:schemeClr val="bg1"/>
                          </a:solidFill>
                          <a:effectLst/>
                          <a:latin typeface="Calibri" panose="020F0502020204030204" pitchFamily="34" charset="0"/>
                        </a:rPr>
                        <a:t>​</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ase">
                        <a:lnSpc>
                          <a:spcPts val="1425"/>
                        </a:lnSpc>
                        <a:buNone/>
                      </a:pPr>
                      <a:r>
                        <a:rPr lang="en-US" sz="1100" b="1" i="0" u="none" strike="noStrike">
                          <a:solidFill>
                            <a:schemeClr val="bg1"/>
                          </a:solidFill>
                          <a:effectLst/>
                          <a:latin typeface="Calibri" panose="020F0502020204030204" pitchFamily="34" charset="0"/>
                        </a:rPr>
                        <a:t>Monthly</a:t>
                      </a:r>
                      <a:r>
                        <a:rPr lang="en-US" sz="1100" b="0" i="0">
                          <a:solidFill>
                            <a:schemeClr val="bg1"/>
                          </a:solidFill>
                          <a:effectLst/>
                          <a:latin typeface="Calibri" panose="020F0502020204030204" pitchFamily="34" charset="0"/>
                        </a:rPr>
                        <a:t>​</a:t>
                      </a:r>
                      <a:endParaRPr lang="en-US" sz="1700" b="0" i="0">
                        <a:solidFill>
                          <a:schemeClr val="bg1"/>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523101631"/>
                  </a:ext>
                </a:extLst>
              </a:tr>
              <a:tr h="420776">
                <a:tc gridSpan="2">
                  <a:txBody>
                    <a:bodyPr/>
                    <a:lstStyle/>
                    <a:p>
                      <a:pPr algn="ctr" fontAlgn="base">
                        <a:lnSpc>
                          <a:spcPts val="1425"/>
                        </a:lnSpc>
                        <a:buNone/>
                      </a:pPr>
                      <a:r>
                        <a:rPr lang="en-US" sz="1100" b="0" i="0" u="none" strike="noStrike">
                          <a:solidFill>
                            <a:srgbClr val="000000"/>
                          </a:solidFill>
                          <a:effectLst/>
                          <a:latin typeface="Calibri" panose="020F0502020204030204" pitchFamily="34" charset="0"/>
                        </a:rPr>
                        <a:t>Milestone</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auto">
                        <a:lnSpc>
                          <a:spcPts val="1425"/>
                        </a:lnSpc>
                        <a:buNone/>
                      </a:pPr>
                      <a:r>
                        <a:rPr lang="en-GB" sz="1100" b="0" i="0" u="none" strike="noStrike">
                          <a:solidFill>
                            <a:srgbClr val="000000"/>
                          </a:solidFill>
                          <a:effectLst/>
                          <a:latin typeface="Calibri" panose="020F0502020204030204" pitchFamily="34" charset="0"/>
                        </a:rPr>
                        <a:t>​</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8045319"/>
                  </a:ext>
                </a:extLst>
              </a:tr>
              <a:tr h="250684">
                <a:tc>
                  <a:txBody>
                    <a:bodyPr/>
                    <a:lstStyle/>
                    <a:p>
                      <a:pPr algn="ctr" fontAlgn="base">
                        <a:lnSpc>
                          <a:spcPts val="1425"/>
                        </a:lnSpc>
                        <a:buNone/>
                      </a:pPr>
                      <a:r>
                        <a:rPr lang="en-US" sz="1100" b="0" i="0" u="none" strike="noStrike">
                          <a:solidFill>
                            <a:srgbClr val="000000"/>
                          </a:solidFill>
                          <a:effectLst/>
                          <a:latin typeface="Calibri" panose="020F0502020204030204" pitchFamily="34" charset="0"/>
                        </a:rPr>
                        <a:t>1</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425"/>
                        </a:lnSpc>
                        <a:buNone/>
                      </a:pPr>
                      <a:r>
                        <a:rPr lang="en-US" sz="1100" b="0" i="0" u="none" strike="noStrike">
                          <a:solidFill>
                            <a:srgbClr val="000000"/>
                          </a:solidFill>
                          <a:effectLst/>
                          <a:latin typeface="Calibri" panose="020F0502020204030204" pitchFamily="34" charset="0"/>
                        </a:rPr>
                        <a:t>Existing </a:t>
                      </a:r>
                      <a:r>
                        <a:rPr lang="en-US" sz="1100" b="0" i="0">
                          <a:solidFill>
                            <a:srgbClr val="000000"/>
                          </a:solidFill>
                          <a:effectLst/>
                          <a:latin typeface="Calibri" panose="020F0502020204030204" pitchFamily="34" charset="0"/>
                        </a:rPr>
                        <a:t>​HRIS O&amp;M</a:t>
                      </a:r>
                    </a:p>
                    <a:p>
                      <a:pPr marL="171450" indent="-171450" algn="l" fontAlgn="base">
                        <a:lnSpc>
                          <a:spcPts val="1425"/>
                        </a:lnSpc>
                        <a:buFontTx/>
                        <a:buChar char="-"/>
                      </a:pPr>
                      <a:r>
                        <a:rPr lang="en-US" sz="1100" b="0" i="0">
                          <a:solidFill>
                            <a:srgbClr val="000000"/>
                          </a:solidFill>
                          <a:effectLst/>
                          <a:latin typeface="Calibri" panose="020F0502020204030204" pitchFamily="34" charset="0"/>
                        </a:rPr>
                        <a:t>HR &amp; SW</a:t>
                      </a:r>
                    </a:p>
                    <a:p>
                      <a:pPr marL="171450" indent="-171450" algn="l" fontAlgn="base">
                        <a:lnSpc>
                          <a:spcPts val="1425"/>
                        </a:lnSpc>
                        <a:buFontTx/>
                        <a:buChar char="-"/>
                      </a:pPr>
                      <a:r>
                        <a:rPr lang="en-US" sz="1100" b="0" i="0">
                          <a:solidFill>
                            <a:srgbClr val="000000"/>
                          </a:solidFill>
                          <a:effectLst/>
                          <a:latin typeface="Calibri" panose="020F0502020204030204" pitchFamily="34" charset="0"/>
                        </a:rPr>
                        <a:t>Cloud</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a:solidFill>
                          <a:srgbClr val="000000"/>
                        </a:solidFill>
                        <a:effectLst/>
                        <a:latin typeface="Calibri" panose="020F0502020204030204" pitchFamily="34" charset="0"/>
                      </a:endParaRPr>
                    </a:p>
                    <a:p>
                      <a:pPr algn="ctr" fontAlgn="base">
                        <a:lnSpc>
                          <a:spcPts val="1425"/>
                        </a:lnSpc>
                        <a:buNone/>
                      </a:pPr>
                      <a:r>
                        <a:rPr lang="en-GB" sz="1100" b="0" i="0" u="none" strike="noStrike">
                          <a:solidFill>
                            <a:srgbClr val="000000"/>
                          </a:solidFill>
                          <a:effectLst/>
                          <a:latin typeface="Calibri" panose="020F0502020204030204" pitchFamily="34" charset="0"/>
                        </a:rPr>
                        <a:t>42.4</a:t>
                      </a:r>
                    </a:p>
                    <a:p>
                      <a:pPr algn="ctr" fontAlgn="base">
                        <a:lnSpc>
                          <a:spcPts val="1425"/>
                        </a:lnSpc>
                        <a:buNone/>
                      </a:pPr>
                      <a:r>
                        <a:rPr lang="en-GB" sz="1100" b="0" i="0" u="none" strike="noStrike">
                          <a:solidFill>
                            <a:srgbClr val="000000"/>
                          </a:solidFill>
                          <a:effectLst/>
                          <a:latin typeface="Calibri" panose="020F0502020204030204" pitchFamily="34" charset="0"/>
                        </a:rPr>
                        <a:t>15.04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a:solidFill>
                          <a:srgbClr val="000000"/>
                        </a:solidFill>
                        <a:effectLst/>
                        <a:latin typeface="Calibri" panose="020F0502020204030204" pitchFamily="34" charset="0"/>
                      </a:endParaRPr>
                    </a:p>
                    <a:p>
                      <a:pPr algn="ctr" fontAlgn="base">
                        <a:lnSpc>
                          <a:spcPts val="1425"/>
                        </a:lnSpc>
                        <a:buNone/>
                      </a:pPr>
                      <a:r>
                        <a:rPr lang="en-GB" sz="1100" b="0" i="0" u="none" strike="noStrike">
                          <a:solidFill>
                            <a:srgbClr val="000000"/>
                          </a:solidFill>
                          <a:effectLst/>
                          <a:latin typeface="Calibri" panose="020F0502020204030204" pitchFamily="34" charset="0"/>
                        </a:rPr>
                        <a:t>42.4</a:t>
                      </a:r>
                    </a:p>
                    <a:p>
                      <a:pPr algn="ctr" fontAlgn="base">
                        <a:lnSpc>
                          <a:spcPts val="1425"/>
                        </a:lnSpc>
                        <a:buNone/>
                      </a:pPr>
                      <a:r>
                        <a:rPr lang="en-GB" sz="1100" b="0" i="0" u="none" strike="noStrike">
                          <a:solidFill>
                            <a:srgbClr val="000000"/>
                          </a:solidFill>
                          <a:effectLst/>
                          <a:latin typeface="Calibri" panose="020F0502020204030204" pitchFamily="34" charset="0"/>
                        </a:rPr>
                        <a:t>15.04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kern="1200">
                        <a:solidFill>
                          <a:srgbClr val="000000"/>
                        </a:solidFill>
                        <a:effectLst/>
                        <a:latin typeface="Calibri" panose="020F0502020204030204" pitchFamily="34" charset="0"/>
                        <a:ea typeface="+mn-ea"/>
                        <a:cs typeface="+mn-cs"/>
                      </a:endParaRPr>
                    </a:p>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lang="en-GB" sz="1100" b="0" i="0" u="none" strike="noStrike" kern="1200">
                          <a:solidFill>
                            <a:srgbClr val="000000"/>
                          </a:solidFill>
                          <a:effectLst/>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43.73</a:t>
                      </a:r>
                    </a:p>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15.04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a:solidFill>
                          <a:srgbClr val="000000"/>
                        </a:solidFill>
                        <a:effectLst/>
                        <a:latin typeface="Calibri" panose="020F0502020204030204" pitchFamily="34" charset="0"/>
                      </a:endParaRPr>
                    </a:p>
                    <a:p>
                      <a:pPr algn="ctr" fontAlgn="base">
                        <a:lnSpc>
                          <a:spcPts val="1425"/>
                        </a:lnSpc>
                        <a:buNone/>
                      </a:pPr>
                      <a:r>
                        <a:rPr lang="en-GB" sz="1100" b="0" i="0" u="none" strike="noStrike">
                          <a:solidFill>
                            <a:srgbClr val="000000"/>
                          </a:solidFill>
                          <a:effectLst/>
                          <a:latin typeface="Calibri" panose="020F0502020204030204" pitchFamily="34" charset="0"/>
                        </a:rPr>
                        <a:t>478.37</a:t>
                      </a:r>
                    </a:p>
                    <a:p>
                      <a:pPr algn="ctr" fontAlgn="base">
                        <a:lnSpc>
                          <a:spcPts val="1425"/>
                        </a:lnSpc>
                        <a:buNone/>
                      </a:pPr>
                      <a:r>
                        <a:rPr lang="en-GB" sz="1100" b="0" i="0" u="none" strike="noStrike">
                          <a:solidFill>
                            <a:srgbClr val="000000"/>
                          </a:solidFill>
                          <a:effectLst/>
                          <a:latin typeface="Calibri" panose="020F0502020204030204" pitchFamily="34" charset="0"/>
                        </a:rPr>
                        <a:t>165.44</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endParaRPr lang="en-GB" sz="1100" b="0" i="0" u="none" strike="noStrike" kern="1200">
                        <a:solidFill>
                          <a:srgbClr val="000000"/>
                        </a:solidFill>
                        <a:effectLst/>
                        <a:latin typeface="Calibri" panose="020F0502020204030204" pitchFamily="34" charset="0"/>
                        <a:ea typeface="+mn-ea"/>
                        <a:cs typeface="+mn-cs"/>
                      </a:endParaRPr>
                    </a:p>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44.48​</a:t>
                      </a:r>
                    </a:p>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15.04</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141038"/>
                  </a:ext>
                </a:extLst>
              </a:tr>
              <a:tr h="316118">
                <a:tc>
                  <a:txBody>
                    <a:bodyPr/>
                    <a:lstStyle/>
                    <a:p>
                      <a:pPr algn="ctr" fontAlgn="base">
                        <a:lnSpc>
                          <a:spcPts val="1425"/>
                        </a:lnSpc>
                        <a:buNone/>
                      </a:pPr>
                      <a:r>
                        <a:rPr lang="en-US" sz="1100" b="0" i="0" u="none" strike="noStrike">
                          <a:solidFill>
                            <a:srgbClr val="000000"/>
                          </a:solidFill>
                          <a:effectLst/>
                          <a:latin typeface="Calibri" panose="020F0502020204030204" pitchFamily="34" charset="0"/>
                        </a:rPr>
                        <a:t>2</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425"/>
                        </a:lnSpc>
                        <a:buNone/>
                      </a:pPr>
                      <a:r>
                        <a:rPr lang="en-US" sz="1100" b="0" i="0" u="none" strike="noStrike">
                          <a:solidFill>
                            <a:srgbClr val="FF0000"/>
                          </a:solidFill>
                          <a:effectLst/>
                          <a:latin typeface="Calibri" panose="020F0502020204030204" pitchFamily="34" charset="0"/>
                        </a:rPr>
                        <a:t>New HRD O&amp;M (HR)</a:t>
                      </a:r>
                      <a:endParaRPr lang="en-US" sz="1700" b="0" i="0">
                        <a:solidFill>
                          <a:srgbClr val="FF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a:solidFill>
                            <a:srgbClr val="000000"/>
                          </a:solidFill>
                          <a:effectLst/>
                          <a:latin typeface="Calibri" panose="020F0502020204030204" pitchFamily="34" charset="0"/>
                        </a:rPr>
                        <a:t>0</a:t>
                      </a:r>
                      <a:r>
                        <a:rPr lang="en-GB" sz="1100" b="0" i="0">
                          <a:solidFill>
                            <a:srgbClr val="000000"/>
                          </a:solidFill>
                          <a:effectLst/>
                          <a:latin typeface="Calibri" panose="020F0502020204030204" pitchFamily="34" charset="0"/>
                        </a:rPr>
                        <a:t>​</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a:solidFill>
                            <a:srgbClr val="000000"/>
                          </a:solidFill>
                          <a:effectLst/>
                          <a:latin typeface="Calibri" panose="020F0502020204030204" pitchFamily="34" charset="0"/>
                        </a:rPr>
                        <a:t>0</a:t>
                      </a:r>
                      <a:r>
                        <a:rPr lang="en-GB" sz="1100" b="0" i="0">
                          <a:solidFill>
                            <a:srgbClr val="000000"/>
                          </a:solidFill>
                          <a:effectLst/>
                          <a:latin typeface="Calibri" panose="020F0502020204030204" pitchFamily="34" charset="0"/>
                        </a:rPr>
                        <a:t>​</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0​</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0​</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a:solidFill>
                            <a:srgbClr val="000000"/>
                          </a:solidFill>
                          <a:effectLst/>
                          <a:latin typeface="Calibri" panose="020F0502020204030204" pitchFamily="34" charset="0"/>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9</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22.5</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103.5</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0" i="0" u="none" strike="noStrike" kern="1200">
                          <a:solidFill>
                            <a:srgbClr val="000000"/>
                          </a:solidFill>
                          <a:effectLst/>
                          <a:latin typeface="Calibri" panose="020F0502020204030204" pitchFamily="34" charset="0"/>
                          <a:ea typeface="+mn-ea"/>
                          <a:cs typeface="+mn-cs"/>
                        </a:rPr>
                        <a:t>22.5</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9639115"/>
                  </a:ext>
                </a:extLst>
              </a:tr>
              <a:tr h="250684">
                <a:tc gridSpan="2">
                  <a:txBody>
                    <a:bodyPr/>
                    <a:lstStyle/>
                    <a:p>
                      <a:pPr algn="r" fontAlgn="base">
                        <a:lnSpc>
                          <a:spcPts val="1425"/>
                        </a:lnSpc>
                        <a:buNone/>
                      </a:pPr>
                      <a:r>
                        <a:rPr lang="en-US" sz="1100" b="1" i="0">
                          <a:solidFill>
                            <a:srgbClr val="000000"/>
                          </a:solidFill>
                          <a:effectLst/>
                          <a:latin typeface="Calibri" panose="020F0502020204030204" pitchFamily="34" charset="0"/>
                        </a:rPr>
                        <a:t>Total Amount Estimation</a:t>
                      </a:r>
                      <a:r>
                        <a:rPr lang="en-US" sz="1100" b="0" i="0">
                          <a:solidFill>
                            <a:srgbClr val="000000"/>
                          </a:solidFill>
                          <a:effectLst/>
                          <a:latin typeface="Calibri" panose="020F0502020204030204" pitchFamily="34" charset="0"/>
                        </a:rPr>
                        <a:t>​</a:t>
                      </a:r>
                      <a:endParaRPr lang="en-US"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57.44</a:t>
                      </a:r>
                      <a:endParaRPr lang="en-GB" sz="1700" b="1"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57.44</a:t>
                      </a:r>
                      <a:endParaRPr lang="en-GB" sz="1700" b="1"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58.77</a:t>
                      </a:r>
                      <a:endParaRPr lang="en-GB" sz="1700" b="1"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lang="en-GB" sz="1100" b="1" i="0" u="none" strike="noStrike">
                          <a:solidFill>
                            <a:srgbClr val="000000"/>
                          </a:solidFill>
                          <a:effectLst/>
                          <a:latin typeface="Calibri" panose="020F0502020204030204" pitchFamily="34" charset="0"/>
                        </a:rPr>
                        <a:t>58.77</a:t>
                      </a:r>
                      <a:r>
                        <a:rPr lang="en-GB" sz="1100" b="0" i="0">
                          <a:solidFill>
                            <a:srgbClr val="000000"/>
                          </a:solidFill>
                          <a:effectLst/>
                          <a:latin typeface="Calibri" panose="020F0502020204030204" pitchFamily="34" charset="0"/>
                        </a:rPr>
                        <a:t>​</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a:solidFill>
                            <a:srgbClr val="000000"/>
                          </a:solidFill>
                          <a:effectLst/>
                          <a:latin typeface="Calibri" panose="020F0502020204030204" pitchFamily="34" charset="0"/>
                        </a:rPr>
                        <a:t>67.77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67.77</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67.77</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1425"/>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67.77</a:t>
                      </a:r>
                      <a:endParaRPr kumimoji="0" lang="en-GB" sz="1700" b="0" i="0" u="none" strike="noStrike" kern="1200" cap="none" spc="0" normalizeH="0" baseline="0" noProof="0">
                        <a:ln>
                          <a:noFill/>
                        </a:ln>
                        <a:solidFill>
                          <a:srgbClr val="000000"/>
                        </a:solidFill>
                        <a:effectLst/>
                        <a:uLnTx/>
                        <a:uFillTx/>
                        <a:latin typeface="Calibri" panose="020F0502020204030204"/>
                        <a:ea typeface="+mn-ea"/>
                        <a:cs typeface="+mn-cs"/>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kumimoji="0" lang="en-GB" sz="11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81.27</a:t>
                      </a:r>
                      <a:endParaRPr lang="en-GB" sz="1700" b="0" i="0">
                        <a:solidFill>
                          <a:srgbClr val="000000"/>
                        </a:solidFill>
                        <a:effectLst/>
                      </a:endParaRP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kern="1200">
                          <a:solidFill>
                            <a:srgbClr val="000000"/>
                          </a:solidFill>
                          <a:effectLst/>
                          <a:latin typeface="Calibri" panose="020F0502020204030204" pitchFamily="34" charset="0"/>
                          <a:ea typeface="+mn-ea"/>
                          <a:cs typeface="+mn-cs"/>
                        </a:rPr>
                        <a:t>747.31</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lnSpc>
                          <a:spcPts val="1425"/>
                        </a:lnSpc>
                        <a:buNone/>
                      </a:pPr>
                      <a:r>
                        <a:rPr lang="en-GB" sz="1100" b="1" i="0" u="none" strike="noStrike" kern="1200">
                          <a:solidFill>
                            <a:srgbClr val="000000"/>
                          </a:solidFill>
                          <a:effectLst/>
                          <a:latin typeface="Calibri" panose="020F0502020204030204" pitchFamily="34" charset="0"/>
                          <a:ea typeface="+mn-ea"/>
                          <a:cs typeface="+mn-cs"/>
                        </a:rPr>
                        <a:t>82.02</a:t>
                      </a:r>
                    </a:p>
                  </a:txBody>
                  <a:tcPr marL="85138" marR="85138" marT="42569" marB="425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0440871"/>
                  </a:ext>
                </a:extLst>
              </a:tr>
            </a:tbl>
          </a:graphicData>
        </a:graphic>
      </p:graphicFrame>
      <p:sp>
        <p:nvSpPr>
          <p:cNvPr id="6" name="Rectangle 1">
            <a:extLst>
              <a:ext uri="{FF2B5EF4-FFF2-40B4-BE49-F238E27FC236}">
                <a16:creationId xmlns:a16="http://schemas.microsoft.com/office/drawing/2014/main" id="{D6EEC914-DB9F-B6DE-6947-94CFC1CD1634}"/>
              </a:ext>
            </a:extLst>
          </p:cNvPr>
          <p:cNvSpPr>
            <a:spLocks noChangeArrowheads="1"/>
          </p:cNvSpPr>
          <p:nvPr/>
        </p:nvSpPr>
        <p:spPr bwMode="auto">
          <a:xfrm>
            <a:off x="666452" y="1702304"/>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テキスト ボックス 11">
            <a:extLst>
              <a:ext uri="{FF2B5EF4-FFF2-40B4-BE49-F238E27FC236}">
                <a16:creationId xmlns:a16="http://schemas.microsoft.com/office/drawing/2014/main" id="{B6F7365A-BF13-46BA-8C35-C4BFEEBC1C01}"/>
              </a:ext>
            </a:extLst>
          </p:cNvPr>
          <p:cNvSpPr txBox="1"/>
          <p:nvPr/>
        </p:nvSpPr>
        <p:spPr>
          <a:xfrm>
            <a:off x="3592659" y="2606238"/>
            <a:ext cx="568032" cy="226591"/>
          </a:xfrm>
          <a:prstGeom prst="rect">
            <a:avLst/>
          </a:prstGeom>
          <a:noFill/>
        </p:spPr>
        <p:txBody>
          <a:bodyPr wrap="none" lIns="36000" tIns="36000" rIns="36000" bIns="3600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Tx/>
              <a:buFontTx/>
              <a:buNone/>
            </a:pPr>
            <a:r>
              <a:rPr kumimoji="1" lang="en-US" altLang="ja-JP" sz="1000" b="1" kern="1200">
                <a:solidFill>
                  <a:srgbClr val="FF0000"/>
                </a:solidFill>
                <a:latin typeface="Calibri" panose="020F0502020204030204"/>
                <a:ea typeface="游ゴシック"/>
                <a:cs typeface="+mn-cs"/>
              </a:rPr>
              <a:t>Go-Live 1</a:t>
            </a:r>
            <a:endParaRPr lang="en-US" altLang="ja-JP" sz="1000" b="1">
              <a:solidFill>
                <a:srgbClr val="FF0000"/>
              </a:solidFill>
              <a:latin typeface="Calibri" panose="020F0502020204030204"/>
              <a:ea typeface="游ゴシック"/>
              <a:cs typeface="Calibri"/>
            </a:endParaRPr>
          </a:p>
        </p:txBody>
      </p:sp>
      <p:sp>
        <p:nvSpPr>
          <p:cNvPr id="9" name="Star: 5 Points 8">
            <a:extLst>
              <a:ext uri="{FF2B5EF4-FFF2-40B4-BE49-F238E27FC236}">
                <a16:creationId xmlns:a16="http://schemas.microsoft.com/office/drawing/2014/main" id="{F92A2427-1CCA-4C16-B021-CFDA5ADCBB33}"/>
              </a:ext>
            </a:extLst>
          </p:cNvPr>
          <p:cNvSpPr/>
          <p:nvPr/>
        </p:nvSpPr>
        <p:spPr>
          <a:xfrm>
            <a:off x="3822675" y="2473230"/>
            <a:ext cx="108000" cy="108000"/>
          </a:xfrm>
          <a:prstGeom prst="star5">
            <a:avLst/>
          </a:prstGeom>
          <a:solidFill>
            <a:srgbClr val="FF0000"/>
          </a:solidFill>
          <a:ln w="12700" cap="flat" cmpd="sng" algn="ctr">
            <a:solidFill>
              <a:srgbClr val="FF0000"/>
            </a:solidFill>
            <a:prstDash val="solid"/>
            <a:miter lim="800000"/>
          </a:ln>
          <a:effectLst/>
        </p:spPr>
        <p:txBody>
          <a:bodyPr lIns="36000" tIns="36000" rIns="36000" bIns="3600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12" name="テキスト ボックス 11">
            <a:extLst>
              <a:ext uri="{FF2B5EF4-FFF2-40B4-BE49-F238E27FC236}">
                <a16:creationId xmlns:a16="http://schemas.microsoft.com/office/drawing/2014/main" id="{54F716A5-363E-68FE-8A2D-C92B3A72B724}"/>
              </a:ext>
            </a:extLst>
          </p:cNvPr>
          <p:cNvSpPr txBox="1"/>
          <p:nvPr/>
        </p:nvSpPr>
        <p:spPr>
          <a:xfrm>
            <a:off x="6357512" y="2610109"/>
            <a:ext cx="568032" cy="226591"/>
          </a:xfrm>
          <a:prstGeom prst="rect">
            <a:avLst/>
          </a:prstGeom>
          <a:noFill/>
        </p:spPr>
        <p:txBody>
          <a:bodyPr wrap="none" lIns="36000" tIns="36000" rIns="36000" bIns="3600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Tx/>
              <a:buFontTx/>
              <a:buNone/>
            </a:pPr>
            <a:r>
              <a:rPr kumimoji="1" lang="en-US" altLang="ja-JP" sz="1000" b="1" kern="1200">
                <a:solidFill>
                  <a:srgbClr val="FF0000"/>
                </a:solidFill>
                <a:latin typeface="Calibri" panose="020F0502020204030204"/>
                <a:ea typeface="游ゴシック"/>
                <a:cs typeface="+mn-cs"/>
              </a:rPr>
              <a:t>Go-Live 2</a:t>
            </a:r>
            <a:endParaRPr lang="en-US" altLang="ja-JP" sz="1000" b="1">
              <a:solidFill>
                <a:srgbClr val="FF0000"/>
              </a:solidFill>
              <a:latin typeface="Calibri" panose="020F0502020204030204"/>
              <a:ea typeface="游ゴシック"/>
              <a:cs typeface="Calibri"/>
            </a:endParaRPr>
          </a:p>
        </p:txBody>
      </p:sp>
      <p:sp>
        <p:nvSpPr>
          <p:cNvPr id="13" name="Star: 5 Points 12">
            <a:extLst>
              <a:ext uri="{FF2B5EF4-FFF2-40B4-BE49-F238E27FC236}">
                <a16:creationId xmlns:a16="http://schemas.microsoft.com/office/drawing/2014/main" id="{4F577879-E030-B963-1576-70CFEE4284BB}"/>
              </a:ext>
            </a:extLst>
          </p:cNvPr>
          <p:cNvSpPr/>
          <p:nvPr/>
        </p:nvSpPr>
        <p:spPr>
          <a:xfrm>
            <a:off x="6539400" y="2477101"/>
            <a:ext cx="108000" cy="108000"/>
          </a:xfrm>
          <a:prstGeom prst="star5">
            <a:avLst/>
          </a:prstGeom>
          <a:solidFill>
            <a:srgbClr val="FF0000"/>
          </a:solidFill>
          <a:ln w="12700" cap="flat" cmpd="sng" algn="ctr">
            <a:solidFill>
              <a:srgbClr val="FF0000"/>
            </a:solidFill>
            <a:prstDash val="solid"/>
            <a:miter lim="800000"/>
          </a:ln>
          <a:effectLst/>
        </p:spPr>
        <p:txBody>
          <a:bodyPr lIns="36000" tIns="36000" rIns="36000" bIns="3600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227CE59-8AA3-2A39-ED30-ED573AFC5A6F}"/>
              </a:ext>
            </a:extLst>
          </p:cNvPr>
          <p:cNvSpPr/>
          <p:nvPr/>
        </p:nvSpPr>
        <p:spPr>
          <a:xfrm>
            <a:off x="717185" y="3435412"/>
            <a:ext cx="9135475" cy="310030"/>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8836200"/>
      </p:ext>
    </p:extLst>
  </p:cSld>
  <p:clrMapOvr>
    <a:masterClrMapping/>
  </p:clrMapOvr>
  <p:extLst>
    <p:ext uri="{6950BFC3-D8DA-4A85-94F7-54DA5524770B}">
      <p188:commentRel xmlns:p188="http://schemas.microsoft.com/office/powerpoint/2018/8/main" r:id="rId2"/>
    </p:ext>
  </p:extLs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9E032-F3B5-B33E-BC48-98A6099B634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835600A-548D-07A7-7DE3-BEC3CFB5E234}"/>
              </a:ext>
            </a:extLst>
          </p:cNvPr>
          <p:cNvGraphicFramePr>
            <a:graphicFrameLocks noGrp="1"/>
          </p:cNvGraphicFramePr>
          <p:nvPr/>
        </p:nvGraphicFramePr>
        <p:xfrm>
          <a:off x="331670" y="1108097"/>
          <a:ext cx="9452409" cy="3779977"/>
        </p:xfrm>
        <a:graphic>
          <a:graphicData uri="http://schemas.openxmlformats.org/drawingml/2006/table">
            <a:tbl>
              <a:tblPr>
                <a:tableStyleId>{8799B23B-EC83-4686-B30A-512413B5E67A}</a:tableStyleId>
              </a:tblPr>
              <a:tblGrid>
                <a:gridCol w="571287">
                  <a:extLst>
                    <a:ext uri="{9D8B030D-6E8A-4147-A177-3AD203B41FA5}">
                      <a16:colId xmlns:a16="http://schemas.microsoft.com/office/drawing/2014/main" val="2722336676"/>
                    </a:ext>
                  </a:extLst>
                </a:gridCol>
                <a:gridCol w="742326">
                  <a:extLst>
                    <a:ext uri="{9D8B030D-6E8A-4147-A177-3AD203B41FA5}">
                      <a16:colId xmlns:a16="http://schemas.microsoft.com/office/drawing/2014/main" val="2786557618"/>
                    </a:ext>
                  </a:extLst>
                </a:gridCol>
                <a:gridCol w="1043122">
                  <a:extLst>
                    <a:ext uri="{9D8B030D-6E8A-4147-A177-3AD203B41FA5}">
                      <a16:colId xmlns:a16="http://schemas.microsoft.com/office/drawing/2014/main" val="4030446901"/>
                    </a:ext>
                  </a:extLst>
                </a:gridCol>
                <a:gridCol w="1373689">
                  <a:extLst>
                    <a:ext uri="{9D8B030D-6E8A-4147-A177-3AD203B41FA5}">
                      <a16:colId xmlns:a16="http://schemas.microsoft.com/office/drawing/2014/main" val="627719339"/>
                    </a:ext>
                  </a:extLst>
                </a:gridCol>
                <a:gridCol w="1312546">
                  <a:extLst>
                    <a:ext uri="{9D8B030D-6E8A-4147-A177-3AD203B41FA5}">
                      <a16:colId xmlns:a16="http://schemas.microsoft.com/office/drawing/2014/main" val="109071865"/>
                    </a:ext>
                  </a:extLst>
                </a:gridCol>
                <a:gridCol w="1137920">
                  <a:extLst>
                    <a:ext uri="{9D8B030D-6E8A-4147-A177-3AD203B41FA5}">
                      <a16:colId xmlns:a16="http://schemas.microsoft.com/office/drawing/2014/main" val="3746024685"/>
                    </a:ext>
                  </a:extLst>
                </a:gridCol>
                <a:gridCol w="1645920">
                  <a:extLst>
                    <a:ext uri="{9D8B030D-6E8A-4147-A177-3AD203B41FA5}">
                      <a16:colId xmlns:a16="http://schemas.microsoft.com/office/drawing/2014/main" val="2608463186"/>
                    </a:ext>
                  </a:extLst>
                </a:gridCol>
                <a:gridCol w="1625599">
                  <a:extLst>
                    <a:ext uri="{9D8B030D-6E8A-4147-A177-3AD203B41FA5}">
                      <a16:colId xmlns:a16="http://schemas.microsoft.com/office/drawing/2014/main" val="936301601"/>
                    </a:ext>
                  </a:extLst>
                </a:gridCol>
              </a:tblGrid>
              <a:tr h="129293">
                <a:tc>
                  <a:txBody>
                    <a:bodyPr/>
                    <a:lstStyle/>
                    <a:p>
                      <a:pPr>
                        <a:buNone/>
                      </a:pPr>
                      <a:r>
                        <a:rPr lang="en-US" sz="800" b="1">
                          <a:effectLst/>
                        </a:rPr>
                        <a:t>Phase</a:t>
                      </a:r>
                    </a:p>
                  </a:txBody>
                  <a:tcPr marL="48431" marR="48431" marT="24216" marB="24216" anchor="ctr">
                    <a:solidFill>
                      <a:schemeClr val="tx2">
                        <a:lumMod val="10000"/>
                        <a:lumOff val="90000"/>
                      </a:schemeClr>
                    </a:solidFill>
                  </a:tcPr>
                </a:tc>
                <a:tc>
                  <a:txBody>
                    <a:bodyPr/>
                    <a:lstStyle/>
                    <a:p>
                      <a:pPr>
                        <a:buNone/>
                      </a:pPr>
                      <a:r>
                        <a:rPr lang="en-US" sz="800" b="1">
                          <a:effectLst/>
                        </a:rPr>
                        <a:t>Iteration</a:t>
                      </a:r>
                    </a:p>
                  </a:txBody>
                  <a:tcPr marL="48431" marR="48431" marT="24216" marB="24216" anchor="ctr">
                    <a:solidFill>
                      <a:schemeClr val="tx2">
                        <a:lumMod val="10000"/>
                        <a:lumOff val="90000"/>
                      </a:schemeClr>
                    </a:solidFill>
                  </a:tcPr>
                </a:tc>
                <a:tc>
                  <a:txBody>
                    <a:bodyPr/>
                    <a:lstStyle/>
                    <a:p>
                      <a:pPr>
                        <a:buNone/>
                      </a:pPr>
                      <a:r>
                        <a:rPr lang="en-US" sz="800" b="1">
                          <a:effectLst/>
                        </a:rPr>
                        <a:t>Period</a:t>
                      </a:r>
                    </a:p>
                  </a:txBody>
                  <a:tcPr marL="48431" marR="48431" marT="24216" marB="24216" anchor="ctr">
                    <a:solidFill>
                      <a:schemeClr val="tx2">
                        <a:lumMod val="10000"/>
                        <a:lumOff val="90000"/>
                      </a:schemeClr>
                    </a:solidFill>
                  </a:tcPr>
                </a:tc>
                <a:tc>
                  <a:txBody>
                    <a:bodyPr/>
                    <a:lstStyle/>
                    <a:p>
                      <a:pPr>
                        <a:buNone/>
                      </a:pPr>
                      <a:r>
                        <a:rPr lang="en-US" sz="800" b="1">
                          <a:effectLst/>
                        </a:rPr>
                        <a:t>Main Activities</a:t>
                      </a:r>
                    </a:p>
                  </a:txBody>
                  <a:tcPr marL="48431" marR="48431" marT="24216" marB="24216" anchor="ctr">
                    <a:solidFill>
                      <a:schemeClr val="tx2">
                        <a:lumMod val="10000"/>
                        <a:lumOff val="90000"/>
                      </a:schemeClr>
                    </a:solidFill>
                  </a:tcPr>
                </a:tc>
                <a:tc>
                  <a:txBody>
                    <a:bodyPr/>
                    <a:lstStyle/>
                    <a:p>
                      <a:pPr>
                        <a:buNone/>
                      </a:pPr>
                      <a:r>
                        <a:rPr lang="en-US" sz="800" b="1">
                          <a:effectLst/>
                        </a:rPr>
                        <a:t>Key Deliverables</a:t>
                      </a:r>
                    </a:p>
                  </a:txBody>
                  <a:tcPr marL="48431" marR="48431" marT="24216" marB="24216" anchor="ctr">
                    <a:solidFill>
                      <a:schemeClr val="tx2">
                        <a:lumMod val="10000"/>
                        <a:lumOff val="90000"/>
                      </a:schemeClr>
                    </a:solidFill>
                  </a:tcPr>
                </a:tc>
                <a:tc>
                  <a:txBody>
                    <a:bodyPr/>
                    <a:lstStyle/>
                    <a:p>
                      <a:pPr>
                        <a:buNone/>
                      </a:pPr>
                      <a:r>
                        <a:rPr lang="en-US" sz="800" b="1">
                          <a:effectLst/>
                        </a:rPr>
                        <a:t>Role Involve</a:t>
                      </a:r>
                    </a:p>
                  </a:txBody>
                  <a:tcPr marL="48431" marR="48431" marT="24216" marB="24216" anchor="ctr">
                    <a:solidFill>
                      <a:schemeClr val="tx2">
                        <a:lumMod val="10000"/>
                        <a:lumOff val="90000"/>
                      </a:schemeClr>
                    </a:solidFill>
                  </a:tcPr>
                </a:tc>
                <a:tc>
                  <a:txBody>
                    <a:bodyPr/>
                    <a:lstStyle/>
                    <a:p>
                      <a:pPr>
                        <a:buNone/>
                      </a:pPr>
                      <a:r>
                        <a:rPr lang="en-US" sz="800" b="1">
                          <a:effectLst/>
                        </a:rPr>
                        <a:t>Cost Driver</a:t>
                      </a:r>
                    </a:p>
                  </a:txBody>
                  <a:tcPr marL="48431" marR="48431" marT="24216" marB="24216" anchor="ctr">
                    <a:solidFill>
                      <a:schemeClr val="tx2">
                        <a:lumMod val="10000"/>
                        <a:lumOff val="90000"/>
                      </a:schemeClr>
                    </a:solidFill>
                  </a:tcPr>
                </a:tc>
                <a:tc>
                  <a:txBody>
                    <a:bodyPr/>
                    <a:lstStyle/>
                    <a:p>
                      <a:pPr>
                        <a:buNone/>
                      </a:pPr>
                      <a:r>
                        <a:rPr lang="en-US" sz="800" b="1">
                          <a:effectLst/>
                        </a:rPr>
                        <a:t>Cost</a:t>
                      </a:r>
                    </a:p>
                  </a:txBody>
                  <a:tcPr marL="48431" marR="48431" marT="24216" marB="24216" anchor="ctr">
                    <a:solidFill>
                      <a:schemeClr val="tx2">
                        <a:lumMod val="10000"/>
                        <a:lumOff val="90000"/>
                      </a:schemeClr>
                    </a:solidFill>
                  </a:tcPr>
                </a:tc>
                <a:extLst>
                  <a:ext uri="{0D108BD9-81ED-4DB2-BD59-A6C34878D82A}">
                    <a16:rowId xmlns:a16="http://schemas.microsoft.com/office/drawing/2014/main" val="1234126129"/>
                  </a:ext>
                </a:extLst>
              </a:tr>
              <a:tr h="332209">
                <a:tc>
                  <a:txBody>
                    <a:bodyPr/>
                    <a:lstStyle/>
                    <a:p>
                      <a:pPr>
                        <a:lnSpc>
                          <a:spcPct val="100000"/>
                        </a:lnSpc>
                        <a:buNone/>
                      </a:pPr>
                      <a:r>
                        <a:rPr lang="en-US" sz="800">
                          <a:effectLst/>
                        </a:rPr>
                        <a:t>Enabler</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r>
                        <a:rPr lang="en-US" sz="800">
                          <a:effectLst/>
                        </a:rPr>
                        <a:t>Environment, security setup</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Infra team</a:t>
                      </a:r>
                    </a:p>
                  </a:txBody>
                  <a:tcPr marL="74295" marR="74295" marT="37148" marB="37148"/>
                </a:tc>
                <a:tc>
                  <a:txBody>
                    <a:bodyPr/>
                    <a:lstStyle/>
                    <a:p>
                      <a:pPr fontAlgn="t">
                        <a:lnSpc>
                          <a:spcPct val="100000"/>
                        </a:lnSpc>
                        <a:buNone/>
                      </a:pPr>
                      <a:r>
                        <a:rPr lang="en-US" sz="800" b="1" i="0">
                          <a:effectLst/>
                          <a:latin typeface="Calibri" panose="020F0502020204030204" pitchFamily="34" charset="0"/>
                          <a:ea typeface="Calibri" panose="020F0502020204030204" pitchFamily="34" charset="0"/>
                          <a:cs typeface="Calibri" panose="020F0502020204030204" pitchFamily="34" charset="0"/>
                        </a:rPr>
                        <a:t>One‑time setup</a:t>
                      </a:r>
                      <a:r>
                        <a:rPr lang="en-US" sz="800" b="0" i="0">
                          <a:effectLst/>
                          <a:latin typeface="Calibri" panose="020F0502020204030204" pitchFamily="34" charset="0"/>
                          <a:ea typeface="Calibri" panose="020F0502020204030204" pitchFamily="34" charset="0"/>
                          <a:cs typeface="Calibri" panose="020F0502020204030204" pitchFamily="34" charset="0"/>
                        </a:rPr>
                        <a:t> – mandatory foundation cost to avoid rework &amp; security exposure</a:t>
                      </a:r>
                    </a:p>
                  </a:txBody>
                  <a:tcPr marL="74295" marR="74295" marT="37148" marB="37148"/>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BSI Cost:</a:t>
                      </a:r>
                    </a:p>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Developer cost:</a:t>
                      </a:r>
                    </a:p>
                  </a:txBody>
                  <a:tcPr marL="74295" marR="74295" marT="37148" marB="37148"/>
                </a:tc>
                <a:extLst>
                  <a:ext uri="{0D108BD9-81ED-4DB2-BD59-A6C34878D82A}">
                    <a16:rowId xmlns:a16="http://schemas.microsoft.com/office/drawing/2014/main" val="4281165008"/>
                  </a:ext>
                </a:extLst>
              </a:tr>
              <a:tr h="332209">
                <a:tc rowSpan="4">
                  <a:txBody>
                    <a:bodyPr/>
                    <a:lstStyle/>
                    <a:p>
                      <a:pPr>
                        <a:lnSpc>
                          <a:spcPct val="100000"/>
                        </a:lnSpc>
                        <a:buNone/>
                      </a:pPr>
                      <a:r>
                        <a:rPr lang="en-US" sz="800">
                          <a:effectLst/>
                        </a:rPr>
                        <a:t>Phase 1</a:t>
                      </a:r>
                    </a:p>
                  </a:txBody>
                  <a:tcPr marL="48431" marR="48431" marT="24216" marB="24216" anchor="ctr"/>
                </a:tc>
                <a:tc>
                  <a:txBody>
                    <a:bodyPr/>
                    <a:lstStyle/>
                    <a:p>
                      <a:pPr>
                        <a:lnSpc>
                          <a:spcPct val="100000"/>
                        </a:lnSpc>
                        <a:buNone/>
                      </a:pPr>
                      <a:r>
                        <a:rPr lang="en-US" sz="800">
                          <a:effectLst/>
                        </a:rPr>
                        <a:t>Iteration 1</a:t>
                      </a:r>
                    </a:p>
                  </a:txBody>
                  <a:tcPr marL="48431" marR="48431" marT="24216" marB="24216" anchor="ctr"/>
                </a:tc>
                <a:tc>
                  <a:txBody>
                    <a:bodyPr/>
                    <a:lstStyle/>
                    <a:p>
                      <a:pPr>
                        <a:lnSpc>
                          <a:spcPct val="100000"/>
                        </a:lnSpc>
                        <a:buNone/>
                      </a:pPr>
                      <a:r>
                        <a:rPr lang="en-US" sz="800">
                          <a:effectLst/>
                        </a:rPr>
                        <a:t>4–8 May 2026</a:t>
                      </a:r>
                    </a:p>
                  </a:txBody>
                  <a:tcPr marL="48431" marR="48431" marT="24216" marB="24216" anchor="ctr"/>
                </a:tc>
                <a:tc>
                  <a:txBody>
                    <a:bodyPr/>
                    <a:lstStyle/>
                    <a:p>
                      <a:pPr>
                        <a:lnSpc>
                          <a:spcPct val="100000"/>
                        </a:lnSpc>
                        <a:buNone/>
                      </a:pPr>
                      <a:r>
                        <a:rPr lang="en-US" sz="800">
                          <a:effectLst/>
                        </a:rPr>
                        <a:t>Iteration Planning #1, Master Data Configuration</a:t>
                      </a:r>
                    </a:p>
                  </a:txBody>
                  <a:tcPr marL="48431" marR="48431" marT="24216" marB="24216" anchor="ctr"/>
                </a:tc>
                <a:tc>
                  <a:txBody>
                    <a:bodyPr/>
                    <a:lstStyle/>
                    <a:p>
                      <a:pPr>
                        <a:lnSpc>
                          <a:spcPct val="100000"/>
                        </a:lnSpc>
                        <a:buNone/>
                      </a:pPr>
                      <a:r>
                        <a:rPr lang="en-US" sz="800">
                          <a:effectLst/>
                        </a:rPr>
                        <a:t>Core HR data foundation</a:t>
                      </a:r>
                    </a:p>
                  </a:txBody>
                  <a:tcPr marL="48431" marR="48431" marT="24216" marB="24216" anchor="ctr"/>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SM, PO, PM, Dev Team, Dev Lead, SA, QA</a:t>
                      </a:r>
                    </a:p>
                  </a:txBody>
                  <a:tcPr marL="74295" marR="74295" marT="37148" marB="37148"/>
                </a:tc>
                <a:tc>
                  <a:txBody>
                    <a:bodyPr/>
                    <a:lstStyle/>
                    <a:p>
                      <a:pPr fontAlgn="t">
                        <a:lnSpc>
                          <a:spcPct val="100000"/>
                        </a:lnSpc>
                        <a:buNone/>
                      </a:pPr>
                      <a:r>
                        <a:rPr lang="en-US" sz="800" b="1" i="0">
                          <a:effectLst/>
                          <a:latin typeface="Calibri" panose="020F0502020204030204" pitchFamily="34" charset="0"/>
                          <a:ea typeface="Calibri" panose="020F0502020204030204" pitchFamily="34" charset="0"/>
                          <a:cs typeface="Calibri" panose="020F0502020204030204" pitchFamily="34" charset="0"/>
                        </a:rPr>
                        <a:t>High man‑days at senior roles</a:t>
                      </a:r>
                      <a:r>
                        <a:rPr lang="en-US" sz="800" b="0" i="0">
                          <a:effectLst/>
                          <a:latin typeface="Calibri" panose="020F0502020204030204" pitchFamily="34" charset="0"/>
                          <a:ea typeface="Calibri" panose="020F0502020204030204" pitchFamily="34" charset="0"/>
                          <a:cs typeface="Calibri" panose="020F0502020204030204" pitchFamily="34" charset="0"/>
                        </a:rPr>
                        <a:t> – core design &amp; data foundation</a:t>
                      </a:r>
                    </a:p>
                  </a:txBody>
                  <a:tcPr marL="74295" marR="74295" marT="37148" marB="37148"/>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BSI Cost:</a:t>
                      </a:r>
                    </a:p>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Developer Cost: </a:t>
                      </a:r>
                    </a:p>
                  </a:txBody>
                  <a:tcPr marL="74295" marR="74295" marT="37148" marB="37148"/>
                </a:tc>
                <a:extLst>
                  <a:ext uri="{0D108BD9-81ED-4DB2-BD59-A6C34878D82A}">
                    <a16:rowId xmlns:a16="http://schemas.microsoft.com/office/drawing/2014/main" val="2957923026"/>
                  </a:ext>
                </a:extLst>
              </a:tr>
              <a:tr h="332209">
                <a:tc vMerge="1">
                  <a:txBody>
                    <a:bodyPr/>
                    <a:lstStyle/>
                    <a:p>
                      <a:endParaRPr/>
                    </a:p>
                  </a:txBody>
                  <a:tcPr marL="48431" marR="48431" marT="24216" marB="24216" anchor="ctr"/>
                </a:tc>
                <a:tc>
                  <a:txBody>
                    <a:bodyPr/>
                    <a:lstStyle/>
                    <a:p>
                      <a:pPr>
                        <a:lnSpc>
                          <a:spcPct val="100000"/>
                        </a:lnSpc>
                        <a:buNone/>
                      </a:pPr>
                      <a:r>
                        <a:rPr lang="en-US" sz="800">
                          <a:effectLst/>
                        </a:rPr>
                        <a:t>Iteration 2</a:t>
                      </a:r>
                    </a:p>
                  </a:txBody>
                  <a:tcPr marL="48431" marR="48431" marT="24216" marB="24216" anchor="ctr"/>
                </a:tc>
                <a:tc>
                  <a:txBody>
                    <a:bodyPr/>
                    <a:lstStyle/>
                    <a:p>
                      <a:pPr>
                        <a:lnSpc>
                          <a:spcPct val="100000"/>
                        </a:lnSpc>
                        <a:buNone/>
                      </a:pPr>
                      <a:r>
                        <a:rPr lang="en-US" sz="800">
                          <a:effectLst/>
                        </a:rPr>
                        <a:t>11–22 May 2026</a:t>
                      </a:r>
                    </a:p>
                  </a:txBody>
                  <a:tcPr marL="48431" marR="48431" marT="24216" marB="24216" anchor="ctr"/>
                </a:tc>
                <a:tc>
                  <a:txBody>
                    <a:bodyPr/>
                    <a:lstStyle/>
                    <a:p>
                      <a:pPr>
                        <a:lnSpc>
                          <a:spcPct val="100000"/>
                        </a:lnSpc>
                        <a:buNone/>
                      </a:pPr>
                      <a:r>
                        <a:rPr lang="en-US" sz="800">
                          <a:effectLst/>
                        </a:rPr>
                        <a:t>Development &amp; SIT </a:t>
                      </a:r>
                      <a:r>
                        <a:rPr lang="en-US" sz="800" u="sng">
                          <a:effectLst/>
                        </a:rPr>
                        <a:t>Performance Evaluation, </a:t>
                      </a:r>
                      <a:r>
                        <a:rPr lang="en-US" sz="800">
                          <a:effectLst/>
                        </a:rPr>
                        <a:t>Iteration Review</a:t>
                      </a:r>
                    </a:p>
                  </a:txBody>
                  <a:tcPr marL="48431" marR="48431" marT="24216" marB="24216" anchor="ctr"/>
                </a:tc>
                <a:tc>
                  <a:txBody>
                    <a:bodyPr/>
                    <a:lstStyle/>
                    <a:p>
                      <a:pPr>
                        <a:lnSpc>
                          <a:spcPct val="100000"/>
                        </a:lnSpc>
                        <a:buNone/>
                      </a:pPr>
                      <a:r>
                        <a:rPr lang="en-US" sz="800">
                          <a:effectLst/>
                        </a:rPr>
                        <a:t>Stable core HR modules</a:t>
                      </a:r>
                    </a:p>
                  </a:txBody>
                  <a:tcPr marL="48431" marR="48431" marT="24216" marB="24216" anchor="ctr"/>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SM, PO, PM, Dev Team, QA, HR Key Users</a:t>
                      </a:r>
                    </a:p>
                  </a:txBody>
                  <a:tcPr marL="74295" marR="74295" marT="37148" marB="37148"/>
                </a:tc>
                <a:tc>
                  <a:txBody>
                    <a:bodyPr/>
                    <a:lstStyle/>
                    <a:p>
                      <a:pPr fontAlgn="t">
                        <a:lnSpc>
                          <a:spcPct val="100000"/>
                        </a:lnSpc>
                        <a:buNone/>
                      </a:pPr>
                      <a:r>
                        <a:rPr lang="en-US" sz="800" b="1" i="0">
                          <a:effectLst/>
                          <a:latin typeface="Calibri" panose="020F0502020204030204" pitchFamily="34" charset="0"/>
                          <a:ea typeface="Calibri" panose="020F0502020204030204" pitchFamily="34" charset="0"/>
                          <a:cs typeface="Calibri" panose="020F0502020204030204" pitchFamily="34" charset="0"/>
                        </a:rPr>
                        <a:t>Development + testing effort</a:t>
                      </a:r>
                      <a:r>
                        <a:rPr lang="en-US" sz="800" b="0" i="0">
                          <a:effectLst/>
                          <a:latin typeface="Calibri" panose="020F0502020204030204" pitchFamily="34" charset="0"/>
                          <a:ea typeface="Calibri" panose="020F0502020204030204" pitchFamily="34" charset="0"/>
                          <a:cs typeface="Calibri" panose="020F0502020204030204" pitchFamily="34" charset="0"/>
                        </a:rPr>
                        <a:t> – quality stabilization cost</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2855894171"/>
                  </a:ext>
                </a:extLst>
              </a:tr>
              <a:tr h="271407">
                <a:tc vMerge="1">
                  <a:txBody>
                    <a:bodyPr/>
                    <a:lstStyle/>
                    <a:p>
                      <a:endParaRPr/>
                    </a:p>
                  </a:txBody>
                  <a:tcPr marL="48431" marR="48431" marT="24216" marB="24216" anchor="ctr"/>
                </a:tc>
                <a:tc>
                  <a:txBody>
                    <a:bodyPr/>
                    <a:lstStyle/>
                    <a:p>
                      <a:pPr>
                        <a:lnSpc>
                          <a:spcPct val="100000"/>
                        </a:lnSpc>
                        <a:buNone/>
                      </a:pPr>
                      <a:r>
                        <a:rPr lang="en-US" sz="800">
                          <a:effectLst/>
                        </a:rPr>
                        <a:t>Iteration 3</a:t>
                      </a:r>
                    </a:p>
                  </a:txBody>
                  <a:tcPr marL="48431" marR="48431" marT="24216" marB="24216" anchor="ctr"/>
                </a:tc>
                <a:tc>
                  <a:txBody>
                    <a:bodyPr/>
                    <a:lstStyle/>
                    <a:p>
                      <a:pPr>
                        <a:lnSpc>
                          <a:spcPct val="100000"/>
                        </a:lnSpc>
                        <a:buNone/>
                      </a:pPr>
                      <a:r>
                        <a:rPr lang="en-US" sz="800">
                          <a:effectLst/>
                        </a:rPr>
                        <a:t>25 May – 12 Jun 2026</a:t>
                      </a:r>
                    </a:p>
                  </a:txBody>
                  <a:tcPr marL="48431" marR="48431" marT="24216" marB="24216" anchor="ctr"/>
                </a:tc>
                <a:tc>
                  <a:txBody>
                    <a:bodyPr/>
                    <a:lstStyle/>
                    <a:p>
                      <a:pPr>
                        <a:lnSpc>
                          <a:spcPct val="100000"/>
                        </a:lnSpc>
                        <a:buNone/>
                      </a:pPr>
                      <a:r>
                        <a:rPr lang="en-US" sz="800">
                          <a:effectLst/>
                        </a:rPr>
                        <a:t>Master Data Migration</a:t>
                      </a:r>
                    </a:p>
                  </a:txBody>
                  <a:tcPr marL="48431" marR="48431" marT="24216" marB="24216" anchor="ctr"/>
                </a:tc>
                <a:tc>
                  <a:txBody>
                    <a:bodyPr/>
                    <a:lstStyle/>
                    <a:p>
                      <a:pPr>
                        <a:lnSpc>
                          <a:spcPct val="100000"/>
                        </a:lnSpc>
                        <a:buNone/>
                      </a:pPr>
                      <a:r>
                        <a:rPr lang="en-US" sz="800">
                          <a:effectLst/>
                        </a:rPr>
                        <a:t>Validated HR data</a:t>
                      </a:r>
                    </a:p>
                  </a:txBody>
                  <a:tcPr marL="48431" marR="48431" marT="24216" marB="24216" anchor="ctr"/>
                </a:tc>
                <a:tc>
                  <a:txBody>
                    <a:bodyPr/>
                    <a:lstStyle/>
                    <a:p>
                      <a:pPr>
                        <a:lnSpc>
                          <a:spcPct val="100000"/>
                        </a:lnSpc>
                      </a:pPr>
                      <a:r>
                        <a:rPr lang="en-US" sz="800"/>
                        <a:t>Dev Team, Dev Lead, PO, SA</a:t>
                      </a:r>
                    </a:p>
                  </a:txBody>
                  <a:tcPr marL="74295" marR="74295" marT="37148" marB="37148"/>
                </a:tc>
                <a:tc>
                  <a:txBody>
                    <a:bodyPr/>
                    <a:lstStyle/>
                    <a:p>
                      <a:pPr fontAlgn="t">
                        <a:lnSpc>
                          <a:spcPct val="100000"/>
                        </a:lnSpc>
                        <a:buNone/>
                      </a:pPr>
                      <a:r>
                        <a:rPr lang="en-US" sz="800" b="1" i="0">
                          <a:effectLst/>
                          <a:latin typeface="Calibri" panose="020F0502020204030204" pitchFamily="34" charset="0"/>
                          <a:ea typeface="Calibri" panose="020F0502020204030204" pitchFamily="34" charset="0"/>
                          <a:cs typeface="Calibri" panose="020F0502020204030204" pitchFamily="34" charset="0"/>
                        </a:rPr>
                        <a:t>Data validation &amp; rework prevention</a:t>
                      </a:r>
                      <a:r>
                        <a:rPr lang="en-US" sz="800" b="0" i="0">
                          <a:effectLst/>
                          <a:latin typeface="Calibri" panose="020F0502020204030204" pitchFamily="34" charset="0"/>
                          <a:ea typeface="Calibri" panose="020F0502020204030204" pitchFamily="34" charset="0"/>
                          <a:cs typeface="Calibri" panose="020F0502020204030204" pitchFamily="34" charset="0"/>
                        </a:rPr>
                        <a:t> – labor‑intensive accuracy assurance</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81875632"/>
                  </a:ext>
                </a:extLst>
              </a:tr>
              <a:tr h="236747">
                <a:tc vMerge="1">
                  <a:txBody>
                    <a:bodyPr/>
                    <a:lstStyle/>
                    <a:p>
                      <a:endParaRPr/>
                    </a:p>
                  </a:txBody>
                  <a:tcPr marL="48431" marR="48431" marT="24216" marB="24216" anchor="ctr"/>
                </a:tc>
                <a:tc>
                  <a:txBody>
                    <a:bodyPr/>
                    <a:lstStyle/>
                    <a:p>
                      <a:pPr>
                        <a:lnSpc>
                          <a:spcPct val="100000"/>
                        </a:lnSpc>
                        <a:buNone/>
                      </a:pPr>
                      <a:r>
                        <a:rPr lang="en-US" sz="800">
                          <a:effectLst/>
                        </a:rPr>
                        <a:t>Iteration 4</a:t>
                      </a:r>
                    </a:p>
                  </a:txBody>
                  <a:tcPr marL="48431" marR="48431" marT="24216" marB="24216" anchor="ctr"/>
                </a:tc>
                <a:tc>
                  <a:txBody>
                    <a:bodyPr/>
                    <a:lstStyle/>
                    <a:p>
                      <a:pPr>
                        <a:lnSpc>
                          <a:spcPct val="100000"/>
                        </a:lnSpc>
                        <a:buNone/>
                      </a:pPr>
                      <a:r>
                        <a:rPr lang="en-US" sz="800">
                          <a:effectLst/>
                        </a:rPr>
                        <a:t>15–26 Jun 2026</a:t>
                      </a:r>
                    </a:p>
                  </a:txBody>
                  <a:tcPr marL="48431" marR="48431" marT="24216" marB="24216" anchor="ctr"/>
                </a:tc>
                <a:tc>
                  <a:txBody>
                    <a:bodyPr/>
                    <a:lstStyle/>
                    <a:p>
                      <a:pPr>
                        <a:lnSpc>
                          <a:spcPct val="100000"/>
                        </a:lnSpc>
                        <a:buNone/>
                      </a:pPr>
                      <a:r>
                        <a:rPr lang="en-US" sz="800">
                          <a:effectLst/>
                        </a:rPr>
                        <a:t>Training Activity</a:t>
                      </a:r>
                      <a:r>
                        <a:rPr lang="en-US" sz="800" b="1" u="sng">
                          <a:effectLst/>
                        </a:rPr>
                        <a:t>, Partial Go‑Live</a:t>
                      </a:r>
                    </a:p>
                  </a:txBody>
                  <a:tcPr marL="48431" marR="48431" marT="24216" marB="24216" anchor="ctr"/>
                </a:tc>
                <a:tc>
                  <a:txBody>
                    <a:bodyPr/>
                    <a:lstStyle/>
                    <a:p>
                      <a:pPr>
                        <a:lnSpc>
                          <a:spcPct val="100000"/>
                        </a:lnSpc>
                        <a:buNone/>
                      </a:pPr>
                      <a:r>
                        <a:rPr lang="en-US" sz="800">
                          <a:effectLst/>
                        </a:rPr>
                        <a:t>System live for limited users</a:t>
                      </a:r>
                    </a:p>
                  </a:txBody>
                  <a:tcPr marL="48431" marR="48431" marT="24216" marB="24216" anchor="ctr"/>
                </a:tc>
                <a:tc>
                  <a:txBody>
                    <a:bodyPr/>
                    <a:lstStyle/>
                    <a:p>
                      <a:pPr>
                        <a:lnSpc>
                          <a:spcPct val="100000"/>
                        </a:lnSpc>
                        <a:buNone/>
                      </a:pPr>
                      <a:r>
                        <a:rPr lang="en-US" sz="800">
                          <a:effectLst/>
                        </a:rPr>
                        <a:t>PM, PMO, Key Users</a:t>
                      </a:r>
                    </a:p>
                  </a:txBody>
                  <a:tcPr marL="48431" marR="48431" marT="24216" marB="24216" anchor="ctr"/>
                </a:tc>
                <a:tc>
                  <a:txBody>
                    <a:bodyPr/>
                    <a:lstStyle/>
                    <a:p>
                      <a:pPr fontAlgn="t">
                        <a:lnSpc>
                          <a:spcPct val="100000"/>
                        </a:lnSpc>
                        <a:buNone/>
                      </a:pPr>
                      <a:r>
                        <a:rPr lang="en-US" sz="800" b="1" i="0">
                          <a:effectLst/>
                          <a:latin typeface="Calibri"/>
                          <a:ea typeface="Calibri"/>
                          <a:cs typeface="Calibri"/>
                        </a:rPr>
                        <a:t>Parallel development &amp; operation</a:t>
                      </a:r>
                      <a:r>
                        <a:rPr lang="en-US" sz="800" b="0" i="0">
                          <a:effectLst/>
                          <a:latin typeface="Calibri"/>
                          <a:ea typeface="Calibri"/>
                          <a:cs typeface="Calibri"/>
                        </a:rPr>
                        <a:t> – double running cost</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626040192"/>
                  </a:ext>
                </a:extLst>
              </a:tr>
              <a:tr h="236747">
                <a:tc rowSpan="6">
                  <a:txBody>
                    <a:bodyPr/>
                    <a:lstStyle/>
                    <a:p>
                      <a:pPr>
                        <a:lnSpc>
                          <a:spcPct val="100000"/>
                        </a:lnSpc>
                        <a:buNone/>
                      </a:pPr>
                      <a:r>
                        <a:rPr lang="en-US" sz="800">
                          <a:effectLst/>
                        </a:rPr>
                        <a:t>Phase 2</a:t>
                      </a:r>
                    </a:p>
                  </a:txBody>
                  <a:tcPr marL="48431" marR="48431" marT="24216" marB="24216" anchor="ctr"/>
                </a:tc>
                <a:tc>
                  <a:txBody>
                    <a:bodyPr/>
                    <a:lstStyle/>
                    <a:p>
                      <a:pPr>
                        <a:lnSpc>
                          <a:spcPct val="100000"/>
                        </a:lnSpc>
                        <a:buNone/>
                      </a:pPr>
                      <a:r>
                        <a:rPr lang="en-US" sz="800">
                          <a:effectLst/>
                        </a:rPr>
                        <a:t>Iteration 5–6</a:t>
                      </a:r>
                    </a:p>
                  </a:txBody>
                  <a:tcPr marL="48431" marR="48431" marT="24216" marB="24216" anchor="ctr"/>
                </a:tc>
                <a:tc>
                  <a:txBody>
                    <a:bodyPr/>
                    <a:lstStyle/>
                    <a:p>
                      <a:pPr>
                        <a:lnSpc>
                          <a:spcPct val="100000"/>
                        </a:lnSpc>
                        <a:buNone/>
                      </a:pPr>
                      <a:r>
                        <a:rPr lang="en-US" sz="800">
                          <a:effectLst/>
                        </a:rPr>
                        <a:t>29 Jun – 24 Jul 2026</a:t>
                      </a:r>
                    </a:p>
                  </a:txBody>
                  <a:tcPr marL="48431" marR="48431" marT="24216" marB="24216" anchor="ctr"/>
                </a:tc>
                <a:tc>
                  <a:txBody>
                    <a:bodyPr/>
                    <a:lstStyle/>
                    <a:p>
                      <a:pPr>
                        <a:lnSpc>
                          <a:spcPct val="100000"/>
                        </a:lnSpc>
                        <a:buNone/>
                      </a:pPr>
                      <a:r>
                        <a:rPr lang="en-US" sz="800" u="sng">
                          <a:effectLst/>
                        </a:rPr>
                        <a:t>Logbook &amp; Promotion Development</a:t>
                      </a:r>
                    </a:p>
                  </a:txBody>
                  <a:tcPr marL="48431" marR="48431" marT="24216" marB="24216" anchor="ctr"/>
                </a:tc>
                <a:tc>
                  <a:txBody>
                    <a:bodyPr/>
                    <a:lstStyle/>
                    <a:p>
                      <a:pPr>
                        <a:lnSpc>
                          <a:spcPct val="100000"/>
                        </a:lnSpc>
                        <a:buNone/>
                      </a:pPr>
                      <a:r>
                        <a:rPr lang="en-US" sz="800">
                          <a:effectLst/>
                        </a:rPr>
                        <a:t>Promotion workflow</a:t>
                      </a:r>
                    </a:p>
                  </a:txBody>
                  <a:tcPr marL="48431" marR="48431" marT="24216" marB="24216" anchor="ctr"/>
                </a:tc>
                <a:tc>
                  <a:txBody>
                    <a:bodyPr/>
                    <a:lstStyle/>
                    <a:p>
                      <a:pPr>
                        <a:lnSpc>
                          <a:spcPct val="100000"/>
                        </a:lnSpc>
                        <a:buNone/>
                      </a:pPr>
                      <a:r>
                        <a:rPr lang="en-US" sz="800">
                          <a:effectLst/>
                        </a:rPr>
                        <a:t>SM, PO, PM, </a:t>
                      </a:r>
                    </a:p>
                  </a:txBody>
                  <a:tcPr marL="48431" marR="48431" marT="24216" marB="24216" anchor="ctr"/>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Workflow complexity &amp; multi‑approval logic</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327729803"/>
                  </a:ext>
                </a:extLst>
              </a:tr>
              <a:tr h="236747">
                <a:tc vMerge="1">
                  <a:txBody>
                    <a:bodyPr/>
                    <a:lstStyle/>
                    <a:p>
                      <a:endParaRPr/>
                    </a:p>
                  </a:txBody>
                  <a:tcPr marL="48431" marR="48431" marT="24216" marB="24216" anchor="ctr"/>
                </a:tc>
                <a:tc>
                  <a:txBody>
                    <a:bodyPr/>
                    <a:lstStyle/>
                    <a:p>
                      <a:pPr>
                        <a:lnSpc>
                          <a:spcPct val="100000"/>
                        </a:lnSpc>
                        <a:buNone/>
                      </a:pPr>
                      <a:r>
                        <a:rPr lang="en-US" sz="800">
                          <a:effectLst/>
                        </a:rPr>
                        <a:t>Iteration 7–8</a:t>
                      </a:r>
                    </a:p>
                  </a:txBody>
                  <a:tcPr marL="48431" marR="48431" marT="24216" marB="24216" anchor="ctr"/>
                </a:tc>
                <a:tc>
                  <a:txBody>
                    <a:bodyPr/>
                    <a:lstStyle/>
                    <a:p>
                      <a:pPr>
                        <a:lnSpc>
                          <a:spcPct val="100000"/>
                        </a:lnSpc>
                        <a:buNone/>
                      </a:pPr>
                      <a:r>
                        <a:rPr lang="en-US" sz="800">
                          <a:effectLst/>
                        </a:rPr>
                        <a:t>27 Jul – 21 Aug 2026</a:t>
                      </a:r>
                    </a:p>
                  </a:txBody>
                  <a:tcPr marL="48431" marR="48431" marT="24216" marB="24216" anchor="ctr"/>
                </a:tc>
                <a:tc>
                  <a:txBody>
                    <a:bodyPr/>
                    <a:lstStyle/>
                    <a:p>
                      <a:pPr>
                        <a:lnSpc>
                          <a:spcPct val="100000"/>
                        </a:lnSpc>
                        <a:buNone/>
                      </a:pPr>
                      <a:r>
                        <a:rPr lang="en-US" sz="800" u="sng">
                          <a:effectLst/>
                        </a:rPr>
                        <a:t>Training Management Development</a:t>
                      </a:r>
                    </a:p>
                  </a:txBody>
                  <a:tcPr marL="48431" marR="48431" marT="24216" marB="24216" anchor="ctr"/>
                </a:tc>
                <a:tc>
                  <a:txBody>
                    <a:bodyPr/>
                    <a:lstStyle/>
                    <a:p>
                      <a:pPr>
                        <a:lnSpc>
                          <a:spcPct val="100000"/>
                        </a:lnSpc>
                        <a:buNone/>
                      </a:pPr>
                      <a:r>
                        <a:rPr lang="en-US" sz="800">
                          <a:effectLst/>
                        </a:rPr>
                        <a:t>Training lifecycle</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fontAlgn="t">
                        <a:lnSpc>
                          <a:spcPct val="100000"/>
                        </a:lnSpc>
                        <a:buNone/>
                      </a:pPr>
                      <a:r>
                        <a:rPr lang="en-US" sz="800" b="1" i="0">
                          <a:effectLst/>
                          <a:latin typeface="Calibri" panose="020F0502020204030204" pitchFamily="34" charset="0"/>
                          <a:ea typeface="Calibri" panose="020F0502020204030204" pitchFamily="34" charset="0"/>
                          <a:cs typeface="Calibri" panose="020F0502020204030204" pitchFamily="34" charset="0"/>
                        </a:rPr>
                        <a:t>End‑to‑end process setup</a:t>
                      </a:r>
                      <a:r>
                        <a:rPr lang="en-US" sz="800" b="0" i="0">
                          <a:effectLst/>
                          <a:latin typeface="Calibri" panose="020F0502020204030204" pitchFamily="34" charset="0"/>
                          <a:ea typeface="Calibri" panose="020F0502020204030204" pitchFamily="34" charset="0"/>
                          <a:cs typeface="Calibri" panose="020F0502020204030204" pitchFamily="34" charset="0"/>
                        </a:rPr>
                        <a:t> – lifecycle testing</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2258229921"/>
                  </a:ext>
                </a:extLst>
              </a:tr>
              <a:tr h="236747">
                <a:tc vMerge="1">
                  <a:txBody>
                    <a:bodyPr/>
                    <a:lstStyle/>
                    <a:p>
                      <a:endParaRPr/>
                    </a:p>
                  </a:txBody>
                  <a:tcPr marL="48431" marR="48431" marT="24216" marB="24216" anchor="ctr"/>
                </a:tc>
                <a:tc>
                  <a:txBody>
                    <a:bodyPr/>
                    <a:lstStyle/>
                    <a:p>
                      <a:pPr>
                        <a:lnSpc>
                          <a:spcPct val="100000"/>
                        </a:lnSpc>
                        <a:buNone/>
                      </a:pPr>
                      <a:r>
                        <a:rPr lang="en-US" sz="800">
                          <a:effectLst/>
                        </a:rPr>
                        <a:t>Iteration 9–10</a:t>
                      </a:r>
                    </a:p>
                  </a:txBody>
                  <a:tcPr marL="48431" marR="48431" marT="24216" marB="24216" anchor="ctr"/>
                </a:tc>
                <a:tc>
                  <a:txBody>
                    <a:bodyPr/>
                    <a:lstStyle/>
                    <a:p>
                      <a:pPr>
                        <a:lnSpc>
                          <a:spcPct val="100000"/>
                        </a:lnSpc>
                        <a:buNone/>
                      </a:pPr>
                      <a:r>
                        <a:rPr lang="en-US" sz="800">
                          <a:effectLst/>
                        </a:rPr>
                        <a:t>24 Aug – 18 Sep 2026</a:t>
                      </a:r>
                    </a:p>
                  </a:txBody>
                  <a:tcPr marL="48431" marR="48431" marT="24216" marB="24216" anchor="ctr"/>
                </a:tc>
                <a:tc>
                  <a:txBody>
                    <a:bodyPr/>
                    <a:lstStyle/>
                    <a:p>
                      <a:pPr>
                        <a:lnSpc>
                          <a:spcPct val="100000"/>
                        </a:lnSpc>
                        <a:buNone/>
                      </a:pPr>
                      <a:r>
                        <a:rPr lang="en-US" sz="800" u="sng">
                          <a:effectLst/>
                        </a:rPr>
                        <a:t>MPP Development</a:t>
                      </a:r>
                    </a:p>
                  </a:txBody>
                  <a:tcPr marL="48431" marR="48431" marT="24216" marB="24216" anchor="ctr"/>
                </a:tc>
                <a:tc>
                  <a:txBody>
                    <a:bodyPr/>
                    <a:lstStyle/>
                    <a:p>
                      <a:pPr>
                        <a:lnSpc>
                          <a:spcPct val="100000"/>
                        </a:lnSpc>
                        <a:buNone/>
                      </a:pPr>
                      <a:r>
                        <a:rPr lang="en-US" sz="800">
                          <a:effectLst/>
                        </a:rPr>
                        <a:t>Workforce planning</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Strategic planning logic &amp; data dependency</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227115453"/>
                  </a:ext>
                </a:extLst>
              </a:tr>
              <a:tr h="236747">
                <a:tc vMerge="1">
                  <a:txBody>
                    <a:bodyPr/>
                    <a:lstStyle/>
                    <a:p>
                      <a:endParaRPr/>
                    </a:p>
                  </a:txBody>
                  <a:tcPr marL="48431" marR="48431" marT="24216" marB="24216" anchor="ctr"/>
                </a:tc>
                <a:tc>
                  <a:txBody>
                    <a:bodyPr/>
                    <a:lstStyle/>
                    <a:p>
                      <a:pPr>
                        <a:lnSpc>
                          <a:spcPct val="100000"/>
                        </a:lnSpc>
                        <a:buNone/>
                      </a:pPr>
                      <a:r>
                        <a:rPr lang="en-US" sz="800">
                          <a:effectLst/>
                        </a:rPr>
                        <a:t>Iteration 11–12</a:t>
                      </a:r>
                    </a:p>
                  </a:txBody>
                  <a:tcPr marL="48431" marR="48431" marT="24216" marB="24216" anchor="ctr"/>
                </a:tc>
                <a:tc>
                  <a:txBody>
                    <a:bodyPr/>
                    <a:lstStyle/>
                    <a:p>
                      <a:pPr>
                        <a:lnSpc>
                          <a:spcPct val="100000"/>
                        </a:lnSpc>
                        <a:buNone/>
                      </a:pPr>
                      <a:r>
                        <a:rPr lang="en-US" sz="800">
                          <a:effectLst/>
                        </a:rPr>
                        <a:t>21 Sep – 16 Oct 2026</a:t>
                      </a:r>
                    </a:p>
                  </a:txBody>
                  <a:tcPr marL="48431" marR="48431" marT="24216" marB="24216" anchor="ctr"/>
                </a:tc>
                <a:tc>
                  <a:txBody>
                    <a:bodyPr/>
                    <a:lstStyle/>
                    <a:p>
                      <a:pPr>
                        <a:lnSpc>
                          <a:spcPct val="100000"/>
                        </a:lnSpc>
                        <a:buNone/>
                      </a:pPr>
                      <a:r>
                        <a:rPr lang="en-US" sz="800" u="sng">
                          <a:effectLst/>
                        </a:rPr>
                        <a:t>Recruitment Development</a:t>
                      </a:r>
                    </a:p>
                  </a:txBody>
                  <a:tcPr marL="48431" marR="48431" marT="24216" marB="24216" anchor="ctr"/>
                </a:tc>
                <a:tc>
                  <a:txBody>
                    <a:bodyPr/>
                    <a:lstStyle/>
                    <a:p>
                      <a:pPr>
                        <a:lnSpc>
                          <a:spcPct val="100000"/>
                        </a:lnSpc>
                        <a:buNone/>
                      </a:pPr>
                      <a:r>
                        <a:rPr lang="en-US" sz="800">
                          <a:effectLst/>
                        </a:rPr>
                        <a:t>Recruitment process</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fontAlgn="t">
                        <a:lnSpc>
                          <a:spcPct val="100000"/>
                        </a:lnSpc>
                        <a:buNone/>
                      </a:pPr>
                      <a:r>
                        <a:rPr lang="en-US" sz="800" b="0" i="0">
                          <a:effectLst/>
                          <a:latin typeface="Calibri" panose="020F0502020204030204" pitchFamily="34" charset="0"/>
                          <a:ea typeface="Calibri" panose="020F0502020204030204" pitchFamily="34" charset="0"/>
                          <a:cs typeface="Calibri" panose="020F0502020204030204" pitchFamily="34" charset="0"/>
                        </a:rPr>
                        <a:t>Multi‑stage approval &amp; compliance controls</a:t>
                      </a: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1379332448"/>
                  </a:ext>
                </a:extLst>
              </a:tr>
              <a:tr h="146781">
                <a:tc vMerge="1">
                  <a:txBody>
                    <a:bodyPr/>
                    <a:lstStyle/>
                    <a:p>
                      <a:endParaRPr/>
                    </a:p>
                  </a:txBody>
                  <a:tcPr marL="48431" marR="48431" marT="24216" marB="24216" anchor="ctr"/>
                </a:tc>
                <a:tc>
                  <a:txBody>
                    <a:bodyPr/>
                    <a:lstStyle/>
                    <a:p>
                      <a:pPr>
                        <a:lnSpc>
                          <a:spcPct val="100000"/>
                        </a:lnSpc>
                        <a:buNone/>
                      </a:pPr>
                      <a:r>
                        <a:rPr lang="en-US" sz="800">
                          <a:effectLst/>
                        </a:rPr>
                        <a:t>Iteration 13</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1196090662"/>
                  </a:ext>
                </a:extLst>
              </a:tr>
              <a:tr h="146781">
                <a:tc vMerge="1">
                  <a:txBody>
                    <a:bodyPr/>
                    <a:lstStyle/>
                    <a:p>
                      <a:endParaRPr/>
                    </a:p>
                  </a:txBody>
                  <a:tcPr marL="48431" marR="48431" marT="24216" marB="24216" anchor="ctr"/>
                </a:tc>
                <a:tc>
                  <a:txBody>
                    <a:bodyPr/>
                    <a:lstStyle/>
                    <a:p>
                      <a:pPr>
                        <a:lnSpc>
                          <a:spcPct val="100000"/>
                        </a:lnSpc>
                        <a:buNone/>
                      </a:pPr>
                      <a:r>
                        <a:rPr lang="en-US" sz="800">
                          <a:effectLst/>
                        </a:rPr>
                        <a:t>Iteration 14</a:t>
                      </a: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a:lnSpc>
                          <a:spcPct val="100000"/>
                        </a:lnSpc>
                        <a:buNone/>
                      </a:pPr>
                      <a:endParaRPr lang="en-US" sz="800">
                        <a:effectLst/>
                      </a:endParaRPr>
                    </a:p>
                  </a:txBody>
                  <a:tcPr marL="48431" marR="48431" marT="24216" marB="24216" anchor="ctr"/>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a:txBody>
                    <a:bodyPr/>
                    <a:lstStyle/>
                    <a:p>
                      <a:pPr fontAlgn="t">
                        <a:lnSpc>
                          <a:spcPct val="100000"/>
                        </a:lnSpc>
                        <a:buNone/>
                      </a:pPr>
                      <a:endParaRPr lang="en-US" sz="800" b="0" i="0">
                        <a:effectLst/>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1693126861"/>
                  </a:ext>
                </a:extLst>
              </a:tr>
            </a:tbl>
          </a:graphicData>
        </a:graphic>
      </p:graphicFrame>
      <p:graphicFrame>
        <p:nvGraphicFramePr>
          <p:cNvPr id="4" name="Table 3">
            <a:extLst>
              <a:ext uri="{FF2B5EF4-FFF2-40B4-BE49-F238E27FC236}">
                <a16:creationId xmlns:a16="http://schemas.microsoft.com/office/drawing/2014/main" id="{7B5239AF-3225-B699-458A-5C0D93A64E06}"/>
              </a:ext>
            </a:extLst>
          </p:cNvPr>
          <p:cNvGraphicFramePr>
            <a:graphicFrameLocks noGrp="1"/>
          </p:cNvGraphicFramePr>
          <p:nvPr/>
        </p:nvGraphicFramePr>
        <p:xfrm>
          <a:off x="331670" y="223210"/>
          <a:ext cx="8202700" cy="676277"/>
        </p:xfrm>
        <a:graphic>
          <a:graphicData uri="http://schemas.openxmlformats.org/drawingml/2006/table">
            <a:tbl>
              <a:tblPr firstRow="1" bandRow="1">
                <a:tableStyleId>{5C22544A-7EE6-4342-B048-85BDC9FD1C3A}</a:tableStyleId>
              </a:tblPr>
              <a:tblGrid>
                <a:gridCol w="542738">
                  <a:extLst>
                    <a:ext uri="{9D8B030D-6E8A-4147-A177-3AD203B41FA5}">
                      <a16:colId xmlns:a16="http://schemas.microsoft.com/office/drawing/2014/main" val="3271107328"/>
                    </a:ext>
                  </a:extLst>
                </a:gridCol>
                <a:gridCol w="695817">
                  <a:extLst>
                    <a:ext uri="{9D8B030D-6E8A-4147-A177-3AD203B41FA5}">
                      <a16:colId xmlns:a16="http://schemas.microsoft.com/office/drawing/2014/main" val="1757186031"/>
                    </a:ext>
                  </a:extLst>
                </a:gridCol>
                <a:gridCol w="681903">
                  <a:extLst>
                    <a:ext uri="{9D8B030D-6E8A-4147-A177-3AD203B41FA5}">
                      <a16:colId xmlns:a16="http://schemas.microsoft.com/office/drawing/2014/main" val="4192347074"/>
                    </a:ext>
                  </a:extLst>
                </a:gridCol>
                <a:gridCol w="681903">
                  <a:extLst>
                    <a:ext uri="{9D8B030D-6E8A-4147-A177-3AD203B41FA5}">
                      <a16:colId xmlns:a16="http://schemas.microsoft.com/office/drawing/2014/main" val="4007015890"/>
                    </a:ext>
                  </a:extLst>
                </a:gridCol>
                <a:gridCol w="667987">
                  <a:extLst>
                    <a:ext uri="{9D8B030D-6E8A-4147-A177-3AD203B41FA5}">
                      <a16:colId xmlns:a16="http://schemas.microsoft.com/office/drawing/2014/main" val="1419018623"/>
                    </a:ext>
                  </a:extLst>
                </a:gridCol>
                <a:gridCol w="709736">
                  <a:extLst>
                    <a:ext uri="{9D8B030D-6E8A-4147-A177-3AD203B41FA5}">
                      <a16:colId xmlns:a16="http://schemas.microsoft.com/office/drawing/2014/main" val="2519499074"/>
                    </a:ext>
                  </a:extLst>
                </a:gridCol>
                <a:gridCol w="793233">
                  <a:extLst>
                    <a:ext uri="{9D8B030D-6E8A-4147-A177-3AD203B41FA5}">
                      <a16:colId xmlns:a16="http://schemas.microsoft.com/office/drawing/2014/main" val="2750398652"/>
                    </a:ext>
                  </a:extLst>
                </a:gridCol>
                <a:gridCol w="821066">
                  <a:extLst>
                    <a:ext uri="{9D8B030D-6E8A-4147-A177-3AD203B41FA5}">
                      <a16:colId xmlns:a16="http://schemas.microsoft.com/office/drawing/2014/main" val="876280060"/>
                    </a:ext>
                  </a:extLst>
                </a:gridCol>
                <a:gridCol w="751484">
                  <a:extLst>
                    <a:ext uri="{9D8B030D-6E8A-4147-A177-3AD203B41FA5}">
                      <a16:colId xmlns:a16="http://schemas.microsoft.com/office/drawing/2014/main" val="197933041"/>
                    </a:ext>
                  </a:extLst>
                </a:gridCol>
                <a:gridCol w="681903">
                  <a:extLst>
                    <a:ext uri="{9D8B030D-6E8A-4147-A177-3AD203B41FA5}">
                      <a16:colId xmlns:a16="http://schemas.microsoft.com/office/drawing/2014/main" val="248997324"/>
                    </a:ext>
                  </a:extLst>
                </a:gridCol>
                <a:gridCol w="1174930">
                  <a:extLst>
                    <a:ext uri="{9D8B030D-6E8A-4147-A177-3AD203B41FA5}">
                      <a16:colId xmlns:a16="http://schemas.microsoft.com/office/drawing/2014/main" val="1933012801"/>
                    </a:ext>
                  </a:extLst>
                </a:gridCol>
              </a:tblGrid>
              <a:tr h="222885">
                <a:tc gridSpan="4">
                  <a:txBody>
                    <a:bodyPr/>
                    <a:lstStyle/>
                    <a:p>
                      <a:pPr algn="ctr"/>
                      <a:r>
                        <a:rPr lang="en-US" sz="1000">
                          <a:latin typeface="Calibri" panose="020F0502020204030204" pitchFamily="34" charset="0"/>
                          <a:ea typeface="Calibri" panose="020F0502020204030204" pitchFamily="34" charset="0"/>
                          <a:cs typeface="Calibri" panose="020F0502020204030204" pitchFamily="34" charset="0"/>
                        </a:rPr>
                        <a:t>May</a:t>
                      </a:r>
                    </a:p>
                  </a:txBody>
                  <a:tcPr marL="74295" marR="74295" marT="37148" marB="37148"/>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gridSpan="4">
                  <a:txBody>
                    <a:bodyPr/>
                    <a:lstStyle/>
                    <a:p>
                      <a:pPr algn="ctr"/>
                      <a:r>
                        <a:rPr lang="en-US" sz="1000">
                          <a:latin typeface="Calibri"/>
                          <a:ea typeface="Calibri"/>
                          <a:cs typeface="Calibri"/>
                        </a:rPr>
                        <a:t>June</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hMerge="1">
                  <a:txBody>
                    <a:bodyPr/>
                    <a:lstStyle/>
                    <a:p>
                      <a:endParaRPr lang="en-US"/>
                    </a:p>
                  </a:txBody>
                  <a:tcPr marL="74295" marR="74295" marT="37148" marB="37148"/>
                </a:tc>
                <a:tc hMerge="1">
                  <a:txBody>
                    <a:bodyPr/>
                    <a:lstStyle/>
                    <a:p>
                      <a:endParaRPr lang="en-US"/>
                    </a:p>
                  </a:txBody>
                  <a:tcPr marL="74295" marR="74295" marT="37148" marB="37148"/>
                </a:tc>
                <a:tc>
                  <a:txBody>
                    <a:bodyPr/>
                    <a:lstStyle/>
                    <a:p>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a:txBody>
                    <a:bodyPr/>
                    <a:lstStyle/>
                    <a:p>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a:txBody>
                    <a:bodyPr/>
                    <a:lstStyle/>
                    <a:p>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159727397"/>
                  </a:ext>
                </a:extLst>
              </a:tr>
              <a:tr h="222885">
                <a:tc gridSpan="2">
                  <a:txBody>
                    <a:bodyPr/>
                    <a:lstStyle/>
                    <a:p>
                      <a:pPr algn="ctr"/>
                      <a:r>
                        <a:rPr lang="en-US" sz="1000">
                          <a:latin typeface="Calibri" panose="020F0502020204030204" pitchFamily="34" charset="0"/>
                          <a:ea typeface="Calibri" panose="020F0502020204030204" pitchFamily="34" charset="0"/>
                          <a:cs typeface="Calibri" panose="020F0502020204030204" pitchFamily="34" charset="0"/>
                        </a:rPr>
                        <a:t>Iteration 1</a:t>
                      </a:r>
                    </a:p>
                  </a:txBody>
                  <a:tcPr marL="74295" marR="74295" marT="37148" marB="37148"/>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gridSpan="2">
                  <a:txBody>
                    <a:bodyPr/>
                    <a:lstStyle/>
                    <a:p>
                      <a:pPr algn="ctr"/>
                      <a:r>
                        <a:rPr lang="en-US" sz="1000">
                          <a:latin typeface="Calibri" panose="020F0502020204030204" pitchFamily="34" charset="0"/>
                          <a:ea typeface="Calibri" panose="020F0502020204030204" pitchFamily="34" charset="0"/>
                          <a:cs typeface="Calibri" panose="020F0502020204030204" pitchFamily="34" charset="0"/>
                        </a:rPr>
                        <a:t>Iteration 2</a:t>
                      </a:r>
                    </a:p>
                  </a:txBody>
                  <a:tcPr marL="74295" marR="74295" marT="37148" marB="37148"/>
                </a:tc>
                <a:tc hMerge="1">
                  <a: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a:txBody>
                  <a:tcPr/>
                </a:tc>
                <a:tc gridSpan="2">
                  <a:txBody>
                    <a:bodyPr/>
                    <a:lstStyle/>
                    <a:p>
                      <a:pPr algn="ctr"/>
                      <a:r>
                        <a:rPr lang="en-US" sz="1000">
                          <a:latin typeface="Calibri"/>
                          <a:ea typeface="Calibri"/>
                          <a:cs typeface="Calibri"/>
                        </a:rPr>
                        <a:t>Iteration 3</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gridSpan="2">
                  <a:txBody>
                    <a:bodyPr/>
                    <a:lstStyle/>
                    <a:p>
                      <a:pPr algn="ctr"/>
                      <a:r>
                        <a:rPr lang="en-US" sz="1000">
                          <a:latin typeface="Calibri"/>
                          <a:ea typeface="Calibri"/>
                          <a:cs typeface="Calibri"/>
                        </a:rPr>
                        <a:t>Iteration 4</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gridSpan="2">
                  <a:txBody>
                    <a:bodyPr/>
                    <a:lstStyle/>
                    <a:p>
                      <a:pPr algn="ctr"/>
                      <a:r>
                        <a:rPr lang="en-US" sz="1000">
                          <a:latin typeface="Calibri"/>
                          <a:ea typeface="Calibri"/>
                          <a:cs typeface="Calibri"/>
                        </a:rPr>
                        <a:t>Iteration 5</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tc hMerge="1">
                  <a:txBody>
                    <a:bodyPr/>
                    <a:lstStyle/>
                    <a:p>
                      <a:endParaRPr lang="en-US"/>
                    </a:p>
                  </a:txBody>
                  <a:tcPr marL="74295" marR="74295" marT="37148" marB="37148"/>
                </a:tc>
                <a:tc>
                  <a:txBody>
                    <a:bodyPr/>
                    <a:lstStyle/>
                    <a:p>
                      <a:endParaRPr lang="en-US" sz="1000">
                        <a:latin typeface="Calibri" panose="020F0502020204030204" pitchFamily="34" charset="0"/>
                        <a:ea typeface="Calibri" panose="020F0502020204030204" pitchFamily="34" charset="0"/>
                        <a:cs typeface="Calibri" panose="020F0502020204030204" pitchFamily="34" charset="0"/>
                      </a:endParaRPr>
                    </a:p>
                  </a:txBody>
                  <a:tcPr marL="74295" marR="74295" marT="37148" marB="37148"/>
                </a:tc>
                <a:extLst>
                  <a:ext uri="{0D108BD9-81ED-4DB2-BD59-A6C34878D82A}">
                    <a16:rowId xmlns:a16="http://schemas.microsoft.com/office/drawing/2014/main" val="932257417"/>
                  </a:ext>
                </a:extLst>
              </a:tr>
              <a:tr h="222885">
                <a:tc>
                  <a:txBody>
                    <a:bodyPr/>
                    <a:lstStyle/>
                    <a:p>
                      <a:r>
                        <a:rPr lang="en-US" sz="800">
                          <a:latin typeface="Calibri"/>
                          <a:ea typeface="Calibri"/>
                          <a:cs typeface="Calibri"/>
                        </a:rPr>
                        <a:t>4- 8 May</a:t>
                      </a:r>
                    </a:p>
                  </a:txBody>
                  <a:tcPr marL="74295" marR="74295" marT="37148" marB="37148"/>
                </a:tc>
                <a:tc>
                  <a:txBody>
                    <a:bodyPr/>
                    <a:lstStyle/>
                    <a:p>
                      <a:r>
                        <a:rPr lang="en-US" sz="800">
                          <a:latin typeface="Calibri"/>
                          <a:ea typeface="Calibri"/>
                          <a:cs typeface="Calibri"/>
                        </a:rPr>
                        <a:t>11 – 15 May</a:t>
                      </a:r>
                    </a:p>
                  </a:txBody>
                  <a:tcPr marL="74295" marR="74295" marT="37148" marB="37148"/>
                </a:tc>
                <a:tc>
                  <a:txBody>
                    <a:bodyPr/>
                    <a:lstStyle/>
                    <a:p>
                      <a:r>
                        <a:rPr lang="en-US" sz="800">
                          <a:latin typeface="Calibri"/>
                          <a:ea typeface="Calibri"/>
                          <a:cs typeface="Calibri"/>
                        </a:rPr>
                        <a:t>18 – 22 May</a:t>
                      </a:r>
                    </a:p>
                  </a:txBody>
                  <a:tcPr marL="74295" marR="74295" marT="37148" marB="37148"/>
                </a:tc>
                <a:tc>
                  <a:txBody>
                    <a:bodyPr/>
                    <a:lstStyle/>
                    <a:p>
                      <a:r>
                        <a:rPr lang="en-US" sz="800">
                          <a:latin typeface="Calibri"/>
                          <a:ea typeface="Calibri"/>
                          <a:cs typeface="Calibri"/>
                        </a:rPr>
                        <a:t>25 – 29 May</a:t>
                      </a:r>
                    </a:p>
                  </a:txBody>
                  <a:tcPr marL="74295" marR="74295" marT="37148" marB="37148"/>
                </a:tc>
                <a:tc>
                  <a:txBody>
                    <a:bodyPr/>
                    <a:lstStyle/>
                    <a:p>
                      <a:pPr algn="ctr"/>
                      <a:r>
                        <a:rPr lang="en-US" sz="800">
                          <a:latin typeface="Calibri"/>
                          <a:ea typeface="Calibri"/>
                          <a:cs typeface="Calibri"/>
                        </a:rPr>
                        <a:t>1 – 5 Jun</a:t>
                      </a:r>
                    </a:p>
                  </a:txBody>
                  <a:tcPr marL="74295" marR="74295" marT="37148" marB="37148"/>
                </a:tc>
                <a:tc>
                  <a:txBody>
                    <a:bodyPr/>
                    <a:lstStyle/>
                    <a:p>
                      <a:pPr algn="ctr"/>
                      <a:r>
                        <a:rPr lang="en-US" sz="800">
                          <a:latin typeface="Calibri"/>
                          <a:ea typeface="Calibri"/>
                          <a:cs typeface="Calibri"/>
                        </a:rPr>
                        <a:t>8 – 12 Jun</a:t>
                      </a:r>
                    </a:p>
                  </a:txBody>
                  <a:tcPr marL="74295" marR="74295" marT="37148" marB="37148"/>
                </a:tc>
                <a:tc>
                  <a:txBody>
                    <a:bodyPr/>
                    <a:lstStyle/>
                    <a:p>
                      <a:pPr algn="ctr"/>
                      <a:r>
                        <a:rPr lang="en-US" sz="800">
                          <a:latin typeface="Calibri"/>
                          <a:ea typeface="Calibri"/>
                          <a:cs typeface="Calibri"/>
                        </a:rPr>
                        <a:t>15 – 19 Jun</a:t>
                      </a:r>
                    </a:p>
                  </a:txBody>
                  <a:tcPr marL="74295" marR="74295" marT="37148" marB="37148"/>
                </a:tc>
                <a:tc>
                  <a:txBody>
                    <a:bodyPr/>
                    <a:lstStyle/>
                    <a:p>
                      <a:pPr algn="ctr"/>
                      <a:r>
                        <a:rPr lang="en-US" sz="800">
                          <a:latin typeface="Calibri"/>
                          <a:ea typeface="Calibri"/>
                          <a:cs typeface="Calibri"/>
                        </a:rPr>
                        <a:t>22 – 26 Jun</a:t>
                      </a:r>
                    </a:p>
                  </a:txBody>
                  <a:tcPr marL="74295" marR="74295" marT="37148" marB="37148"/>
                </a:tc>
                <a:tc>
                  <a:txBody>
                    <a:bodyPr/>
                    <a:lstStyle/>
                    <a:p>
                      <a:r>
                        <a:rPr lang="en-US" sz="800">
                          <a:latin typeface="Calibri"/>
                          <a:ea typeface="Calibri"/>
                          <a:cs typeface="Calibri"/>
                        </a:rPr>
                        <a:t>29 Jun – 3 Jul</a:t>
                      </a:r>
                    </a:p>
                  </a:txBody>
                  <a:tcPr marL="74295" marR="74295" marT="37148" marB="37148"/>
                </a:tc>
                <a:tc>
                  <a:txBody>
                    <a:bodyPr/>
                    <a:lstStyle/>
                    <a:p>
                      <a:r>
                        <a:rPr lang="en-US" sz="800">
                          <a:latin typeface="Calibri"/>
                          <a:ea typeface="Calibri"/>
                          <a:cs typeface="Calibri"/>
                        </a:rPr>
                        <a:t>6 – 10 Jul</a:t>
                      </a:r>
                    </a:p>
                  </a:txBody>
                  <a:tcPr marL="74295" marR="74295" marT="37148" marB="37148"/>
                </a:tc>
                <a:tc>
                  <a:txBody>
                    <a:bodyPr/>
                    <a:lstStyle/>
                    <a:p>
                      <a:endParaRPr lang="en-US" sz="800">
                        <a:latin typeface="Calibri"/>
                        <a:ea typeface="Calibri"/>
                        <a:cs typeface="Calibri"/>
                      </a:endParaRPr>
                    </a:p>
                  </a:txBody>
                  <a:tcPr marL="74295" marR="74295" marT="37148" marB="37148"/>
                </a:tc>
                <a:extLst>
                  <a:ext uri="{0D108BD9-81ED-4DB2-BD59-A6C34878D82A}">
                    <a16:rowId xmlns:a16="http://schemas.microsoft.com/office/drawing/2014/main" val="3432649604"/>
                  </a:ext>
                </a:extLst>
              </a:tr>
            </a:tbl>
          </a:graphicData>
        </a:graphic>
      </p:graphicFrame>
    </p:spTree>
    <p:extLst>
      <p:ext uri="{BB962C8B-B14F-4D97-AF65-F5344CB8AC3E}">
        <p14:creationId xmlns:p14="http://schemas.microsoft.com/office/powerpoint/2010/main" val="2336843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28457F348E3F499C94E0B279BC0815" ma:contentTypeVersion="22" ma:contentTypeDescription="Create a new document." ma:contentTypeScope="" ma:versionID="4969a9d7a430e1edce152e705d6ca549">
  <xsd:schema xmlns:xsd="http://www.w3.org/2001/XMLSchema" xmlns:xs="http://www.w3.org/2001/XMLSchema" xmlns:p="http://schemas.microsoft.com/office/2006/metadata/properties" xmlns:ns1="http://schemas.microsoft.com/sharepoint/v3" xmlns:ns2="f7cd001c-5a3c-42b1-a8c3-8f25cbfcee5e" xmlns:ns3="bf312116-df60-45fa-bce2-3ecb9ff0d976" targetNamespace="http://schemas.microsoft.com/office/2006/metadata/properties" ma:root="true" ma:fieldsID="f0b20e14f729541c2b9353e988b36f95" ns1:_="" ns2:_="" ns3:_="">
    <xsd:import namespace="http://schemas.microsoft.com/sharepoint/v3"/>
    <xsd:import namespace="f7cd001c-5a3c-42b1-a8c3-8f25cbfcee5e"/>
    <xsd:import namespace="bf312116-df60-45fa-bce2-3ecb9ff0d97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Last_x0020_modified0"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d001c-5a3c-42b1-a8c3-8f25cbfcee5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d1a7f60e-5071-4dc9-bc5c-4d23df70c43a}" ma:internalName="TaxCatchAll" ma:showField="CatchAllData" ma:web="f7cd001c-5a3c-42b1-a8c3-8f25cbfcee5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f312116-df60-45fa-bce2-3ecb9ff0d97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ast_x0020_modified0" ma:index="16" nillable="true" ma:displayName="Last modified" ma:format="Dropdown" ma:list="UserInfo" ma:SharePointGroup="0" ma:internalName="Last_x0020_modified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41748861-dfd0-43dc-baeb-b56a0002e95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ast_x0020_modified0 xmlns="bf312116-df60-45fa-bce2-3ecb9ff0d976">
      <UserInfo>
        <DisplayName/>
        <AccountId xsi:nil="true"/>
        <AccountType/>
      </UserInfo>
    </Last_x0020_modified0>
    <_ip_UnifiedCompliancePolicyUIAction xmlns="http://schemas.microsoft.com/sharepoint/v3" xsi:nil="true"/>
    <_ip_UnifiedCompliancePolicyProperties xmlns="http://schemas.microsoft.com/sharepoint/v3" xsi:nil="true"/>
    <lcf76f155ced4ddcb4097134ff3c332f xmlns="bf312116-df60-45fa-bce2-3ecb9ff0d976">
      <Terms xmlns="http://schemas.microsoft.com/office/infopath/2007/PartnerControls"/>
    </lcf76f155ced4ddcb4097134ff3c332f>
    <TaxCatchAll xmlns="f7cd001c-5a3c-42b1-a8c3-8f25cbfcee5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8F34BA-53D2-4757-9268-FB5C6F08AC54}">
  <ds:schemaRefs>
    <ds:schemaRef ds:uri="bf312116-df60-45fa-bce2-3ecb9ff0d976"/>
    <ds:schemaRef ds:uri="f7cd001c-5a3c-42b1-a8c3-8f25cbfcee5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01A4D6C-6805-45BC-A442-1E8C500512D8}">
  <ds:schemaRefs>
    <ds:schemaRef ds:uri="http://purl.org/dc/dcmitype/"/>
    <ds:schemaRef ds:uri="http://schemas.microsoft.com/office/2006/documentManagement/types"/>
    <ds:schemaRef ds:uri="http://purl.org/dc/elements/1.1/"/>
    <ds:schemaRef ds:uri="http://www.w3.org/XML/1998/namespace"/>
    <ds:schemaRef ds:uri="bf312116-df60-45fa-bce2-3ecb9ff0d976"/>
    <ds:schemaRef ds:uri="http://schemas.microsoft.com/office/infopath/2007/PartnerControls"/>
    <ds:schemaRef ds:uri="http://schemas.microsoft.com/office/2006/metadata/properties"/>
    <ds:schemaRef ds:uri="http://schemas.openxmlformats.org/package/2006/metadata/core-properties"/>
    <ds:schemaRef ds:uri="f7cd001c-5a3c-42b1-a8c3-8f25cbfcee5e"/>
    <ds:schemaRef ds:uri="http://schemas.microsoft.com/sharepoint/v3"/>
    <ds:schemaRef ds:uri="http://purl.org/dc/terms/"/>
  </ds:schemaRefs>
</ds:datastoreItem>
</file>

<file path=customXml/itemProps3.xml><?xml version="1.0" encoding="utf-8"?>
<ds:datastoreItem xmlns:ds="http://schemas.openxmlformats.org/officeDocument/2006/customXml" ds:itemID="{86BE16AD-A21D-4617-B94E-5181B1D76FCE}">
  <ds:schemaRefs>
    <ds:schemaRef ds:uri="http://schemas.microsoft.com/sharepoint/v3/contenttype/forms"/>
  </ds:schemaRefs>
</ds:datastoreItem>
</file>

<file path=docMetadata/LabelInfo.xml><?xml version="1.0" encoding="utf-8"?>
<clbl:labelList xmlns:clbl="http://schemas.microsoft.com/office/2020/mipLabelMetadata">
  <clbl:label id="{8c836ce2-9979-476e-9819-73d2287a38ef}" enabled="1" method="Privileged" siteId="{9f3efc26-eea3-45e0-9a33-bdd96bbc7f6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12081</Words>
  <Application>Microsoft Office PowerPoint</Application>
  <PresentationFormat>A4 Paper (210x297 mm)</PresentationFormat>
  <Paragraphs>2118</Paragraphs>
  <Slides>78</Slides>
  <Notes>10</Notes>
  <HiddenSlides>17</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78</vt:i4>
      </vt:variant>
    </vt:vector>
  </HeadingPairs>
  <TitlesOfParts>
    <vt:vector size="94" baseType="lpstr">
      <vt:lpstr>Arial,Sans-Serif</vt:lpstr>
      <vt:lpstr>DengXian</vt:lpstr>
      <vt:lpstr>Helvetica Neue</vt:lpstr>
      <vt:lpstr>Aharoni</vt:lpstr>
      <vt:lpstr>Aptos</vt:lpstr>
      <vt:lpstr>Aptos Narrow</vt:lpstr>
      <vt:lpstr>Arial</vt:lpstr>
      <vt:lpstr>Arial Bold</vt:lpstr>
      <vt:lpstr>Calibri</vt:lpstr>
      <vt:lpstr>Calibri Light</vt:lpstr>
      <vt:lpstr>Courier New</vt:lpstr>
      <vt:lpstr>Segoe UI</vt:lpstr>
      <vt:lpstr>Symbol</vt:lpstr>
      <vt:lpstr>Times New Roman</vt:lpstr>
      <vt:lpstr>Office Theme</vt:lpstr>
      <vt:lpstr>Office Theme</vt:lpstr>
      <vt:lpstr>PowerPoint Presentation</vt:lpstr>
      <vt:lpstr>Table of Content</vt:lpstr>
      <vt:lpstr>PowerPoint Presentation</vt:lpstr>
      <vt:lpstr>1. Executive Summary</vt:lpstr>
      <vt:lpstr>2. Requirement &amp; Propose Solution</vt:lpstr>
      <vt:lpstr>2. Requirement &amp; Propose Solution</vt:lpstr>
      <vt:lpstr>2. Requirement &amp; Propose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Project Organization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 Pain Point &amp; Propose Solution Details</vt:lpstr>
      <vt:lpstr>VI. Pain Point &amp; Propose Solution Details</vt:lpstr>
      <vt:lpstr>VI. Pain Point &amp; Propose Solution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Hidden Slides</vt:lpstr>
      <vt:lpstr>1. Executive Summary</vt:lpstr>
      <vt:lpstr>1. Executive Summary</vt:lpstr>
      <vt:lpstr>1. Executive Summary</vt:lpstr>
      <vt:lpstr>2. Requirement &amp; Propose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Haryo Hadiwijoyo</dc:creator>
  <cp:lastModifiedBy>Tito Tamaro</cp:lastModifiedBy>
  <cp:revision>1</cp:revision>
  <dcterms:created xsi:type="dcterms:W3CDTF">2019-09-12T04:10:29Z</dcterms:created>
  <dcterms:modified xsi:type="dcterms:W3CDTF">2026-04-27T07:21:13Z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0x0101007928457F348E3F499C94E0B279BC0815</vt:lpwstr>
  </property>
  <property fmtid="{D5CDD505-2E9C-101B-9397-08002B2CF9AE}" pid="3" name="MediaServiceImageTags">
    <vt:lpwstr/>
  </property>
</Properties>
</file>